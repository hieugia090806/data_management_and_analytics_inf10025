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7" r:id="rId2"/>
    <p:sldId id="428" r:id="rId3"/>
    <p:sldId id="427" r:id="rId4"/>
    <p:sldId id="395" r:id="rId5"/>
    <p:sldId id="396" r:id="rId6"/>
    <p:sldId id="429" r:id="rId7"/>
    <p:sldId id="401" r:id="rId8"/>
    <p:sldId id="441" r:id="rId9"/>
    <p:sldId id="451" r:id="rId10"/>
    <p:sldId id="452" r:id="rId11"/>
    <p:sldId id="403" r:id="rId12"/>
    <p:sldId id="404" r:id="rId13"/>
    <p:sldId id="405" r:id="rId14"/>
    <p:sldId id="453" r:id="rId15"/>
    <p:sldId id="40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3-07T05:07:35.05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11559 12129 0,'25'0'156,"99"0"-140,-50 0-16,1 0 16,-51 0-1,51 25-15,-50 25 16,123-50-1,-73 0-15,-50 0 16,124 0-16,-75 0 16,0 0-1,-24 0-15,-25 0 16,24 0-16,-24 0 16,0 0-1,25 0 16,-26 0-15,26 0 0,0 0-1,-26 25-15,1-25 32,0 0-32,25 25 0,24-25 15,25 0 1,-74 24-1,25 1-15,-1 0 16,1-50-16,-25 25 16,24 0 15,-24 0-15,50 0-16,-51 0 15,26 0-15,-25 0 16,24 0-16,1 0 15,0 0-15,-1 0 16,-24 0 0,49 0-1,-49 0 1,25 0-16,49 0 16,-74 0-16,74 0 15,-49 0-15,24 0 16,1 0-1,24 0-15,-25 0 0,-49 25 16,25-25 0,24 0-1,-49 0 1,49 0-16,-49 50 16,0-50-1,0 0-15,24 0 16,-24 0-16,49 0 15,1 0 17,-50 0-17,24 0-15,-24 0 16,99 0 0,-49 0-16,-26 0 15,1 0 1,-1 24-16,1-24 15,-50 25 1,25-25-16,24 0 63,-24 0-63,25 0 62,-25 0-62,-1 0 78,1 0-47,0 0-15,0 0 0,0 0 15,-1 0 219,1 0-141,-50-49 1,1 49-95,-51-25 1,50 25-16,-24-25 16,49 0 109,0 0-110,0 1 16,0-1-15,0 0 234,0 0-234,0 0-16,0 0 15,-99-24-15,-25 24 16,74 0 0,-24 25-16,-51 0 15,26 0 1,25-49-16,-75 49 31,99 0-31,-74 0 0,50-100 31,0 100-31,49 0 0,-25 0 32,1 0-32,24 0 0,-25 0 31,-24 0-31,24 0 15,25 0 1,-49 0 0,49 0-16,-25 0 15,26 0-15,-1 0 16,0 0-16,0 0 16,0 25-16,-24-25 15,49 25-15,-75-25 16,26 25-1,-1-25-15,-24 25 16,49-25 0,-25 24-16,1-24 31,24 0-31,0 0 0,-24 0 16,24 0-1,0 0-15,0 0 0,0 0 16,1 0-1,-1 0-15,0 0 0,0 0 32,0 0-17,1 0 1,-1 0 31,0 0-47,0 0 156,0 0-140,-24 0-1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0B94EC-9100-4464-90C4-CB1F68270657}" type="datetimeFigureOut">
              <a:rPr lang="en-AU" smtClean="0"/>
              <a:t>1/03/2023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C1EAF-2DB3-4B82-84D5-96DAF5F693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629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9077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382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8009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357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83630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1465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9673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8825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32641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6316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12846"/>
            <a:ext cx="10363200" cy="1470025"/>
          </a:xfrm>
        </p:spPr>
        <p:txBody>
          <a:bodyPr anchor="b" anchorCtr="0">
            <a:normAutofit/>
          </a:bodyPr>
          <a:lstStyle>
            <a:lvl1pPr algn="ctr">
              <a:defRPr sz="4800" b="0">
                <a:latin typeface="Open Sans"/>
                <a:cs typeface="Open Sans"/>
              </a:defRPr>
            </a:lvl1pPr>
          </a:lstStyle>
          <a:p>
            <a:r>
              <a:rPr lang="en-AU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4008"/>
            <a:ext cx="85344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Open Sans"/>
                <a:cs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  <p:pic>
        <p:nvPicPr>
          <p:cNvPr id="8" name="Picture 7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36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5878"/>
            <a:ext cx="10972800" cy="1058779"/>
          </a:xfrm>
        </p:spPr>
        <p:txBody>
          <a:bodyPr anchor="t"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87655"/>
            <a:ext cx="10680834" cy="3917482"/>
          </a:xfrm>
          <a:noFill/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 rot="18000966">
            <a:off x="11384653" y="176022"/>
            <a:ext cx="675802" cy="661376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ircle">
              <a:avLst/>
            </a:prstTxWarp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Management and Analytics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09CCC-9DBA-4EA5-AD2E-1EF65A6E5EDB}"/>
              </a:ext>
            </a:extLst>
          </p:cNvPr>
          <p:cNvSpPr txBox="1"/>
          <p:nvPr userDrawn="1"/>
        </p:nvSpPr>
        <p:spPr>
          <a:xfrm>
            <a:off x="381012" y="6382790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F3ACB68-B3AC-4511-9780-21946B043BB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4322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KNOWING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968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1344616"/>
            <a:ext cx="9487359" cy="1465609"/>
          </a:xfrm>
        </p:spPr>
        <p:txBody>
          <a:bodyPr anchor="b" anchorCtr="0">
            <a:normAutofit/>
          </a:bodyPr>
          <a:lstStyle>
            <a:lvl1pPr>
              <a:defRPr sz="4000" b="0">
                <a:latin typeface="Open Sans"/>
                <a:cs typeface="Open Sans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2927805"/>
            <a:ext cx="9487359" cy="2563256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Sub-heading</a:t>
            </a:r>
          </a:p>
        </p:txBody>
      </p:sp>
      <p:pic>
        <p:nvPicPr>
          <p:cNvPr id="6" name="Picture 5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7" name="Picture 6" descr="KNOWING Logo 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74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3657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9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7639"/>
            <a:ext cx="10972800" cy="3991833"/>
          </a:xfrm>
          <a:prstGeom prst="rect">
            <a:avLst/>
          </a:prstGeom>
          <a:solidFill>
            <a:srgbClr val="F6F6F6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15" y="5866083"/>
            <a:ext cx="1219200" cy="9144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206367" y="6710785"/>
            <a:ext cx="9549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215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400" b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office.com/en-us/article/What-version-of-Office-am-I-using-932788b8-a3ce-44bf-bb09-e334518b8b19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microsoft.com/en-us/download/details.aspx?id=58494" TargetMode="External"/><Relationship Id="rId4" Type="http://schemas.openxmlformats.org/officeDocument/2006/relationships/hyperlink" Target="https://powerbi.microsoft.com/en-us/documentation/powerbi-desktop-access-database-errors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INF10025</a:t>
            </a:r>
            <a:br>
              <a:rPr lang="en-AU" dirty="0"/>
            </a:br>
            <a:r>
              <a:rPr lang="en-AU" dirty="0"/>
              <a:t>Data Management and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b="1"/>
              <a:t>Week 04 – Part 1</a:t>
            </a:r>
            <a:endParaRPr lang="en-AU" b="1" dirty="0"/>
          </a:p>
          <a:p>
            <a:endParaRPr lang="en-AU" b="1" dirty="0"/>
          </a:p>
          <a:p>
            <a:r>
              <a:rPr lang="en-AU" dirty="0"/>
              <a:t>Power BI</a:t>
            </a:r>
          </a:p>
          <a:p>
            <a:r>
              <a:rPr lang="en-AU" dirty="0"/>
              <a:t>Importing Data 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21075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0655431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Microsoft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have a number of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Business Intelligence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(BI) products / applications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 BI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a suite of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desktop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&amp;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cloud based web application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that allows you to analyze datasets.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datasets can be local or cloud based and may be connected to / imported from RBDMSs, Spreadsheets, on-line data services etc.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 BI can be added to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Office 365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suite of applications.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Through Power BI web app, users can analyze data with various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visualizations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dashboards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dataset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may produce many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different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visualizations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Best performing customers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Worst performing salespeople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Upward trending products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Complimentary product sales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6963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065543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 BI Desktop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a different product from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 BI web app.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Desktop is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Windows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application.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 must be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installed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on a computer running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Windows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(or via a virtual Windows OS on a MAC or Linux)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Importing data / manipulating data / writing formula / creating measures is done using the Desktop app.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Once visualizations / reports / dashboards have been created, then they are deployed to a cloud service so that Power BI web app can be utilized.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 BI Desktop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most often used by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&amp;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developers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 BI web app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used by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end-users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6675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853" y="832728"/>
            <a:ext cx="115824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Business Intelligence software.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 BI Desktop is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Windows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only application.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Problem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 known problem exists when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PBI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connects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an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Access Database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Both apps must be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same OS version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If Access is 32bit then download Power BI 32 bit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If your Access is 64 bit then download Power BI 64 bit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Swinburne labs have 64bit Access and 64 bit Power BI Desktop (needs to be access via Apps on demand).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460" y="966379"/>
            <a:ext cx="6100395" cy="382643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824267" y="2962326"/>
            <a:ext cx="1104775" cy="673354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9680762" y="3341062"/>
            <a:ext cx="1104775" cy="673354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075585" y="4212234"/>
            <a:ext cx="567885" cy="30480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2016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help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you plan to install a version of Power BI on your own computer, then these links may be useful: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version of Office am I using?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/>
              </a:rPr>
              <a:t>https://support.office.com/en-us/article/What-version-of-Office-am-I-using-932788b8-a3ce-44bf-bb09-e334518b8b19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Resolve Issues Importing Access Databases in Power BI Desktop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https://powerbi.microsoft.com/en-us/documentation/powerbi-desktop-access-database-errors/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Download Microsoft Power BI Desktop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/>
              </a:rPr>
              <a:t>https://www.microsoft.com/en-us/download/details.aspx?id=58494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9404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040955"/>
            <a:ext cx="11582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the next week or two, we will concentrate on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Power BI Desktop.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will create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datasets, reports, dashboards.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will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deploy / upload reports &amp; dashboards to a cloud service yet.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PowerBi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gets updated every year so the following slides may not appear exactly as is shown by whatever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PowerBi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version you are using.  However the concepts on their use is the same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7002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Begin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 BI Desktop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application.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Start with selecting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Data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option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application can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connect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/ import data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from many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popular sources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(including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non-Microsoft applications).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will concentrate on connecting to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Access </a:t>
            </a:r>
            <a:b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Database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sources.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you cannot connect to Access (usually because of the 32bit</a:t>
            </a:r>
            <a:br>
              <a:rPr kumimoji="0" lang="en-AU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vs 64 bit problem), then you will need to export data from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tables to a CSV files. Finally you will import the CSV files into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 BI Desktop. A bit messy – but easily done.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C5D699-25D3-4D2A-8D8E-46B981462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031" y="918455"/>
            <a:ext cx="4305300" cy="23050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572" y="3056367"/>
            <a:ext cx="2698285" cy="2883178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49C7082F-390D-4B55-BC52-56F2C0281B5D}"/>
              </a:ext>
            </a:extLst>
          </p:cNvPr>
          <p:cNvSpPr/>
          <p:nvPr/>
        </p:nvSpPr>
        <p:spPr>
          <a:xfrm>
            <a:off x="8220547" y="1437158"/>
            <a:ext cx="624689" cy="1058779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7881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0B1E3-9003-4661-A595-AFDDCA535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D8E3B-93F4-4D8B-BBCA-C301922D4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Depending on what version of </a:t>
            </a:r>
            <a:r>
              <a:rPr lang="en-GB" dirty="0" err="1"/>
              <a:t>PowerBi</a:t>
            </a:r>
            <a:r>
              <a:rPr lang="en-GB" dirty="0"/>
              <a:t> you have ,you can select Get Data from the first pop-up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F3D4A1-2AF6-4107-987F-3415F6FDC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073" y="1823027"/>
            <a:ext cx="8689535" cy="4590548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68A3EF1-C9DB-4E01-A2BE-CC3A37CB0F54}"/>
              </a:ext>
            </a:extLst>
          </p:cNvPr>
          <p:cNvSpPr/>
          <p:nvPr/>
        </p:nvSpPr>
        <p:spPr>
          <a:xfrm>
            <a:off x="2471595" y="3046396"/>
            <a:ext cx="1104775" cy="36440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7491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44FCA-B17B-4771-BF6D-66FA9F0B4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D309B-3EFB-496C-A971-5282F5A1D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other versions will show this screen and you select  get data from another source and then select Access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64AD92-5DCA-4619-995D-E0498426E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178" y="2335530"/>
            <a:ext cx="6096000" cy="25527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44B56B7-B1C9-43EF-BB20-5BBB545666E8}"/>
                  </a:ext>
                </a:extLst>
              </p14:cNvPr>
              <p14:cNvContentPartPr/>
              <p14:nvPr/>
            </p14:nvContentPartPr>
            <p14:xfrm>
              <a:off x="4161240" y="4277160"/>
              <a:ext cx="1589760" cy="196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44B56B7-B1C9-43EF-BB20-5BBB545666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45400" y="4213800"/>
                <a:ext cx="1621080" cy="32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4623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308D6-7525-4380-A41F-041DEC5DA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Microsoft Power BI Desktop </a:t>
            </a:r>
            <a:br>
              <a:rPr lang="en-AU" dirty="0"/>
            </a:br>
            <a:br>
              <a:rPr lang="en-AU" dirty="0"/>
            </a:br>
            <a:r>
              <a:rPr lang="en-AU" sz="2200" b="1" dirty="0">
                <a:solidFill>
                  <a:schemeClr val="tx2">
                    <a:lumMod val="95000"/>
                    <a:lumOff val="5000"/>
                  </a:schemeClr>
                </a:solidFill>
              </a:rPr>
              <a:t>Then you will select Access and Connect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4B40FF-B8BD-4033-94E8-346A281918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8711" y="2062259"/>
            <a:ext cx="5171572" cy="4369627"/>
          </a:xfrm>
        </p:spPr>
      </p:pic>
    </p:spTree>
    <p:extLst>
      <p:ext uri="{BB962C8B-B14F-4D97-AF65-F5344CB8AC3E}">
        <p14:creationId xmlns:p14="http://schemas.microsoft.com/office/powerpoint/2010/main" val="2187579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21711"/>
            <a:ext cx="11582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Typically, you will have to choose which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you want to connect to.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can also connect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queries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(or views as they are called in other RDBMSs)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There is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difference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between a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Table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from the Power BI point of view.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Both present data as a collection of records made up of multiple fields.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485" y="3566423"/>
            <a:ext cx="487680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131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Microsoft Power BI Desktop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There are 3 work area icons on the left of the Power BI screen.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Report, Data and Relationship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b="11947"/>
          <a:stretch/>
        </p:blipFill>
        <p:spPr>
          <a:xfrm>
            <a:off x="1463619" y="2453630"/>
            <a:ext cx="5596705" cy="40793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43555" y="4767464"/>
            <a:ext cx="462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Report Window – Where you add visualizations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43554" y="5381777"/>
            <a:ext cx="6381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Window – Where you view raw data, add columns &amp; formula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3553" y="6049451"/>
            <a:ext cx="7553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Relationships Window – Where you view / create relationships between tables</a:t>
            </a:r>
          </a:p>
        </p:txBody>
      </p:sp>
      <p:cxnSp>
        <p:nvCxnSpPr>
          <p:cNvPr id="10" name="Straight Arrow Connector 9"/>
          <p:cNvCxnSpPr>
            <a:stCxn id="5" idx="1"/>
          </p:cNvCxnSpPr>
          <p:nvPr/>
        </p:nvCxnSpPr>
        <p:spPr>
          <a:xfrm flipH="1">
            <a:off x="1965205" y="4952130"/>
            <a:ext cx="1178350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965205" y="5566443"/>
            <a:ext cx="1178350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1965205" y="6234117"/>
            <a:ext cx="1178350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0203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Power BI Relationships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relationships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that you created in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 transferred to Power BI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can add additional relationships as required.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(e.g. when data is added from other sources)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6" y="2481943"/>
            <a:ext cx="12094524" cy="43165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10657" t="11678" r="13401" b="14742"/>
          <a:stretch/>
        </p:blipFill>
        <p:spPr>
          <a:xfrm>
            <a:off x="6952344" y="1242028"/>
            <a:ext cx="2220685" cy="15820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60946" y="1476260"/>
            <a:ext cx="21152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symbols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differ slightly from Access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5445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B5502-48BA-43A6-BC2F-2469B7774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Power BI Relationships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AF757-CD9C-4C9F-93DC-A0234887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in the relationship window you need to ensure the relationships between tables are properly joined  by doing the following:</a:t>
            </a:r>
          </a:p>
          <a:p>
            <a:endParaRPr lang="en-US" dirty="0"/>
          </a:p>
          <a:p>
            <a:r>
              <a:rPr lang="en-US" dirty="0"/>
              <a:t>Go to each relationship line( they should have a One way arrow on them)  Double click on it  and go to Cross filter section and select BOTH  </a:t>
            </a:r>
          </a:p>
          <a:p>
            <a:r>
              <a:rPr lang="en-AU" dirty="0"/>
              <a:t>Repeat this for all the lines and then each line will show  2 way arrows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B5FEA4-41C4-474D-A7D8-1102EC54D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716" y="3727499"/>
            <a:ext cx="5280881" cy="225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939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Power BI Data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Data Window is where you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additional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columns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/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measures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the dataset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Remove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unwanted columns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Write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Analysis Expressions)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formula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DAX formula are similar to Excel formula plus the inclusion of additional functions designed to work with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relational data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perform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dynamic aggregation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We will look at DAX formula later in the semester.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93" y="3989087"/>
            <a:ext cx="11709207" cy="277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459027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_Tiles">
  <a:themeElements>
    <a:clrScheme name="Swinburne">
      <a:dk1>
        <a:srgbClr val="D1161E"/>
      </a:dk1>
      <a:lt1>
        <a:srgbClr val="FFFFFF"/>
      </a:lt1>
      <a:dk2>
        <a:srgbClr val="000000"/>
      </a:dk2>
      <a:lt2>
        <a:srgbClr val="FFFFFF"/>
      </a:lt2>
      <a:accent1>
        <a:srgbClr val="4A8E10"/>
      </a:accent1>
      <a:accent2>
        <a:srgbClr val="0C64A7"/>
      </a:accent2>
      <a:accent3>
        <a:srgbClr val="16B1CF"/>
      </a:accent3>
      <a:accent4>
        <a:srgbClr val="FEAE35"/>
      </a:accent4>
      <a:accent5>
        <a:srgbClr val="6C008D"/>
      </a:accent5>
      <a:accent6>
        <a:srgbClr val="6D6F72"/>
      </a:accent6>
      <a:hlink>
        <a:srgbClr val="6D6F72"/>
      </a:hlink>
      <a:folHlink>
        <a:srgbClr val="D116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1192</TotalTime>
  <Words>968</Words>
  <Application>Microsoft Office PowerPoint</Application>
  <PresentationFormat>Widescreen</PresentationFormat>
  <Paragraphs>123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Open Sans</vt:lpstr>
      <vt:lpstr>Swinburne_Tiles</vt:lpstr>
      <vt:lpstr>INF10025 Data Management and Analytics</vt:lpstr>
      <vt:lpstr>Microsoft Power BI </vt:lpstr>
      <vt:lpstr>Microsoft Power BI </vt:lpstr>
      <vt:lpstr>Microsoft Power BI Desktop </vt:lpstr>
      <vt:lpstr>Microsoft Power BI help </vt:lpstr>
      <vt:lpstr>Microsoft Power BI Desktop</vt:lpstr>
      <vt:lpstr>Microsoft Power BI Desktop </vt:lpstr>
      <vt:lpstr>Microsoft Power BI Desktop </vt:lpstr>
      <vt:lpstr>Microsoft Power BI Desktop </vt:lpstr>
      <vt:lpstr>Microsoft Power BI Desktop   Then you will select Access and Connect</vt:lpstr>
      <vt:lpstr>Microsoft Power BI Desktop </vt:lpstr>
      <vt:lpstr>Microsoft Power BI Desktop </vt:lpstr>
      <vt:lpstr>Power BI Relationships Window</vt:lpstr>
      <vt:lpstr>Power BI Relationships Window</vt:lpstr>
      <vt:lpstr>Power BI Data Window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INF10025 Data Management and Analytics</dc:title>
  <dc:creator>Robert Tipping</dc:creator>
  <cp:lastModifiedBy>Robert Tipping</cp:lastModifiedBy>
  <cp:revision>2</cp:revision>
  <dcterms:created xsi:type="dcterms:W3CDTF">2023-03-01T06:14:10Z</dcterms:created>
  <dcterms:modified xsi:type="dcterms:W3CDTF">2023-03-02T02:06:18Z</dcterms:modified>
</cp:coreProperties>
</file>