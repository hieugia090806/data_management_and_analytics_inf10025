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435" r:id="rId2"/>
    <p:sldId id="431" r:id="rId3"/>
    <p:sldId id="407" r:id="rId4"/>
    <p:sldId id="408" r:id="rId5"/>
    <p:sldId id="409" r:id="rId6"/>
    <p:sldId id="432" r:id="rId7"/>
    <p:sldId id="412" r:id="rId8"/>
    <p:sldId id="411" r:id="rId9"/>
    <p:sldId id="413" r:id="rId10"/>
    <p:sldId id="415" r:id="rId11"/>
    <p:sldId id="433" r:id="rId12"/>
    <p:sldId id="434" r:id="rId13"/>
    <p:sldId id="417" r:id="rId14"/>
    <p:sldId id="416" r:id="rId15"/>
    <p:sldId id="418" r:id="rId16"/>
    <p:sldId id="419" r:id="rId17"/>
    <p:sldId id="420" r:id="rId18"/>
    <p:sldId id="421" r:id="rId19"/>
    <p:sldId id="422" r:id="rId20"/>
    <p:sldId id="423" r:id="rId21"/>
    <p:sldId id="424" r:id="rId22"/>
    <p:sldId id="42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44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7AB70-21EF-4FA3-9AF4-2955CB6CA766}" type="datetimeFigureOut">
              <a:rPr lang="en-AU" smtClean="0"/>
              <a:t>2/03/2023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FCE37-E2F0-419D-95D1-A765047705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8001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493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2430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0509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3555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499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281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540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3942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0151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7543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670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4074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11678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55269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9095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8970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11492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76272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1044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4063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959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6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48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8" name="Picture 7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5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78"/>
            <a:ext cx="10972800" cy="1058779"/>
          </a:xfrm>
        </p:spPr>
        <p:txBody>
          <a:bodyPr anchor="t"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4" cy="3917482"/>
          </a:xfrm>
          <a:noFill/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18000966">
            <a:off x="11384653" y="176022"/>
            <a:ext cx="675802" cy="661376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ircle">
              <a:avLst/>
            </a:prstTxWarp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Management and Analytics  </a:t>
            </a:r>
            <a:r>
              <a:rPr lang="en-US" sz="540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09CCC-9DBA-4EA5-AD2E-1EF65A6E5EDB}"/>
              </a:ext>
            </a:extLst>
          </p:cNvPr>
          <p:cNvSpPr txBox="1"/>
          <p:nvPr userDrawn="1"/>
        </p:nvSpPr>
        <p:spPr>
          <a:xfrm>
            <a:off x="381012" y="638279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F3ACB68-B3AC-4511-9780-21946B043BB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75530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28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344616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4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184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667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39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7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34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604008"/>
            <a:ext cx="8534400" cy="1142163"/>
          </a:xfrm>
        </p:spPr>
        <p:txBody>
          <a:bodyPr>
            <a:normAutofit fontScale="70000" lnSpcReduction="20000"/>
          </a:bodyPr>
          <a:lstStyle/>
          <a:p>
            <a:r>
              <a:rPr lang="en-AU" b="1" dirty="0"/>
              <a:t>Week 04 – Part 2</a:t>
            </a:r>
          </a:p>
          <a:p>
            <a:endParaRPr lang="en-AU" b="1" dirty="0"/>
          </a:p>
          <a:p>
            <a:r>
              <a:rPr lang="en-AU" dirty="0"/>
              <a:t>Visualizations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1075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Power BI Visualizations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visualizations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created in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Report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Window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number of visualizations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similar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Excel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charts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Excel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Pivot charts.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Many visualizations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unique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Power BI.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Typically, 1. Select a visualization. 2. Select fields to act as values for the visualization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577070" y="4423885"/>
            <a:ext cx="5614930" cy="2350192"/>
            <a:chOff x="3648075" y="2748405"/>
            <a:chExt cx="8543925" cy="401955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8075" y="2748405"/>
              <a:ext cx="8543925" cy="4019550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5439" y="3872355"/>
              <a:ext cx="2914650" cy="2895600"/>
            </a:xfrm>
            <a:prstGeom prst="rect">
              <a:avLst/>
            </a:prstGeom>
          </p:spPr>
        </p:pic>
        <p:cxnSp>
          <p:nvCxnSpPr>
            <p:cNvPr id="7" name="Straight Arrow Connector 6"/>
            <p:cNvCxnSpPr/>
            <p:nvPr/>
          </p:nvCxnSpPr>
          <p:spPr>
            <a:xfrm flipH="1">
              <a:off x="9577633" y="5835192"/>
              <a:ext cx="999241" cy="42420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>
              <a:off x="9577633" y="6089470"/>
              <a:ext cx="999241" cy="42420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 flipV="1">
              <a:off x="5392132" y="5242392"/>
              <a:ext cx="3289955" cy="9933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 flipV="1">
              <a:off x="5948313" y="5957740"/>
              <a:ext cx="2733774" cy="5559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406" y="2484431"/>
            <a:ext cx="3879603" cy="374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3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visualization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similar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an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Query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Simply click that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field names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that you wish to add to the table visualization.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field name adds a column to the visualization.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676056" y="2402388"/>
            <a:ext cx="8543925" cy="4019550"/>
            <a:chOff x="3648075" y="2748405"/>
            <a:chExt cx="8543925" cy="401955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8075" y="2748405"/>
              <a:ext cx="8543925" cy="4019550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5439" y="3872355"/>
              <a:ext cx="2914650" cy="2895600"/>
            </a:xfrm>
            <a:prstGeom prst="rect">
              <a:avLst/>
            </a:prstGeom>
          </p:spPr>
        </p:pic>
        <p:cxnSp>
          <p:nvCxnSpPr>
            <p:cNvPr id="7" name="Straight Arrow Connector 6"/>
            <p:cNvCxnSpPr/>
            <p:nvPr/>
          </p:nvCxnSpPr>
          <p:spPr>
            <a:xfrm flipH="1">
              <a:off x="9577633" y="5835192"/>
              <a:ext cx="999241" cy="42420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>
              <a:off x="9577633" y="6089470"/>
              <a:ext cx="999241" cy="42420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 flipV="1">
              <a:off x="5392132" y="5242392"/>
              <a:ext cx="3289955" cy="9933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 flipV="1">
              <a:off x="5948313" y="5957740"/>
              <a:ext cx="2733774" cy="5559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2047" y="827596"/>
            <a:ext cx="4383568" cy="70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254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Matrix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visualization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Very similar to an Access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Crosstab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Query or Excel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Pivot Table.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 a field for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values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e.g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BirthCountry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 a field for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column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values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e.g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Gender)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 a field for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aggregation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(e.g. Count of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ActorNo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153" y="2693862"/>
            <a:ext cx="3719385" cy="40158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0" y="2785420"/>
            <a:ext cx="3524250" cy="39243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3484" y="804447"/>
            <a:ext cx="3228562" cy="477598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H="1" flipV="1">
            <a:off x="2379643" y="3635566"/>
            <a:ext cx="6288107" cy="1542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3630057" y="3338111"/>
            <a:ext cx="5037693" cy="2555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3646583" y="5706737"/>
            <a:ext cx="5021167" cy="77118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76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Report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workspace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Multiple visualizations can appear on a report at the one time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73" y="2082887"/>
            <a:ext cx="5760514" cy="38626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441" y="2082887"/>
            <a:ext cx="3473183" cy="32165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46488" y="1891507"/>
            <a:ext cx="2126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6D6F72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Actors by Birth Country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4226" y="1802531"/>
            <a:ext cx="16288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6D6F72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Actors by Gender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86828" y="1802531"/>
            <a:ext cx="2625505" cy="304107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9561" y="1802530"/>
            <a:ext cx="2764324" cy="381967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59175" y="1802529"/>
            <a:ext cx="3652449" cy="381967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408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Customize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visualization setting via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Paintbrush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icon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Some visualizations have 10 or more categories of settings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6977" y="5297864"/>
            <a:ext cx="25487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Click the paintbrush icon</a:t>
            </a:r>
            <a:b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see the various visual</a:t>
            </a:r>
            <a:b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format settings for the visualization</a:t>
            </a:r>
            <a:b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D91B8D5-5115-4711-B0C7-692468F157C6}"/>
              </a:ext>
            </a:extLst>
          </p:cNvPr>
          <p:cNvSpPr/>
          <p:nvPr/>
        </p:nvSpPr>
        <p:spPr>
          <a:xfrm>
            <a:off x="9279804" y="297307"/>
            <a:ext cx="924914" cy="74384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1FD7EB-43B6-4EFD-B991-BC3D30618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808" y="1617558"/>
            <a:ext cx="1657350" cy="45053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605D07-1627-408D-B705-881918E13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60" y="1891507"/>
            <a:ext cx="2432211" cy="305752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9F09AA-9008-453E-B008-1F8C1FBA7E7E}"/>
              </a:ext>
            </a:extLst>
          </p:cNvPr>
          <p:cNvCxnSpPr>
            <a:cxnSpLocks/>
          </p:cNvCxnSpPr>
          <p:nvPr/>
        </p:nvCxnSpPr>
        <p:spPr>
          <a:xfrm flipV="1">
            <a:off x="314470" y="2785403"/>
            <a:ext cx="1276893" cy="252614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244DC49A-D25A-4ABE-9FB4-C3993659D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9791" y="1579842"/>
            <a:ext cx="2763828" cy="484883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7A24949-3D38-4C0B-9325-CF223CD941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5127" y="207264"/>
            <a:ext cx="163830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040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84352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settings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for the visualization only apply to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visualization. The settings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cannot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 saved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(although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can save the entire workspace as a PBIX file).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you delete a visualization and then recreate it, you will need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recreate all of the settings again.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14" y="3019033"/>
            <a:ext cx="4071353" cy="30563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3176" y="4729408"/>
            <a:ext cx="1704975" cy="19240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/>
          <a:srcRect b="24907"/>
          <a:stretch/>
        </p:blipFill>
        <p:spPr>
          <a:xfrm>
            <a:off x="5235214" y="4696693"/>
            <a:ext cx="1967633" cy="161083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18895" y="4729408"/>
            <a:ext cx="25487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Default style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Custom style</a:t>
            </a:r>
            <a:b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7026171" y="5090474"/>
            <a:ext cx="544301" cy="1885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8606672" y="5623380"/>
            <a:ext cx="43822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6672" y="1047961"/>
            <a:ext cx="29337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215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slicer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visualization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 visual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filter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slicer applies to all other visualizations in the report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91507"/>
            <a:ext cx="5572125" cy="3762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377" y="1861159"/>
            <a:ext cx="4182631" cy="392631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285" y="778216"/>
            <a:ext cx="2612939" cy="615907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4074059" y="1548143"/>
            <a:ext cx="2480650" cy="3530851"/>
          </a:xfrm>
          <a:prstGeom prst="ellipse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4784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report work area may have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slicers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slicers have paintbrush icon settings that allow options such as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Only one box to be ticked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Multiple box to be ticked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Select All box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792" y="698450"/>
            <a:ext cx="2612939" cy="6159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616" y="2923602"/>
            <a:ext cx="627697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512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allows you to use data from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multiple sources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example allows the developer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create a new table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(and data)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within the Power BI dataset.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Click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Enter Data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select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Create Table.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example creates the table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MyLocations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creates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Suburb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fields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52945" y="2782174"/>
            <a:ext cx="5720282" cy="3648783"/>
            <a:chOff x="2201500" y="2845336"/>
            <a:chExt cx="5720282" cy="364878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1500" y="2845336"/>
              <a:ext cx="5720282" cy="3648783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>
            <a:xfrm>
              <a:off x="7007383" y="4074059"/>
              <a:ext cx="153909" cy="1448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7441950" y="4555172"/>
            <a:ext cx="2209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Imagine that every customer record has a location id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1 to 6 </a:t>
            </a:r>
          </a:p>
        </p:txBody>
      </p:sp>
    </p:spTree>
    <p:extLst>
      <p:ext uri="{BB962C8B-B14F-4D97-AF65-F5344CB8AC3E}">
        <p14:creationId xmlns:p14="http://schemas.microsoft.com/office/powerpoint/2010/main" val="3415213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6808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new table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can be added to the existing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relationship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diagram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customer.locationcode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references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MyLocations.id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340" y="635267"/>
            <a:ext cx="2773680" cy="590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880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63169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Visualization.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Map visualization tool can highlight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geographical point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can use any (all) of these to indicate a geographic point 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Suburb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Town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City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Country Name 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PostCode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Longitude &amp; Latitude co-ordinates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this example 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suburb name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used to identify a geographic location on a map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493" y="142643"/>
            <a:ext cx="2806856" cy="653320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7396493" y="1164657"/>
            <a:ext cx="4185907" cy="5510463"/>
            <a:chOff x="7396493" y="1164657"/>
            <a:chExt cx="4185907" cy="5510463"/>
          </a:xfrm>
        </p:grpSpPr>
        <p:grpSp>
          <p:nvGrpSpPr>
            <p:cNvPr id="9" name="Group 8"/>
            <p:cNvGrpSpPr/>
            <p:nvPr/>
          </p:nvGrpSpPr>
          <p:grpSpPr>
            <a:xfrm>
              <a:off x="7396493" y="1164657"/>
              <a:ext cx="4185907" cy="5510463"/>
              <a:chOff x="8006021" y="613943"/>
              <a:chExt cx="3381375" cy="4870921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 rotWithShape="1">
              <a:blip r:embed="rId4"/>
              <a:srcRect b="35784"/>
              <a:stretch/>
            </p:blipFill>
            <p:spPr>
              <a:xfrm>
                <a:off x="8006021" y="613943"/>
                <a:ext cx="1752600" cy="1651471"/>
              </a:xfrm>
              <a:prstGeom prst="rect">
                <a:avLst/>
              </a:prstGeom>
            </p:spPr>
          </p:pic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6021" y="2265414"/>
                <a:ext cx="3381375" cy="3219450"/>
              </a:xfrm>
              <a:prstGeom prst="rect">
                <a:avLst/>
              </a:prstGeom>
            </p:spPr>
          </p:pic>
        </p:grp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99351" y="3615248"/>
              <a:ext cx="2022212" cy="42512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96493" y="4309694"/>
              <a:ext cx="2066484" cy="377555"/>
            </a:xfrm>
            <a:prstGeom prst="rect">
              <a:avLst/>
            </a:prstGeom>
          </p:spPr>
        </p:pic>
        <p:cxnSp>
          <p:nvCxnSpPr>
            <p:cNvPr id="10" name="Straight Arrow Connector 9"/>
            <p:cNvCxnSpPr/>
            <p:nvPr/>
          </p:nvCxnSpPr>
          <p:spPr>
            <a:xfrm flipH="1" flipV="1">
              <a:off x="8175280" y="3711921"/>
              <a:ext cx="1593409" cy="452673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51837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Visualization.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places dots on the Map.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size of the dot is specified in the Size property.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Here we have used ID – not very meaningful.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Typically we would use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CountOfCustId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or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SumOfSaleQty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44" y="3213418"/>
            <a:ext cx="4286256" cy="34077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521" y="239032"/>
            <a:ext cx="2806856" cy="653320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7460996" y="1750204"/>
            <a:ext cx="3381375" cy="4870921"/>
            <a:chOff x="8006021" y="613943"/>
            <a:chExt cx="3381375" cy="4870921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5"/>
            <a:srcRect b="35784"/>
            <a:stretch/>
          </p:blipFill>
          <p:spPr>
            <a:xfrm>
              <a:off x="8006021" y="613943"/>
              <a:ext cx="1752600" cy="1651471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6021" y="2265414"/>
              <a:ext cx="3381375" cy="3219450"/>
            </a:xfrm>
            <a:prstGeom prst="rect">
              <a:avLst/>
            </a:prstGeom>
          </p:spPr>
        </p:pic>
      </p:grpSp>
      <p:cxnSp>
        <p:nvCxnSpPr>
          <p:cNvPr id="13" name="Straight Arrow Connector 12"/>
          <p:cNvCxnSpPr/>
          <p:nvPr/>
        </p:nvCxnSpPr>
        <p:spPr>
          <a:xfrm flipH="1">
            <a:off x="8832916" y="4157221"/>
            <a:ext cx="1536569" cy="22907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7460996" y="1110662"/>
            <a:ext cx="4185907" cy="5510463"/>
            <a:chOff x="7396493" y="1164657"/>
            <a:chExt cx="4185907" cy="5510463"/>
          </a:xfrm>
        </p:grpSpPr>
        <p:grpSp>
          <p:nvGrpSpPr>
            <p:cNvPr id="12" name="Group 11"/>
            <p:cNvGrpSpPr/>
            <p:nvPr/>
          </p:nvGrpSpPr>
          <p:grpSpPr>
            <a:xfrm>
              <a:off x="7396493" y="1164657"/>
              <a:ext cx="4185907" cy="5510463"/>
              <a:chOff x="8006021" y="613943"/>
              <a:chExt cx="3381375" cy="4870921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5"/>
              <a:srcRect b="35784"/>
              <a:stretch/>
            </p:blipFill>
            <p:spPr>
              <a:xfrm>
                <a:off x="8006021" y="613943"/>
                <a:ext cx="1752600" cy="1651471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06021" y="2265414"/>
                <a:ext cx="3381375" cy="3219450"/>
              </a:xfrm>
              <a:prstGeom prst="rect">
                <a:avLst/>
              </a:prstGeom>
            </p:spPr>
          </p:pic>
        </p:grp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99351" y="3615248"/>
              <a:ext cx="2022212" cy="42512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96493" y="4309694"/>
              <a:ext cx="2066484" cy="377555"/>
            </a:xfrm>
            <a:prstGeom prst="rect">
              <a:avLst/>
            </a:prstGeom>
          </p:spPr>
        </p:pic>
        <p:cxnSp>
          <p:nvCxnSpPr>
            <p:cNvPr id="16" name="Straight Arrow Connector 15"/>
            <p:cNvCxnSpPr/>
            <p:nvPr/>
          </p:nvCxnSpPr>
          <p:spPr>
            <a:xfrm flipH="1">
              <a:off x="8410458" y="3978874"/>
              <a:ext cx="1348049" cy="2383314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0310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is often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problem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 individual suburb names, town names, postcodes etc.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is a little bit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North America - centric.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such situations you may have to provide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more specific location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information.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920" y="2543355"/>
            <a:ext cx="6837394" cy="360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26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this example, we will add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new field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an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existing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table.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Under the New Measure icon, select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New Column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option.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70628"/>
          <a:stretch/>
        </p:blipFill>
        <p:spPr>
          <a:xfrm>
            <a:off x="3171071" y="2304861"/>
            <a:ext cx="2478759" cy="3352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81873"/>
          <a:stretch/>
        </p:blipFill>
        <p:spPr>
          <a:xfrm>
            <a:off x="5725244" y="2304861"/>
            <a:ext cx="1529794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017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is where it can be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confusing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formula bar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when you enter the new field name.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Replace the phrase "Column = " with …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06" y="2510356"/>
            <a:ext cx="5149112" cy="371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42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new field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(e.g.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FullAddress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new calculation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(e.g. [suburb] &amp; ", Victoria, Australia"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Note: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ampersand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character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&amp;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used to join /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concatenate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556" y="2532236"/>
            <a:ext cx="5086901" cy="233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987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new field named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FullAddress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has been built and populated.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new data can be used by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Map visualization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 far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better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results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482" y="2225588"/>
            <a:ext cx="5761266" cy="28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37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5E8C1C-2304-4BF6-BC11-34C54A79C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2" y="2265481"/>
            <a:ext cx="9715500" cy="1343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also allows you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categorize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type of data in a table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Click on a field and click a matching category type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9797828" y="2111685"/>
            <a:ext cx="2305050" cy="3543300"/>
            <a:chOff x="4943475" y="1657350"/>
            <a:chExt cx="2305050" cy="354330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43475" y="1657350"/>
              <a:ext cx="2305050" cy="354330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72533" y="2169672"/>
              <a:ext cx="200025" cy="219075"/>
            </a:xfrm>
            <a:prstGeom prst="rect">
              <a:avLst/>
            </a:prstGeom>
          </p:spPr>
        </p:pic>
      </p:grpSp>
      <p:sp>
        <p:nvSpPr>
          <p:cNvPr id="9" name="Down Arrow 8"/>
          <p:cNvSpPr/>
          <p:nvPr/>
        </p:nvSpPr>
        <p:spPr>
          <a:xfrm rot="8462802">
            <a:off x="6267143" y="3053170"/>
            <a:ext cx="267313" cy="512322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8F0CA51-E2EC-4683-BFF9-14850CD29525}"/>
              </a:ext>
            </a:extLst>
          </p:cNvPr>
          <p:cNvSpPr/>
          <p:nvPr/>
        </p:nvSpPr>
        <p:spPr>
          <a:xfrm>
            <a:off x="2857701" y="2111685"/>
            <a:ext cx="1072055" cy="5966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3248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03360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Now when the data is displayed, all the locations should be confined to the country, state etc. that you specified.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15139"/>
          <a:stretch/>
        </p:blipFill>
        <p:spPr>
          <a:xfrm>
            <a:off x="609600" y="2205872"/>
            <a:ext cx="10779210" cy="429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92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Tree Map visualization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A rectangle is drawn for each data value.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bigger the rectangle the bigger the data values.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example highlights the count of castings for each actor.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Many rectangles are very small (an actor may only have 1 casting).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63" y="2419442"/>
            <a:ext cx="7817399" cy="40548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6853" y="2671691"/>
            <a:ext cx="339090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79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Most visualizations have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Visual Filter setting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this case the minimum Count of Castings has been set at 10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Rectangles only appear for actors who meet this criteria.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925" y="1614277"/>
            <a:ext cx="2276475" cy="3619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25448"/>
            <a:ext cx="8423684" cy="44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46011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8469</TotalTime>
  <Words>899</Words>
  <Application>Microsoft Office PowerPoint</Application>
  <PresentationFormat>Widescreen</PresentationFormat>
  <Paragraphs>160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Open Sans</vt:lpstr>
      <vt:lpstr>Swinburne_Tiles</vt:lpstr>
      <vt:lpstr>INF10025 Data Management and Analytics</vt:lpstr>
      <vt:lpstr>Power BI Visualizations </vt:lpstr>
      <vt:lpstr>Microsoft Power BI Desktop </vt:lpstr>
      <vt:lpstr>Microsoft Power BI Desktop </vt:lpstr>
      <vt:lpstr>Microsoft Power BI Desktop </vt:lpstr>
      <vt:lpstr>Microsoft Power BI Desktop </vt:lpstr>
      <vt:lpstr>Microsoft Power BI Desktop </vt:lpstr>
      <vt:lpstr>Microsoft Power BI Desktop </vt:lpstr>
      <vt:lpstr>Microsoft Power BI Desktop </vt:lpstr>
      <vt:lpstr>Microsoft Power BI Desktop </vt:lpstr>
      <vt:lpstr>Microsoft Power BI Desktop </vt:lpstr>
      <vt:lpstr>Microsoft Power BI </vt:lpstr>
      <vt:lpstr>Microsoft Power BI Desktop </vt:lpstr>
      <vt:lpstr>Microsoft Power BI Desktop </vt:lpstr>
      <vt:lpstr>Microsoft Power BI Desktop </vt:lpstr>
      <vt:lpstr>Microsoft Power BI Desktop </vt:lpstr>
      <vt:lpstr>Microsoft Power BI Desktop </vt:lpstr>
      <vt:lpstr>Microsoft Power BI Desktop </vt:lpstr>
      <vt:lpstr>Microsoft Power BI Desktop </vt:lpstr>
      <vt:lpstr>Microsoft Power BI Desktop </vt:lpstr>
      <vt:lpstr>Microsoft Power BI Desktop </vt:lpstr>
      <vt:lpstr>Microsoft Power BI Desktop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</dc:title>
  <dc:creator>Robert Tipping</dc:creator>
  <cp:lastModifiedBy>Robert Tipping</cp:lastModifiedBy>
  <cp:revision>2</cp:revision>
  <dcterms:created xsi:type="dcterms:W3CDTF">2023-03-02T02:06:24Z</dcterms:created>
  <dcterms:modified xsi:type="dcterms:W3CDTF">2023-03-07T23:15:42Z</dcterms:modified>
</cp:coreProperties>
</file>