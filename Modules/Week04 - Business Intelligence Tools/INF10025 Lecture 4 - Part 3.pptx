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441" r:id="rId2"/>
    <p:sldId id="436" r:id="rId3"/>
    <p:sldId id="438" r:id="rId4"/>
    <p:sldId id="439" r:id="rId5"/>
    <p:sldId id="440" r:id="rId6"/>
    <p:sldId id="426" r:id="rId7"/>
    <p:sldId id="43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9BB873-17A0-474A-84A3-DB76490B5328}" type="datetimeFigureOut">
              <a:rPr lang="en-AU" smtClean="0"/>
              <a:t>2/03/2023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1A0769-0642-469B-9696-DFD85492B95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46324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90808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39404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10156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31244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4727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65985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2012846"/>
            <a:ext cx="10363200" cy="1470025"/>
          </a:xfrm>
        </p:spPr>
        <p:txBody>
          <a:bodyPr anchor="b" anchorCtr="0">
            <a:normAutofit/>
          </a:bodyPr>
          <a:lstStyle>
            <a:lvl1pPr algn="ctr">
              <a:defRPr sz="4800" b="0">
                <a:latin typeface="Open Sans"/>
                <a:cs typeface="Open Sans"/>
              </a:defRPr>
            </a:lvl1pPr>
          </a:lstStyle>
          <a:p>
            <a:r>
              <a:rPr lang="en-AU" dirty="0"/>
              <a:t>Presentation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828800" y="3604008"/>
            <a:ext cx="8534400" cy="1752600"/>
          </a:xfrm>
          <a:noFill/>
        </p:spPr>
        <p:txBody>
          <a:bodyPr/>
          <a:lstStyle>
            <a:lvl1pPr marL="0" indent="0" algn="ctr">
              <a:buNone/>
              <a:defRPr>
                <a:solidFill>
                  <a:schemeClr val="tx2"/>
                </a:solidFill>
                <a:latin typeface="Open Sans"/>
                <a:cs typeface="Open San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 dirty="0"/>
              <a:t>Subtitle</a:t>
            </a:r>
            <a:endParaRPr lang="en-US" dirty="0"/>
          </a:p>
        </p:txBody>
      </p:sp>
      <p:pic>
        <p:nvPicPr>
          <p:cNvPr id="8" name="Picture 7" descr="Swinburne Logo RGB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0"/>
            <a:ext cx="121920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360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105878"/>
            <a:ext cx="10972800" cy="1058779"/>
          </a:xfrm>
        </p:spPr>
        <p:txBody>
          <a:bodyPr anchor="t">
            <a:normAutofit/>
          </a:bodyPr>
          <a:lstStyle>
            <a:lvl1pPr>
              <a:defRPr sz="4400" b="0">
                <a:latin typeface="Open Sans"/>
                <a:cs typeface="Open Sans"/>
              </a:defRPr>
            </a:lvl1pPr>
          </a:lstStyle>
          <a:p>
            <a:r>
              <a:rPr lang="en-AU" dirty="0"/>
              <a:t>Slide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87655"/>
            <a:ext cx="10680834" cy="3917482"/>
          </a:xfrm>
          <a:noFill/>
        </p:spPr>
        <p:txBody>
          <a:bodyPr/>
          <a:lstStyle>
            <a:lvl1pPr>
              <a:defRPr sz="2400">
                <a:solidFill>
                  <a:srgbClr val="000000"/>
                </a:solidFill>
                <a:latin typeface="Open Sans"/>
                <a:cs typeface="Open Sans"/>
              </a:defRPr>
            </a:lvl1pPr>
            <a:lvl2pPr>
              <a:defRPr sz="2400">
                <a:solidFill>
                  <a:srgbClr val="000000"/>
                </a:solidFill>
                <a:latin typeface="Open Sans"/>
                <a:cs typeface="Open Sans"/>
              </a:defRPr>
            </a:lvl2pPr>
            <a:lvl3pPr>
              <a:defRPr sz="2400">
                <a:solidFill>
                  <a:srgbClr val="000000"/>
                </a:solidFill>
                <a:latin typeface="Open Sans"/>
                <a:cs typeface="Open Sans"/>
              </a:defRPr>
            </a:lvl3pPr>
            <a:lvl4pPr>
              <a:defRPr sz="2400">
                <a:solidFill>
                  <a:srgbClr val="000000"/>
                </a:solidFill>
                <a:latin typeface="Open Sans"/>
                <a:cs typeface="Open Sans"/>
              </a:defRPr>
            </a:lvl4pPr>
            <a:lvl5pPr>
              <a:defRPr sz="2400">
                <a:solidFill>
                  <a:srgbClr val="000000"/>
                </a:solidFill>
                <a:latin typeface="Open Sans"/>
                <a:cs typeface="Open Sans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 5"/>
          <p:cNvSpPr/>
          <p:nvPr userDrawn="1"/>
        </p:nvSpPr>
        <p:spPr>
          <a:xfrm rot="18000966">
            <a:off x="11384653" y="176022"/>
            <a:ext cx="675802" cy="661376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Circle">
              <a:avLst/>
            </a:prstTxWarp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 Management and Analytics  </a:t>
            </a:r>
            <a:r>
              <a:rPr lang="en-US" sz="5400" b="0" cap="none" spc="0" baseline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809CCC-9DBA-4EA5-AD2E-1EF65A6E5EDB}"/>
              </a:ext>
            </a:extLst>
          </p:cNvPr>
          <p:cNvSpPr txBox="1"/>
          <p:nvPr userDrawn="1"/>
        </p:nvSpPr>
        <p:spPr>
          <a:xfrm>
            <a:off x="381012" y="6382790"/>
            <a:ext cx="457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FF3ACB68-B3AC-4511-9780-21946B043BB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338424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74638"/>
            <a:ext cx="10972800" cy="1143000"/>
          </a:xfrm>
        </p:spPr>
        <p:txBody>
          <a:bodyPr>
            <a:normAutofit/>
          </a:bodyPr>
          <a:lstStyle>
            <a:lvl1pPr>
              <a:defRPr sz="4400" b="0">
                <a:latin typeface="Open Sans"/>
                <a:cs typeface="Open Sans"/>
              </a:defRPr>
            </a:lvl1pPr>
          </a:lstStyle>
          <a:p>
            <a:r>
              <a:rPr lang="en-AU" dirty="0"/>
              <a:t>Slide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3844703"/>
          </a:xfrm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Open Sans"/>
                <a:cs typeface="Open Sans"/>
              </a:defRPr>
            </a:lvl1pPr>
            <a:lvl2pPr>
              <a:defRPr sz="2400">
                <a:solidFill>
                  <a:srgbClr val="000000"/>
                </a:solidFill>
                <a:latin typeface="Open Sans"/>
                <a:cs typeface="Open Sans"/>
              </a:defRPr>
            </a:lvl2pPr>
            <a:lvl3pPr>
              <a:defRPr sz="2000">
                <a:solidFill>
                  <a:srgbClr val="000000"/>
                </a:solidFill>
                <a:latin typeface="Open Sans"/>
                <a:cs typeface="Open Sans"/>
              </a:defRPr>
            </a:lvl3pPr>
            <a:lvl4pPr>
              <a:defRPr sz="1800">
                <a:solidFill>
                  <a:srgbClr val="000000"/>
                </a:solidFill>
                <a:latin typeface="Open Sans"/>
                <a:cs typeface="Open Sans"/>
              </a:defRPr>
            </a:lvl4pPr>
            <a:lvl5pPr>
              <a:defRPr sz="1800">
                <a:solidFill>
                  <a:srgbClr val="000000"/>
                </a:solidFill>
                <a:latin typeface="Open Sans"/>
                <a:cs typeface="Open San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3844703"/>
          </a:xfrm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Open Sans"/>
                <a:cs typeface="Open Sans"/>
              </a:defRPr>
            </a:lvl1pPr>
            <a:lvl2pPr>
              <a:defRPr sz="2400">
                <a:solidFill>
                  <a:srgbClr val="000000"/>
                </a:solidFill>
                <a:latin typeface="Open Sans"/>
                <a:cs typeface="Open Sans"/>
              </a:defRPr>
            </a:lvl2pPr>
            <a:lvl3pPr>
              <a:defRPr sz="2000">
                <a:solidFill>
                  <a:srgbClr val="000000"/>
                </a:solidFill>
                <a:latin typeface="Open Sans"/>
                <a:cs typeface="Open Sans"/>
              </a:defRPr>
            </a:lvl3pPr>
            <a:lvl4pPr>
              <a:defRPr sz="1800">
                <a:solidFill>
                  <a:srgbClr val="000000"/>
                </a:solidFill>
                <a:latin typeface="Open Sans"/>
                <a:cs typeface="Open Sans"/>
              </a:defRPr>
            </a:lvl4pPr>
            <a:lvl5pPr>
              <a:defRPr sz="1800">
                <a:solidFill>
                  <a:srgbClr val="000000"/>
                </a:solidFill>
                <a:latin typeface="Open Sans"/>
                <a:cs typeface="Open San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6" name="Picture 5" descr="KNOWING Logo RGB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5567700"/>
            <a:ext cx="12192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035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1" y="1344616"/>
            <a:ext cx="9487359" cy="1465609"/>
          </a:xfrm>
        </p:spPr>
        <p:txBody>
          <a:bodyPr anchor="b" anchorCtr="0">
            <a:normAutofit/>
          </a:bodyPr>
          <a:lstStyle>
            <a:lvl1pPr>
              <a:defRPr sz="4000" b="0">
                <a:latin typeface="Open Sans"/>
                <a:cs typeface="Open Sans"/>
              </a:defRPr>
            </a:lvl1pPr>
          </a:lstStyle>
          <a:p>
            <a:r>
              <a:rPr lang="en-AU" dirty="0"/>
              <a:t>Heading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601" y="2927805"/>
            <a:ext cx="9487359" cy="2563256"/>
          </a:xfrm>
          <a:noFill/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000000"/>
                </a:solidFill>
                <a:latin typeface="Open Sans"/>
                <a:cs typeface="Open Sans"/>
              </a:defRPr>
            </a:lvl1pPr>
          </a:lstStyle>
          <a:p>
            <a:pPr lvl="0"/>
            <a:r>
              <a:rPr lang="en-US" dirty="0"/>
              <a:t>Sub-heading</a:t>
            </a:r>
          </a:p>
        </p:txBody>
      </p:sp>
      <p:pic>
        <p:nvPicPr>
          <p:cNvPr id="6" name="Picture 5" descr="Swinburne Logo RGB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0"/>
            <a:ext cx="1219200" cy="1828800"/>
          </a:xfrm>
          <a:prstGeom prst="rect">
            <a:avLst/>
          </a:prstGeom>
        </p:spPr>
      </p:pic>
      <p:pic>
        <p:nvPicPr>
          <p:cNvPr id="7" name="Picture 6" descr="KNOWING Logo RGB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5567700"/>
            <a:ext cx="12192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67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5744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7">
            <a:alphaModFix amt="9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AU" dirty="0"/>
              <a:t>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17639"/>
            <a:ext cx="10972800" cy="3991833"/>
          </a:xfrm>
          <a:prstGeom prst="rect">
            <a:avLst/>
          </a:prstGeom>
          <a:solidFill>
            <a:srgbClr val="F6F6F6"/>
          </a:solidFill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5" name="Picture 4" descr="KNOWING Logo RGB.png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215" y="5866083"/>
            <a:ext cx="1219200" cy="91440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1206367" y="6710785"/>
            <a:ext cx="95497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0824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4400" b="0" kern="1200">
          <a:solidFill>
            <a:schemeClr val="tx1"/>
          </a:solidFill>
          <a:latin typeface="Open Sans"/>
          <a:ea typeface="+mj-ea"/>
          <a:cs typeface="Open San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echonthenet.com/access/functions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onthenet.com/excel/formulas/ucase.php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INF10025</a:t>
            </a:r>
            <a:br>
              <a:rPr lang="en-AU" dirty="0"/>
            </a:br>
            <a:r>
              <a:rPr lang="en-AU" dirty="0"/>
              <a:t>Data Management and Analytics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604008"/>
            <a:ext cx="8534400" cy="1133455"/>
          </a:xfrm>
        </p:spPr>
        <p:txBody>
          <a:bodyPr>
            <a:normAutofit fontScale="70000" lnSpcReduction="20000"/>
          </a:bodyPr>
          <a:lstStyle/>
          <a:p>
            <a:r>
              <a:rPr lang="en-AU" b="1" dirty="0"/>
              <a:t>Week 04 – Part 3</a:t>
            </a:r>
          </a:p>
          <a:p>
            <a:endParaRPr lang="en-AU" b="1" dirty="0"/>
          </a:p>
          <a:p>
            <a:r>
              <a:rPr lang="en-AU" dirty="0"/>
              <a:t>Access and Power BI functions</a:t>
            </a:r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210758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Access / Power BI Functions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832728"/>
            <a:ext cx="1052616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 Access queries and Power BI data window you often need to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manipulate data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There are many built in functions that can assist.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Many functions have identical syntax in Access and Power BI.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Use Google and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3"/>
              </a:rPr>
              <a:t>www.techonthenet.com/access/functions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to assist with the syntax.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Joining / Concatenating strings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Use the ampersand &amp; character to join strings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 [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movieno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] &amp; " " &amp; [title]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If you include numeric data, the application will automatically convert the number to a string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 [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movieno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] &amp; " " &amp; [title] &amp; " " &amp; [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relyear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]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https://www.techonthenet.com/access/functions/string/concat.php</a:t>
            </a:r>
          </a:p>
        </p:txBody>
      </p:sp>
    </p:spTree>
    <p:extLst>
      <p:ext uri="{BB962C8B-B14F-4D97-AF65-F5344CB8AC3E}">
        <p14:creationId xmlns:p14="http://schemas.microsoft.com/office/powerpoint/2010/main" val="3621756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Power BI Functions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832728"/>
            <a:ext cx="11214226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Left(), Right(), Mid()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These functions grab a small part of a string from a larger string.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Access and Power BI are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not zero-based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(as distinct from many programming languages).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first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character in a string is in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position 1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– not position 0.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Left(&lt;original string&gt;, &lt;number of characters&gt;)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Right(&lt;original string&gt;, &lt;number of characters&gt;)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Mid(&lt;original string&gt;, &lt;starting position&gt;, &lt;number of characters&gt;)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Title is "The Matrix"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Left([title],3)  results in "The"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Right([title],4)  results in "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trix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"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Mid([title],5,3)  results in "Mat"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https://www.techonthenet.com/access/functions/string/mid.php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9389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Power BI Functions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832728"/>
            <a:ext cx="1121422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upper(), lower(),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ucase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(),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lcase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These functions convert a string into upper or lower case.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Any characters not a-z or A-Z are ignored and do not change.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Access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uses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ucase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() and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lcase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Power BI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uses upper() and lower()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Title is "The Matrix"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upper([title])  results in "THE MATRIX"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lower([title])  results in "the matrix"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3"/>
              </a:rPr>
              <a:t>https://www.techonthenet.com/excel/formulas/ucase.php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74321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Power BI Functions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832728"/>
            <a:ext cx="1121422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mod()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MOD function returns the remainder of a number after it is divided by a divisor.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MOD(&lt;number&gt;, &lt;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diviser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&gt;)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e.g. MOD([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relyear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],4)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https://powerapps.microsoft.com/en-us/tutorials/function-mod/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3968" y="2560579"/>
            <a:ext cx="3566500" cy="2368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4760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Power BI Functions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832728"/>
            <a:ext cx="1158240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Date(), Today(), Now() &amp;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DateValue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Today() returns the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current date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in Power BI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Date() returns the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current date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in Access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Now() returns the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current date and time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in both Access &amp; Power BI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DateValue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(&lt;original string date&gt;)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returns a date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based on a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string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DateValue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("1 Jan 2015") returns 1/1/2015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DateValue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("1 January, 2015") returns 1/1/2015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DateValue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("1 Jan 15") returns 1/1/2015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8971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Access Strings Dates &amp; Parameter names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832728"/>
            <a:ext cx="115824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You can use the value of a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parameter name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in a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field expression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in Access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Parameter [Enter Name] = "Fred"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 "The parameter value is " &amp; [Enter Name]       results in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D1161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parameter value is Fred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Parameter [Enter Year] = "1998"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DateValue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("15 May " &amp; [Enter Year] )           results in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D1161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15/5/1998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7938267"/>
      </p:ext>
    </p:extLst>
  </p:cSld>
  <p:clrMapOvr>
    <a:masterClrMapping/>
  </p:clrMapOvr>
</p:sld>
</file>

<file path=ppt/theme/theme1.xml><?xml version="1.0" encoding="utf-8"?>
<a:theme xmlns:a="http://schemas.openxmlformats.org/drawingml/2006/main" name="Swinburne_Tiles">
  <a:themeElements>
    <a:clrScheme name="Swinburne">
      <a:dk1>
        <a:srgbClr val="D1161E"/>
      </a:dk1>
      <a:lt1>
        <a:srgbClr val="FFFFFF"/>
      </a:lt1>
      <a:dk2>
        <a:srgbClr val="000000"/>
      </a:dk2>
      <a:lt2>
        <a:srgbClr val="FFFFFF"/>
      </a:lt2>
      <a:accent1>
        <a:srgbClr val="4A8E10"/>
      </a:accent1>
      <a:accent2>
        <a:srgbClr val="0C64A7"/>
      </a:accent2>
      <a:accent3>
        <a:srgbClr val="16B1CF"/>
      </a:accent3>
      <a:accent4>
        <a:srgbClr val="FEAE35"/>
      </a:accent4>
      <a:accent5>
        <a:srgbClr val="6C008D"/>
      </a:accent5>
      <a:accent6>
        <a:srgbClr val="6D6F72"/>
      </a:accent6>
      <a:hlink>
        <a:srgbClr val="6D6F72"/>
      </a:hlink>
      <a:folHlink>
        <a:srgbClr val="D1161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597</Words>
  <Application>Microsoft Office PowerPoint</Application>
  <PresentationFormat>Widescreen</PresentationFormat>
  <Paragraphs>93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Open Sans</vt:lpstr>
      <vt:lpstr>Swinburne_Tiles</vt:lpstr>
      <vt:lpstr>INF10025 Data Management and Analytics</vt:lpstr>
      <vt:lpstr>Access / Power BI Functions</vt:lpstr>
      <vt:lpstr>Power BI Functions</vt:lpstr>
      <vt:lpstr>Power BI Functions</vt:lpstr>
      <vt:lpstr>Power BI Functions</vt:lpstr>
      <vt:lpstr>Power BI Functions</vt:lpstr>
      <vt:lpstr>Access Strings Dates &amp; Parameter names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INF10025 Data Management and Analytics</dc:title>
  <dc:creator>Robert Tipping</dc:creator>
  <cp:lastModifiedBy>Robert Tipping</cp:lastModifiedBy>
  <cp:revision>1</cp:revision>
  <dcterms:created xsi:type="dcterms:W3CDTF">2023-03-02T02:08:41Z</dcterms:created>
  <dcterms:modified xsi:type="dcterms:W3CDTF">2023-03-02T02:10:06Z</dcterms:modified>
</cp:coreProperties>
</file>