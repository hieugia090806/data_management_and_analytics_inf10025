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16" r:id="rId3"/>
    <p:sldId id="267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4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3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66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19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4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958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5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18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366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685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72034"/>
            <a:ext cx="9144000" cy="2388859"/>
          </a:xfrm>
        </p:spPr>
        <p:txBody>
          <a:bodyPr>
            <a:normAutofit/>
          </a:bodyPr>
          <a:lstStyle/>
          <a:p>
            <a:r>
              <a:rPr lang="en-AU" b="1" dirty="0"/>
              <a:t>Week 01 – Part 2</a:t>
            </a:r>
          </a:p>
          <a:p>
            <a:endParaRPr lang="en-AU" b="1" dirty="0"/>
          </a:p>
          <a:p>
            <a:r>
              <a:rPr lang="en-AU" dirty="0"/>
              <a:t>MS Access, Table, Record, Field,</a:t>
            </a:r>
          </a:p>
          <a:p>
            <a:r>
              <a:rPr lang="en-AU" dirty="0"/>
              <a:t>Primary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92869-0DEC-4190-9E59-FD3B52C9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13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 Basics </a:t>
            </a:r>
            <a:r>
              <a:rPr lang="en-AU" dirty="0"/>
              <a:t>in MS Access</a:t>
            </a:r>
            <a:endParaRPr lang="en-AU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44212" y="3439510"/>
            <a:ext cx="11490877" cy="2687421"/>
          </a:xfrm>
        </p:spPr>
        <p:txBody>
          <a:bodyPr/>
          <a:lstStyle/>
          <a:p>
            <a:r>
              <a:rPr lang="en-AU" dirty="0"/>
              <a:t>Overview | Tables | Datasheets | Rows/Records | Columns/Fields | Properties | Primary Keys | </a:t>
            </a:r>
            <a:r>
              <a:rPr lang="en-AU" dirty="0" err="1"/>
              <a:t>Autonumber</a:t>
            </a:r>
            <a:r>
              <a:rPr lang="en-AU" dirty="0"/>
              <a:t> |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6801A-D798-4D9F-A023-C3301921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31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2" y="1509387"/>
            <a:ext cx="11371537" cy="4536689"/>
          </a:xfrm>
        </p:spPr>
        <p:txBody>
          <a:bodyPr>
            <a:normAutofit fontScale="77500" lnSpcReduction="20000"/>
          </a:bodyPr>
          <a:lstStyle/>
          <a:p>
            <a:r>
              <a:rPr lang="en-AU" dirty="0"/>
              <a:t>Access is a </a:t>
            </a:r>
            <a:r>
              <a:rPr lang="en-AU" b="1" dirty="0"/>
              <a:t>complete RDBMS</a:t>
            </a:r>
          </a:p>
          <a:p>
            <a:endParaRPr lang="en-AU" b="1" dirty="0"/>
          </a:p>
          <a:p>
            <a:r>
              <a:rPr lang="en-AU" dirty="0"/>
              <a:t>It is mainly used by individuals or small organisations</a:t>
            </a:r>
          </a:p>
          <a:p>
            <a:endParaRPr lang="en-AU" dirty="0"/>
          </a:p>
          <a:p>
            <a:r>
              <a:rPr lang="en-AU" dirty="0"/>
              <a:t>It is a good learning tool for students</a:t>
            </a:r>
          </a:p>
          <a:p>
            <a:endParaRPr lang="en-AU" dirty="0"/>
          </a:p>
          <a:p>
            <a:r>
              <a:rPr lang="en-AU" dirty="0"/>
              <a:t>Access requires </a:t>
            </a:r>
            <a:r>
              <a:rPr lang="en-AU" b="1" dirty="0"/>
              <a:t>MS Windows</a:t>
            </a:r>
          </a:p>
          <a:p>
            <a:pPr lvl="1"/>
            <a:r>
              <a:rPr lang="en-AU" b="1" dirty="0"/>
              <a:t>Mac Users </a:t>
            </a:r>
            <a:r>
              <a:rPr lang="en-AU" dirty="0"/>
              <a:t>can run MS Access using VirtualBox, Apps on Demand -Citrix (see </a:t>
            </a:r>
            <a:r>
              <a:rPr lang="en-AU" dirty="0" err="1"/>
              <a:t>Canvas</a:t>
            </a:r>
            <a:r>
              <a:rPr lang="en-AU" dirty="0" err="1">
                <a:sym typeface="Wingdings" panose="05000000000000000000" pitchFamily="2" charset="2"/>
              </a:rPr>
              <a:t>ModulesUnit</a:t>
            </a:r>
            <a:r>
              <a:rPr lang="en-AU" dirty="0">
                <a:sym typeface="Wingdings" panose="05000000000000000000" pitchFamily="2" charset="2"/>
              </a:rPr>
              <a:t> Information).</a:t>
            </a:r>
            <a:endParaRPr lang="en-AU" b="1" dirty="0"/>
          </a:p>
          <a:p>
            <a:endParaRPr lang="en-AU" dirty="0"/>
          </a:p>
          <a:p>
            <a:r>
              <a:rPr lang="en-AU" dirty="0"/>
              <a:t>Access is installed on all </a:t>
            </a:r>
            <a:r>
              <a:rPr lang="en-AU" b="1" dirty="0"/>
              <a:t>on-campus PCs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Microsoft Access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48B6-B004-4925-B6C0-5D28FCA5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5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Multi-users</a:t>
            </a:r>
            <a:r>
              <a:rPr lang="en-AU" dirty="0"/>
              <a:t>,</a:t>
            </a:r>
            <a:r>
              <a:rPr lang="en-AU" b="1" dirty="0"/>
              <a:t> Sharing </a:t>
            </a:r>
            <a:r>
              <a:rPr lang="en-AU" dirty="0"/>
              <a:t>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Access users typically </a:t>
            </a:r>
            <a:r>
              <a:rPr lang="en-AU" b="1" dirty="0"/>
              <a:t>do not create a database server 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They usually </a:t>
            </a:r>
            <a:r>
              <a:rPr lang="en-AU" b="1" dirty="0"/>
              <a:t>do not share data with other users</a:t>
            </a:r>
            <a:r>
              <a:rPr lang="en-AU" dirty="0"/>
              <a:t> (unlike most business database users).</a:t>
            </a:r>
          </a:p>
          <a:p>
            <a:endParaRPr lang="en-AU" dirty="0"/>
          </a:p>
          <a:p>
            <a:r>
              <a:rPr lang="en-AU" dirty="0"/>
              <a:t>Swinburne labs </a:t>
            </a:r>
            <a:r>
              <a:rPr lang="en-AU" b="1" dirty="0"/>
              <a:t>do not easily allow students to share databases </a:t>
            </a:r>
            <a:r>
              <a:rPr lang="en-AU" dirty="0"/>
              <a:t>with other users.</a:t>
            </a:r>
          </a:p>
          <a:p>
            <a:endParaRPr lang="en-AU" dirty="0"/>
          </a:p>
          <a:p>
            <a:r>
              <a:rPr lang="en-AU" dirty="0"/>
              <a:t>So you will be creating </a:t>
            </a:r>
            <a:r>
              <a:rPr lang="en-AU" b="1" dirty="0"/>
              <a:t>single user databases </a:t>
            </a:r>
            <a:r>
              <a:rPr lang="en-AU" dirty="0"/>
              <a:t>in labs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dirty="0"/>
          </a:p>
          <a:p>
            <a:endParaRPr lang="en-AU" dirty="0"/>
          </a:p>
          <a:p>
            <a:r>
              <a:rPr lang="en-AU" dirty="0"/>
              <a:t>You will experience using data in a multi user environment in other units in your course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592A4-0A6C-4205-AC75-562488BB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78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Table </a:t>
            </a:r>
            <a:r>
              <a:rPr lang="en-AU" b="1" dirty="0"/>
              <a:t>Design and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1" y="1509387"/>
            <a:ext cx="11438486" cy="3071322"/>
          </a:xfrm>
        </p:spPr>
        <p:txBody>
          <a:bodyPr>
            <a:normAutofit fontScale="55000" lnSpcReduction="20000"/>
          </a:bodyPr>
          <a:lstStyle/>
          <a:p>
            <a:r>
              <a:rPr lang="en-AU" dirty="0"/>
              <a:t>The design view of a table shows details about all </a:t>
            </a:r>
            <a:r>
              <a:rPr lang="en-AU" b="1" dirty="0"/>
              <a:t>fields</a:t>
            </a:r>
            <a:r>
              <a:rPr lang="en-AU" dirty="0"/>
              <a:t> in a table</a:t>
            </a:r>
          </a:p>
          <a:p>
            <a:endParaRPr lang="en-AU" dirty="0"/>
          </a:p>
          <a:p>
            <a:r>
              <a:rPr lang="en-AU" dirty="0"/>
              <a:t>Each field has a </a:t>
            </a:r>
            <a:r>
              <a:rPr lang="en-AU" b="1" dirty="0"/>
              <a:t>data type </a:t>
            </a:r>
            <a:r>
              <a:rPr lang="en-AU" dirty="0"/>
              <a:t>(defines what type of data is allowed to be stored in this field)</a:t>
            </a:r>
          </a:p>
          <a:p>
            <a:endParaRPr lang="en-AU" dirty="0"/>
          </a:p>
          <a:p>
            <a:r>
              <a:rPr lang="en-AU" dirty="0"/>
              <a:t>We will concentrate on </a:t>
            </a:r>
            <a:r>
              <a:rPr lang="en-AU" b="1" dirty="0"/>
              <a:t>Short Text, Number, Currency &amp; Date</a:t>
            </a:r>
            <a:r>
              <a:rPr lang="en-AU" dirty="0"/>
              <a:t> this semester</a:t>
            </a:r>
          </a:p>
          <a:p>
            <a:endParaRPr lang="en-AU" dirty="0"/>
          </a:p>
          <a:p>
            <a:r>
              <a:rPr lang="en-AU" dirty="0"/>
              <a:t>The        symbol indicates this field is a </a:t>
            </a:r>
            <a:r>
              <a:rPr lang="en-AU" b="1" dirty="0"/>
              <a:t>Primary Key</a:t>
            </a:r>
          </a:p>
          <a:p>
            <a:endParaRPr lang="en-AU" dirty="0"/>
          </a:p>
          <a:p>
            <a:r>
              <a:rPr lang="en-AU" dirty="0"/>
              <a:t>In this example, movies are </a:t>
            </a:r>
            <a:r>
              <a:rPr lang="en-AU" b="1" dirty="0"/>
              <a:t>uniquely</a:t>
            </a:r>
            <a:r>
              <a:rPr lang="en-AU" dirty="0"/>
              <a:t> </a:t>
            </a:r>
            <a:r>
              <a:rPr lang="en-AU" b="1" dirty="0"/>
              <a:t>identified</a:t>
            </a:r>
            <a:r>
              <a:rPr lang="en-AU" dirty="0"/>
              <a:t> by MOVIENO:</a:t>
            </a:r>
          </a:p>
          <a:p>
            <a:endParaRPr lang="en-AU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164" y="4515976"/>
            <a:ext cx="6427672" cy="2214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99" y="3429000"/>
            <a:ext cx="372252" cy="5262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A164A-A623-4C02-8A79-F6DE15EF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0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Datasheet</a:t>
            </a:r>
            <a:r>
              <a:rPr lang="en-AU" dirty="0"/>
              <a:t>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2331093"/>
          </a:xfrm>
        </p:spPr>
        <p:txBody>
          <a:bodyPr>
            <a:normAutofit fontScale="55000" lnSpcReduction="20000"/>
          </a:bodyPr>
          <a:lstStyle/>
          <a:p>
            <a:r>
              <a:rPr lang="en-AU" dirty="0"/>
              <a:t>The datasheet view of a table </a:t>
            </a:r>
            <a:r>
              <a:rPr lang="en-AU" b="1" dirty="0"/>
              <a:t>shows rows in a table</a:t>
            </a:r>
          </a:p>
          <a:p>
            <a:endParaRPr lang="en-AU" dirty="0"/>
          </a:p>
          <a:p>
            <a:r>
              <a:rPr lang="en-AU" dirty="0"/>
              <a:t>Not all rows can be loaded at once. If a table contained millions of rows, this would </a:t>
            </a:r>
            <a:r>
              <a:rPr lang="en-AU" b="1" dirty="0"/>
              <a:t>not be possible</a:t>
            </a:r>
          </a:p>
          <a:p>
            <a:endParaRPr lang="en-AU" dirty="0"/>
          </a:p>
          <a:p>
            <a:r>
              <a:rPr lang="en-AU" dirty="0"/>
              <a:t>The datasheet view is </a:t>
            </a:r>
            <a:r>
              <a:rPr lang="en-AU" b="1" dirty="0"/>
              <a:t>dangerous</a:t>
            </a:r>
            <a:r>
              <a:rPr lang="en-AU" dirty="0"/>
              <a:t>. If you change the contents of a cell and move to a new row, the data is changed permanently. There is no question asking "Do you want to save changes"!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48" y="3985000"/>
            <a:ext cx="10639425" cy="23336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451BD-85B9-451A-8D49-B993EB7D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83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Records/Fields vs. </a:t>
            </a:r>
            <a:r>
              <a:rPr lang="en-AU" b="1" dirty="0"/>
              <a:t>Rows/Columns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Most databases &amp; DB developers use the term </a:t>
            </a:r>
            <a:r>
              <a:rPr lang="en-AU" b="1" dirty="0"/>
              <a:t>Row rather than Record</a:t>
            </a:r>
          </a:p>
          <a:p>
            <a:pPr lvl="1"/>
            <a:r>
              <a:rPr lang="en-AU" dirty="0"/>
              <a:t>Access uses the term Record.</a:t>
            </a:r>
          </a:p>
          <a:p>
            <a:pPr lvl="1"/>
            <a:r>
              <a:rPr lang="en-AU" dirty="0"/>
              <a:t>Oracle (which we will use later) uses the term Row</a:t>
            </a:r>
          </a:p>
          <a:p>
            <a:pPr lvl="1"/>
            <a:r>
              <a:rPr lang="en-AU" dirty="0"/>
              <a:t>We will use them interchangeably during the semester</a:t>
            </a:r>
          </a:p>
          <a:p>
            <a:pPr lvl="1"/>
            <a:endParaRPr lang="en-AU" dirty="0"/>
          </a:p>
          <a:p>
            <a:r>
              <a:rPr lang="en-AU" dirty="0"/>
              <a:t>Most databases &amp; DB developers use the term </a:t>
            </a:r>
            <a:r>
              <a:rPr lang="en-AU" b="1" dirty="0"/>
              <a:t>Column rather than Field</a:t>
            </a:r>
          </a:p>
          <a:p>
            <a:pPr lvl="1"/>
            <a:r>
              <a:rPr lang="en-AU" dirty="0"/>
              <a:t>Access uses the term Field.</a:t>
            </a:r>
          </a:p>
          <a:p>
            <a:pPr lvl="1"/>
            <a:r>
              <a:rPr lang="en-AU" dirty="0"/>
              <a:t>Oracle uses the term Column</a:t>
            </a:r>
          </a:p>
          <a:p>
            <a:pPr lvl="1"/>
            <a:r>
              <a:rPr lang="en-AU" dirty="0"/>
              <a:t>We will use them interchangeably during the semester</a:t>
            </a:r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736D7-00DE-4EC0-8563-A9F7FB7D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975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 </a:t>
            </a:r>
            <a:r>
              <a:rPr lang="en-AU" b="1" dirty="0"/>
              <a:t>Fields and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180986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The movie table contains 312 records</a:t>
            </a:r>
          </a:p>
          <a:p>
            <a:r>
              <a:rPr lang="en-AU" dirty="0"/>
              <a:t>Each record contains data about one movie</a:t>
            </a:r>
          </a:p>
          <a:p>
            <a:r>
              <a:rPr lang="en-AU" dirty="0"/>
              <a:t>Each record is made up of many fields.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658" y="4059120"/>
            <a:ext cx="10159050" cy="2328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934427"/>
            <a:ext cx="97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7036" y="3467815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 field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164148" y="3837147"/>
            <a:ext cx="662889" cy="612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579487" y="3751209"/>
            <a:ext cx="1064326" cy="626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79692" y="4641986"/>
            <a:ext cx="450586" cy="2924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77135" y="5311494"/>
            <a:ext cx="645929" cy="4584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568613" y="4301755"/>
            <a:ext cx="2528596" cy="230815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4188" y="4310814"/>
            <a:ext cx="1029062" cy="229909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13037" y="5674299"/>
            <a:ext cx="10609637" cy="267407"/>
          </a:xfrm>
          <a:prstGeom prst="rect">
            <a:avLst/>
          </a:prstGeom>
          <a:solidFill>
            <a:srgbClr val="DAF8C0">
              <a:alpha val="20000"/>
            </a:srgbClr>
          </a:solidFill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13037" y="4572893"/>
            <a:ext cx="10609637" cy="246031"/>
          </a:xfrm>
          <a:prstGeom prst="rect">
            <a:avLst/>
          </a:prstGeom>
          <a:solidFill>
            <a:srgbClr val="DAF8C0">
              <a:alpha val="20000"/>
            </a:srgbClr>
          </a:solidFill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71658" y="3383566"/>
            <a:ext cx="129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Table Name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1870165" y="3662541"/>
            <a:ext cx="215789" cy="464119"/>
          </a:xfrm>
          <a:prstGeom prst="straightConnector1">
            <a:avLst/>
          </a:prstGeom>
          <a:ln>
            <a:solidFill>
              <a:srgbClr val="1C0E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7FD78-1F13-4A46-B744-4491D132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46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Field </a:t>
            </a:r>
            <a:r>
              <a:rPr lang="en-AU" b="1" dirty="0"/>
              <a:t>Properties</a:t>
            </a:r>
            <a:r>
              <a:rPr lang="en-AU" dirty="0"/>
              <a:t> and </a:t>
            </a:r>
            <a:r>
              <a:rPr lang="en-AU" b="1" dirty="0"/>
              <a:t>Property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4402355" cy="5162001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As you use the Design view of a table, you may see </a:t>
            </a:r>
          </a:p>
          <a:p>
            <a:pPr lvl="1"/>
            <a:r>
              <a:rPr lang="en-AU" dirty="0"/>
              <a:t>The </a:t>
            </a:r>
            <a:r>
              <a:rPr lang="en-AU" b="1" dirty="0"/>
              <a:t>Property Sheet </a:t>
            </a:r>
          </a:p>
          <a:p>
            <a:pPr lvl="1"/>
            <a:r>
              <a:rPr lang="en-AU" b="1" dirty="0"/>
              <a:t>Field Properties</a:t>
            </a:r>
          </a:p>
          <a:p>
            <a:endParaRPr lang="en-AU" dirty="0"/>
          </a:p>
          <a:p>
            <a:r>
              <a:rPr lang="en-AU" dirty="0"/>
              <a:t>Don't be overwhelmed.</a:t>
            </a:r>
          </a:p>
          <a:p>
            <a:endParaRPr lang="en-AU" dirty="0"/>
          </a:p>
          <a:p>
            <a:r>
              <a:rPr lang="en-AU" dirty="0"/>
              <a:t>This semester, we will </a:t>
            </a:r>
            <a:br>
              <a:rPr lang="en-AU" dirty="0"/>
            </a:br>
            <a:r>
              <a:rPr lang="en-AU" dirty="0"/>
              <a:t>ignore almost all of these settings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564" y="1894505"/>
            <a:ext cx="7251436" cy="477688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940562" y="4721291"/>
            <a:ext cx="2766523" cy="201738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703837" y="2076205"/>
            <a:ext cx="2488163" cy="27850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BC1AD-1DB7-498D-AD91-57927D02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65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Primary</a:t>
            </a:r>
            <a:r>
              <a:rPr lang="en-AU" dirty="0"/>
              <a:t>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6538726" cy="4536689"/>
          </a:xfrm>
        </p:spPr>
        <p:txBody>
          <a:bodyPr>
            <a:normAutofit fontScale="55000" lnSpcReduction="20000"/>
          </a:bodyPr>
          <a:lstStyle/>
          <a:p>
            <a:r>
              <a:rPr lang="en-AU" b="1" dirty="0"/>
              <a:t>Every</a:t>
            </a:r>
            <a:r>
              <a:rPr lang="en-AU" dirty="0"/>
              <a:t> table that you create </a:t>
            </a:r>
            <a:r>
              <a:rPr lang="en-AU" b="1" dirty="0"/>
              <a:t>must</a:t>
            </a:r>
            <a:r>
              <a:rPr lang="en-AU" dirty="0"/>
              <a:t> have a </a:t>
            </a:r>
            <a:r>
              <a:rPr lang="en-AU" b="1" dirty="0"/>
              <a:t>Primary Key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While this is optional within Access, any table based on </a:t>
            </a:r>
            <a:r>
              <a:rPr lang="en-AU" dirty="0" err="1"/>
              <a:t>Codd's</a:t>
            </a:r>
            <a:r>
              <a:rPr lang="en-AU" dirty="0"/>
              <a:t> Relational Model must have a Primary Key.</a:t>
            </a:r>
          </a:p>
          <a:p>
            <a:endParaRPr lang="en-AU" dirty="0"/>
          </a:p>
          <a:p>
            <a:r>
              <a:rPr lang="en-AU" dirty="0"/>
              <a:t>A Primary Key is a field which will </a:t>
            </a:r>
            <a:br>
              <a:rPr lang="en-AU" dirty="0"/>
            </a:br>
            <a:r>
              <a:rPr lang="en-AU" dirty="0"/>
              <a:t>contain a value that is a </a:t>
            </a:r>
            <a:r>
              <a:rPr lang="en-AU" b="1" dirty="0"/>
              <a:t>unique</a:t>
            </a:r>
            <a:r>
              <a:rPr lang="en-AU" dirty="0"/>
              <a:t> </a:t>
            </a:r>
            <a:r>
              <a:rPr lang="en-AU" b="1" dirty="0"/>
              <a:t>identifier</a:t>
            </a:r>
            <a:br>
              <a:rPr lang="en-AU" dirty="0"/>
            </a:br>
            <a:r>
              <a:rPr lang="en-AU" dirty="0"/>
              <a:t>for each record</a:t>
            </a:r>
          </a:p>
          <a:p>
            <a:endParaRPr lang="en-AU" b="1" dirty="0"/>
          </a:p>
          <a:p>
            <a:r>
              <a:rPr lang="en-AU" b="1" dirty="0"/>
              <a:t>No duplicates are </a:t>
            </a:r>
            <a:r>
              <a:rPr lang="en-AU" dirty="0"/>
              <a:t>permitted.</a:t>
            </a:r>
          </a:p>
          <a:p>
            <a:endParaRPr lang="en-AU" dirty="0"/>
          </a:p>
          <a:p>
            <a:r>
              <a:rPr lang="en-AU" dirty="0"/>
              <a:t>The data should be </a:t>
            </a:r>
            <a:r>
              <a:rPr lang="en-AU" b="1" dirty="0"/>
              <a:t>static</a:t>
            </a:r>
            <a:r>
              <a:rPr lang="en-AU" dirty="0"/>
              <a:t>. It should be</a:t>
            </a:r>
            <a:br>
              <a:rPr lang="en-AU" dirty="0"/>
            </a:br>
            <a:r>
              <a:rPr lang="en-AU" dirty="0"/>
              <a:t>a value that should never need to change.</a:t>
            </a:r>
            <a:br>
              <a:rPr lang="en-AU" dirty="0"/>
            </a:br>
            <a:r>
              <a:rPr lang="en-AU" dirty="0"/>
              <a:t>Select a field and then Click the         icon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875" y="2879502"/>
            <a:ext cx="5033962" cy="3536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185" y="5285738"/>
            <a:ext cx="295925" cy="4183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39DBC-D5BD-426C-BEB7-F47860CA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9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AutoNumber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dirty="0"/>
              <a:t>If you create a table and forget to nominate a Primary Key, Access will ask if you want it to create one for you</a:t>
            </a:r>
          </a:p>
          <a:p>
            <a:endParaRPr lang="en-AU" dirty="0"/>
          </a:p>
          <a:p>
            <a:r>
              <a:rPr lang="en-AU" dirty="0"/>
              <a:t>Such a key will have a </a:t>
            </a:r>
            <a:r>
              <a:rPr lang="en-AU" b="1" dirty="0"/>
              <a:t>AutoNumber</a:t>
            </a:r>
            <a:r>
              <a:rPr lang="en-AU" dirty="0"/>
              <a:t> </a:t>
            </a:r>
            <a:r>
              <a:rPr lang="en-AU" b="1" dirty="0"/>
              <a:t>datatype</a:t>
            </a:r>
          </a:p>
          <a:p>
            <a:endParaRPr lang="en-AU" dirty="0"/>
          </a:p>
          <a:p>
            <a:r>
              <a:rPr lang="en-AU" dirty="0"/>
              <a:t>In such cases, the user would never have to enter a new student number for each student.</a:t>
            </a:r>
          </a:p>
          <a:p>
            <a:endParaRPr lang="en-AU" dirty="0"/>
          </a:p>
          <a:p>
            <a:r>
              <a:rPr lang="en-AU" dirty="0"/>
              <a:t>Instead Access will simply allocate a </a:t>
            </a:r>
            <a:r>
              <a:rPr lang="en-AU" b="1" dirty="0"/>
              <a:t>sequential numbered value</a:t>
            </a:r>
          </a:p>
          <a:p>
            <a:endParaRPr lang="en-AU" dirty="0"/>
          </a:p>
          <a:p>
            <a:r>
              <a:rPr lang="en-AU" dirty="0"/>
              <a:t>This is a very useful mechanism</a:t>
            </a:r>
          </a:p>
          <a:p>
            <a:endParaRPr lang="en-AU" dirty="0"/>
          </a:p>
          <a:p>
            <a:r>
              <a:rPr lang="en-AU" dirty="0">
                <a:solidFill>
                  <a:schemeClr val="tx1"/>
                </a:solidFill>
              </a:rPr>
              <a:t>However, </a:t>
            </a:r>
            <a:r>
              <a:rPr lang="en-AU" b="1" u="sng" dirty="0">
                <a:solidFill>
                  <a:schemeClr val="tx1"/>
                </a:solidFill>
              </a:rPr>
              <a:t>avoid</a:t>
            </a:r>
            <a:r>
              <a:rPr lang="en-AU" dirty="0">
                <a:solidFill>
                  <a:schemeClr val="tx1"/>
                </a:solidFill>
              </a:rPr>
              <a:t> using AutoNumber datatypes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for the first weeks of the semester.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227" y="4539104"/>
            <a:ext cx="3581400" cy="12287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52455-931D-49FF-B665-5B87DD0B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918229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14426</TotalTime>
  <Words>654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Open Sans</vt:lpstr>
      <vt:lpstr>Swinburne - Light</vt:lpstr>
      <vt:lpstr>INF10025 Data Management and Analytics</vt:lpstr>
      <vt:lpstr>Data Basics in MS Access</vt:lpstr>
      <vt:lpstr>Microsoft Access</vt:lpstr>
      <vt:lpstr>Multi-users, Sharing and Access</vt:lpstr>
      <vt:lpstr>Table Design and Definition</vt:lpstr>
      <vt:lpstr>Datasheet View</vt:lpstr>
      <vt:lpstr>Records/Fields vs. Rows/Columns</vt:lpstr>
      <vt:lpstr>Access Fields and Records</vt:lpstr>
      <vt:lpstr>Field Properties and Property Sheet</vt:lpstr>
      <vt:lpstr>Primary Keys</vt:lpstr>
      <vt:lpstr>AutoNumber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2023-02-01T23:50:34Z</dcterms:created>
  <dcterms:modified xsi:type="dcterms:W3CDTF">2023-02-13T07:36:46Z</dcterms:modified>
</cp:coreProperties>
</file>