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6" r:id="rId2"/>
  </p:sldMasterIdLst>
  <p:notesMasterIdLst>
    <p:notesMasterId r:id="rId45"/>
  </p:notesMasterIdLst>
  <p:sldIdLst>
    <p:sldId id="256" r:id="rId3"/>
    <p:sldId id="401" r:id="rId4"/>
    <p:sldId id="402" r:id="rId5"/>
    <p:sldId id="403" r:id="rId6"/>
    <p:sldId id="388" r:id="rId7"/>
    <p:sldId id="404" r:id="rId8"/>
    <p:sldId id="405" r:id="rId9"/>
    <p:sldId id="406" r:id="rId10"/>
    <p:sldId id="414" r:id="rId11"/>
    <p:sldId id="389" r:id="rId12"/>
    <p:sldId id="407" r:id="rId13"/>
    <p:sldId id="390" r:id="rId14"/>
    <p:sldId id="409" r:id="rId15"/>
    <p:sldId id="408" r:id="rId16"/>
    <p:sldId id="410" r:id="rId17"/>
    <p:sldId id="391" r:id="rId18"/>
    <p:sldId id="392" r:id="rId19"/>
    <p:sldId id="411" r:id="rId20"/>
    <p:sldId id="393" r:id="rId21"/>
    <p:sldId id="362" r:id="rId22"/>
    <p:sldId id="385" r:id="rId23"/>
    <p:sldId id="363" r:id="rId24"/>
    <p:sldId id="386" r:id="rId25"/>
    <p:sldId id="364" r:id="rId26"/>
    <p:sldId id="365" r:id="rId27"/>
    <p:sldId id="366" r:id="rId28"/>
    <p:sldId id="367" r:id="rId29"/>
    <p:sldId id="369" r:id="rId30"/>
    <p:sldId id="368" r:id="rId31"/>
    <p:sldId id="370" r:id="rId32"/>
    <p:sldId id="371" r:id="rId33"/>
    <p:sldId id="372" r:id="rId34"/>
    <p:sldId id="374" r:id="rId35"/>
    <p:sldId id="375" r:id="rId36"/>
    <p:sldId id="376" r:id="rId37"/>
    <p:sldId id="377" r:id="rId38"/>
    <p:sldId id="378" r:id="rId39"/>
    <p:sldId id="412" r:id="rId40"/>
    <p:sldId id="413" r:id="rId41"/>
    <p:sldId id="379" r:id="rId42"/>
    <p:sldId id="387" r:id="rId43"/>
    <p:sldId id="415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C0ECC"/>
    <a:srgbClr val="FF9900"/>
    <a:srgbClr val="DAF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56" autoAdjust="0"/>
    <p:restoredTop sz="86420" autoAdjust="0"/>
  </p:normalViewPr>
  <p:slideViewPr>
    <p:cSldViewPr snapToGrid="0">
      <p:cViewPr varScale="1">
        <p:scale>
          <a:sx n="137" d="100"/>
          <a:sy n="137" d="100"/>
        </p:scale>
        <p:origin x="380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96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4" d="100"/>
        <a:sy n="104" d="100"/>
      </p:scale>
      <p:origin x="0" y="-16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51A593-127C-437F-B2C4-90E4E8F2E672}" type="datetimeFigureOut">
              <a:rPr lang="en-AU" smtClean="0"/>
              <a:t>21/02/2023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E1A00-F47F-4F95-9E2A-9B68DDDD4D8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55426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8633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5407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4612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45129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625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4535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839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00103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0639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51132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20863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3029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20360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1124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504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7890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5813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6510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0306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63303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68114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30115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91637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7319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381617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917163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56489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29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92281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7978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87282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73226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97540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856413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35972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39971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99345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9871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39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7416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40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0821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41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783714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E1A00-F47F-4F95-9E2A-9B68DDDD4D80}" type="slidenum">
              <a:rPr lang="en-AU" smtClean="0"/>
              <a:t>42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09240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87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05878"/>
            <a:ext cx="10972800" cy="1058779"/>
          </a:xfrm>
        </p:spPr>
        <p:txBody>
          <a:bodyPr anchor="t"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87655"/>
            <a:ext cx="10680834" cy="3917482"/>
          </a:xfrm>
          <a:noFill/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5"/>
          <p:cNvSpPr/>
          <p:nvPr userDrawn="1"/>
        </p:nvSpPr>
        <p:spPr>
          <a:xfrm rot="18000966">
            <a:off x="11244499" y="266079"/>
            <a:ext cx="675802" cy="661376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Circle">
              <a:avLst/>
            </a:prstTxWarp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  <a:r>
              <a:rPr lang="en-US" sz="5400" b="0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ata Management &amp; Analytics   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381012" y="6382790"/>
            <a:ext cx="457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F3ACB68-B3AC-4511-9780-21946B043BB9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1508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736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032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5643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012846"/>
            <a:ext cx="10363200" cy="1470025"/>
          </a:xfrm>
        </p:spPr>
        <p:txBody>
          <a:bodyPr anchor="b" anchorCtr="0">
            <a:normAutofit/>
          </a:bodyPr>
          <a:lstStyle>
            <a:lvl1pPr algn="ctr">
              <a:defRPr sz="4800" b="0">
                <a:latin typeface="Open Sans"/>
                <a:cs typeface="Open Sans"/>
              </a:defRPr>
            </a:lvl1pPr>
          </a:lstStyle>
          <a:p>
            <a:r>
              <a:rPr lang="en-AU" dirty="0"/>
              <a:t>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604008"/>
            <a:ext cx="8534400" cy="1752600"/>
          </a:xfrm>
          <a:noFill/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Open Sans"/>
                <a:cs typeface="Open San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Subtitle</a:t>
            </a:r>
            <a:endParaRPr lang="en-US" dirty="0"/>
          </a:p>
        </p:txBody>
      </p:sp>
      <p:pic>
        <p:nvPicPr>
          <p:cNvPr id="8" name="Picture 7" descr="Swinburne Logo 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4" name="Picture 3" descr="KNOWING Logo RGB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2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17638"/>
            <a:ext cx="10972800" cy="4004044"/>
          </a:xfrm>
        </p:spPr>
        <p:txBody>
          <a:bodyPr/>
          <a:lstStyle>
            <a:lvl1pPr>
              <a:defRPr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>
                <a:solidFill>
                  <a:srgbClr val="000000"/>
                </a:solidFill>
                <a:latin typeface="Open Sans"/>
                <a:cs typeface="Open Sans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160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>
            <a:normAutofit/>
          </a:bodyPr>
          <a:lstStyle>
            <a:lvl1pPr>
              <a:defRPr sz="4400" b="0">
                <a:latin typeface="Open Sans"/>
                <a:cs typeface="Open Sans"/>
              </a:defRPr>
            </a:lvl1pPr>
          </a:lstStyle>
          <a:p>
            <a:r>
              <a:rPr lang="en-AU" dirty="0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3844703"/>
          </a:xfr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Open Sans"/>
                <a:cs typeface="Open Sans"/>
              </a:defRPr>
            </a:lvl1pPr>
            <a:lvl2pPr>
              <a:defRPr sz="2400">
                <a:solidFill>
                  <a:srgbClr val="000000"/>
                </a:solidFill>
                <a:latin typeface="Open Sans"/>
                <a:cs typeface="Open Sans"/>
              </a:defRPr>
            </a:lvl2pPr>
            <a:lvl3pPr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3pPr>
            <a:lvl4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4pPr>
            <a:lvl5pPr>
              <a:defRPr sz="1800">
                <a:solidFill>
                  <a:srgbClr val="000000"/>
                </a:solidFill>
                <a:latin typeface="Open Sans"/>
                <a:cs typeface="Open Sans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6" name="Picture 5" descr="KNOWING Logo RGB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64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1344616"/>
            <a:ext cx="9487359" cy="1465609"/>
          </a:xfrm>
        </p:spPr>
        <p:txBody>
          <a:bodyPr anchor="b" anchorCtr="0">
            <a:normAutofit/>
          </a:bodyPr>
          <a:lstStyle>
            <a:lvl1pPr>
              <a:defRPr sz="4000" b="0">
                <a:latin typeface="Open Sans"/>
                <a:cs typeface="Open Sans"/>
              </a:defRPr>
            </a:lvl1pPr>
          </a:lstStyle>
          <a:p>
            <a:r>
              <a:rPr lang="en-AU" dirty="0"/>
              <a:t>Heading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2927805"/>
            <a:ext cx="9487359" cy="2563256"/>
          </a:xfrm>
          <a:noFill/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0000"/>
                </a:solidFill>
                <a:latin typeface="Open Sans"/>
                <a:cs typeface="Open Sans"/>
              </a:defRPr>
            </a:lvl1pPr>
          </a:lstStyle>
          <a:p>
            <a:pPr lvl="0"/>
            <a:r>
              <a:rPr lang="en-US" dirty="0"/>
              <a:t>Sub-heading</a:t>
            </a:r>
          </a:p>
        </p:txBody>
      </p:sp>
      <p:pic>
        <p:nvPicPr>
          <p:cNvPr id="6" name="Picture 5" descr="Swinburne Logo RGB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0"/>
            <a:ext cx="1219200" cy="1828800"/>
          </a:xfrm>
          <a:prstGeom prst="rect">
            <a:avLst/>
          </a:prstGeom>
        </p:spPr>
      </p:pic>
      <p:pic>
        <p:nvPicPr>
          <p:cNvPr id="7" name="Picture 6" descr="KNOWING Logo RGB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9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4785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4.jp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9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215" y="5866083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1206367" y="6710785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300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82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 dirty="0"/>
              <a:t>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17639"/>
            <a:ext cx="10972800" cy="3991833"/>
          </a:xfrm>
          <a:prstGeom prst="rect">
            <a:avLst/>
          </a:prstGeom>
          <a:solidFill>
            <a:srgbClr val="F6F6F6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KNOWING Logo RGB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567700"/>
            <a:ext cx="1219200" cy="91440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609600" y="6450903"/>
            <a:ext cx="95497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531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400" b="0" kern="1200">
          <a:solidFill>
            <a:schemeClr val="tx1"/>
          </a:solidFill>
          <a:latin typeface="Open Sans"/>
          <a:ea typeface="+mj-ea"/>
          <a:cs typeface="Open San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INF10025</a:t>
            </a:r>
            <a:br>
              <a:rPr lang="en-AU" dirty="0"/>
            </a:br>
            <a:r>
              <a:rPr lang="en-AU" dirty="0"/>
              <a:t>Data Management and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AU" b="1" dirty="0"/>
              <a:t>Week 03</a:t>
            </a:r>
          </a:p>
          <a:p>
            <a:r>
              <a:rPr lang="en-AU" dirty="0"/>
              <a:t>Queries with Parameters</a:t>
            </a:r>
          </a:p>
          <a:p>
            <a:r>
              <a:rPr lang="en-AU" dirty="0"/>
              <a:t>Update &amp; Delete queries</a:t>
            </a:r>
          </a:p>
          <a:p>
            <a:r>
              <a:rPr lang="en-AU" dirty="0"/>
              <a:t>Importing / Exporting Data</a:t>
            </a:r>
          </a:p>
        </p:txBody>
      </p:sp>
    </p:spTree>
    <p:extLst>
      <p:ext uri="{BB962C8B-B14F-4D97-AF65-F5344CB8AC3E}">
        <p14:creationId xmlns:p14="http://schemas.microsoft.com/office/powerpoint/2010/main" val="1421075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79" y="832728"/>
            <a:ext cx="106833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This example </a:t>
            </a:r>
            <a:r>
              <a:rPr lang="en-US" sz="2400" b="1" dirty="0">
                <a:solidFill>
                  <a:schemeClr val="tx2"/>
                </a:solidFill>
              </a:rPr>
              <a:t>creates a query</a:t>
            </a:r>
            <a:r>
              <a:rPr lang="en-US" sz="2400" dirty="0">
                <a:solidFill>
                  <a:schemeClr val="tx2"/>
                </a:solidFill>
              </a:rPr>
              <a:t> which retrieves all movies with the release year 2015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428" y="1313394"/>
            <a:ext cx="7233995" cy="5242614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233640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71565"/>
            <a:ext cx="1010553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We could create a similar query for movies of 2014.</a:t>
            </a:r>
          </a:p>
          <a:p>
            <a:r>
              <a:rPr lang="en-US" sz="2400" dirty="0">
                <a:solidFill>
                  <a:schemeClr val="tx2"/>
                </a:solidFill>
              </a:rPr>
              <a:t>Eventually you create a number of </a:t>
            </a:r>
            <a:r>
              <a:rPr lang="en-US" sz="2400" b="1" dirty="0">
                <a:solidFill>
                  <a:schemeClr val="tx2"/>
                </a:solidFill>
              </a:rPr>
              <a:t>very similar queries</a:t>
            </a:r>
            <a:r>
              <a:rPr lang="en-US" sz="2400" dirty="0">
                <a:solidFill>
                  <a:schemeClr val="tx2"/>
                </a:solidFill>
              </a:rPr>
              <a:t> that simply have a </a:t>
            </a:r>
            <a:r>
              <a:rPr lang="en-US" sz="2400" b="1" dirty="0">
                <a:solidFill>
                  <a:schemeClr val="tx2"/>
                </a:solidFill>
              </a:rPr>
              <a:t>different</a:t>
            </a:r>
            <a:r>
              <a:rPr lang="en-US" sz="2400" dirty="0">
                <a:solidFill>
                  <a:schemeClr val="tx2"/>
                </a:solidFill>
              </a:rPr>
              <a:t> criteria value.  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A </a:t>
            </a:r>
            <a:r>
              <a:rPr lang="en-US" sz="2400" b="1" dirty="0">
                <a:solidFill>
                  <a:schemeClr val="tx2"/>
                </a:solidFill>
              </a:rPr>
              <a:t>long list of queries</a:t>
            </a:r>
            <a:r>
              <a:rPr lang="en-US" sz="2400" dirty="0">
                <a:solidFill>
                  <a:schemeClr val="tx2"/>
                </a:solidFill>
              </a:rPr>
              <a:t> leads to </a:t>
            </a:r>
            <a:r>
              <a:rPr lang="en-US" sz="2400" b="1" dirty="0">
                <a:solidFill>
                  <a:schemeClr val="tx2"/>
                </a:solidFill>
              </a:rPr>
              <a:t>clutter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confusion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75" y="2810557"/>
            <a:ext cx="5191125" cy="3619500"/>
          </a:xfrm>
          <a:prstGeom prst="rect">
            <a:avLst/>
          </a:prstGeom>
          <a:ln>
            <a:solidFill>
              <a:schemeClr val="tx2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-468" t="-451" r="47714" b="451"/>
          <a:stretch/>
        </p:blipFill>
        <p:spPr>
          <a:xfrm>
            <a:off x="7933883" y="2540210"/>
            <a:ext cx="3592072" cy="3250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486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6066"/>
            <a:ext cx="1126210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An </a:t>
            </a:r>
            <a:r>
              <a:rPr lang="en-US" sz="2400" b="1" dirty="0">
                <a:solidFill>
                  <a:schemeClr val="tx2"/>
                </a:solidFill>
              </a:rPr>
              <a:t>alternative</a:t>
            </a:r>
            <a:r>
              <a:rPr lang="en-US" sz="2400" dirty="0">
                <a:solidFill>
                  <a:schemeClr val="tx2"/>
                </a:solidFill>
              </a:rPr>
              <a:t>, is to create a </a:t>
            </a:r>
            <a:r>
              <a:rPr lang="en-US" sz="2400" b="1" dirty="0">
                <a:solidFill>
                  <a:schemeClr val="tx2"/>
                </a:solidFill>
              </a:rPr>
              <a:t>Query Parameter</a:t>
            </a:r>
          </a:p>
          <a:p>
            <a:r>
              <a:rPr lang="en-US" sz="2400" dirty="0">
                <a:solidFill>
                  <a:schemeClr val="tx2"/>
                </a:solidFill>
              </a:rPr>
              <a:t>A parameter is a </a:t>
            </a:r>
            <a:r>
              <a:rPr lang="en-US" sz="2400" b="1" dirty="0">
                <a:solidFill>
                  <a:schemeClr val="tx2"/>
                </a:solidFill>
              </a:rPr>
              <a:t>temporary storage location</a:t>
            </a:r>
            <a:r>
              <a:rPr lang="en-US" sz="2400" dirty="0">
                <a:solidFill>
                  <a:schemeClr val="tx2"/>
                </a:solidFill>
              </a:rPr>
              <a:t> that is given a name</a:t>
            </a:r>
          </a:p>
          <a:p>
            <a:r>
              <a:rPr lang="en-US" sz="2400" dirty="0">
                <a:solidFill>
                  <a:schemeClr val="tx2"/>
                </a:solidFill>
              </a:rPr>
              <a:t>	E.g. Find Year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Then in the criteria for year add this:</a:t>
            </a:r>
          </a:p>
          <a:p>
            <a:r>
              <a:rPr lang="en-US" sz="2400" dirty="0">
                <a:solidFill>
                  <a:schemeClr val="tx2"/>
                </a:solidFill>
              </a:rPr>
              <a:t>     </a:t>
            </a:r>
            <a:r>
              <a:rPr lang="en-US" sz="2400" b="1" dirty="0">
                <a:solidFill>
                  <a:schemeClr val="tx2"/>
                </a:solidFill>
              </a:rPr>
              <a:t> = [Find Year]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When you run the query, Access will </a:t>
            </a:r>
            <a:r>
              <a:rPr lang="en-US" sz="2400" b="1" dirty="0">
                <a:solidFill>
                  <a:schemeClr val="tx2"/>
                </a:solidFill>
              </a:rPr>
              <a:t>ask you a question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									  Finally the correct records are </a:t>
            </a:r>
            <a:r>
              <a:rPr lang="en-US" sz="2400" b="1" dirty="0">
                <a:solidFill>
                  <a:schemeClr val="tx2"/>
                </a:solidFill>
              </a:rPr>
              <a:t>retrieved</a:t>
            </a:r>
          </a:p>
          <a:p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53966"/>
          <a:stretch/>
        </p:blipFill>
        <p:spPr>
          <a:xfrm>
            <a:off x="4978542" y="4634252"/>
            <a:ext cx="7177053" cy="184403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088" y="3943402"/>
            <a:ext cx="3692617" cy="21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454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6066"/>
            <a:ext cx="1010553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Click on the </a:t>
            </a:r>
            <a:r>
              <a:rPr lang="en-US" sz="2400" b="1" dirty="0">
                <a:solidFill>
                  <a:schemeClr val="tx2"/>
                </a:solidFill>
              </a:rPr>
              <a:t>Parameters</a:t>
            </a:r>
            <a:r>
              <a:rPr lang="en-US" sz="2400" dirty="0">
                <a:solidFill>
                  <a:schemeClr val="tx2"/>
                </a:solidFill>
              </a:rPr>
              <a:t> icon in the 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create a </a:t>
            </a:r>
            <a:r>
              <a:rPr lang="en-US" sz="2400" b="1" dirty="0">
                <a:solidFill>
                  <a:schemeClr val="tx2"/>
                </a:solidFill>
              </a:rPr>
              <a:t>Parameter Name.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 name may contain </a:t>
            </a:r>
            <a:r>
              <a:rPr lang="en-US" sz="2400" b="1" dirty="0">
                <a:solidFill>
                  <a:schemeClr val="tx2"/>
                </a:solidFill>
              </a:rPr>
              <a:t>spaces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specify a </a:t>
            </a:r>
            <a:r>
              <a:rPr lang="en-US" sz="2400" b="1" dirty="0">
                <a:solidFill>
                  <a:schemeClr val="tx2"/>
                </a:solidFill>
              </a:rPr>
              <a:t>data type</a:t>
            </a:r>
            <a:r>
              <a:rPr lang="en-US" sz="2400" dirty="0">
                <a:solidFill>
                  <a:schemeClr val="tx2"/>
                </a:solidFill>
              </a:rPr>
              <a:t> for the parameter</a:t>
            </a:r>
          </a:p>
          <a:p>
            <a:r>
              <a:rPr lang="en-US" sz="2400" dirty="0">
                <a:solidFill>
                  <a:schemeClr val="tx2"/>
                </a:solidFill>
              </a:rPr>
              <a:t>Generally you would use: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ShortText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Integer – whole number no decimal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Decimal – a number with decimal places</a:t>
            </a:r>
          </a:p>
          <a:p>
            <a:endParaRPr lang="en-AU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29057"/>
            <a:ext cx="10593972" cy="1290157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9113855" y="1255089"/>
            <a:ext cx="803868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750" y="2737456"/>
            <a:ext cx="3305636" cy="391532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t="707"/>
          <a:stretch/>
        </p:blipFill>
        <p:spPr>
          <a:xfrm>
            <a:off x="8529568" y="3466356"/>
            <a:ext cx="2085975" cy="272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27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346"/>
            <a:ext cx="10105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Add the parameter name to the </a:t>
            </a:r>
            <a:r>
              <a:rPr lang="en-US" sz="2400" b="1" dirty="0">
                <a:solidFill>
                  <a:schemeClr val="tx2"/>
                </a:solidFill>
              </a:rPr>
              <a:t>Criteria</a:t>
            </a:r>
            <a:r>
              <a:rPr lang="en-US" sz="2400" dirty="0">
                <a:solidFill>
                  <a:schemeClr val="tx2"/>
                </a:solidFill>
              </a:rPr>
              <a:t> for the </a:t>
            </a:r>
            <a:r>
              <a:rPr lang="en-US" sz="2400" dirty="0" err="1">
                <a:solidFill>
                  <a:schemeClr val="tx2"/>
                </a:solidFill>
              </a:rPr>
              <a:t>RelYear</a:t>
            </a:r>
            <a:r>
              <a:rPr lang="en-US" sz="2400" dirty="0">
                <a:solidFill>
                  <a:schemeClr val="tx2"/>
                </a:solidFill>
              </a:rPr>
              <a:t> field and </a:t>
            </a:r>
            <a:r>
              <a:rPr lang="en-US" sz="2400" b="1" dirty="0">
                <a:solidFill>
                  <a:schemeClr val="tx2"/>
                </a:solidFill>
              </a:rPr>
              <a:t>run the query.</a:t>
            </a:r>
            <a:endParaRPr lang="en-AU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1398" y="3575239"/>
            <a:ext cx="5348716" cy="298533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1558924"/>
            <a:ext cx="5558971" cy="500164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1398" y="1366977"/>
            <a:ext cx="3692617" cy="21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7974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346"/>
            <a:ext cx="101055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You can </a:t>
            </a:r>
            <a:r>
              <a:rPr lang="en-US" sz="2400" b="1" dirty="0">
                <a:solidFill>
                  <a:schemeClr val="tx2"/>
                </a:solidFill>
              </a:rPr>
              <a:t>combine</a:t>
            </a:r>
            <a:r>
              <a:rPr lang="en-US" sz="2400" dirty="0">
                <a:solidFill>
                  <a:schemeClr val="tx2"/>
                </a:solidFill>
              </a:rPr>
              <a:t> two queries with parameters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This new query uses </a:t>
            </a:r>
            <a:r>
              <a:rPr lang="en-US" sz="2400" b="1" dirty="0">
                <a:solidFill>
                  <a:schemeClr val="tx2"/>
                </a:solidFill>
              </a:rPr>
              <a:t>Movies of a Specified Rating and Year</a:t>
            </a:r>
            <a:r>
              <a:rPr lang="en-US" sz="2400" dirty="0">
                <a:solidFill>
                  <a:schemeClr val="tx2"/>
                </a:solidFill>
              </a:rPr>
              <a:t> as its </a:t>
            </a:r>
            <a:r>
              <a:rPr lang="en-US" sz="2400" b="1" dirty="0">
                <a:solidFill>
                  <a:schemeClr val="tx2"/>
                </a:solidFill>
              </a:rPr>
              <a:t>source</a:t>
            </a:r>
          </a:p>
          <a:p>
            <a:r>
              <a:rPr lang="en-US" sz="2400" dirty="0">
                <a:solidFill>
                  <a:schemeClr val="tx2"/>
                </a:solidFill>
              </a:rPr>
              <a:t>It uses a </a:t>
            </a:r>
            <a:r>
              <a:rPr lang="en-US" sz="2400" b="1" dirty="0">
                <a:solidFill>
                  <a:schemeClr val="tx2"/>
                </a:solidFill>
              </a:rPr>
              <a:t>new Parameter</a:t>
            </a:r>
            <a:r>
              <a:rPr lang="en-US" sz="2400" dirty="0">
                <a:solidFill>
                  <a:schemeClr val="tx2"/>
                </a:solidFill>
              </a:rPr>
              <a:t> named </a:t>
            </a:r>
            <a:r>
              <a:rPr lang="en-US" sz="2400" b="1" dirty="0">
                <a:solidFill>
                  <a:schemeClr val="tx2"/>
                </a:solidFill>
              </a:rPr>
              <a:t>Find Rating Code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468" y="4920379"/>
            <a:ext cx="11320932" cy="188682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91" y="2179026"/>
            <a:ext cx="3549134" cy="21866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r="27415"/>
          <a:stretch/>
        </p:blipFill>
        <p:spPr>
          <a:xfrm>
            <a:off x="6779634" y="2045635"/>
            <a:ext cx="4283629" cy="2453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157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Queries with Parameters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346"/>
            <a:ext cx="1010553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When the query is executed, </a:t>
            </a:r>
            <a:r>
              <a:rPr lang="en-US" sz="2400" b="1" dirty="0">
                <a:solidFill>
                  <a:schemeClr val="tx2"/>
                </a:solidFill>
              </a:rPr>
              <a:t>both parameters</a:t>
            </a:r>
            <a:r>
              <a:rPr lang="en-US" sz="2400" dirty="0">
                <a:solidFill>
                  <a:schemeClr val="tx2"/>
                </a:solidFill>
              </a:rPr>
              <a:t> are deployed to retrieve the required records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3"/>
          <a:srcRect b="46685"/>
          <a:stretch/>
        </p:blipFill>
        <p:spPr>
          <a:xfrm>
            <a:off x="698325" y="4086732"/>
            <a:ext cx="10016806" cy="211133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783" y="1774823"/>
            <a:ext cx="3470971" cy="19984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0937" y="1774823"/>
            <a:ext cx="3535698" cy="1998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607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Copying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9"/>
            <a:ext cx="109728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We are about to make a </a:t>
            </a:r>
            <a:r>
              <a:rPr lang="en-AU" sz="2400" b="1" dirty="0">
                <a:solidFill>
                  <a:schemeClr val="tx2"/>
                </a:solidFill>
              </a:rPr>
              <a:t>copy</a:t>
            </a:r>
            <a:r>
              <a:rPr lang="en-AU" sz="2400" dirty="0">
                <a:solidFill>
                  <a:schemeClr val="tx2"/>
                </a:solidFill>
              </a:rPr>
              <a:t> of a table.</a:t>
            </a:r>
          </a:p>
          <a:p>
            <a:r>
              <a:rPr lang="en-AU" sz="2400" dirty="0">
                <a:solidFill>
                  <a:schemeClr val="tx2"/>
                </a:solidFill>
              </a:rPr>
              <a:t>This is something that you generally want to </a:t>
            </a:r>
            <a:r>
              <a:rPr lang="en-AU" sz="2400" b="1" dirty="0">
                <a:solidFill>
                  <a:schemeClr val="tx2"/>
                </a:solidFill>
              </a:rPr>
              <a:t>avoid</a:t>
            </a:r>
            <a:r>
              <a:rPr lang="en-AU" sz="2400" dirty="0">
                <a:solidFill>
                  <a:schemeClr val="tx2"/>
                </a:solidFill>
              </a:rPr>
              <a:t>. Why ?</a:t>
            </a:r>
          </a:p>
          <a:p>
            <a:r>
              <a:rPr lang="en-AU" sz="2400" dirty="0">
                <a:solidFill>
                  <a:schemeClr val="tx2"/>
                </a:solidFill>
              </a:rPr>
              <a:t>Imagine a Student table. It stores your id, name, address, phone number…</a:t>
            </a:r>
          </a:p>
          <a:p>
            <a:r>
              <a:rPr lang="en-AU" sz="2400" dirty="0">
                <a:solidFill>
                  <a:schemeClr val="tx2"/>
                </a:solidFill>
              </a:rPr>
              <a:t>Now if you make a copy of the table, two tables store your id, name, address, phone…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If you make a change to your phone no, which table should get updated?</a:t>
            </a:r>
          </a:p>
          <a:p>
            <a:r>
              <a:rPr lang="en-AU" sz="2400" dirty="0">
                <a:solidFill>
                  <a:schemeClr val="tx2"/>
                </a:solidFill>
              </a:rPr>
              <a:t>Can you guarantee that both tables are updated? No.</a:t>
            </a:r>
          </a:p>
          <a:p>
            <a:r>
              <a:rPr lang="en-AU" sz="2400" dirty="0">
                <a:solidFill>
                  <a:schemeClr val="tx2"/>
                </a:solidFill>
              </a:rPr>
              <a:t>Is it possible for the data is two tables to get 'out of synch'? Yes.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Storing the same data in two tables causes </a:t>
            </a:r>
            <a:r>
              <a:rPr lang="en-AU" sz="2400" b="1" dirty="0">
                <a:solidFill>
                  <a:schemeClr val="tx2"/>
                </a:solidFill>
              </a:rPr>
              <a:t>Redundant Data.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Data redundancy can lead to:</a:t>
            </a:r>
          </a:p>
          <a:p>
            <a:r>
              <a:rPr lang="en-AU" sz="2400" dirty="0">
                <a:solidFill>
                  <a:schemeClr val="tx2"/>
                </a:solidFill>
              </a:rPr>
              <a:t>* multiple versions of the truth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loss of data integrity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dirty="0">
                <a:solidFill>
                  <a:schemeClr val="tx2"/>
                </a:solidFill>
              </a:rPr>
              <a:t>However we sometimes want to play or test some Data and we can Simply make a </a:t>
            </a:r>
            <a:r>
              <a:rPr lang="en-AU" sz="2400" b="1" dirty="0">
                <a:solidFill>
                  <a:schemeClr val="tx2"/>
                </a:solidFill>
              </a:rPr>
              <a:t>Copy of Table </a:t>
            </a:r>
            <a:r>
              <a:rPr lang="en-AU" sz="2400" dirty="0">
                <a:solidFill>
                  <a:schemeClr val="tx2"/>
                </a:solidFill>
              </a:rPr>
              <a:t>and paste it in </a:t>
            </a:r>
            <a:r>
              <a:rPr lang="en-AU" sz="2400" b="1" dirty="0">
                <a:solidFill>
                  <a:schemeClr val="tx2"/>
                </a:solidFill>
              </a:rPr>
              <a:t>Access</a:t>
            </a:r>
            <a:r>
              <a:rPr lang="en-AU" sz="2400" dirty="0">
                <a:solidFill>
                  <a:schemeClr val="tx2"/>
                </a:solidFill>
              </a:rPr>
              <a:t>.  Then use this </a:t>
            </a:r>
            <a:r>
              <a:rPr lang="en-AU" sz="2400" b="1" dirty="0">
                <a:solidFill>
                  <a:schemeClr val="tx2"/>
                </a:solidFill>
              </a:rPr>
              <a:t>Copied Table </a:t>
            </a:r>
            <a:r>
              <a:rPr lang="en-AU" sz="2400" dirty="0">
                <a:solidFill>
                  <a:schemeClr val="tx2"/>
                </a:solidFill>
              </a:rPr>
              <a:t>to play with the Data</a:t>
            </a:r>
          </a:p>
        </p:txBody>
      </p:sp>
    </p:spTree>
    <p:extLst>
      <p:ext uri="{BB962C8B-B14F-4D97-AF65-F5344CB8AC3E}">
        <p14:creationId xmlns:p14="http://schemas.microsoft.com/office/powerpoint/2010/main" val="3410335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Make Table and Append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7417163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Suppose you want to make a copy of the movies of the year 2000 and store them in a separate table.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You can copy rows from the movie table 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to a </a:t>
            </a:r>
            <a:r>
              <a:rPr lang="en-AU" sz="2400" b="1" dirty="0">
                <a:solidFill>
                  <a:schemeClr val="tx2"/>
                </a:solidFill>
              </a:rPr>
              <a:t>new</a:t>
            </a:r>
            <a:r>
              <a:rPr lang="en-AU" sz="2400" dirty="0">
                <a:solidFill>
                  <a:schemeClr val="tx2"/>
                </a:solidFill>
              </a:rPr>
              <a:t> table named </a:t>
            </a:r>
            <a:r>
              <a:rPr lang="en-AU" sz="2400" b="1" dirty="0">
                <a:solidFill>
                  <a:schemeClr val="tx2"/>
                </a:solidFill>
              </a:rPr>
              <a:t>Movies of 2012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You can use the </a:t>
            </a:r>
            <a:r>
              <a:rPr lang="en-AU" sz="2400" b="1" dirty="0">
                <a:solidFill>
                  <a:schemeClr val="tx2"/>
                </a:solidFill>
              </a:rPr>
              <a:t>Make Table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icon. When executed via the run icon 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a new table is created.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Warning: This causes 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b="1" dirty="0">
                <a:solidFill>
                  <a:schemeClr val="tx2"/>
                </a:solidFill>
              </a:rPr>
              <a:t>Redundant Data!</a:t>
            </a:r>
          </a:p>
          <a:p>
            <a:endParaRPr lang="en-AU" sz="2400" b="1" dirty="0">
              <a:solidFill>
                <a:schemeClr val="tx2"/>
              </a:solidFill>
            </a:endParaRPr>
          </a:p>
          <a:p>
            <a:r>
              <a:rPr lang="en-AU" sz="2400" i="1" dirty="0">
                <a:solidFill>
                  <a:schemeClr val="tx2"/>
                </a:solidFill>
              </a:rPr>
              <a:t>Useful if you want a new</a:t>
            </a:r>
            <a:br>
              <a:rPr lang="en-AU" sz="2400" i="1" dirty="0">
                <a:solidFill>
                  <a:schemeClr val="tx2"/>
                </a:solidFill>
              </a:rPr>
            </a:br>
            <a:r>
              <a:rPr lang="en-AU" sz="2400" i="1" dirty="0">
                <a:solidFill>
                  <a:schemeClr val="tx2"/>
                </a:solidFill>
              </a:rPr>
              <a:t>table for testing purposes</a:t>
            </a:r>
            <a:br>
              <a:rPr lang="en-AU" sz="2400" i="1" dirty="0">
                <a:solidFill>
                  <a:schemeClr val="tx2"/>
                </a:solidFill>
              </a:rPr>
            </a:br>
            <a:r>
              <a:rPr lang="en-AU" sz="2400" i="1" dirty="0">
                <a:solidFill>
                  <a:schemeClr val="tx2"/>
                </a:solidFill>
              </a:rPr>
              <a:t>or similar.</a:t>
            </a:r>
            <a:br>
              <a:rPr lang="en-AU" sz="2400" b="1" dirty="0">
                <a:solidFill>
                  <a:schemeClr val="tx2"/>
                </a:solidFill>
              </a:rPr>
            </a:br>
            <a:endParaRPr lang="en-AU" sz="2400" b="1" dirty="0">
              <a:solidFill>
                <a:schemeClr val="tx2"/>
              </a:solidFill>
            </a:endParaRPr>
          </a:p>
          <a:p>
            <a:br>
              <a:rPr lang="en-AU" sz="2400" dirty="0">
                <a:solidFill>
                  <a:schemeClr val="tx2"/>
                </a:solidFill>
              </a:rPr>
            </a:br>
            <a:endParaRPr lang="en-AU" sz="2400" dirty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3557"/>
          <a:stretch/>
        </p:blipFill>
        <p:spPr>
          <a:xfrm>
            <a:off x="7866380" y="1164657"/>
            <a:ext cx="3860800" cy="129015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520" y="2786743"/>
            <a:ext cx="6718479" cy="385545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C557EA0-682D-4D96-AF92-39C08C0EAF91}"/>
              </a:ext>
            </a:extLst>
          </p:cNvPr>
          <p:cNvSpPr/>
          <p:nvPr/>
        </p:nvSpPr>
        <p:spPr>
          <a:xfrm>
            <a:off x="9174143" y="1174705"/>
            <a:ext cx="803868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8871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Append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This option is </a:t>
            </a:r>
            <a:r>
              <a:rPr lang="en-US" sz="2400" b="1" dirty="0">
                <a:solidFill>
                  <a:schemeClr val="tx2"/>
                </a:solidFill>
              </a:rPr>
              <a:t>similar</a:t>
            </a:r>
            <a:r>
              <a:rPr lang="en-US" sz="2400" dirty="0">
                <a:solidFill>
                  <a:schemeClr val="tx2"/>
                </a:solidFill>
              </a:rPr>
              <a:t> to the Make Table option.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Instead of making a new table, records selected by this query are </a:t>
            </a:r>
            <a:r>
              <a:rPr lang="en-US" sz="2400" b="1" dirty="0">
                <a:solidFill>
                  <a:schemeClr val="tx2"/>
                </a:solidFill>
              </a:rPr>
              <a:t>appended to an existing table.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have to ensure that the fields on the original table 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match the fields</a:t>
            </a:r>
            <a:r>
              <a:rPr lang="en-US" sz="2400" dirty="0">
                <a:solidFill>
                  <a:schemeClr val="tx2"/>
                </a:solidFill>
              </a:rPr>
              <a:t> that you select in the </a:t>
            </a:r>
            <a:r>
              <a:rPr lang="en-US" sz="2400" b="1" dirty="0">
                <a:solidFill>
                  <a:schemeClr val="tx2"/>
                </a:solidFill>
              </a:rPr>
              <a:t>Append Query.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The Make Table and Append queries should be use </a:t>
            </a:r>
            <a:r>
              <a:rPr lang="en-US" sz="2400" b="1" dirty="0">
                <a:solidFill>
                  <a:schemeClr val="tx2"/>
                </a:solidFill>
              </a:rPr>
              <a:t>sparingly</a:t>
            </a:r>
            <a:r>
              <a:rPr lang="en-US" sz="2400" dirty="0">
                <a:solidFill>
                  <a:schemeClr val="tx2"/>
                </a:solidFill>
              </a:rPr>
              <a:t> (if at all).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i="1" dirty="0">
                <a:solidFill>
                  <a:schemeClr val="tx2"/>
                </a:solidFill>
              </a:rPr>
              <a:t>Again, best used for testing purposes only.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1693471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32728"/>
            <a:ext cx="11582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An </a:t>
            </a:r>
            <a:r>
              <a:rPr lang="en-US" sz="2400" b="1" dirty="0">
                <a:solidFill>
                  <a:schemeClr val="tx2"/>
                </a:solidFill>
              </a:rPr>
              <a:t>Update Query</a:t>
            </a:r>
            <a:r>
              <a:rPr lang="en-US" sz="2400" dirty="0">
                <a:solidFill>
                  <a:schemeClr val="tx2"/>
                </a:solidFill>
              </a:rPr>
              <a:t> allows you to </a:t>
            </a:r>
            <a:r>
              <a:rPr lang="en-US" sz="2400" b="1" dirty="0">
                <a:solidFill>
                  <a:schemeClr val="tx2"/>
                </a:solidFill>
              </a:rPr>
              <a:t>change</a:t>
            </a:r>
            <a:r>
              <a:rPr lang="en-US" sz="2400" dirty="0">
                <a:solidFill>
                  <a:schemeClr val="tx2"/>
                </a:solidFill>
              </a:rPr>
              <a:t> the value of a field(s) for </a:t>
            </a:r>
            <a:r>
              <a:rPr lang="en-US" sz="2400" b="1" dirty="0">
                <a:solidFill>
                  <a:schemeClr val="tx2"/>
                </a:solidFill>
              </a:rPr>
              <a:t>many</a:t>
            </a:r>
            <a:r>
              <a:rPr lang="en-US" sz="2400" dirty="0">
                <a:solidFill>
                  <a:schemeClr val="tx2"/>
                </a:solidFill>
              </a:rPr>
              <a:t> records at one time.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>
              <a:solidFill>
                <a:schemeClr val="tx2"/>
              </a:solidFill>
            </a:endParaRP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                                                Example: We can set all employees </a:t>
            </a:r>
            <a:r>
              <a:rPr lang="en-AU" sz="2400" b="1" dirty="0" err="1">
                <a:solidFill>
                  <a:schemeClr val="tx2"/>
                </a:solidFill>
              </a:rPr>
              <a:t>HoursWorkedLastYear</a:t>
            </a:r>
            <a:r>
              <a:rPr lang="en-AU" sz="2400" dirty="0">
                <a:solidFill>
                  <a:schemeClr val="tx2"/>
                </a:solidFill>
              </a:rPr>
              <a:t> to </a:t>
            </a:r>
            <a:r>
              <a:rPr lang="en-AU" sz="2400" b="1" dirty="0">
                <a:solidFill>
                  <a:schemeClr val="tx2"/>
                </a:solidFill>
              </a:rPr>
              <a:t>zero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589" y="3894781"/>
            <a:ext cx="6754388" cy="1241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53" y="2385840"/>
            <a:ext cx="3535714" cy="4294389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 rot="10235292">
            <a:off x="2291483" y="5807600"/>
            <a:ext cx="937890" cy="443753"/>
          </a:xfrm>
          <a:prstGeom prst="right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5"/>
          <a:srcRect r="63557"/>
          <a:stretch/>
        </p:blipFill>
        <p:spPr>
          <a:xfrm>
            <a:off x="6096000" y="1459422"/>
            <a:ext cx="3860800" cy="129015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620B4DC8-FFE4-46D4-9D4A-85FC07CBD18E}"/>
              </a:ext>
            </a:extLst>
          </p:cNvPr>
          <p:cNvSpPr/>
          <p:nvPr/>
        </p:nvSpPr>
        <p:spPr>
          <a:xfrm>
            <a:off x="8289889" y="1385719"/>
            <a:ext cx="803868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5716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When the query is run, Access gives a </a:t>
            </a:r>
            <a:r>
              <a:rPr lang="en-US" sz="2400" b="1" dirty="0">
                <a:solidFill>
                  <a:schemeClr val="tx2"/>
                </a:solidFill>
              </a:rPr>
              <a:t>warning</a:t>
            </a:r>
            <a:r>
              <a:rPr lang="en-US" sz="2400" dirty="0">
                <a:solidFill>
                  <a:schemeClr val="tx2"/>
                </a:solidFill>
              </a:rPr>
              <a:t> about impeding changes to the table.</a:t>
            </a:r>
          </a:p>
          <a:p>
            <a:r>
              <a:rPr lang="en-US" sz="2400" dirty="0">
                <a:solidFill>
                  <a:schemeClr val="tx2"/>
                </a:solidFill>
              </a:rPr>
              <a:t>(These warnings can be suppressed via Access Settings)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Once you say </a:t>
            </a:r>
            <a:r>
              <a:rPr lang="en-AU" sz="2400" b="1" dirty="0">
                <a:solidFill>
                  <a:schemeClr val="tx2"/>
                </a:solidFill>
              </a:rPr>
              <a:t>Yes</a:t>
            </a:r>
            <a:r>
              <a:rPr lang="en-AU" sz="2400" dirty="0">
                <a:solidFill>
                  <a:schemeClr val="tx2"/>
                </a:solidFill>
              </a:rPr>
              <a:t>, the records are </a:t>
            </a:r>
            <a:r>
              <a:rPr lang="en-AU" sz="2400" b="1" dirty="0">
                <a:solidFill>
                  <a:schemeClr val="tx2"/>
                </a:solidFill>
              </a:rPr>
              <a:t>changed</a:t>
            </a:r>
            <a:r>
              <a:rPr lang="en-AU" sz="2400" dirty="0">
                <a:solidFill>
                  <a:schemeClr val="tx2"/>
                </a:solidFill>
              </a:rPr>
              <a:t>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2738" y="1806228"/>
            <a:ext cx="6116741" cy="18012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5279" y="4656971"/>
            <a:ext cx="9504632" cy="17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04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1634302"/>
            <a:ext cx="11437620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Warning: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There is </a:t>
            </a:r>
            <a:r>
              <a:rPr lang="en-US" sz="2400" b="1" dirty="0">
                <a:solidFill>
                  <a:schemeClr val="tx2"/>
                </a:solidFill>
              </a:rPr>
              <a:t>no way to undo </a:t>
            </a:r>
            <a:r>
              <a:rPr lang="en-US" sz="2400" dirty="0">
                <a:solidFill>
                  <a:schemeClr val="tx2"/>
                </a:solidFill>
              </a:rPr>
              <a:t>an </a:t>
            </a:r>
            <a:r>
              <a:rPr lang="en-US" sz="2400" b="1" dirty="0">
                <a:solidFill>
                  <a:schemeClr val="tx2"/>
                </a:solidFill>
              </a:rPr>
              <a:t>update query</a:t>
            </a:r>
            <a:r>
              <a:rPr lang="en-US" sz="2400" dirty="0">
                <a:solidFill>
                  <a:schemeClr val="tx2"/>
                </a:solidFill>
              </a:rPr>
              <a:t>. Ctrl Z is useless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Be careful</a:t>
            </a:r>
            <a:r>
              <a:rPr lang="en-US" sz="2400" dirty="0">
                <a:solidFill>
                  <a:schemeClr val="tx2"/>
                </a:solidFill>
              </a:rPr>
              <a:t> before you execute an Update Query.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E.g. It is possible to update every row in a 10 million row table.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If you specify a criteria incorrectly and do not test you query first, this could have catastrophic results.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is strongly suggested that you take </a:t>
            </a:r>
            <a:r>
              <a:rPr lang="en-US" sz="2400" b="1" dirty="0">
                <a:solidFill>
                  <a:schemeClr val="tx2"/>
                </a:solidFill>
              </a:rPr>
              <a:t>backups</a:t>
            </a:r>
            <a:r>
              <a:rPr lang="en-US" sz="2400" dirty="0">
                <a:solidFill>
                  <a:schemeClr val="tx2"/>
                </a:solidFill>
              </a:rPr>
              <a:t> of your data – especially before executing such a query.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883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Update Query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853252"/>
            <a:ext cx="1143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This example shows how the current Hourly Rate value can be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increased by $2.50</a:t>
            </a:r>
            <a:r>
              <a:rPr lang="en-US" sz="2400" dirty="0">
                <a:solidFill>
                  <a:schemeClr val="tx2"/>
                </a:solidFill>
              </a:rPr>
              <a:t> for each of the employees.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The </a:t>
            </a:r>
            <a:r>
              <a:rPr lang="en-US" sz="2400" b="1" dirty="0">
                <a:solidFill>
                  <a:schemeClr val="tx2"/>
                </a:solidFill>
              </a:rPr>
              <a:t>calculation</a:t>
            </a:r>
            <a:r>
              <a:rPr lang="en-US" sz="2400" dirty="0">
                <a:solidFill>
                  <a:schemeClr val="tx2"/>
                </a:solidFill>
              </a:rPr>
              <a:t> includes the </a:t>
            </a:r>
            <a:r>
              <a:rPr lang="en-US" sz="2400" b="1" dirty="0">
                <a:solidFill>
                  <a:schemeClr val="tx2"/>
                </a:solidFill>
              </a:rPr>
              <a:t>name of the field.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678" y="4680800"/>
            <a:ext cx="8435620" cy="167893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4683" y="2173287"/>
            <a:ext cx="4376654" cy="206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028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Delete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732219"/>
            <a:ext cx="114376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A </a:t>
            </a:r>
            <a:r>
              <a:rPr lang="en-AU" sz="2400" b="1" dirty="0">
                <a:solidFill>
                  <a:schemeClr val="tx2"/>
                </a:solidFill>
              </a:rPr>
              <a:t>Delete</a:t>
            </a:r>
            <a:r>
              <a:rPr lang="en-AU" sz="2400" dirty="0">
                <a:solidFill>
                  <a:schemeClr val="tx2"/>
                </a:solidFill>
              </a:rPr>
              <a:t> </a:t>
            </a:r>
            <a:r>
              <a:rPr lang="en-AU" sz="2400" b="1" dirty="0">
                <a:solidFill>
                  <a:schemeClr val="tx2"/>
                </a:solidFill>
              </a:rPr>
              <a:t>Query</a:t>
            </a:r>
            <a:r>
              <a:rPr lang="en-AU" sz="2400" dirty="0">
                <a:solidFill>
                  <a:schemeClr val="tx2"/>
                </a:solidFill>
              </a:rPr>
              <a:t> is similar to an Update Query.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Rows are </a:t>
            </a:r>
            <a:r>
              <a:rPr lang="en-AU" sz="2400" b="1" dirty="0">
                <a:solidFill>
                  <a:schemeClr val="tx2"/>
                </a:solidFill>
              </a:rPr>
              <a:t>permanently deleted</a:t>
            </a:r>
            <a:r>
              <a:rPr lang="en-AU" sz="2400" dirty="0">
                <a:solidFill>
                  <a:schemeClr val="tx2"/>
                </a:solidFill>
              </a:rPr>
              <a:t> from a table.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These is </a:t>
            </a:r>
            <a:r>
              <a:rPr lang="en-AU" sz="2400" b="1" dirty="0">
                <a:solidFill>
                  <a:schemeClr val="tx2"/>
                </a:solidFill>
              </a:rPr>
              <a:t>no</a:t>
            </a:r>
            <a:r>
              <a:rPr lang="en-AU" sz="2400" dirty="0">
                <a:solidFill>
                  <a:schemeClr val="tx2"/>
                </a:solidFill>
              </a:rPr>
              <a:t> undo facility.</a:t>
            </a:r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b="1" dirty="0">
                <a:solidFill>
                  <a:schemeClr val="tx2"/>
                </a:solidFill>
              </a:rPr>
              <a:t>Backups</a:t>
            </a:r>
            <a:r>
              <a:rPr lang="en-AU" sz="2400" dirty="0">
                <a:solidFill>
                  <a:schemeClr val="tx2"/>
                </a:solidFill>
              </a:rPr>
              <a:t> of database tables are crucial.</a:t>
            </a:r>
          </a:p>
          <a:p>
            <a:endParaRPr lang="en-AU" sz="2400" dirty="0">
              <a:solidFill>
                <a:schemeClr val="tx2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r="63557"/>
          <a:stretch/>
        </p:blipFill>
        <p:spPr>
          <a:xfrm>
            <a:off x="7286170" y="988203"/>
            <a:ext cx="3860800" cy="129015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240BCC6-F2D9-45AF-BCFC-0DA4D4D22310}"/>
              </a:ext>
            </a:extLst>
          </p:cNvPr>
          <p:cNvSpPr/>
          <p:nvPr/>
        </p:nvSpPr>
        <p:spPr>
          <a:xfrm>
            <a:off x="10594313" y="932601"/>
            <a:ext cx="697437" cy="133057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2194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CrossTab</a:t>
            </a:r>
            <a:r>
              <a:rPr lang="en-AU" dirty="0"/>
              <a:t>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631556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 </a:t>
            </a:r>
            <a:r>
              <a:rPr lang="en-US" sz="2400" b="1" dirty="0">
                <a:solidFill>
                  <a:schemeClr val="tx2"/>
                </a:solidFill>
              </a:rPr>
              <a:t>Cross Tab Query</a:t>
            </a:r>
            <a:r>
              <a:rPr lang="en-US" sz="2400" dirty="0">
                <a:solidFill>
                  <a:schemeClr val="tx2"/>
                </a:solidFill>
              </a:rPr>
              <a:t> is similar to a </a:t>
            </a:r>
            <a:r>
              <a:rPr lang="en-US" sz="2400" b="1" dirty="0">
                <a:solidFill>
                  <a:schemeClr val="tx2"/>
                </a:solidFill>
              </a:rPr>
              <a:t>Pivot Table</a:t>
            </a:r>
            <a:r>
              <a:rPr lang="en-US" sz="2400" dirty="0">
                <a:solidFill>
                  <a:schemeClr val="tx2"/>
                </a:solidFill>
              </a:rPr>
              <a:t> in Excel.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 crosstab query performs an </a:t>
            </a:r>
            <a:r>
              <a:rPr lang="en-US" sz="2400" b="1" dirty="0">
                <a:solidFill>
                  <a:schemeClr val="tx2"/>
                </a:solidFill>
              </a:rPr>
              <a:t>aggregation</a:t>
            </a:r>
            <a:r>
              <a:rPr lang="en-US" sz="2400" dirty="0">
                <a:solidFill>
                  <a:schemeClr val="tx2"/>
                </a:solidFill>
              </a:rPr>
              <a:t> (sum, count…) &amp; groups the results by </a:t>
            </a:r>
            <a:r>
              <a:rPr lang="en-US" sz="2400" b="1" dirty="0">
                <a:solidFill>
                  <a:schemeClr val="tx2"/>
                </a:solidFill>
              </a:rPr>
              <a:t>two sets of values</a:t>
            </a:r>
            <a:r>
              <a:rPr lang="en-US" sz="2400" dirty="0">
                <a:solidFill>
                  <a:schemeClr val="tx2"/>
                </a:solidFill>
              </a:rPr>
              <a:t> - one set of values on the </a:t>
            </a:r>
            <a:r>
              <a:rPr lang="en-US" sz="2400" b="1" dirty="0">
                <a:solidFill>
                  <a:schemeClr val="tx2"/>
                </a:solidFill>
              </a:rPr>
              <a:t>side</a:t>
            </a:r>
            <a:r>
              <a:rPr lang="en-US" sz="2400" dirty="0">
                <a:solidFill>
                  <a:schemeClr val="tx2"/>
                </a:solidFill>
              </a:rPr>
              <a:t> of the datasheet and the other set of values across the </a:t>
            </a:r>
            <a:r>
              <a:rPr lang="en-US" sz="2400" b="1" dirty="0">
                <a:solidFill>
                  <a:schemeClr val="tx2"/>
                </a:solidFill>
              </a:rPr>
              <a:t>top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endParaRPr lang="en-AU" sz="2400" dirty="0">
              <a:solidFill>
                <a:schemeClr val="tx2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30505"/>
          <a:stretch/>
        </p:blipFill>
        <p:spPr>
          <a:xfrm>
            <a:off x="6923315" y="420915"/>
            <a:ext cx="5268686" cy="53708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03" y="3734146"/>
            <a:ext cx="6502397" cy="2454987"/>
          </a:xfrm>
          <a:prstGeom prst="rect">
            <a:avLst/>
          </a:prstGeom>
        </p:spPr>
      </p:pic>
      <p:sp>
        <p:nvSpPr>
          <p:cNvPr id="7" name="Freeform 6"/>
          <p:cNvSpPr/>
          <p:nvPr/>
        </p:nvSpPr>
        <p:spPr>
          <a:xfrm>
            <a:off x="6473371" y="3873164"/>
            <a:ext cx="4588507" cy="1351979"/>
          </a:xfrm>
          <a:custGeom>
            <a:avLst/>
            <a:gdLst>
              <a:gd name="connsiteX0" fmla="*/ 4484915 w 4588507"/>
              <a:gd name="connsiteY0" fmla="*/ 1351979 h 1351979"/>
              <a:gd name="connsiteX1" fmla="*/ 4586515 w 4588507"/>
              <a:gd name="connsiteY1" fmla="*/ 1032665 h 1351979"/>
              <a:gd name="connsiteX2" fmla="*/ 4513943 w 4588507"/>
              <a:gd name="connsiteY2" fmla="*/ 568207 h 1351979"/>
              <a:gd name="connsiteX3" fmla="*/ 4107543 w 4588507"/>
              <a:gd name="connsiteY3" fmla="*/ 147293 h 1351979"/>
              <a:gd name="connsiteX4" fmla="*/ 3526972 w 4588507"/>
              <a:gd name="connsiteY4" fmla="*/ 31179 h 1351979"/>
              <a:gd name="connsiteX5" fmla="*/ 2656115 w 4588507"/>
              <a:gd name="connsiteY5" fmla="*/ 2150 h 1351979"/>
              <a:gd name="connsiteX6" fmla="*/ 1553029 w 4588507"/>
              <a:gd name="connsiteY6" fmla="*/ 2150 h 1351979"/>
              <a:gd name="connsiteX7" fmla="*/ 435429 w 4588507"/>
              <a:gd name="connsiteY7" fmla="*/ 16665 h 1351979"/>
              <a:gd name="connsiteX8" fmla="*/ 0 w 4588507"/>
              <a:gd name="connsiteY8" fmla="*/ 60207 h 1351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8507" h="1351979">
                <a:moveTo>
                  <a:pt x="4484915" y="1351979"/>
                </a:moveTo>
                <a:cubicBezTo>
                  <a:pt x="4533296" y="1257636"/>
                  <a:pt x="4581677" y="1163294"/>
                  <a:pt x="4586515" y="1032665"/>
                </a:cubicBezTo>
                <a:cubicBezTo>
                  <a:pt x="4591353" y="902036"/>
                  <a:pt x="4593772" y="715769"/>
                  <a:pt x="4513943" y="568207"/>
                </a:cubicBezTo>
                <a:cubicBezTo>
                  <a:pt x="4434114" y="420645"/>
                  <a:pt x="4272038" y="236798"/>
                  <a:pt x="4107543" y="147293"/>
                </a:cubicBezTo>
                <a:cubicBezTo>
                  <a:pt x="3943048" y="57788"/>
                  <a:pt x="3768877" y="55369"/>
                  <a:pt x="3526972" y="31179"/>
                </a:cubicBezTo>
                <a:cubicBezTo>
                  <a:pt x="3285067" y="6989"/>
                  <a:pt x="2985105" y="6988"/>
                  <a:pt x="2656115" y="2150"/>
                </a:cubicBezTo>
                <a:cubicBezTo>
                  <a:pt x="2327125" y="-2688"/>
                  <a:pt x="1553029" y="2150"/>
                  <a:pt x="1553029" y="2150"/>
                </a:cubicBezTo>
                <a:lnTo>
                  <a:pt x="435429" y="16665"/>
                </a:lnTo>
                <a:cubicBezTo>
                  <a:pt x="176591" y="26341"/>
                  <a:pt x="88295" y="43274"/>
                  <a:pt x="0" y="60207"/>
                </a:cubicBezTo>
              </a:path>
            </a:pathLst>
          </a:custGeom>
          <a:noFill/>
          <a:ln w="28575"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ight Brace 8"/>
          <p:cNvSpPr/>
          <p:nvPr/>
        </p:nvSpPr>
        <p:spPr>
          <a:xfrm rot="16200000">
            <a:off x="4126970" y="1265664"/>
            <a:ext cx="339822" cy="4991238"/>
          </a:xfrm>
          <a:prstGeom prst="rightBrace">
            <a:avLst>
              <a:gd name="adj1" fmla="val 8333"/>
              <a:gd name="adj2" fmla="val 505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Freeform 9"/>
          <p:cNvSpPr/>
          <p:nvPr/>
        </p:nvSpPr>
        <p:spPr>
          <a:xfrm>
            <a:off x="1074057" y="5225143"/>
            <a:ext cx="8255327" cy="1391003"/>
          </a:xfrm>
          <a:custGeom>
            <a:avLst/>
            <a:gdLst>
              <a:gd name="connsiteX0" fmla="*/ 8898770 w 9113183"/>
              <a:gd name="connsiteY0" fmla="*/ 0 h 1391003"/>
              <a:gd name="connsiteX1" fmla="*/ 9043913 w 9113183"/>
              <a:gd name="connsiteY1" fmla="*/ 232228 h 1391003"/>
              <a:gd name="connsiteX2" fmla="*/ 9101970 w 9113183"/>
              <a:gd name="connsiteY2" fmla="*/ 711200 h 1391003"/>
              <a:gd name="connsiteX3" fmla="*/ 8826199 w 9113183"/>
              <a:gd name="connsiteY3" fmla="*/ 1117600 h 1391003"/>
              <a:gd name="connsiteX4" fmla="*/ 7665056 w 9113183"/>
              <a:gd name="connsiteY4" fmla="*/ 1335314 h 1391003"/>
              <a:gd name="connsiteX5" fmla="*/ 5502428 w 9113183"/>
              <a:gd name="connsiteY5" fmla="*/ 1320800 h 1391003"/>
              <a:gd name="connsiteX6" fmla="*/ 3049513 w 9113183"/>
              <a:gd name="connsiteY6" fmla="*/ 1335314 h 1391003"/>
              <a:gd name="connsiteX7" fmla="*/ 1540028 w 9113183"/>
              <a:gd name="connsiteY7" fmla="*/ 1364343 h 1391003"/>
              <a:gd name="connsiteX8" fmla="*/ 480485 w 9113183"/>
              <a:gd name="connsiteY8" fmla="*/ 1378857 h 1391003"/>
              <a:gd name="connsiteX9" fmla="*/ 74085 w 9113183"/>
              <a:gd name="connsiteY9" fmla="*/ 1175657 h 1391003"/>
              <a:gd name="connsiteX10" fmla="*/ 1513 w 9113183"/>
              <a:gd name="connsiteY10" fmla="*/ 870857 h 1391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13183" h="1391003">
                <a:moveTo>
                  <a:pt x="8898770" y="0"/>
                </a:moveTo>
                <a:cubicBezTo>
                  <a:pt x="8954408" y="56847"/>
                  <a:pt x="9010046" y="113695"/>
                  <a:pt x="9043913" y="232228"/>
                </a:cubicBezTo>
                <a:cubicBezTo>
                  <a:pt x="9077780" y="350761"/>
                  <a:pt x="9138256" y="563638"/>
                  <a:pt x="9101970" y="711200"/>
                </a:cubicBezTo>
                <a:cubicBezTo>
                  <a:pt x="9065684" y="858762"/>
                  <a:pt x="9065685" y="1013581"/>
                  <a:pt x="8826199" y="1117600"/>
                </a:cubicBezTo>
                <a:cubicBezTo>
                  <a:pt x="8586713" y="1221619"/>
                  <a:pt x="8219018" y="1301447"/>
                  <a:pt x="7665056" y="1335314"/>
                </a:cubicBezTo>
                <a:cubicBezTo>
                  <a:pt x="7111094" y="1369181"/>
                  <a:pt x="5502428" y="1320800"/>
                  <a:pt x="5502428" y="1320800"/>
                </a:cubicBezTo>
                <a:lnTo>
                  <a:pt x="3049513" y="1335314"/>
                </a:lnTo>
                <a:lnTo>
                  <a:pt x="1540028" y="1364343"/>
                </a:lnTo>
                <a:cubicBezTo>
                  <a:pt x="1111857" y="1371600"/>
                  <a:pt x="724809" y="1410305"/>
                  <a:pt x="480485" y="1378857"/>
                </a:cubicBezTo>
                <a:cubicBezTo>
                  <a:pt x="236161" y="1347409"/>
                  <a:pt x="153914" y="1260324"/>
                  <a:pt x="74085" y="1175657"/>
                </a:cubicBezTo>
                <a:cubicBezTo>
                  <a:pt x="-5744" y="1090990"/>
                  <a:pt x="-2116" y="980923"/>
                  <a:pt x="1513" y="870857"/>
                </a:cubicBezTo>
              </a:path>
            </a:pathLst>
          </a:custGeom>
          <a:noFill/>
          <a:ln w="28575">
            <a:solidFill>
              <a:srgbClr val="FF0000"/>
            </a:solidFill>
            <a:headEnd type="none" w="med" len="med"/>
            <a:tailEnd type="triangle" w="lg" len="lg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eft Brace 10"/>
          <p:cNvSpPr/>
          <p:nvPr/>
        </p:nvSpPr>
        <p:spPr>
          <a:xfrm>
            <a:off x="1030512" y="4389362"/>
            <a:ext cx="377372" cy="1799771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1510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Almost all Relational Databases use </a:t>
            </a:r>
            <a:r>
              <a:rPr lang="en-US" sz="2400" b="1" dirty="0">
                <a:solidFill>
                  <a:schemeClr val="tx2"/>
                </a:solidFill>
              </a:rPr>
              <a:t>SQL (structured query language)</a:t>
            </a:r>
            <a:r>
              <a:rPr lang="en-US" sz="2400" dirty="0">
                <a:solidFill>
                  <a:schemeClr val="tx2"/>
                </a:solidFill>
              </a:rPr>
              <a:t> to manipulate objects and data within the database.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This is </a:t>
            </a:r>
            <a:r>
              <a:rPr lang="en-US" sz="2400" b="1" dirty="0">
                <a:solidFill>
                  <a:schemeClr val="tx2"/>
                </a:solidFill>
              </a:rPr>
              <a:t>hidden</a:t>
            </a:r>
            <a:r>
              <a:rPr lang="en-US" sz="2400" dirty="0">
                <a:solidFill>
                  <a:schemeClr val="tx2"/>
                </a:solidFill>
              </a:rPr>
              <a:t> from you when you use Access because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Access uses a </a:t>
            </a:r>
            <a:r>
              <a:rPr lang="en-US" sz="2400" b="1" dirty="0">
                <a:solidFill>
                  <a:schemeClr val="tx2"/>
                </a:solidFill>
              </a:rPr>
              <a:t>Graphical User Interface.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Many non-computer savvy people would have </a:t>
            </a:r>
            <a:r>
              <a:rPr lang="en-US" sz="2400" b="1" dirty="0">
                <a:solidFill>
                  <a:schemeClr val="tx2"/>
                </a:solidFill>
              </a:rPr>
              <a:t>trouble understanding SQL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However, each time you Create a Table or Design a Query, </a:t>
            </a:r>
            <a:r>
              <a:rPr lang="en-US" sz="2400" b="1" dirty="0">
                <a:solidFill>
                  <a:schemeClr val="tx2"/>
                </a:solidFill>
              </a:rPr>
              <a:t>Access is generating SQL behind the scenes.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You can </a:t>
            </a:r>
            <a:r>
              <a:rPr lang="en-US" sz="2400" b="1" dirty="0">
                <a:solidFill>
                  <a:schemeClr val="tx2"/>
                </a:solidFill>
              </a:rPr>
              <a:t>view</a:t>
            </a:r>
            <a:r>
              <a:rPr lang="en-US" sz="2400" dirty="0">
                <a:solidFill>
                  <a:schemeClr val="tx2"/>
                </a:solidFill>
              </a:rPr>
              <a:t> the SQL that is being generated by Access for a number of actions you perform.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(We will be writing some SQL without help from Access in future weeks)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3314239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SQL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This is an example of a simple query design screen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>
              <a:solidFill>
                <a:schemeClr val="tx2"/>
              </a:solidFill>
            </a:endParaRPr>
          </a:p>
          <a:p>
            <a:r>
              <a:rPr lang="en-AU" sz="2400" dirty="0">
                <a:solidFill>
                  <a:schemeClr val="tx2"/>
                </a:solidFill>
              </a:rPr>
              <a:t>The </a:t>
            </a:r>
            <a:r>
              <a:rPr lang="en-AU" sz="2400" b="1" dirty="0">
                <a:solidFill>
                  <a:schemeClr val="tx2"/>
                </a:solidFill>
              </a:rPr>
              <a:t>bottom right corner </a:t>
            </a:r>
            <a:r>
              <a:rPr lang="en-AU" sz="2400" dirty="0">
                <a:solidFill>
                  <a:schemeClr val="tx2"/>
                </a:solidFill>
              </a:rPr>
              <a:t>of the screen has an </a:t>
            </a:r>
            <a:r>
              <a:rPr lang="en-AU" sz="2400" b="1" dirty="0">
                <a:solidFill>
                  <a:schemeClr val="tx2"/>
                </a:solidFill>
              </a:rPr>
              <a:t>SQL icon.</a:t>
            </a:r>
          </a:p>
          <a:p>
            <a:r>
              <a:rPr lang="en-AU" sz="2400" dirty="0">
                <a:solidFill>
                  <a:schemeClr val="tx2"/>
                </a:solidFill>
              </a:rPr>
              <a:t>Click the icon to reveal the </a:t>
            </a:r>
            <a:r>
              <a:rPr lang="en-AU" sz="2400" b="1" dirty="0">
                <a:solidFill>
                  <a:schemeClr val="tx2"/>
                </a:solidFill>
              </a:rPr>
              <a:t>SQL statement.</a:t>
            </a:r>
          </a:p>
          <a:p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755" t="26918" r="-3755" b="1083"/>
          <a:stretch/>
        </p:blipFill>
        <p:spPr>
          <a:xfrm>
            <a:off x="2354236" y="1248226"/>
            <a:ext cx="8952392" cy="1788459"/>
          </a:xfrm>
          <a:prstGeom prst="rect">
            <a:avLst/>
          </a:prstGeom>
          <a:ln>
            <a:solidFill>
              <a:schemeClr val="accent2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b="21232"/>
          <a:stretch/>
        </p:blipFill>
        <p:spPr>
          <a:xfrm>
            <a:off x="870695" y="4947740"/>
            <a:ext cx="10805881" cy="161271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1918" y="3223324"/>
            <a:ext cx="4132773" cy="1537776"/>
          </a:xfrm>
          <a:prstGeom prst="rect">
            <a:avLst/>
          </a:prstGeom>
          <a:ln>
            <a:solidFill>
              <a:schemeClr val="accent2"/>
            </a:solidFill>
          </a:ln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BDE0972-CC35-4D65-8984-00F2F5C44EA8}"/>
              </a:ext>
            </a:extLst>
          </p:cNvPr>
          <p:cNvSpPr/>
          <p:nvPr/>
        </p:nvSpPr>
        <p:spPr>
          <a:xfrm>
            <a:off x="10086187" y="4069582"/>
            <a:ext cx="803868" cy="73543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5211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79" y="832728"/>
            <a:ext cx="1010553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Data often exists prior to the development of a database.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That data often needs to be entered into the Access database tables.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Option 1 :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Retype the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Costly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Prone to Errors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Slow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b="1" dirty="0">
                <a:solidFill>
                  <a:schemeClr val="tx2"/>
                </a:solidFill>
              </a:rPr>
              <a:t>Option 2 :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Import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the data using database tools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cost (other than creating the process)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Fast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typing errors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Same process is applied to every record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apply conversion rules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convert data from one datatype to another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550099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79" y="832728"/>
            <a:ext cx="1010553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Access</a:t>
            </a:r>
            <a:r>
              <a:rPr lang="en-US" sz="2400" dirty="0">
                <a:solidFill>
                  <a:schemeClr val="tx2"/>
                </a:solidFill>
              </a:rPr>
              <a:t> can </a:t>
            </a:r>
            <a:r>
              <a:rPr lang="en-US" sz="2400" b="1" dirty="0">
                <a:solidFill>
                  <a:schemeClr val="tx2"/>
                </a:solidFill>
              </a:rPr>
              <a:t>import</a:t>
            </a:r>
            <a:r>
              <a:rPr lang="en-US" sz="2400" dirty="0">
                <a:solidFill>
                  <a:schemeClr val="tx2"/>
                </a:solidFill>
              </a:rPr>
              <a:t> data from </a:t>
            </a:r>
            <a:r>
              <a:rPr lang="en-US" sz="2400" b="1" dirty="0">
                <a:solidFill>
                  <a:schemeClr val="tx2"/>
                </a:solidFill>
              </a:rPr>
              <a:t>many</a:t>
            </a:r>
            <a:r>
              <a:rPr lang="en-US" sz="2400" dirty="0">
                <a:solidFill>
                  <a:schemeClr val="tx2"/>
                </a:solidFill>
              </a:rPr>
              <a:t> sources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There are many different source types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Popular</a:t>
            </a:r>
            <a:r>
              <a:rPr lang="en-US" sz="2400" dirty="0">
                <a:solidFill>
                  <a:schemeClr val="tx2"/>
                </a:solidFill>
              </a:rPr>
              <a:t> types include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Excel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Text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XML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Database to Database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99" y="4227063"/>
            <a:ext cx="6836701" cy="2097043"/>
          </a:xfrm>
          <a:prstGeom prst="rect">
            <a:avLst/>
          </a:prstGeom>
        </p:spPr>
      </p:pic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40FF5DF-A53E-478B-B161-8BC079B8FF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2046" y="1384713"/>
            <a:ext cx="5889618" cy="330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4710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When importing data, you need to determine how you will treat the data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Option 1: Import the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	Make a copy of the original data.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  The data will be stored in Access Tables.</a:t>
            </a:r>
          </a:p>
          <a:p>
            <a:r>
              <a:rPr lang="en-US" sz="2400" b="1" dirty="0">
                <a:solidFill>
                  <a:schemeClr val="tx2"/>
                </a:solidFill>
              </a:rPr>
              <a:t>Option 2: Link to the source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	There is only </a:t>
            </a:r>
            <a:r>
              <a:rPr lang="en-US" sz="2400" b="1" dirty="0">
                <a:solidFill>
                  <a:schemeClr val="tx2"/>
                </a:solidFill>
              </a:rPr>
              <a:t>one version</a:t>
            </a:r>
            <a:r>
              <a:rPr lang="en-US" sz="2400" dirty="0">
                <a:solidFill>
                  <a:schemeClr val="tx2"/>
                </a:solidFill>
              </a:rPr>
              <a:t> of the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	Source Data  is maintained by the original application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	Access has a read-only view of the data</a:t>
            </a:r>
          </a:p>
          <a:p>
            <a:r>
              <a:rPr lang="en-US" sz="2400" dirty="0">
                <a:solidFill>
                  <a:schemeClr val="tx2"/>
                </a:solidFill>
              </a:rPr>
              <a:t>	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040" y="3883076"/>
            <a:ext cx="11749078" cy="27194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5359" y="1325972"/>
            <a:ext cx="313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Most often used to import data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5123349" y="1510638"/>
            <a:ext cx="1037230" cy="18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07883" y="2312427"/>
            <a:ext cx="54272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Used typically when data in Access works in conjunction with data that is continually maintained by another database application.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425874" y="2538037"/>
            <a:ext cx="1037230" cy="189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882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827" y="832728"/>
            <a:ext cx="114376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Rules for importing Excel data.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The data in an </a:t>
            </a:r>
            <a:r>
              <a:rPr lang="en-US" sz="2400" b="1" dirty="0">
                <a:solidFill>
                  <a:schemeClr val="tx2"/>
                </a:solidFill>
              </a:rPr>
              <a:t>Excel spreadsheet</a:t>
            </a:r>
            <a:r>
              <a:rPr lang="en-US" sz="2400" dirty="0">
                <a:solidFill>
                  <a:schemeClr val="tx2"/>
                </a:solidFill>
              </a:rPr>
              <a:t> must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resemble an Access Datasheet view.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Data has to be placed in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uniform rows and columns.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Data can be located in </a:t>
            </a:r>
            <a:r>
              <a:rPr lang="en-US" sz="2400" b="1" dirty="0">
                <a:solidFill>
                  <a:schemeClr val="tx2"/>
                </a:solidFill>
              </a:rPr>
              <a:t>multiple </a:t>
            </a:r>
            <a:br>
              <a:rPr lang="en-US" sz="2400" b="1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worksheets.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Every </a:t>
            </a:r>
            <a:r>
              <a:rPr lang="en-US" sz="2400" b="1" dirty="0">
                <a:solidFill>
                  <a:schemeClr val="tx2"/>
                </a:solidFill>
              </a:rPr>
              <a:t>column</a:t>
            </a:r>
            <a:r>
              <a:rPr lang="en-US" sz="2400" dirty="0">
                <a:solidFill>
                  <a:schemeClr val="tx2"/>
                </a:solidFill>
              </a:rPr>
              <a:t> must have a </a:t>
            </a:r>
            <a:r>
              <a:rPr lang="en-US" sz="2400" b="1" dirty="0">
                <a:solidFill>
                  <a:schemeClr val="tx2"/>
                </a:solidFill>
              </a:rPr>
              <a:t>heading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1" y="1641351"/>
            <a:ext cx="5683624" cy="502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762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7827" y="832728"/>
            <a:ext cx="11437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Access will ask which the </a:t>
            </a:r>
            <a:r>
              <a:rPr lang="en-US" sz="2400" b="1" dirty="0">
                <a:solidFill>
                  <a:schemeClr val="tx2"/>
                </a:solidFill>
              </a:rPr>
              <a:t>worksheet</a:t>
            </a:r>
            <a:r>
              <a:rPr lang="en-US" sz="2400" dirty="0">
                <a:solidFill>
                  <a:schemeClr val="tx2"/>
                </a:solidFill>
              </a:rPr>
              <a:t> name of where the data is located in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27" y="1633537"/>
            <a:ext cx="9425044" cy="489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0169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Specify that the worksheet has Column Heading in row 1.</a:t>
            </a:r>
          </a:p>
          <a:p>
            <a:r>
              <a:rPr lang="en-US" sz="2400" dirty="0">
                <a:solidFill>
                  <a:schemeClr val="tx2"/>
                </a:solidFill>
              </a:rPr>
              <a:t>Otherwise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Your headings will be treated as</a:t>
            </a:r>
            <a:r>
              <a:rPr lang="en-US" sz="2400" b="1" dirty="0">
                <a:solidFill>
                  <a:schemeClr val="tx2"/>
                </a:solidFill>
              </a:rPr>
              <a:t> field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Each field will be given a </a:t>
            </a:r>
            <a:r>
              <a:rPr lang="en-US" sz="2400" b="1" dirty="0">
                <a:solidFill>
                  <a:schemeClr val="tx2"/>
                </a:solidFill>
              </a:rPr>
              <a:t>sequential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name</a:t>
            </a:r>
            <a:r>
              <a:rPr lang="en-US" sz="2400" dirty="0">
                <a:solidFill>
                  <a:schemeClr val="tx2"/>
                </a:solidFill>
              </a:rPr>
              <a:t> such as Field1, Field2, Field3…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206" y="2725117"/>
            <a:ext cx="8970029" cy="398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17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Specify which </a:t>
            </a:r>
            <a:r>
              <a:rPr lang="en-US" sz="2400" b="1" dirty="0">
                <a:solidFill>
                  <a:schemeClr val="tx2"/>
                </a:solidFill>
              </a:rPr>
              <a:t>fields</a:t>
            </a:r>
            <a:r>
              <a:rPr lang="en-US" sz="2400" dirty="0">
                <a:solidFill>
                  <a:schemeClr val="tx2"/>
                </a:solidFill>
              </a:rPr>
              <a:t> are </a:t>
            </a:r>
            <a:r>
              <a:rPr lang="en-US" sz="2400" b="1" dirty="0">
                <a:solidFill>
                  <a:schemeClr val="tx2"/>
                </a:solidFill>
              </a:rPr>
              <a:t>Indexed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The most </a:t>
            </a:r>
            <a:r>
              <a:rPr lang="en-US" sz="2400" b="1" dirty="0">
                <a:solidFill>
                  <a:schemeClr val="tx2"/>
                </a:solidFill>
              </a:rPr>
              <a:t>important</a:t>
            </a:r>
            <a:r>
              <a:rPr lang="en-US" sz="2400" dirty="0">
                <a:solidFill>
                  <a:schemeClr val="tx2"/>
                </a:solidFill>
              </a:rPr>
              <a:t> field where to specify index requirements is the </a:t>
            </a:r>
            <a:r>
              <a:rPr lang="en-US" sz="2400" b="1" dirty="0">
                <a:solidFill>
                  <a:schemeClr val="tx2"/>
                </a:solidFill>
              </a:rPr>
              <a:t>Primary Key field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079" y="1959473"/>
            <a:ext cx="9367703" cy="4229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137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You can also </a:t>
            </a:r>
            <a:r>
              <a:rPr lang="en-US" sz="2400" b="1" dirty="0">
                <a:solidFill>
                  <a:schemeClr val="tx2"/>
                </a:solidFill>
              </a:rPr>
              <a:t>adjust</a:t>
            </a:r>
            <a:r>
              <a:rPr lang="en-US" sz="2400" dirty="0">
                <a:solidFill>
                  <a:schemeClr val="tx2"/>
                </a:solidFill>
              </a:rPr>
              <a:t> the </a:t>
            </a:r>
            <a:r>
              <a:rPr lang="en-US" sz="2400" b="1" dirty="0">
                <a:solidFill>
                  <a:schemeClr val="tx2"/>
                </a:solidFill>
              </a:rPr>
              <a:t>name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b="1" dirty="0">
                <a:solidFill>
                  <a:schemeClr val="tx2"/>
                </a:solidFill>
              </a:rPr>
              <a:t>data type</a:t>
            </a:r>
            <a:r>
              <a:rPr lang="en-US" sz="2400" dirty="0">
                <a:solidFill>
                  <a:schemeClr val="tx2"/>
                </a:solidFill>
              </a:rPr>
              <a:t> of each field.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Often Text data will need to be converted to a number data type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783" y="1891507"/>
            <a:ext cx="9085624" cy="408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068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 final step is to determine the </a:t>
            </a:r>
            <a:r>
              <a:rPr lang="en-US" sz="2400" b="1" dirty="0">
                <a:solidFill>
                  <a:schemeClr val="tx2"/>
                </a:solidFill>
              </a:rPr>
              <a:t>Primary Key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You can allow Access to create an AutoNumber key for you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is stored in a new field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Otherwise, select which field already contains Primary Key values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492" y="2547144"/>
            <a:ext cx="8337679" cy="409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3283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There is an option to save the Import steps that you just created.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This is useful when: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	You need to import data </a:t>
            </a:r>
            <a:r>
              <a:rPr lang="en-US" sz="2400" b="1" dirty="0">
                <a:solidFill>
                  <a:schemeClr val="tx2"/>
                </a:solidFill>
              </a:rPr>
              <a:t>regularly</a:t>
            </a:r>
            <a:r>
              <a:rPr lang="en-US" sz="2400" dirty="0">
                <a:solidFill>
                  <a:schemeClr val="tx2"/>
                </a:solidFill>
              </a:rPr>
              <a:t> (every morning, every week …)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	You want someone </a:t>
            </a:r>
            <a:r>
              <a:rPr lang="en-US" sz="2400" b="1" dirty="0">
                <a:solidFill>
                  <a:schemeClr val="tx2"/>
                </a:solidFill>
              </a:rPr>
              <a:t>inexperienced</a:t>
            </a:r>
            <a:r>
              <a:rPr lang="en-US" sz="2400" dirty="0">
                <a:solidFill>
                  <a:schemeClr val="tx2"/>
                </a:solidFill>
              </a:rPr>
              <a:t> to perform the process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 don't normally save the steps.</a:t>
            </a: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023320" y="3408710"/>
            <a:ext cx="9492279" cy="3252806"/>
            <a:chOff x="1023320" y="3408710"/>
            <a:chExt cx="9492279" cy="3252806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3320" y="3408710"/>
              <a:ext cx="9492279" cy="3252806"/>
            </a:xfrm>
            <a:prstGeom prst="rect">
              <a:avLst/>
            </a:prstGeom>
          </p:spPr>
        </p:pic>
        <p:sp>
          <p:nvSpPr>
            <p:cNvPr id="6" name="Rectangle 5"/>
            <p:cNvSpPr/>
            <p:nvPr/>
          </p:nvSpPr>
          <p:spPr>
            <a:xfrm>
              <a:off x="3281082" y="4639235"/>
              <a:ext cx="6683189" cy="564777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>
              <a:noFill/>
            </a:ln>
            <a:effectLst>
              <a:reflection endPos="65000" dist="50800" dir="5400000" sy="-100000" algn="bl" rotWithShape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329016" y="4938032"/>
              <a:ext cx="6683189" cy="319768"/>
            </a:xfrm>
            <a:prstGeom prst="rect">
              <a:avLst/>
            </a:prstGeom>
            <a:solidFill>
              <a:schemeClr val="bg2">
                <a:lumMod val="95000"/>
              </a:schemeClr>
            </a:solidFill>
            <a:ln>
              <a:noFill/>
            </a:ln>
            <a:effectLst>
              <a:reflection endPos="65000" dist="50800" dir="5400000" sy="-100000" algn="bl" rotWithShape="0"/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5204076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 data that is successfully imported and </a:t>
            </a:r>
            <a:r>
              <a:rPr lang="en-US" sz="2400" b="1" dirty="0">
                <a:solidFill>
                  <a:schemeClr val="tx2"/>
                </a:solidFill>
              </a:rPr>
              <a:t>saved into a Table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 table has </a:t>
            </a:r>
            <a:r>
              <a:rPr lang="en-US" sz="2400" b="1" dirty="0">
                <a:solidFill>
                  <a:schemeClr val="tx2"/>
                </a:solidFill>
              </a:rPr>
              <a:t>fields</a:t>
            </a:r>
            <a:r>
              <a:rPr lang="en-US" sz="2400" dirty="0">
                <a:solidFill>
                  <a:schemeClr val="tx2"/>
                </a:solidFill>
              </a:rPr>
              <a:t> with </a:t>
            </a:r>
            <a:r>
              <a:rPr lang="en-US" sz="2400" b="1" dirty="0">
                <a:solidFill>
                  <a:schemeClr val="tx2"/>
                </a:solidFill>
              </a:rPr>
              <a:t>data types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r>
              <a:rPr lang="en-US" sz="2400" dirty="0">
                <a:solidFill>
                  <a:schemeClr val="tx2"/>
                </a:solidFill>
              </a:rPr>
              <a:t> </a:t>
            </a:r>
            <a:br>
              <a:rPr lang="en-US" sz="2400" dirty="0">
                <a:solidFill>
                  <a:schemeClr val="tx2"/>
                </a:solidFill>
              </a:rPr>
            </a:b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635" y="1782789"/>
            <a:ext cx="5783109" cy="26928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626" y="4654249"/>
            <a:ext cx="9810153" cy="193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92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Data is often available in </a:t>
            </a:r>
            <a:r>
              <a:rPr lang="en-US" sz="2400" b="1" dirty="0">
                <a:solidFill>
                  <a:schemeClr val="tx2"/>
                </a:solidFill>
              </a:rPr>
              <a:t>CSV</a:t>
            </a:r>
            <a:r>
              <a:rPr lang="en-US" sz="2400" dirty="0">
                <a:solidFill>
                  <a:schemeClr val="tx2"/>
                </a:solidFill>
              </a:rPr>
              <a:t> files. CSV stands for </a:t>
            </a:r>
            <a:r>
              <a:rPr lang="en-US" sz="2400" b="1" dirty="0">
                <a:solidFill>
                  <a:schemeClr val="tx2"/>
                </a:solidFill>
              </a:rPr>
              <a:t>Comma Separated Values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This is also sometimes referred to a </a:t>
            </a:r>
            <a:r>
              <a:rPr lang="en-US" sz="2400" b="1" dirty="0">
                <a:solidFill>
                  <a:schemeClr val="tx2"/>
                </a:solidFill>
              </a:rPr>
              <a:t>Delimited File Format,</a:t>
            </a:r>
            <a:r>
              <a:rPr lang="en-US" sz="2400" dirty="0">
                <a:solidFill>
                  <a:schemeClr val="tx2"/>
                </a:solidFill>
              </a:rPr>
              <a:t> where values are </a:t>
            </a:r>
            <a:r>
              <a:rPr lang="en-US" sz="2400" b="1" dirty="0">
                <a:solidFill>
                  <a:schemeClr val="tx2"/>
                </a:solidFill>
              </a:rPr>
              <a:t>delimited</a:t>
            </a:r>
            <a:r>
              <a:rPr lang="en-US" sz="2400" dirty="0">
                <a:solidFill>
                  <a:schemeClr val="tx2"/>
                </a:solidFill>
              </a:rPr>
              <a:t> by a character (such as a comma)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Sometimes </a:t>
            </a:r>
            <a:r>
              <a:rPr lang="en-US" sz="2400" b="1" dirty="0">
                <a:solidFill>
                  <a:schemeClr val="tx2"/>
                </a:solidFill>
              </a:rPr>
              <a:t>text-data</a:t>
            </a:r>
            <a:r>
              <a:rPr lang="en-US" sz="2400" dirty="0">
                <a:solidFill>
                  <a:schemeClr val="tx2"/>
                </a:solidFill>
              </a:rPr>
              <a:t> may be surround by </a:t>
            </a:r>
            <a:r>
              <a:rPr lang="en-US" sz="2400" b="1" dirty="0">
                <a:solidFill>
                  <a:schemeClr val="tx2"/>
                </a:solidFill>
              </a:rPr>
              <a:t>quotes</a:t>
            </a:r>
            <a:r>
              <a:rPr lang="en-US" sz="2400" dirty="0">
                <a:solidFill>
                  <a:schemeClr val="tx2"/>
                </a:solidFill>
              </a:rPr>
              <a:t>. E.g. 101, "Dave", "Hillcrest", "2 Red Rd"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908" y="3118238"/>
            <a:ext cx="10277197" cy="352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317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03528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Select the </a:t>
            </a:r>
            <a:r>
              <a:rPr lang="en-US" sz="2400" b="1" dirty="0">
                <a:solidFill>
                  <a:schemeClr val="tx2"/>
                </a:solidFill>
              </a:rPr>
              <a:t>Text File </a:t>
            </a:r>
            <a:r>
              <a:rPr lang="en-US" sz="2400" dirty="0">
                <a:solidFill>
                  <a:schemeClr val="tx2"/>
                </a:solidFill>
              </a:rPr>
              <a:t>option for CSV files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There are two options for Text files.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Delimited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2"/>
                </a:solidFill>
              </a:rPr>
              <a:t>Fixed Width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Choose </a:t>
            </a:r>
            <a:r>
              <a:rPr lang="en-US" sz="2400" b="1" dirty="0">
                <a:solidFill>
                  <a:schemeClr val="tx2"/>
                </a:solidFill>
              </a:rPr>
              <a:t>Delimited</a:t>
            </a:r>
            <a:r>
              <a:rPr lang="en-US" sz="2400" dirty="0">
                <a:solidFill>
                  <a:schemeClr val="tx2"/>
                </a:solidFill>
              </a:rPr>
              <a:t> for a </a:t>
            </a:r>
            <a:r>
              <a:rPr lang="en-US" sz="2400" b="1" dirty="0">
                <a:solidFill>
                  <a:schemeClr val="tx2"/>
                </a:solidFill>
              </a:rPr>
              <a:t>CSV</a:t>
            </a:r>
            <a:r>
              <a:rPr lang="en-US" sz="2400" dirty="0">
                <a:solidFill>
                  <a:schemeClr val="tx2"/>
                </a:solidFill>
              </a:rPr>
              <a:t> file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166" y="1063560"/>
            <a:ext cx="5365670" cy="2102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b="68910"/>
          <a:stretch/>
        </p:blipFill>
        <p:spPr>
          <a:xfrm>
            <a:off x="528358" y="3519349"/>
            <a:ext cx="11170877" cy="2464593"/>
          </a:xfrm>
          <a:prstGeom prst="rect">
            <a:avLst/>
          </a:prstGeom>
        </p:spPr>
      </p:pic>
      <p:sp>
        <p:nvSpPr>
          <p:cNvPr id="6" name="Right Arrow 5"/>
          <p:cNvSpPr/>
          <p:nvPr/>
        </p:nvSpPr>
        <p:spPr>
          <a:xfrm rot="16980137">
            <a:off x="8962703" y="2407305"/>
            <a:ext cx="937890" cy="443753"/>
          </a:xfrm>
          <a:prstGeom prst="rightArrow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9836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Specify the </a:t>
            </a:r>
            <a:r>
              <a:rPr lang="en-US" sz="2400" b="1" dirty="0">
                <a:solidFill>
                  <a:schemeClr val="tx2"/>
                </a:solidFill>
              </a:rPr>
              <a:t>delimiter character.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	Normally a comma, but it could be another character</a:t>
            </a:r>
          </a:p>
          <a:p>
            <a:r>
              <a:rPr lang="en-US" sz="2400" dirty="0">
                <a:solidFill>
                  <a:schemeClr val="tx2"/>
                </a:solidFill>
              </a:rPr>
              <a:t>Specify that R</a:t>
            </a:r>
            <a:r>
              <a:rPr lang="en-US" sz="2400" b="1" dirty="0">
                <a:solidFill>
                  <a:schemeClr val="tx2"/>
                </a:solidFill>
              </a:rPr>
              <a:t>ow 1 contains field names</a:t>
            </a:r>
          </a:p>
          <a:p>
            <a:r>
              <a:rPr lang="en-US" sz="2400" dirty="0">
                <a:solidFill>
                  <a:schemeClr val="tx2"/>
                </a:solidFill>
              </a:rPr>
              <a:t>Specify the </a:t>
            </a:r>
            <a:r>
              <a:rPr lang="en-US" sz="2400" b="1" dirty="0">
                <a:solidFill>
                  <a:schemeClr val="tx2"/>
                </a:solidFill>
              </a:rPr>
              <a:t>text qualifier</a:t>
            </a:r>
            <a:r>
              <a:rPr lang="en-US" sz="2400" dirty="0">
                <a:solidFill>
                  <a:schemeClr val="tx2"/>
                </a:solidFill>
              </a:rPr>
              <a:t> (e.g. the character surrounding text such as  "  or '  )</a:t>
            </a:r>
            <a:endParaRPr lang="en-AU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1680882" y="2662518"/>
            <a:ext cx="8565776" cy="3859305"/>
            <a:chOff x="1085008" y="1402137"/>
            <a:chExt cx="7305676" cy="329887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b="51807"/>
            <a:stretch/>
          </p:blipFill>
          <p:spPr>
            <a:xfrm>
              <a:off x="1085009" y="1402137"/>
              <a:ext cx="7305675" cy="251095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rcRect t="84584"/>
            <a:stretch/>
          </p:blipFill>
          <p:spPr>
            <a:xfrm>
              <a:off x="1085008" y="3897827"/>
              <a:ext cx="7305675" cy="8031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87447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from a CSV file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Click on the </a:t>
            </a:r>
            <a:r>
              <a:rPr lang="en-US" sz="2400" b="1" dirty="0">
                <a:solidFill>
                  <a:schemeClr val="tx2"/>
                </a:solidFill>
              </a:rPr>
              <a:t>Advanced</a:t>
            </a:r>
            <a:r>
              <a:rPr lang="en-US" sz="2400" dirty="0">
                <a:solidFill>
                  <a:schemeClr val="tx2"/>
                </a:solidFill>
              </a:rPr>
              <a:t> button (previous screen) for </a:t>
            </a:r>
            <a:r>
              <a:rPr lang="en-US" sz="2400" b="1" dirty="0">
                <a:solidFill>
                  <a:schemeClr val="tx2"/>
                </a:solidFill>
              </a:rPr>
              <a:t>additional options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These are especially useful when </a:t>
            </a:r>
            <a:r>
              <a:rPr lang="en-US" sz="2400" b="1" dirty="0">
                <a:solidFill>
                  <a:schemeClr val="tx2"/>
                </a:solidFill>
              </a:rPr>
              <a:t>importing dates</a:t>
            </a:r>
          </a:p>
          <a:p>
            <a:r>
              <a:rPr lang="en-US" sz="2400" dirty="0">
                <a:solidFill>
                  <a:schemeClr val="tx2"/>
                </a:solidFill>
              </a:rPr>
              <a:t>These are many commonly used date formats:</a:t>
            </a:r>
          </a:p>
          <a:p>
            <a:r>
              <a:rPr lang="en-US" sz="2400" dirty="0">
                <a:solidFill>
                  <a:schemeClr val="tx2"/>
                </a:solidFill>
              </a:rPr>
              <a:t>Many countries use a comma as a decimal point  </a:t>
            </a:r>
            <a:r>
              <a:rPr lang="en-AU" sz="2400" dirty="0">
                <a:solidFill>
                  <a:schemeClr val="tx2"/>
                </a:solidFill>
              </a:rPr>
              <a:t>€</a:t>
            </a:r>
            <a:r>
              <a:rPr lang="en-US" sz="2400" dirty="0">
                <a:solidFill>
                  <a:schemeClr val="tx2"/>
                </a:solidFill>
              </a:rPr>
              <a:t>123,00: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937" y="2657279"/>
            <a:ext cx="6458896" cy="3662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13343" y="1432892"/>
            <a:ext cx="2034531" cy="46782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25/09/2010</a:t>
            </a:r>
          </a:p>
          <a:p>
            <a:r>
              <a:rPr lang="en-US" sz="2800" dirty="0">
                <a:solidFill>
                  <a:srgbClr val="FF0000"/>
                </a:solidFill>
              </a:rPr>
              <a:t>09/25/2010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2010/09/25</a:t>
            </a:r>
          </a:p>
          <a:p>
            <a:r>
              <a:rPr lang="en-US" sz="2800" dirty="0">
                <a:solidFill>
                  <a:srgbClr val="FF0000"/>
                </a:solidFill>
              </a:rPr>
              <a:t>12-Sep-2010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25-09-2010</a:t>
            </a:r>
          </a:p>
          <a:p>
            <a:r>
              <a:rPr lang="en-US" sz="2800" dirty="0">
                <a:solidFill>
                  <a:srgbClr val="FF0000"/>
                </a:solidFill>
              </a:rPr>
              <a:t>09-25-2010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2010-09-25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25/09/10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25/9/2010</a:t>
            </a:r>
          </a:p>
          <a:p>
            <a:r>
              <a:rPr lang="en-US" sz="2800" dirty="0">
                <a:solidFill>
                  <a:srgbClr val="FF0000"/>
                </a:solidFill>
              </a:rPr>
              <a:t>2010/9/25</a:t>
            </a:r>
          </a:p>
          <a:p>
            <a:r>
              <a:rPr lang="en-US" sz="2000" dirty="0">
                <a:solidFill>
                  <a:srgbClr val="FF0000"/>
                </a:solidFill>
              </a:rPr>
              <a:t>…</a:t>
            </a:r>
            <a:endParaRPr lang="en-AU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350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Fixed Width Files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Files are sometimes created as Fixed Width files  / Space Delimited files</a:t>
            </a:r>
          </a:p>
          <a:p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942" y="1663725"/>
            <a:ext cx="8993717" cy="4490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6815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Data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Select the Fixed Width</a:t>
            </a:r>
            <a:br>
              <a:rPr lang="en-AU" sz="2400" dirty="0">
                <a:solidFill>
                  <a:schemeClr val="tx2"/>
                </a:solidFill>
              </a:rPr>
            </a:br>
            <a:r>
              <a:rPr lang="en-AU" sz="2400" dirty="0">
                <a:solidFill>
                  <a:schemeClr val="tx2"/>
                </a:solidFill>
              </a:rPr>
              <a:t>Option in Access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310459" y="1891507"/>
            <a:ext cx="8660856" cy="4422351"/>
            <a:chOff x="1310459" y="1891507"/>
            <a:chExt cx="8660856" cy="4422351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r="17501" b="40684"/>
            <a:stretch/>
          </p:blipFill>
          <p:spPr>
            <a:xfrm>
              <a:off x="1310459" y="1891507"/>
              <a:ext cx="8660856" cy="4422351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3018971" y="4630057"/>
              <a:ext cx="6937829" cy="31931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5145198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Fixed Width Files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You have to place vertical lines to signify where each field begins.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b="41421"/>
          <a:stretch/>
        </p:blipFill>
        <p:spPr>
          <a:xfrm>
            <a:off x="754380" y="1641625"/>
            <a:ext cx="11142964" cy="462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13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Specifying Field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1328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tx2"/>
                </a:solidFill>
              </a:rPr>
              <a:t>When importing data, often Access does not recognize data formats.</a:t>
            </a:r>
          </a:p>
          <a:p>
            <a:r>
              <a:rPr lang="en-AU" sz="2400" dirty="0">
                <a:solidFill>
                  <a:schemeClr val="tx2"/>
                </a:solidFill>
              </a:rPr>
              <a:t>Dates are often a problem</a:t>
            </a:r>
          </a:p>
          <a:p>
            <a:r>
              <a:rPr lang="en-AU" sz="2400" dirty="0">
                <a:solidFill>
                  <a:schemeClr val="tx2"/>
                </a:solidFill>
              </a:rPr>
              <a:t>As you click on a field, you can modify the Field Name and / or Data Type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320" y="2308828"/>
            <a:ext cx="7980135" cy="43664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/>
          <a:srcRect l="42486" t="19683" b="43301"/>
          <a:stretch/>
        </p:blipFill>
        <p:spPr>
          <a:xfrm>
            <a:off x="6719687" y="4621627"/>
            <a:ext cx="5167513" cy="1303867"/>
          </a:xfrm>
          <a:prstGeom prst="rect">
            <a:avLst/>
          </a:prstGeom>
          <a:ln w="31750">
            <a:solidFill>
              <a:schemeClr val="accent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69621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Dates in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You should be aware how </a:t>
            </a:r>
            <a:r>
              <a:rPr lang="en-US" sz="2400" b="1" dirty="0">
                <a:solidFill>
                  <a:schemeClr val="tx2"/>
                </a:solidFill>
              </a:rPr>
              <a:t>Excel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b="1" dirty="0">
                <a:solidFill>
                  <a:schemeClr val="tx2"/>
                </a:solidFill>
              </a:rPr>
              <a:t>stores dates and times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Excel stores dates and times as a </a:t>
            </a:r>
            <a:r>
              <a:rPr lang="en-US" sz="2400" b="1" dirty="0">
                <a:solidFill>
                  <a:schemeClr val="tx2"/>
                </a:solidFill>
              </a:rPr>
              <a:t>sequential number</a:t>
            </a:r>
            <a:r>
              <a:rPr lang="en-US" sz="2400" dirty="0">
                <a:solidFill>
                  <a:schemeClr val="tx2"/>
                </a:solidFill>
              </a:rPr>
              <a:t> representing the </a:t>
            </a:r>
            <a:r>
              <a:rPr lang="en-US" sz="2400" b="1" dirty="0">
                <a:solidFill>
                  <a:schemeClr val="tx2"/>
                </a:solidFill>
              </a:rPr>
              <a:t>number of days</a:t>
            </a:r>
            <a:r>
              <a:rPr lang="en-US" sz="2400" dirty="0">
                <a:solidFill>
                  <a:schemeClr val="tx2"/>
                </a:solidFill>
              </a:rPr>
              <a:t> since </a:t>
            </a:r>
            <a:r>
              <a:rPr lang="en-US" sz="2400" b="1" dirty="0">
                <a:solidFill>
                  <a:schemeClr val="tx2"/>
                </a:solidFill>
              </a:rPr>
              <a:t>1 Jan 1900</a:t>
            </a: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</a:t>
            </a:r>
            <a:r>
              <a:rPr lang="en-US" sz="2400" b="1" dirty="0">
                <a:solidFill>
                  <a:schemeClr val="tx2"/>
                </a:solidFill>
              </a:rPr>
              <a:t>fractional</a:t>
            </a:r>
            <a:r>
              <a:rPr lang="en-US" sz="2400" dirty="0">
                <a:solidFill>
                  <a:schemeClr val="tx2"/>
                </a:solidFill>
              </a:rPr>
              <a:t> portion of the value stores the </a:t>
            </a:r>
            <a:r>
              <a:rPr lang="en-US" sz="2400" b="1" dirty="0">
                <a:solidFill>
                  <a:schemeClr val="tx2"/>
                </a:solidFill>
              </a:rPr>
              <a:t>time</a:t>
            </a:r>
            <a:r>
              <a:rPr lang="en-US" sz="2400" dirty="0">
                <a:solidFill>
                  <a:schemeClr val="tx2"/>
                </a:solidFill>
              </a:rPr>
              <a:t>.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This is called a </a:t>
            </a:r>
            <a:r>
              <a:rPr lang="en-US" sz="2400" b="1" dirty="0">
                <a:solidFill>
                  <a:schemeClr val="tx2"/>
                </a:solidFill>
              </a:rPr>
              <a:t>serial date.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035" y="3987760"/>
            <a:ext cx="10886879" cy="2489094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57782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Dates in Excel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When you import data from Excel, it may appear that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the values are not dates.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Access will interpret the values correctly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AU" sz="24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724" y="2810281"/>
            <a:ext cx="9491625" cy="3721148"/>
          </a:xfrm>
          <a:prstGeom prst="rect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817186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Importing XML files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" y="832728"/>
            <a:ext cx="114376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Access can also import data from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b="1" dirty="0">
                <a:solidFill>
                  <a:schemeClr val="tx2"/>
                </a:solidFill>
              </a:rPr>
              <a:t>XML files.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Each piece of data is stored between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tag elements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start tag and an end tag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Tags can have a </a:t>
            </a:r>
            <a:r>
              <a:rPr lang="en-US" sz="2400" b="1" dirty="0">
                <a:solidFill>
                  <a:schemeClr val="tx2"/>
                </a:solidFill>
              </a:rPr>
              <a:t>hierarchy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r>
              <a:rPr lang="en-US" sz="2400" dirty="0">
                <a:solidFill>
                  <a:schemeClr val="tx2"/>
                </a:solidFill>
              </a:rPr>
              <a:t>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This example shows that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the &lt;Customers&gt; tag contains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seven subordinate tags:</a:t>
            </a:r>
          </a:p>
          <a:p>
            <a:r>
              <a:rPr lang="en-US" sz="2400" dirty="0">
                <a:solidFill>
                  <a:schemeClr val="tx2"/>
                </a:solidFill>
              </a:rPr>
              <a:t>	&lt;</a:t>
            </a:r>
            <a:r>
              <a:rPr lang="en-US" sz="2400" dirty="0" err="1">
                <a:solidFill>
                  <a:schemeClr val="tx2"/>
                </a:solidFill>
              </a:rPr>
              <a:t>CustId</a:t>
            </a:r>
            <a:r>
              <a:rPr lang="en-US" sz="2400" dirty="0">
                <a:solidFill>
                  <a:schemeClr val="tx2"/>
                </a:solidFill>
              </a:rPr>
              <a:t>&gt;</a:t>
            </a:r>
          </a:p>
          <a:p>
            <a:r>
              <a:rPr lang="en-US" sz="2400" dirty="0">
                <a:solidFill>
                  <a:schemeClr val="tx2"/>
                </a:solidFill>
              </a:rPr>
              <a:t>	&lt;</a:t>
            </a:r>
            <a:r>
              <a:rPr lang="en-US" sz="2400" dirty="0" err="1">
                <a:solidFill>
                  <a:schemeClr val="tx2"/>
                </a:solidFill>
              </a:rPr>
              <a:t>Givenname</a:t>
            </a:r>
            <a:r>
              <a:rPr lang="en-US" sz="2400" dirty="0">
                <a:solidFill>
                  <a:schemeClr val="tx2"/>
                </a:solidFill>
              </a:rPr>
              <a:t>&gt;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       &lt;</a:t>
            </a:r>
            <a:r>
              <a:rPr lang="en-US" sz="2400" dirty="0" err="1">
                <a:solidFill>
                  <a:schemeClr val="tx2"/>
                </a:solidFill>
              </a:rPr>
              <a:t>FamilyName</a:t>
            </a:r>
            <a:r>
              <a:rPr lang="en-US" sz="2400" dirty="0">
                <a:solidFill>
                  <a:schemeClr val="tx2"/>
                </a:solidFill>
              </a:rPr>
              <a:t>&gt; …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4159"/>
          <a:stretch/>
        </p:blipFill>
        <p:spPr>
          <a:xfrm>
            <a:off x="5595845" y="105878"/>
            <a:ext cx="6363746" cy="675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6250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859911" y="5520267"/>
            <a:ext cx="1332089" cy="13377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Importance of knowing file formats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754" y="832728"/>
            <a:ext cx="1143762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An organization typically has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Many IT systems &amp; Databases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Accounting systems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Stock and Inventory systems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Sales &amp; Ordering systems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Student Record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Data that is exchanged with other organizations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list of parts that your organization can order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list of VTAC / high-school students that have selected Swinburne University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in their list of preferred institutions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price list</a:t>
            </a:r>
          </a:p>
          <a:p>
            <a:pPr lvl="2"/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Few (if any) of these systems are integrated. </a:t>
            </a:r>
            <a:br>
              <a:rPr lang="en-US" sz="2400" dirty="0">
                <a:solidFill>
                  <a:schemeClr val="tx2"/>
                </a:solidFill>
              </a:rPr>
            </a:br>
            <a:r>
              <a:rPr lang="en-US" sz="2400" dirty="0">
                <a:solidFill>
                  <a:schemeClr val="tx2"/>
                </a:solidFill>
              </a:rPr>
              <a:t>The only way data can be exchanged is via CSV, Delimited file, Excel file, XML file formats.</a:t>
            </a:r>
          </a:p>
          <a:p>
            <a:r>
              <a:rPr lang="en-US" sz="2400" dirty="0">
                <a:solidFill>
                  <a:schemeClr val="tx2"/>
                </a:solidFill>
              </a:rPr>
              <a:t>Learning how to import / export data via Access in a very useful skill.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7638372"/>
      </p:ext>
    </p:extLst>
  </p:cSld>
  <p:clrMapOvr>
    <a:masterClrMapping/>
  </p:clrMapOvr>
</p:sld>
</file>

<file path=ppt/theme/theme1.xml><?xml version="1.0" encoding="utf-8"?>
<a:theme xmlns:a="http://schemas.openxmlformats.org/drawingml/2006/main" name="Swinburne_Tile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winburne_Bricks">
  <a:themeElements>
    <a:clrScheme name="Swinburne">
      <a:dk1>
        <a:srgbClr val="D1161E"/>
      </a:dk1>
      <a:lt1>
        <a:srgbClr val="FFFFFF"/>
      </a:lt1>
      <a:dk2>
        <a:srgbClr val="000000"/>
      </a:dk2>
      <a:lt2>
        <a:srgbClr val="FFFFFF"/>
      </a:lt2>
      <a:accent1>
        <a:srgbClr val="4A8E10"/>
      </a:accent1>
      <a:accent2>
        <a:srgbClr val="0C64A7"/>
      </a:accent2>
      <a:accent3>
        <a:srgbClr val="16B1CF"/>
      </a:accent3>
      <a:accent4>
        <a:srgbClr val="FEAE35"/>
      </a:accent4>
      <a:accent5>
        <a:srgbClr val="6C008D"/>
      </a:accent5>
      <a:accent6>
        <a:srgbClr val="6D6F72"/>
      </a:accent6>
      <a:hlink>
        <a:srgbClr val="6D6F72"/>
      </a:hlink>
      <a:folHlink>
        <a:srgbClr val="D1161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SwinTemp2016</Template>
  <TotalTime>102688</TotalTime>
  <Words>2103</Words>
  <Application>Microsoft Office PowerPoint</Application>
  <PresentationFormat>Widescreen</PresentationFormat>
  <Paragraphs>358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Arial</vt:lpstr>
      <vt:lpstr>Calibri</vt:lpstr>
      <vt:lpstr>Open Sans</vt:lpstr>
      <vt:lpstr>Swinburne_Tiles</vt:lpstr>
      <vt:lpstr>Swinburne_Bricks</vt:lpstr>
      <vt:lpstr>INF10025 Data Management and Analytics</vt:lpstr>
      <vt:lpstr>Queries with Parameters </vt:lpstr>
      <vt:lpstr>Queries with Parameters </vt:lpstr>
      <vt:lpstr>Queries with Parameters </vt:lpstr>
      <vt:lpstr>Queries with Parameters </vt:lpstr>
      <vt:lpstr>Queries with Parameters </vt:lpstr>
      <vt:lpstr>Queries with Parameters </vt:lpstr>
      <vt:lpstr>Queries with Parameters </vt:lpstr>
      <vt:lpstr>Copying tables</vt:lpstr>
      <vt:lpstr>Make Table and Append</vt:lpstr>
      <vt:lpstr>Append Query</vt:lpstr>
      <vt:lpstr>Update Query </vt:lpstr>
      <vt:lpstr>Update Query </vt:lpstr>
      <vt:lpstr>Update Query </vt:lpstr>
      <vt:lpstr>Update Query </vt:lpstr>
      <vt:lpstr>Delete Query</vt:lpstr>
      <vt:lpstr>CrossTab Query</vt:lpstr>
      <vt:lpstr>SQL </vt:lpstr>
      <vt:lpstr>SQL </vt:lpstr>
      <vt:lpstr>Importing Data </vt:lpstr>
      <vt:lpstr>Importing Data </vt:lpstr>
      <vt:lpstr>Importing Data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Excel </vt:lpstr>
      <vt:lpstr>Importing Data from a CSV file </vt:lpstr>
      <vt:lpstr>Importing Data from a CSV file </vt:lpstr>
      <vt:lpstr>Importing Data from a CSV file </vt:lpstr>
      <vt:lpstr>Importing Data from a CSV file </vt:lpstr>
      <vt:lpstr>Importing Fixed Width Files </vt:lpstr>
      <vt:lpstr>Importing Data </vt:lpstr>
      <vt:lpstr>Importing Fixed Width Files </vt:lpstr>
      <vt:lpstr>Specifying Field information</vt:lpstr>
      <vt:lpstr>Dates in Excel </vt:lpstr>
      <vt:lpstr>Dates in Excel </vt:lpstr>
      <vt:lpstr>Importing XML files </vt:lpstr>
      <vt:lpstr>Importance of knowing file formats</vt:lpstr>
    </vt:vector>
  </TitlesOfParts>
  <Company>Swinburne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Sala</dc:creator>
  <cp:lastModifiedBy>Robert Tipping</cp:lastModifiedBy>
  <cp:revision>344</cp:revision>
  <dcterms:created xsi:type="dcterms:W3CDTF">2016-01-21T00:57:00Z</dcterms:created>
  <dcterms:modified xsi:type="dcterms:W3CDTF">2023-02-22T02:28:31Z</dcterms:modified>
</cp:coreProperties>
</file>