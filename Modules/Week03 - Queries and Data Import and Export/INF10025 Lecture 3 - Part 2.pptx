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412" r:id="rId4"/>
    <p:sldId id="390" r:id="rId5"/>
    <p:sldId id="409" r:id="rId6"/>
    <p:sldId id="408" r:id="rId7"/>
    <p:sldId id="410" r:id="rId8"/>
    <p:sldId id="391" r:id="rId9"/>
    <p:sldId id="392" r:id="rId10"/>
    <p:sldId id="411" r:id="rId11"/>
    <p:sldId id="39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55" d="100"/>
          <a:sy n="55" d="100"/>
        </p:scale>
        <p:origin x="84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61365-6E99-4BEE-82EE-C3F94715303F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07D4E-CFC5-4742-B71D-2B57ADFB15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086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029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036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1124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504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789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813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510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7A81-401D-9B7C-679F-FEF52C67A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00A3F-0282-55C8-58D8-74A46561D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8AA62-AAD2-1CB7-2F4B-4FC4A77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E3F11-E3C4-D67B-234D-6D5E3BE1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5F2E0-E174-D9E4-C257-2DF174B9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232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FD96-96A9-0021-B41C-683B10B6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BF494-7CAB-9AC3-F651-CC2BAF097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02B4B-4C9D-905B-CB97-2B9BF442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1550C-B09F-B928-6403-B0E174F5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823B9-CBE7-96EE-1747-B93BDF5D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336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4692-0696-EBA6-D648-ACECB21DE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D46AC-D32F-06F5-683D-CC9D220B4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1973F-EC8D-8666-22B3-217A0F85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8C90A-E57E-AC7C-45C7-2920E85B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F2774-5177-7D9E-BAF3-4F725D11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904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E740-A28A-87BA-45B1-CF3CB9F1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3FA77-EC2C-200C-DC1A-4D0D044D9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52249-4175-95D2-A12C-306EF5329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A273C-6B34-B42D-14F8-9AB0AFC3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2713B-A824-64FA-9851-671156CD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19CE3-C14C-0B28-B374-2449B0F0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526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337F-996F-3EA3-380D-8156127F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ECF85-D0E9-E3E9-B530-B34886F8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ACE3C-A6F8-7F37-28D6-40442586D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C30913-822C-8802-892A-E6F7A71BD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183DD-94FD-55B5-9EA1-16572D836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94C0A-52D4-D046-EE8F-5735698B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C0611-6644-B59A-C04E-BA4A8DF6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5F62F-0C81-A72A-0A50-2776DBC2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044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DBCB-DE68-7863-58CC-4DE52129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F2A3D-D3D8-E43F-8577-30BBDB38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705AB-10F4-2093-4EFD-BC68A943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0B3A2-EF5C-77F1-3E0E-CEE7FE53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71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4EC5B0-513B-9A01-585D-F691D42F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ACAC4-88EE-B8A4-0861-1EB1FC30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20C85-6314-7CEF-3D21-52E5AFFF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13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6D6B-BDF5-E4CA-74BA-0473F783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9D0F5-4244-8F0C-1EE7-4270025AA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43DA5-20A9-A3E1-E412-511CD83D9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1B433-166A-C5C6-7F3D-D4B58A3A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45780-707D-6DF3-7C7E-EC9B644E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48C26-A6D9-D047-F1FD-7C79BA2A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19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F5D88-1DA5-EBFD-1784-00B71999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66AF2-32D2-D9F8-BF4B-7B454EC52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52D50-171F-F19C-2401-790D14DB1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527A2-9B1D-1CAE-8A98-C6EFCA17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488B0-F19F-7233-F888-A18E7217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5DA93-47E9-8535-6A49-E9C610C9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09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671A-6A50-0B13-FB3E-EB24071D5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D26A3-878F-03EC-E364-937C4CB69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B9361-9E0B-9D9A-D86C-07964E3DC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C2822-C4B1-946B-6C77-1214A0C6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6688A-F62D-122A-AD41-A74B8B78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319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957EF-F8B6-A192-579F-D5D090397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42835-B441-F595-D824-C4BC05CE7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25BC-AD26-E566-091B-2B8BC80D1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3848F-1FD5-75C1-2EB4-0EC41778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F8353-633E-B953-2D28-93E16E26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142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04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44499" y="266079"/>
            <a:ext cx="675802" cy="66137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sz="540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ata Management &amp; Analytics  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3726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1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2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79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B62A8-A849-412A-6E11-9A6347D8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14535-9B57-2C5F-16A4-723D1F4A6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C8A06-76AC-F2C0-13A1-5305C993A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CE4CE-C6CB-4179-8B79-A58E9214218E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FD5D5-1A55-3157-CCF7-28710942F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6FC13-45A4-D4C7-7BC5-BFD8F5469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32A75-45F6-42E9-BC0B-18F612C8C9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382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AFE7-EF3C-EB4D-867E-9FA739738B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C07DF-C7BF-FF4F-6C40-CD86D723F3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404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b="1"/>
              <a:t>Week 03 - Part 2</a:t>
            </a:r>
            <a:endParaRPr lang="en-AU" b="1" dirty="0"/>
          </a:p>
          <a:p>
            <a:r>
              <a:rPr lang="en-AU" dirty="0"/>
              <a:t>Update &amp; Delete queries</a:t>
            </a:r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Update Query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Update Query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allows you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change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value of a field(s) for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records at one time.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          Example: We can set all employees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HoursWorkedLastYear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zero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589" y="3894781"/>
            <a:ext cx="6754388" cy="12410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3" y="2385840"/>
            <a:ext cx="3535714" cy="4294389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10235292">
            <a:off x="2291483" y="5807600"/>
            <a:ext cx="937890" cy="443753"/>
          </a:xfrm>
          <a:prstGeom prst="right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/>
          <a:srcRect r="63557"/>
          <a:stretch/>
        </p:blipFill>
        <p:spPr>
          <a:xfrm>
            <a:off x="6096000" y="1459422"/>
            <a:ext cx="3860800" cy="129015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20B4DC8-FFE4-46D4-9D4A-85FC07CBD18E}"/>
              </a:ext>
            </a:extLst>
          </p:cNvPr>
          <p:cNvSpPr/>
          <p:nvPr/>
        </p:nvSpPr>
        <p:spPr>
          <a:xfrm>
            <a:off x="8289889" y="1385719"/>
            <a:ext cx="803868" cy="13305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71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Update Query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the query is run, Access gives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warning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about impeding changes to the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(These warnings can be suppressed via Access Settings)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Once you say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the records are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changed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38" y="1806228"/>
            <a:ext cx="6116741" cy="18012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279" y="4656971"/>
            <a:ext cx="9504632" cy="17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4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Update Query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634302"/>
            <a:ext cx="1143762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Warning: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way to undo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update query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Ctrl Z is useless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 careful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before you execute an Update Query.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 It is possible to update every row in a 10 million row table.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specify a criteria incorrectly and do not test you query first, this could have catastrophic results.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is strongly suggested that you take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backups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your data – especially before executing such a query.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088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Update Query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53252"/>
            <a:ext cx="11437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example shows how the current Hourly Rate value can be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increased by $2.50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each of the employees.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calculation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includes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of the field.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678" y="4680800"/>
            <a:ext cx="8435620" cy="16789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683" y="2173287"/>
            <a:ext cx="4376654" cy="206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2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Delete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732219"/>
            <a:ext cx="114376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Delete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similar to an Update Query.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Rows are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permanently deleted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from a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These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undo facility.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Backups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database tables are crucial.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63557"/>
          <a:stretch/>
        </p:blipFill>
        <p:spPr>
          <a:xfrm>
            <a:off x="7286170" y="988203"/>
            <a:ext cx="3860800" cy="129015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240BCC6-F2D9-45AF-BCFC-0DA4D4D22310}"/>
              </a:ext>
            </a:extLst>
          </p:cNvPr>
          <p:cNvSpPr/>
          <p:nvPr/>
        </p:nvSpPr>
        <p:spPr>
          <a:xfrm>
            <a:off x="10594313" y="932601"/>
            <a:ext cx="697437" cy="13305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19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CrossTab</a:t>
            </a:r>
            <a:r>
              <a:rPr lang="en-AU" dirty="0"/>
              <a:t>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63155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Cross Tab Query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similar to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Pivot Table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Excel.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crosstab query performs 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aggregation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(sum, count…) &amp; groups the results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sets of values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- one set of values on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datasheet and the other set of values across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30505"/>
          <a:stretch/>
        </p:blipFill>
        <p:spPr>
          <a:xfrm>
            <a:off x="6923315" y="420915"/>
            <a:ext cx="5268686" cy="53708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03" y="3734146"/>
            <a:ext cx="6502397" cy="2454987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6473371" y="3873164"/>
            <a:ext cx="4588507" cy="1351979"/>
          </a:xfrm>
          <a:custGeom>
            <a:avLst/>
            <a:gdLst>
              <a:gd name="connsiteX0" fmla="*/ 4484915 w 4588507"/>
              <a:gd name="connsiteY0" fmla="*/ 1351979 h 1351979"/>
              <a:gd name="connsiteX1" fmla="*/ 4586515 w 4588507"/>
              <a:gd name="connsiteY1" fmla="*/ 1032665 h 1351979"/>
              <a:gd name="connsiteX2" fmla="*/ 4513943 w 4588507"/>
              <a:gd name="connsiteY2" fmla="*/ 568207 h 1351979"/>
              <a:gd name="connsiteX3" fmla="*/ 4107543 w 4588507"/>
              <a:gd name="connsiteY3" fmla="*/ 147293 h 1351979"/>
              <a:gd name="connsiteX4" fmla="*/ 3526972 w 4588507"/>
              <a:gd name="connsiteY4" fmla="*/ 31179 h 1351979"/>
              <a:gd name="connsiteX5" fmla="*/ 2656115 w 4588507"/>
              <a:gd name="connsiteY5" fmla="*/ 2150 h 1351979"/>
              <a:gd name="connsiteX6" fmla="*/ 1553029 w 4588507"/>
              <a:gd name="connsiteY6" fmla="*/ 2150 h 1351979"/>
              <a:gd name="connsiteX7" fmla="*/ 435429 w 4588507"/>
              <a:gd name="connsiteY7" fmla="*/ 16665 h 1351979"/>
              <a:gd name="connsiteX8" fmla="*/ 0 w 4588507"/>
              <a:gd name="connsiteY8" fmla="*/ 60207 h 1351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507" h="1351979">
                <a:moveTo>
                  <a:pt x="4484915" y="1351979"/>
                </a:moveTo>
                <a:cubicBezTo>
                  <a:pt x="4533296" y="1257636"/>
                  <a:pt x="4581677" y="1163294"/>
                  <a:pt x="4586515" y="1032665"/>
                </a:cubicBezTo>
                <a:cubicBezTo>
                  <a:pt x="4591353" y="902036"/>
                  <a:pt x="4593772" y="715769"/>
                  <a:pt x="4513943" y="568207"/>
                </a:cubicBezTo>
                <a:cubicBezTo>
                  <a:pt x="4434114" y="420645"/>
                  <a:pt x="4272038" y="236798"/>
                  <a:pt x="4107543" y="147293"/>
                </a:cubicBezTo>
                <a:cubicBezTo>
                  <a:pt x="3943048" y="57788"/>
                  <a:pt x="3768877" y="55369"/>
                  <a:pt x="3526972" y="31179"/>
                </a:cubicBezTo>
                <a:cubicBezTo>
                  <a:pt x="3285067" y="6989"/>
                  <a:pt x="2985105" y="6988"/>
                  <a:pt x="2656115" y="2150"/>
                </a:cubicBezTo>
                <a:cubicBezTo>
                  <a:pt x="2327125" y="-2688"/>
                  <a:pt x="1553029" y="2150"/>
                  <a:pt x="1553029" y="2150"/>
                </a:cubicBezTo>
                <a:lnTo>
                  <a:pt x="435429" y="16665"/>
                </a:lnTo>
                <a:cubicBezTo>
                  <a:pt x="176591" y="26341"/>
                  <a:pt x="88295" y="43274"/>
                  <a:pt x="0" y="60207"/>
                </a:cubicBezTo>
              </a:path>
            </a:pathLst>
          </a:custGeom>
          <a:noFill/>
          <a:ln w="285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ight Brace 8"/>
          <p:cNvSpPr/>
          <p:nvPr/>
        </p:nvSpPr>
        <p:spPr>
          <a:xfrm rot="16200000">
            <a:off x="4126970" y="1265664"/>
            <a:ext cx="339822" cy="4991238"/>
          </a:xfrm>
          <a:prstGeom prst="rightBrace">
            <a:avLst>
              <a:gd name="adj1" fmla="val 8333"/>
              <a:gd name="adj2" fmla="val 505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074057" y="5225143"/>
            <a:ext cx="8255327" cy="1391003"/>
          </a:xfrm>
          <a:custGeom>
            <a:avLst/>
            <a:gdLst>
              <a:gd name="connsiteX0" fmla="*/ 8898770 w 9113183"/>
              <a:gd name="connsiteY0" fmla="*/ 0 h 1391003"/>
              <a:gd name="connsiteX1" fmla="*/ 9043913 w 9113183"/>
              <a:gd name="connsiteY1" fmla="*/ 232228 h 1391003"/>
              <a:gd name="connsiteX2" fmla="*/ 9101970 w 9113183"/>
              <a:gd name="connsiteY2" fmla="*/ 711200 h 1391003"/>
              <a:gd name="connsiteX3" fmla="*/ 8826199 w 9113183"/>
              <a:gd name="connsiteY3" fmla="*/ 1117600 h 1391003"/>
              <a:gd name="connsiteX4" fmla="*/ 7665056 w 9113183"/>
              <a:gd name="connsiteY4" fmla="*/ 1335314 h 1391003"/>
              <a:gd name="connsiteX5" fmla="*/ 5502428 w 9113183"/>
              <a:gd name="connsiteY5" fmla="*/ 1320800 h 1391003"/>
              <a:gd name="connsiteX6" fmla="*/ 3049513 w 9113183"/>
              <a:gd name="connsiteY6" fmla="*/ 1335314 h 1391003"/>
              <a:gd name="connsiteX7" fmla="*/ 1540028 w 9113183"/>
              <a:gd name="connsiteY7" fmla="*/ 1364343 h 1391003"/>
              <a:gd name="connsiteX8" fmla="*/ 480485 w 9113183"/>
              <a:gd name="connsiteY8" fmla="*/ 1378857 h 1391003"/>
              <a:gd name="connsiteX9" fmla="*/ 74085 w 9113183"/>
              <a:gd name="connsiteY9" fmla="*/ 1175657 h 1391003"/>
              <a:gd name="connsiteX10" fmla="*/ 1513 w 9113183"/>
              <a:gd name="connsiteY10" fmla="*/ 870857 h 139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13183" h="1391003">
                <a:moveTo>
                  <a:pt x="8898770" y="0"/>
                </a:moveTo>
                <a:cubicBezTo>
                  <a:pt x="8954408" y="56847"/>
                  <a:pt x="9010046" y="113695"/>
                  <a:pt x="9043913" y="232228"/>
                </a:cubicBezTo>
                <a:cubicBezTo>
                  <a:pt x="9077780" y="350761"/>
                  <a:pt x="9138256" y="563638"/>
                  <a:pt x="9101970" y="711200"/>
                </a:cubicBezTo>
                <a:cubicBezTo>
                  <a:pt x="9065684" y="858762"/>
                  <a:pt x="9065685" y="1013581"/>
                  <a:pt x="8826199" y="1117600"/>
                </a:cubicBezTo>
                <a:cubicBezTo>
                  <a:pt x="8586713" y="1221619"/>
                  <a:pt x="8219018" y="1301447"/>
                  <a:pt x="7665056" y="1335314"/>
                </a:cubicBezTo>
                <a:cubicBezTo>
                  <a:pt x="7111094" y="1369181"/>
                  <a:pt x="5502428" y="1320800"/>
                  <a:pt x="5502428" y="1320800"/>
                </a:cubicBezTo>
                <a:lnTo>
                  <a:pt x="3049513" y="1335314"/>
                </a:lnTo>
                <a:lnTo>
                  <a:pt x="1540028" y="1364343"/>
                </a:lnTo>
                <a:cubicBezTo>
                  <a:pt x="1111857" y="1371600"/>
                  <a:pt x="724809" y="1410305"/>
                  <a:pt x="480485" y="1378857"/>
                </a:cubicBezTo>
                <a:cubicBezTo>
                  <a:pt x="236161" y="1347409"/>
                  <a:pt x="153914" y="1260324"/>
                  <a:pt x="74085" y="1175657"/>
                </a:cubicBezTo>
                <a:cubicBezTo>
                  <a:pt x="-5744" y="1090990"/>
                  <a:pt x="-2116" y="980923"/>
                  <a:pt x="1513" y="87085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Left Brace 10"/>
          <p:cNvSpPr/>
          <p:nvPr/>
        </p:nvSpPr>
        <p:spPr>
          <a:xfrm>
            <a:off x="1030512" y="4389362"/>
            <a:ext cx="377372" cy="179977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51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Almost all Relational Databases use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SQL (structured query language)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manipulate objects and data within the database.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from you when you use Access because 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uses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Graphical User Interface.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non-computer savvy people would have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trouble understanding SQL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However, each time you Create a Table or Design a Query,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is generating SQL behind the scenes.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SQL that is being generated by Access for a number of actions you perform.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(We will be writing some SQL without help from Access in future weeks)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2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an example of a simple query design screen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bottom right corner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the screen has an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SQL icon.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the icon to reveal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SQL statement.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755" t="26918" r="-3755" b="1083"/>
          <a:stretch/>
        </p:blipFill>
        <p:spPr>
          <a:xfrm>
            <a:off x="2354236" y="1248226"/>
            <a:ext cx="8952392" cy="1788459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b="21232"/>
          <a:stretch/>
        </p:blipFill>
        <p:spPr>
          <a:xfrm>
            <a:off x="870695" y="4947740"/>
            <a:ext cx="10805881" cy="16127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918" y="3223324"/>
            <a:ext cx="4132773" cy="153777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BDE0972-CC35-4D65-8984-00F2F5C44EA8}"/>
              </a:ext>
            </a:extLst>
          </p:cNvPr>
          <p:cNvSpPr/>
          <p:nvPr/>
        </p:nvSpPr>
        <p:spPr>
          <a:xfrm>
            <a:off x="10086187" y="4069582"/>
            <a:ext cx="803868" cy="7354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21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439</Words>
  <Application>Microsoft Office PowerPoint</Application>
  <PresentationFormat>Widescreen</PresentationFormat>
  <Paragraphs>75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Open Sans</vt:lpstr>
      <vt:lpstr>Office Theme</vt:lpstr>
      <vt:lpstr>Swinburne_Tiles</vt:lpstr>
      <vt:lpstr>PowerPoint Presentation</vt:lpstr>
      <vt:lpstr>INF10025 Data Management and Analytics</vt:lpstr>
      <vt:lpstr>Update Query </vt:lpstr>
      <vt:lpstr>Update Query </vt:lpstr>
      <vt:lpstr>Update Query </vt:lpstr>
      <vt:lpstr>Update Query </vt:lpstr>
      <vt:lpstr>Delete Query</vt:lpstr>
      <vt:lpstr>CrossTab Query</vt:lpstr>
      <vt:lpstr>SQL </vt:lpstr>
      <vt:lpstr>SQL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Tipping</dc:creator>
  <cp:lastModifiedBy>Robert Tipping</cp:lastModifiedBy>
  <cp:revision>2</cp:revision>
  <dcterms:created xsi:type="dcterms:W3CDTF">2023-02-22T02:28:43Z</dcterms:created>
  <dcterms:modified xsi:type="dcterms:W3CDTF">2023-02-22T02:29:52Z</dcterms:modified>
</cp:coreProperties>
</file>