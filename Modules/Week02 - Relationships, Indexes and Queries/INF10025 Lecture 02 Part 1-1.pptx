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10.xml" ContentType="application/vnd.openxmlformats-officedocument.presentationml.notesSlide+xml"/>
  <Override PartName="/ppt/ink/ink20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7" r:id="rId2"/>
    <p:sldId id="362" r:id="rId3"/>
    <p:sldId id="327" r:id="rId4"/>
    <p:sldId id="403" r:id="rId5"/>
    <p:sldId id="335" r:id="rId6"/>
    <p:sldId id="336" r:id="rId7"/>
    <p:sldId id="337" r:id="rId8"/>
    <p:sldId id="339" r:id="rId9"/>
    <p:sldId id="340" r:id="rId10"/>
    <p:sldId id="341" r:id="rId11"/>
    <p:sldId id="349" r:id="rId12"/>
    <p:sldId id="344" r:id="rId13"/>
    <p:sldId id="393" r:id="rId14"/>
    <p:sldId id="350" r:id="rId15"/>
    <p:sldId id="338" r:id="rId16"/>
    <p:sldId id="345" r:id="rId17"/>
    <p:sldId id="346" r:id="rId18"/>
    <p:sldId id="330" r:id="rId19"/>
    <p:sldId id="331" r:id="rId20"/>
    <p:sldId id="34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38:27.73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7193 13791 0,'25'0'172,"50"0"-156,-51 0-1,26 0-15,24 0 16,26 0 0,-51 0-1,1 0 1,-25 0-16,49 0 15,0 0 1,1 0-16,-50 0 16,49 0-1,-49 0-15,0 0 16,0 25-16,24-25 31,-24 0-31,25 0 16,-26 0-16,1 0 15,0 0-15,25 0 16,24 0 0,-49 0-1,24 0-15,-24 25 16,0-25-16,0 0 16,24 0-1,1 0-15,0 0 16,-26 25-1,51-25-15,-50 25 16,49-25-16,-24 0 16,-1 0-16,26 0 15,-50 0-15,49 0 16,0 0-16,-24 0 16,24 0-1,50 0 1,-74 0-16,0 0 15,-1 0 1,1 0-16,24 0 16,1 0-1,-51 0 17,26 0-17,24 0 1,-49 0-16,0 0 15,25 0-15,-25 0 16,24 0-16,1 0 16,-1 0-16,-24 0 15,50 0 1,-1 0-16,25 0 31,0 0-31,-24 0 0,98 0 31,-123 0-31,0 0 16,49 0 0,-25 0-16,-49 0 0,25 0 15,-25 0 1,-1 0-16,51 0 31,-50 0-15,-1 0-1,1 0 79,25 0-78,-25 0-16,-1 0 15,1 0 17,0 0-1,0 0-15,0 0-1,-1 0 1,1 0-1,25 0 95,-25 0-95,-1 0 1,1 0 0,0 0-1,0-25 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39:23.3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4887 11559 0,'99'0'234,"0"0"-218,-49 25-1,-26-25 1,26 0-16,0 0 15,-1 0 1,-24 0 0,74 0-1,-74 0-15,25 0 16,-1 0-16,1 0 16,-1 0-16,1 0 15,0 0 1,-26 0-16,1 0 15,0 0-15,25 0 16,-25 0 0,-1 0-16,1 0 31,0 0-15,0 0 15,0 0-16,-1 0-15,26 0 16,-25 0-16,24 0 16,1 0-16,74 0 31,-99 0-31,24 0 0,-24 0 16,25 0-1,-1 0-15,-24 0 16,0 0-16,0 0 78,0 0-78,-1 0 16,1 0-16,0 0 15,0 0 32,0 0-16,-1 0-15,1 0 0,0 0-16,0 0 15,25 0 1,-26 0-1,1 0 1,0 0-16,0 0 16,0 0-16,24 0 15,-24 0 1,0 0-16,0 0 16,-1 0-1,26 0 48,-25 0-48,74 0 1,-74 0-16,0 0 16,-1 0-16,26 0 15,-25 0-15,0 0 16,24 0-1,-24 0 1,0 0 0,0 0-1,-1 0 1,1 0 0,0 0-1,0 0-15,24 0 16,1 0 31,-25 0 93,24 0-140,-24 0 16,0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39:29.9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15429 14387 0,'24'0'203,"1"0"-203,25 0 16,-25 0-1,-1 0 1,1 25 0,0-25-16,0 0 31,0 0-16,-1 0-15,26 0 16,0 0 0,-1 0-1,-24 0-15,25 0 16,-26 0 0,26 0-16,-25 0 15,24 0 1,-24 0-1,25 0-15,-25 0 16,49 49 0,-49-49-16,24 0 15,-24 0-15,25 0 16,0 0-16,-26 0 16,1 0-1,0 0 48,0 0-63,0 0 31,-1 0-31,1 0 16,0 0-16,0 0 31,0 0 31,-1 0-62,1 0 16,25 0-16,-50 25 16,25-25-16,24 0 15,-24 0 1,74 0-16,-49 0 15,-1 50 1,-24-50 0,25 0-16,-25 0 15,-1 0-15,1 0 63,0 0-48,25 24 32,-26 1-31,1-25 15,25 25-31,-25-25 47,49 0-47,-49 25 0,0-25 16,0 0-1,-1 0 17,1 0-17,25 0 16,-1 0-15,-24 0 0,0 0 15,0 0-15,0 0 124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39:38.53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9798 11807 0,'0'0'0,"0"25"78,25 24-62,-25 1-16,49-25 15,1 24-15,-25 1 16,74 0 0,-25-26-16,1 51 0,24-50 15,-25 49 1,50-24-16,-24-1 0,73 51 16,-98-76-1,-1 1 1,-24-25-16,24 75 0,-49-75 15,74 74 1,-49-49 0,-25 0-16,24 24 15,1-49 1,-1 50-16,-24-25 16,25-1-16,-25 1 15,-1 0-15,1 0 16,25 24-1,-1-24-15,1 50 16,-25-51 0,24 26-16,1-25 15,49 49 1,-24-24-16,-26-25 16,100 24-1,-99-24-15,-1 0 16,26 25-1,-26-50 1,1 49 0,24-24-16,-24 25 0,0-26 15,-1 1-15,100 50 32,-99-75-17,-1 24-15,26 51 16,-51-75-1,26 25 1,0-1 0,-50 1-1,24-25-15,1 0 16,0 50 0,25-50-16,24 25 0,-49 24 15,74-24 1,-49 0-1,-25-25-15,-1 0 157,1 25-48,0-25 250,-25 24-359,25-24 63,0 25-32,-1 0 16,1-25-47,25 0 16,-25 25-1,-1-25 95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0:26.1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8310 12427 0,'-25'0'32,"50"0"61,-1 0-77,1 0 0,0 0-16,0 0 15,0 0 1,-1 0 0,1 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0:28.31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11063 15131 0,'49'25'156,"1"-1"-140,0-24-16,74 0 0,-75 0 15,125 0 1,-124 0 0,-1 0-16,-24 0 15,0 0-15,24 25 94,-49 0-94,25-25 78,0 0-15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0:54.9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3026 12650 0,'50'0'140,"-25"0"-124,49 0-16,-24 0 16,24 0-16,100 0 15,-100 0 1,-24 0-16,24 0 16,-24 0-16,-1 25 15,1-25-15,0 25 16,24-25-1,0 25-15,-24-25 16,0 0 0,24 0-16,0 0 15,1 0 1,-50 0-16,24 0 0,-24 0 16,0 0-1,0 0 1,-1 0-1,26 0 1,-25 0-16,0 0 16,24 0-1,-24 0 1,25 0-16,-26 0 16,1 0-1,0 0 16,0 0-15,0 0 93,0 0 360,24 0-453,50 0-1,-49 0 1,74 0 0,-99 0-1,24 0-15,-24 0 16,0 0-16,0 0 16,0 0-16,24 0 15,1 0-15,-25 0 16,-1 0-16,1 0 31,0 0-15,0 0-16,0 0 15,-1 0 17,26 0 14,0 0-46,-26 0 16,51 0-16,24 0 16,-49 0-1,-25 0 1,24 0 328,-24 0-313,0 0-31,0 0 16,-1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0:58.2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12973 15379 0,'25'0'94,"24"0"-78,-24 0-1,25 0-15,-1 0 0,26 0 16,24 0-1,-25 0-15,50 25 16,25 0-16,-50 24 16,-24-49-16,24 25 15,0-25-15,25 25 16,-25-25-16,-24 0 16,24 25-16,-49-1 15,-1-24-15,26 0 16,-26 25-16,26-25 15,-26 0-15,51 0 16,-76 0 0,26 25-1,-25-25 17,24 0 14,-24 0-30,0 0 0,25 0-16,-1 0 31,-24 0-31,49 0 16,-24 0-1,0 0-15,-25 0 0,24 0 16,50 25-1,-49-25 1,-25 0-16,0 0 16,-1 0-16,1 0 15,0 0 48,0 0-63,0 0 15,-1 0 32,-24-25-15,0 0-17,-24 25 1,-1-25-16,0 25 15,0 0-15,-24-49 16,-125 24 0,149 0-1,-24 0-15,-26 25 16,1-24 0,24-1-1,0 25-15,26 0 16,-26-25-1,25 25 1,0 0-16,1 0 0,-26 0 31,-24 0-15,49 0 0,-25 0-1,1 0-15,-1 0 16,-74 0-1,74 0-15,26 0 16,-1 0 0,0 0-1,0 0 32,-24 0-31,24 0-1,0 0 17,0 0 46,75 0 172,49 0-250,-49 0 15,-26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1:17.34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28054 5333 0,'50'-25'156,"-25"25"-124,24 0-17,-24 0-15,25 0 16,-26 0-16,26 0 31,74 0-31,-74 0 16,-26 0-16,1 0 15,50 0-15,-26 0 16,50 0 0,-74 0-16,25 0 15,-1 0-15,26 0 16,-26 0-1,51 0 1,-75 0 31,24 25 109,26 25-125,-51-50-31,26 24 16,-25-24 0,0 25 156,-25 0-94,0 25-63,0-26 1,0 1 78,-25-25-79,-50 0 1,26 0 0,-1 25-1,25-25-15,1 0 0,-26 25 31,25-25 48,0 0-79,0 0 15,1 0 1,-1 0-16,-50 0 31,26 0-15,24 0-16,0 0 15,0 0 1,1 0-16,-1 0 16,0 0-16,-25 0 93,26 0-93,-1 0 0,-25 0 32,25 0-17,-24 0 63,24 0-62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1:23.3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3473 14982 0,'24'0'156,"76"0"-140,49 0-16,-50 0 15,74 0-15,-73 0 16,48 0 0,-73 0-16,24 0 15,-25 0 1,26 0-1,-76 0-15,26 0 16,-25 0-16,0 0 31,-1 0-15,1 0 0,0 0-16,0 0 15,0 0 1,24 0-1,-24 0-15,25 0 16,-25 0 0,-1 25-16,1 0 15,0-25 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1:37.8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28302 4514 0,'25'0'156,"25"0"-140,-1 0-1,26 0-15,-26 0 16,125 0 0,-100 0-16,-24 0 15,24 0 1,25 0-16,26 0 16,73 50-1,-124-50-15,150 25 31,-175-25-31,26 25 16,49-25 0,-75 0-16,-24 0 15,99 0 1,-99 0-16,49 0 16,-49 0-16,25 0 15,-25 0-15,24 0 16,1 0-16,-25 0 15,99 0 1,-75 0-16,1 0 16,24 0-16,-24 0 15,74 0 1,-75 0-16,1 0 16,-25 0-1,24 0-15,1 0 0,-25 0 16,49 0-1,-49 0 48,0 0-32,0 0 344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1:43.5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3497 12725 0,'25'0'110,"74"0"-110,1 0 0,49 0 15,-50 0 1,25 0-16,74 0 0,-49 0 16,-50 0-1,124 0 1,1 0 0,-26 0-16,-74 0 0,0 0 15,199 0 1,-199 0-1,49 0 1,-98 0-16,24 0 16,-74 0-16,74 0 31,-25 0-15,-24 0-1,-25 0-15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2:48.70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22969 5482 0,'-25'0'235,"25"49"15,0-24-250,0 0 15,75 25 1,-50-50-16,74 24 15,-50 1-15,-24-25 16,25 0 47,-25 0-32,-1 0 31,1 0-46,0 0 0,-25-25-1,25 25-15,-25-24 16,0-1-1,0 0-15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2:53.32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21779 6325 0,'24'0'78,"51"0"-78,24 0 16,-49 0-16,49 0 16,0 0-1,-49 0-15,24 0 0,0 0 16,-49 0-1,0 0 64,0 0-17,0 0-31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21.02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19893 12229 0,'50'0'140,"124"0"-124,-100 0 0,-49 0-16,0 0 15,-1 0 79,1 0-63,0 0-15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22.10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23490 12204 0,'25'0'250,"0"0"-250,-1 0 0,1-25 16,0 25-16,0 0 172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23.12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26764 12154 0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23.93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28897 12204 0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25.01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31998 12030 0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3:52.62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20265 8161 0,'25'0'125,"0"0"-109,0-25-1,0 25-15,-1 0 16,26 0 0,-25 0-16,0 0 15,24 0 1,-24 0 15,25 25-15,-1-25-1,-24 25-15,0-25 16,25 0 0,-1 0 30,-24 0 79,0 0-109,0 0 78,-1 0-79,1 24 1,0-24 15,-25 25-31,25-25 32,0 25-17,-25 0 48,0 0-48,24-25-15,-24 24 32,0 1-17,0 0 1,0 0-1,-24 0 17,24-1-32,-25-24 15,0 0 1,-25 0 0,26 0 15,-26 0-16,25 0-15,-24 0 16,24 0-16,-25 0 31,25 0-15,-24 0 15,24 0-15,-25 0-1,25 0 1,-24 0 0,-1 0-16,25 0 15,1 0 1,-1 0 0,0 0 93,0 0 32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6:50.8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25102 11460 0,'0'25'172,"0"-1"-156,0 1-16,50-25 0,-25 0 15,124 0 1,-75 0 0,-24 25-16,-1-25 15,26 0-15,-1 25 16,-24-25-16,-26 0 16,26 25-16,-25-25 15,24 0-15,-24 0 16,25 0-1,-25 0 1,24 0 0,-24 0-16,25 0 15,-1 0 1,-24 24-16,0-24 16,99 0-1,-50 25-15,-24-25 16,24 0-1,1 0-15,-1 0 16,1 0 0,-1 0-16,25 0 0,-74 0 15,49 0 1,1 0-16,-50 0 16,24 0-16,1 0 15,24 0-15,-49 0 16,50 0-16,-26 0 15,1 0-15,-1 0 16,-24 0-16,25 0 16,-25 0-16,24 0 15,-24 0-15,0 0 110,0 0-95,-1 0 17,1 0-17,0 0 1,0 0-1,0 0 1,24 50 0,-24-50-16,25 0 15,-26 0 1,1 0-16,0 0 16,0 0-16,0 0 15,0 0-15,24 25 16,-24-25-1,0 0 204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6:54.86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15280 14709 0,'0'-25'78,"0"1"-63,99-1 1,-49 25-16,24 0 16,75 0-1,-50 0-15,0 0 16,-24 0-16,24 0 16,0 0-16,-25 0 15,26 0 1,-26 0-16,1 0 15,24 0-15,-25 0 16,25 0 0,-49 0-16,24 0 15,1 0-15,-26 0 16,-24 0-16,50 0 16,-51 0-1,26 0-15,0 0 0,-26 0 16,1 0-16,0 0 15,25 0-15,-1 25 16,1-25 0,-1 0-1,-24 0-15,0 0 63,0 0-63,0 0 31,0 0-31,-1 0 0,1 0 31,0 0 157,0 0-173,0 0-15,24 0 16,-24 0 0,0 0 124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9:00.27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22151 13171 0,'0'-25'140,"49"25"-124,1 0-16,74 0 15,0 0-15,49 0 16,26 0 0,-1 0-16,1 0 0,-1 0 15,25 0-15,-49 0 16,74 0-16,174 0 31,-224 0-31,26 0 0,-76 0 16,51 0-1,-50 0-15,49 0 0,-24 0 16,173 25 0,-248-25-1,50 25-15,-75 0 16,26-25-16,-1 25 16,-74 0-16,99-25 15,-50 0 1,0 24-16,1-24 15,-1 0-15,1 0 16,-26 0-16,1 0 16,99 50-1,-75-50-15,50 0 16,124 74-16,-74-74 16,0 25-16,148 50 15,-173-75 1,24 0-16,1 24 15,74 26 1,-173-50-16,-26 25 16,1-25-1,-1 25-15,-24-25 16,0 0 0,0 0-16,0 0 15,-1 0 1,26 49-16,-25-49 31,-124 25 250,74-25-249,-99 25-17,-75 49 1,75-74-16,-25 50 15,25-1-15,0-24 16,25-25-16,-25 25 16,0 0-16,25 24 15,0-49-15,24 0 16,-24 25-16,25-25 16,24 0-16,25 0 15,-49 0-15,24 0 16,1 0-1,-51 0-15,26 0 16,0 0-16,-1 0 0,26 0 16,-26 0-16,-74 0 15,75 0 1,-1 0-16,1 0 16,49 0-16,-24 0 15,24 0-15,-99-25 16,74 25-16,-74-24 15,25 24 1,-273-25 0,248 25-16,-25 0 0,0-25 15,0-25 1,1 50-16,24 0 16,-50 0-16,75 0 15,-25 0-15,-25 0 16,50 0-16,-125 0 15,100 0 1,25 0-16,-50 0 16,-24 0-16,73 0 15,-98 0-15,99 0 16,-75 0 0,75 0-16,25 0 0,-26 0 15,26 0-15,-25 0 16,49 0-16,-24 0 15,-26 0 1,51 0-16,-26 0 16,51 0-1,-51 0-15,26 0 16,-75 0-16,49 0 16,26 0-16,24 0 15,0 0 1,0 0 78,25-24-94,0-26 15,0 25 1,0-24-16,0 24 15,25-25-15,0 25 16,0-24-16,-1-1 16,1 1-1,50-1-15,-26 0 16,1 1 0,-1 24-1,100-25 1,-25 1-16,124-26 15,-99 26 1,74 49-16,-74 0 0,-25 0 16,124 0-1,-99 0 1,25 0-16,-1 0 16,-73 0-16,73 24 15,50-24-15,26 0 16,-51 0-16,25 0 15,0 0-15,-24 0 16,-25 25-16,-1-25 16,26 0-16,-1 0 15,-74 0-15,50 0 16,24 0-16,-49 50 16,-25-50-16,-25 0 15,75 0-15,-75 0 16,0 0-16,50 0 15,-50 0-15,1 0 16,48 0-16,76 0 16,-125 0-1,74 0-15,-73 0 16,-26 0 0,0 0-16,1 0 0,-25 0 15,49 0 1,-25 0-16,-24 0 15,-25 0 1,-1 0 47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9:14.84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22746 16272 0,'0'-25'94,"74"25"-78,26 0-16,-26 0 15,100 0 1,-75 0-16,-25 0 16,1 0-1,-1 0-15,0 0 0,-24 0 16,0 0 0,-26 0-16,1 0 15,25 0-15,-1 0 16,-24 0-1,50 0-15,-26 0 16,-24 0 0,0 0-16,0 0 15,0 0 1,-1 0 15,1 0-15,0 0-16,49 0 15,26 0-15,98-50 16,-99 26 0,-49 24-16,24 0 15,-24 0-15,24-25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9:16.5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26169 16247 0,'25'0'47,"0"0"-47,-1 0 15,1 0-15,99 0 16,-74 0-1,49 0-15,-74 0 16,99 0-16,-50 0 16,1 0-16,98 0 31,-148 0-31,25 0 16,-25 0-16,24 0 0,-24 0 15,25 0 1,-1 0-16,26 0 15,-26 0-15,1 0 16,24 0-16,-49 0 16,25 0-16,-26 0 15,51 0 1,-26 0 0,-24 0-16,50 0 15,-1 0-15,0 0 16,26 0-16,148-25 31,-75 0-31,-24 1 16,-50 24-16,-99-50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9:17.86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22994 17611 0,'50'0'47,"98"0"-47,-24 0 16,50 0-16,-50 0 15,25 0-15,49-24 16,-98 24 0,24 0-16,24 0 0,-24 0 15,-49 0 1,-1 0-16,-49 0 0,25 0 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49:19.12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26392 17388 0,'25'0'110,"25"0"-110,49 0 15,0 0-15,0 0 16,149-25 0,-124-24-16,273 24 15,-223 25 1,-25-25-16,74 0 0,-74-49 15,173 74 1,-223 0 0,-49 0-16,0 0 15,-26 0-15,1 0 16,0 0 0,0 0-16,0 0 15,-1 0 1,1 0-16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0:53.03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22151 10418 0,'24'0'125,"26"0"-94,24 0-15,26 0-16,73 0 16,-24 0-1,-74 0-15,49 0 16,0 0-16,-25 0 16,-50 0-1,100 0 1,-124 0-16,49 0 0,-49 0 15,0 0-15,0 0 16,0 0 0,-1 0-1,1 0-15,25 0 16,-25 0 0,24 0-16,1 0 15,-1 0 1,1 0-16,0 0 0,-1 0 15,1 0 1,0 0-16,-26 0 31,1-25-31,0 25 16,0 0 0,24 0-16,-24 0 15,25-25-15,-25 25 16,24 0-1,1 0-15,-1 0 16,1 0-16,-25 0 0,49 0 16,-24 0-16,49 0 15,-25 0 1,125-74-16,-125 49 16,-24 25-1,24 0-15,26-25 0,-76 25 16,51 0-1,-1 0-15,1-49 16,-26 49 0,1 0-16,-1 0 15,-24 0-15,0 0 16,25 0-16,-1 0 16,-24 0-16,0 0 15,0 0-15,24 0 16,-24 0-16,74 0 15,-24 0 1,24 0-16,-25 0 16,1 0-16,24 0 15,-25 0-15,-24 0 16,99 0 0,-100 0-16,26 0 15,-1 0 1,-49 0-1,25 0-15,-25 0 16,24 0-16,-24 0 0,25 0 16,24 0-1,0 0 1,-24 0 0,24 0-16,1 0 0,-26 0 15,51 0 1,-51 0-1,26 0-15,-51 0 16,51 0-16,-1 0 16,-24 0-16,0 0 15,24 0-15,-24 0 16,24 0-16,0 0 16,-49 0-16,25 0 15,-1 0-15,1 0 16,0 0-16,-26 0 15,1 0-15,25 0 16,-25 0-16,24 0 16,-24 0-16,49 0 15,50 0 1,-49 0-16,-50 0 16,49 0-16,-24 0 15,-25 0 1,-1 0-16,26 25 15,0-25-15,-1 0 0,1 0 16,-1 0 0,1 0-16,-25 0 15,49 0-15,-49 0 16,25 0-16,-26 0 16,51 0-16,-1 0 15,25 0 1,-49 0-16,24 0 15,1 0-15,-1 0 16,-24 0-16,24 0 16,-24 0-16,24 0 15,-24 0-15,0 0 16,-1 0 0,26 0-16,24 0 15,-74 0-15,24 0 31,-24 0-31,25 0 16,-26 0 0,26 0-1,0 0 1,-1 0-16,26 0 16,-50 0-16,-1 0 15,1 0-15,50 0 0,-51 0 16,26 0-1,-25 0-15,49 0 16,-49 0-16,49 0 16,-24 0-16,-25 0 15,0 0-15,24 0 16,26 0-16,-51 0 16,26 0-16,0 0 15,-1 0-15,-24 0 16,49 0-16,-49 0 15,0 0 1,0 0-16,49 0 0,-49 0 16,0 0-1,0 0-15,24 0 0,1-25 16,-25 25 0,0 0-16,-1 0 15,26 0 1,-25 0-1,0 0-15,-1 0 16,26 0 0,0 0-1,-1 0 1,-24 0 0,0 0-16,0 0 15,49-25-15,-49 25 16,24-25-1,-24 25 17,0 0-17,0-25-15,24 1 16,-24 24 15,25 0-15,-25 0-1,-1 0 1,26 0 0,0 0-1,-25 0 1,24 0 0,-24 0-1,0-25 157,0 25-63,-1 0 1,1 0-79,25 0-31,-25 0 16,-1 0-1,1 0 32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1:26.24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3646 8359 0,'25'0'78,"50"0"-62,-1 0-16,0 25 15,1 0-15,-1-25 16,25 49-1,-24-24-15,-1-25 0,50 0 16,0 25 0,0 25-16,-99-50 0,74 24 15,75 1 1,-100-25-16,26 0 16,-26 50-1,0-50 1,-24 0-16,-25 0 15,24 0-15,-24 0 16,0 0-16,25 0 16,-1 0-1,-24 0 48,25 0-32,-26 0-15,26 0-16,0-25 15,-50 0 1,24 25-16,1-25 16,25 1 30,-25-1-14,-25 0-17,0 0 1,25-24 15,-1 49-15,1-25-16,25 0 15,-1 0 1,-49 0-16,50 25 16,-25 0-16,0 0 312,-1 0-312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1:42.49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4490 8235 0,'24'0'63,"1"0"-47,25 0-1,-1 0-15,-24 0 0,25 0 16,-1 0-16,-24 0 15,25 0 1,0 0-16,-26 0 16,26 0-16,-25 0 15,24 0-15,-24 0 16,50 0 0,-26 0-1,-24 0-15,0 0 16,24 0-16,-24 0 15,50 0 1,-1 0-16,-24 0 16,-1 0-1,1 0-15,-1 0 32,-24 0-32,0 0 0,25 0 15,-26 25 1,51-25-1,-25 0-15,-26 0 16,1 0-16,0 0 16,0 0-16,0 0 31,24 0 47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1:46.5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4440 14039 0,'-25'0'16,"50"0"46,0 0-46,24 0 0,-24 0-1,25 0-15,-25 0 0,24 0 16,-24 0-1,49 0-15,-49 0 0,25 0 16,0 0 0,49 0-16,-50 0 15,26 0 1,-26 0-16,1 0 16,49 0-16,-24 0 15,24 0-15,-50 0 16,1 0-16,99 0 15,-100 0 1,1 0-16,25 0 31,-26 0-31,-24 0 32,0 0-32,0 0 15,49 0 1,-24 0-16,-26 0 15,51 0 1,-50 0-16,-1 0 16,1 0-1,25 0-15,-25 0 16,-1 0-16,26 0 16,-25 0 30,0-24-30,-1 24 0,1 0-1,0 0 1,0 0-16,74 0 31,-49 0-15,-26 0-1,1 0-15,0 0 16,0 0 0,49 0-16,-49 0 15,0 0 1,25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1:58.96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21530 8384 0,'25'0'219,"0"0"-219,0 0 31,0 0-31,-1 0 0,1 0 16,25 0 15,0 0-15,-26 0-1,26 0 1,-25 0-1,24 0 17,-24 0-17,0 0 1,0 0 0,0 0-1,-1 0 1,1 0-16,0 0 15,0 0 17,0 0 30,-1 0-46,1 0-1,0 0-15,0 0 16,0 0 0,-1 0-1,1 0 63,25 0-78,-25 25 16,-1-25 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02.01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20662 8434 0,'25'0'140,"25"0"-124,-25 0 15,24 0-15,-24 0-1,25 0 1,-26 0-16,26 0 94,-25 0-79,24 0 1,-24 0 0,0 0-16,0 0 15,0 0 32,-1 0-16,1 0-31,0 0 16,0 0 250,0 0-126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11.14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21506 9178 0,'49'0'110,"-24"0"-110,49 0 15,-49 0 1,0 0-16,0 0 16,0 0-16,24 0 15,-24 0 1,25 0-16,-25 0 16,74 0-1,-50 0-15,1 0 16,0 0-1,-1 0-15,-24 0 16,99 0 0,-74 0-16,-26 0 15,26 0 1,-25 0-16,24 0 31,-24-25-31,0 25 16,0 0-16,24 0 15,-24 0 1,25 0 0,-25 0-16,24-25 15,1 25 1,-25 0 31,0-25-32,-1 25 1,1 0 109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17.2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29046 8458 0,'25'0'78,"50"-24"-62,-26 24 0,-24 0-16,25 0 15,24 0-15,-24-25 16,24 25-16,-24-25 16,-26 25-16,76-25 15,-76 0 16,26 25-31,-25 0 32,24 0-32,-24 0 15,25-24 1,-1 24 31,1 0-32,-25 0-15,49 0 16,50 0 0,-49 0-16,-1 0 15,1 0 1,-26 0-16,1 0 16,-1 0-16,-24 0 15,50 0 1,-26 0-16,1 0 15,-1 0-15,-24 0 16,0 0-16,0 0 16,0 0 202,-1 0-61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20.8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21481 9599 0,'49'0'156,"75"0"-140,-74 0 0,0 0-1,-1 0-15,1 0 16,0 0-16,24 0 0,-49 25 15,24-25 1,26 0-16,-1 0 16,50 50-1,-74-50-15,-1 25 16,26-25 0,-26 0-16,1 0 15,-25 0-15,0 0 16,24 0-16,-24 0 15,0 24 1,25-24-16,-26 0 0,1 0 16,0 0-1,0 0-15,0 0 16,-1 0-16,1 0 16,0 0-16,0 0 31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23.95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11956 8359 0,'25'-25'47,"-1"25"-31,26 0-16,24-24 0,-49 24 15,25 0 1,49 0-1,-74 0 1,25 0 0,-1 0-1,50 0-15,-24 0 16,-1 0-16,100 0 31,-75 0-31,-25 0 0,-24 0 16,0 0-1,-26 0-15,26 0 16,-25 0 0,0 0-16,0 0 15,-1 0-15,1 0 16,25 0 0,-1 0-1,1 0-15,0 0 0,-26 0 16,26 0-1,-25 0-15,24-25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2:57.83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12229 10716 0,'25'-25'78,"49"25"-63,0 0 1,-49 0-16,25 0 16,24 0-1,-49 0 1,25 0-1,-1 0 1,1 0 0,-1-25-16,-24 25 15,0 0-15,74 0 16,0 0 0,-24 0-16,49 74 15,-99-74-15,49 0 16,-49 0-16,25 0 0,-26 0 31,1 0-15,25 0-16,-1 0 15,1 0 1,-25 0 0,49 0-1,-49 0-15,49 0 16,1 0-1,-26 0-15,1 0 16,-25 0 0,0 0-16,-1 0 31,26 0-15,-25 0-1,0 0-15,24 0 16,-24 0-1,0 0 1,0 0 734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3:02.09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12154 11187 0,'25'0'62,"0"0"-46,25 0-1,123 0 1,-24 0-16,-75 0 0,50 0 16,0 0-1,0 0-15,25 0 0,-25 0 16,100 0 0,-150 0-16,0 0 15,1 0 1,-26 0-16,-24 0 0,0 0 15,99 0 1,-74 0 0,24-50-16,-49 50 15,24 0-15,1 0 16,24 0-16,26 0 16,-51 0-1,1 0-15,0 0 16,-1 0-16,1 0 15,-25 0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3:06.9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10344 10443 0,'24'-25'0,"76"25"16,-26 0 0,199 0-16,-124 0 15,-50 0-15,25 0 16,-99 0-16,24 0 15,-24-25 17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3:08.61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10567 11063 0,'-25'-25'62,"50"25"-30,99 0-17,-75-25-15,224 25 16,-174 0 0,-24 0-16,-50 0 15,0 0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3:18.87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19720 9376 0,'49'0'203,"1"0"-203,-25 0 0,24 0 16,1 0-1,-25 0 1,0 0-16,-1 0 62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5942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2-02-26T03:53:20.49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25400 8756 0,'99'25'125,"-74"-25"-109,25 0-16,-26 25 265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ABE27-D12F-4DF9-B79C-16F4296BD05B}" type="datetimeFigureOut">
              <a:rPr lang="en-AU" smtClean="0"/>
              <a:t>17/02/2023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E59FB-3CE8-435A-9039-08DE7A3C0D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546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306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514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874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458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274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615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6817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9872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2868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232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929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137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04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6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2A43E-4C69-445B-9395-7AF0794D0BDD}"/>
              </a:ext>
            </a:extLst>
          </p:cNvPr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789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9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84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446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46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2.xml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customXml" Target="../ink/ink6.xm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0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17.xml"/><Relationship Id="rId3" Type="http://schemas.openxmlformats.org/officeDocument/2006/relationships/image" Target="../media/image16.png"/><Relationship Id="rId7" Type="http://schemas.openxmlformats.org/officeDocument/2006/relationships/customXml" Target="../ink/ink14.xml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customXml" Target="../ink/ink15.xml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20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46.png"/><Relationship Id="rId5" Type="http://schemas.openxmlformats.org/officeDocument/2006/relationships/image" Target="../media/image43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customXml" Target="../ink/ink28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customXml" Target="../ink/ink34.xml"/><Relationship Id="rId18" Type="http://schemas.openxmlformats.org/officeDocument/2006/relationships/image" Target="../media/image59.png"/><Relationship Id="rId26" Type="http://schemas.openxmlformats.org/officeDocument/2006/relationships/image" Target="../media/image63.png"/><Relationship Id="rId3" Type="http://schemas.openxmlformats.org/officeDocument/2006/relationships/customXml" Target="../ink/ink29.xml"/><Relationship Id="rId21" Type="http://schemas.openxmlformats.org/officeDocument/2006/relationships/customXml" Target="../ink/ink38.xml"/><Relationship Id="rId7" Type="http://schemas.openxmlformats.org/officeDocument/2006/relationships/customXml" Target="../ink/ink31.xml"/><Relationship Id="rId12" Type="http://schemas.openxmlformats.org/officeDocument/2006/relationships/image" Target="../media/image56.png"/><Relationship Id="rId17" Type="http://schemas.openxmlformats.org/officeDocument/2006/relationships/customXml" Target="../ink/ink36.xml"/><Relationship Id="rId25" Type="http://schemas.openxmlformats.org/officeDocument/2006/relationships/customXml" Target="../ink/ink40.xml"/><Relationship Id="rId2" Type="http://schemas.openxmlformats.org/officeDocument/2006/relationships/image" Target="../media/image49.png"/><Relationship Id="rId16" Type="http://schemas.openxmlformats.org/officeDocument/2006/relationships/image" Target="../media/image58.png"/><Relationship Id="rId20" Type="http://schemas.openxmlformats.org/officeDocument/2006/relationships/image" Target="../media/image60.png"/><Relationship Id="rId29" Type="http://schemas.openxmlformats.org/officeDocument/2006/relationships/customXml" Target="../ink/ink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customXml" Target="../ink/ink33.xml"/><Relationship Id="rId24" Type="http://schemas.openxmlformats.org/officeDocument/2006/relationships/image" Target="../media/image62.png"/><Relationship Id="rId32" Type="http://schemas.openxmlformats.org/officeDocument/2006/relationships/image" Target="../media/image66.png"/><Relationship Id="rId5" Type="http://schemas.openxmlformats.org/officeDocument/2006/relationships/customXml" Target="../ink/ink30.xml"/><Relationship Id="rId15" Type="http://schemas.openxmlformats.org/officeDocument/2006/relationships/customXml" Target="../ink/ink35.xml"/><Relationship Id="rId23" Type="http://schemas.openxmlformats.org/officeDocument/2006/relationships/customXml" Target="../ink/ink39.xml"/><Relationship Id="rId28" Type="http://schemas.openxmlformats.org/officeDocument/2006/relationships/image" Target="../media/image64.png"/><Relationship Id="rId10" Type="http://schemas.openxmlformats.org/officeDocument/2006/relationships/image" Target="../media/image55.png"/><Relationship Id="rId19" Type="http://schemas.openxmlformats.org/officeDocument/2006/relationships/customXml" Target="../ink/ink37.xml"/><Relationship Id="rId31" Type="http://schemas.openxmlformats.org/officeDocument/2006/relationships/customXml" Target="../ink/ink43.xml"/><Relationship Id="rId4" Type="http://schemas.openxmlformats.org/officeDocument/2006/relationships/image" Target="../media/image52.png"/><Relationship Id="rId9" Type="http://schemas.openxmlformats.org/officeDocument/2006/relationships/customXml" Target="../ink/ink32.xml"/><Relationship Id="rId14" Type="http://schemas.openxmlformats.org/officeDocument/2006/relationships/image" Target="../media/image57.png"/><Relationship Id="rId22" Type="http://schemas.openxmlformats.org/officeDocument/2006/relationships/image" Target="../media/image61.png"/><Relationship Id="rId27" Type="http://schemas.openxmlformats.org/officeDocument/2006/relationships/customXml" Target="../ink/ink41.xml"/><Relationship Id="rId30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AU" dirty="0"/>
          </a:p>
          <a:p>
            <a:r>
              <a:rPr lang="en-AU" b="1" dirty="0"/>
              <a:t>Week 02 – Part 1</a:t>
            </a:r>
          </a:p>
          <a:p>
            <a:r>
              <a:rPr lang="en-AU" dirty="0"/>
              <a:t>Multiple tables and relationships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107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Adding a new record to the Movie Table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Last lecture we created a Movie table.  To add a new movie we: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Open the Movie Datasheet view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Click on the * at the bottom left of the view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Type in the details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Datasheet view: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 end-user friendly. You would not expect end-users/customer to use a datasheet.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this was an employee table, it would contain personal details. The end-user could see data about other employees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Easy to delete data in one row / multiple rows very easily (by mistake)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595" y="2632039"/>
            <a:ext cx="9460526" cy="169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99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5879"/>
            <a:ext cx="10972800" cy="808522"/>
          </a:xfrm>
        </p:spPr>
        <p:txBody>
          <a:bodyPr/>
          <a:lstStyle/>
          <a:p>
            <a:r>
              <a:rPr lang="en-AU" dirty="0"/>
              <a:t>The Movie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Movie table has a field called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RatingCode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"PG" rated movie?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RatingName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"PARENTAL GUIDANCE"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Description: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"Parental guidance recommended for persons under 15 years."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 "MA" rated movie?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RatingName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"MATURE ACCOMPANIED (15+)"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Description: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"Persons under 15 years must be accompanied by a mature adult."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Group 324"/>
          <p:cNvGraphicFramePr>
            <a:graphicFrameLocks noGrp="1"/>
          </p:cNvGraphicFramePr>
          <p:nvPr/>
        </p:nvGraphicFramePr>
        <p:xfrm>
          <a:off x="1686278" y="1392238"/>
          <a:ext cx="8210756" cy="1950720"/>
        </p:xfrm>
        <a:graphic>
          <a:graphicData uri="http://schemas.openxmlformats.org/drawingml/2006/table">
            <a:tbl>
              <a:tblPr/>
              <a:tblGrid>
                <a:gridCol w="1339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title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relyear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runtime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ratingcode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Hunger Games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Silver Linings Playbook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057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F65B0-3013-432F-BA87-A5788FCB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 much in one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2A8A-9369-479B-A962-FF0B918F0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514808"/>
          </a:xfrm>
        </p:spPr>
        <p:txBody>
          <a:bodyPr/>
          <a:lstStyle/>
          <a:p>
            <a:r>
              <a:rPr lang="en-GB" dirty="0"/>
              <a:t>Imagine, we add rating details to the Movie table</a:t>
            </a:r>
          </a:p>
        </p:txBody>
      </p:sp>
      <p:graphicFrame>
        <p:nvGraphicFramePr>
          <p:cNvPr id="4" name="Group 324">
            <a:extLst>
              <a:ext uri="{FF2B5EF4-FFF2-40B4-BE49-F238E27FC236}">
                <a16:creationId xmlns:a16="http://schemas.microsoft.com/office/drawing/2014/main" id="{FB964279-E812-40EC-8014-0EF41758EB43}"/>
              </a:ext>
            </a:extLst>
          </p:cNvPr>
          <p:cNvGraphicFramePr>
            <a:graphicFrameLocks noGrp="1"/>
          </p:cNvGraphicFramePr>
          <p:nvPr/>
        </p:nvGraphicFramePr>
        <p:xfrm>
          <a:off x="364474" y="1681949"/>
          <a:ext cx="11217925" cy="4053840"/>
        </p:xfrm>
        <a:graphic>
          <a:graphicData uri="http://schemas.openxmlformats.org/drawingml/2006/table">
            <a:tbl>
              <a:tblPr/>
              <a:tblGrid>
                <a:gridCol w="911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07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0108">
                  <a:extLst>
                    <a:ext uri="{9D8B030D-6E8A-4147-A177-3AD203B41FA5}">
                      <a16:colId xmlns:a16="http://schemas.microsoft.com/office/drawing/2014/main" val="1202122423"/>
                    </a:ext>
                  </a:extLst>
                </a:gridCol>
                <a:gridCol w="3606296">
                  <a:extLst>
                    <a:ext uri="{9D8B030D-6E8A-4147-A177-3AD203B41FA5}">
                      <a16:colId xmlns:a16="http://schemas.microsoft.com/office/drawing/2014/main" val="599973119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title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relyear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runtime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ratingcode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ratingName</a:t>
                      </a:r>
                      <a:endParaRPr kumimoji="0" lang="en-US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ratingDescription</a:t>
                      </a:r>
                      <a:endParaRPr kumimoji="0" lang="en-US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Hunger Games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PARENTAL GUIDANCE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Parental guidance recommended for persons under 15 years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41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Silver Linings Playbook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MATURE ACCOMPANIED (15+)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Persons under 15 years must be accompanied by a mature adult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MATURE ACCOMPANIED (15+)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Persons under 15 years must be accompanied by a mature adult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156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PARENTAL GUIDANCE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Parental guidance recommended for persons under 15 years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B7ACD4-7B8C-4C9B-A747-4D0996FC875C}"/>
              </a:ext>
            </a:extLst>
          </p:cNvPr>
          <p:cNvSpPr txBox="1">
            <a:spLocks/>
          </p:cNvSpPr>
          <p:nvPr/>
        </p:nvSpPr>
        <p:spPr>
          <a:xfrm>
            <a:off x="608089" y="5821118"/>
            <a:ext cx="10680834" cy="82412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000000"/>
                </a:solidFill>
                <a:latin typeface="Open Sans"/>
                <a:ea typeface="+mn-ea"/>
                <a:cs typeface="Open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000000"/>
                </a:solidFill>
                <a:latin typeface="Open Sans"/>
                <a:ea typeface="+mn-ea"/>
                <a:cs typeface="Open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000000"/>
                </a:solidFill>
                <a:latin typeface="Open Sans"/>
                <a:ea typeface="+mn-ea"/>
                <a:cs typeface="Open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rgbClr val="000000"/>
                </a:solidFill>
                <a:latin typeface="Open Sans"/>
                <a:ea typeface="+mn-ea"/>
                <a:cs typeface="Open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rgbClr val="000000"/>
                </a:solidFill>
                <a:latin typeface="Open Sans"/>
                <a:ea typeface="+mn-ea"/>
                <a:cs typeface="Open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What problems could arise?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Open Sans"/>
              </a:rPr>
              <a:t>Solution: create a separate table for Ratings</a:t>
            </a:r>
          </a:p>
        </p:txBody>
      </p:sp>
    </p:spTree>
    <p:extLst>
      <p:ext uri="{BB962C8B-B14F-4D97-AF65-F5344CB8AC3E}">
        <p14:creationId xmlns:p14="http://schemas.microsoft.com/office/powerpoint/2010/main" val="3610872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Rating information should be stored in our Database in a Table.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Group 324"/>
          <p:cNvGraphicFramePr>
            <a:graphicFrameLocks noGrp="1"/>
          </p:cNvGraphicFramePr>
          <p:nvPr/>
        </p:nvGraphicFramePr>
        <p:xfrm>
          <a:off x="981636" y="1392238"/>
          <a:ext cx="11066929" cy="2346960"/>
        </p:xfrm>
        <a:graphic>
          <a:graphicData uri="http://schemas.openxmlformats.org/drawingml/2006/table">
            <a:tbl>
              <a:tblPr/>
              <a:tblGrid>
                <a:gridCol w="1551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6756">
                  <a:extLst>
                    <a:ext uri="{9D8B030D-6E8A-4147-A177-3AD203B41FA5}">
                      <a16:colId xmlns:a16="http://schemas.microsoft.com/office/drawing/2014/main" val="1083243938"/>
                    </a:ext>
                  </a:extLst>
                </a:gridCol>
                <a:gridCol w="6589059">
                  <a:extLst>
                    <a:ext uri="{9D8B030D-6E8A-4147-A177-3AD203B41FA5}">
                      <a16:colId xmlns:a16="http://schemas.microsoft.com/office/drawing/2014/main" val="3547811919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RATINGCODE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RATINGNAME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DESCRIPTION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General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Suitable for all 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900" b="0" dirty="0">
                          <a:solidFill>
                            <a:schemeClr val="tx2"/>
                          </a:solidFill>
                          <a:latin typeface="+mn-lt"/>
                        </a:rPr>
                        <a:t>Parental Guidance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Recommended for mature audiences 15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Mature (15+)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Persons under 15 years must be accompanied by a mature adult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900" b="0" dirty="0">
                          <a:solidFill>
                            <a:schemeClr val="tx2"/>
                          </a:solidFill>
                          <a:latin typeface="+mn-lt"/>
                        </a:rPr>
                        <a:t>Mature Accompanied (15+)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Parental guidance recommended for persons under 15 years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(18+)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to mature adults 18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57492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883" y="4110858"/>
            <a:ext cx="6631945" cy="21813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B15E7E-5515-4B22-9179-CFDB419F4581}"/>
                  </a:ext>
                </a:extLst>
              </p14:cNvPr>
              <p14:cNvContentPartPr/>
              <p14:nvPr/>
            </p14:nvContentPartPr>
            <p14:xfrm>
              <a:off x="2589480" y="4964760"/>
              <a:ext cx="1670400" cy="36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B15E7E-5515-4B22-9179-CFDB419F45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73640" y="4901400"/>
                <a:ext cx="1701720" cy="16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270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more than one table exists in a Database, we should open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Relationships Manager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add the tables to the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manager window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59" y="3152460"/>
            <a:ext cx="6810434" cy="34610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589" y="1545397"/>
            <a:ext cx="6384591" cy="17515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7025F1-23BD-48E7-B850-90507FE55D66}"/>
                  </a:ext>
                </a:extLst>
              </p14:cNvPr>
              <p14:cNvContentPartPr/>
              <p14:nvPr/>
            </p14:nvContentPartPr>
            <p14:xfrm>
              <a:off x="1759320" y="4161240"/>
              <a:ext cx="1116360" cy="9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7025F1-23BD-48E7-B850-90507FE55D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3480" y="4097880"/>
                <a:ext cx="11476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FF271A8-B608-4660-A20A-4B531473EFEC}"/>
                  </a:ext>
                </a:extLst>
              </p14:cNvPr>
              <p14:cNvContentPartPr/>
              <p14:nvPr/>
            </p14:nvContentPartPr>
            <p14:xfrm>
              <a:off x="5554440" y="5179320"/>
              <a:ext cx="866520" cy="89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FF271A8-B608-4660-A20A-4B531473EFE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38600" y="5115960"/>
                <a:ext cx="8978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D94E14B-9A95-472D-AFEC-BCD241ADB1F8}"/>
                  </a:ext>
                </a:extLst>
              </p14:cNvPr>
              <p14:cNvContentPartPr/>
              <p14:nvPr/>
            </p14:nvContentPartPr>
            <p14:xfrm>
              <a:off x="3527280" y="4250520"/>
              <a:ext cx="1437840" cy="875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D94E14B-9A95-472D-AFEC-BCD241ADB1F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11440" y="4187160"/>
                <a:ext cx="1469160" cy="100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04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is a connection between Movie and Rating.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Drag the field RATINGCODE in the movie table and drop it over RATINGCODE in the Rating table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2906414" y="1563026"/>
            <a:ext cx="7881107" cy="4902013"/>
            <a:chOff x="1571905" y="1390174"/>
            <a:chExt cx="7881107" cy="4902013"/>
          </a:xfrm>
        </p:grpSpPr>
        <p:grpSp>
          <p:nvGrpSpPr>
            <p:cNvPr id="11" name="Group 10"/>
            <p:cNvGrpSpPr/>
            <p:nvPr/>
          </p:nvGrpSpPr>
          <p:grpSpPr>
            <a:xfrm>
              <a:off x="1571905" y="1390174"/>
              <a:ext cx="7881107" cy="4902013"/>
              <a:chOff x="3104870" y="2211481"/>
              <a:chExt cx="4009465" cy="2493869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47360" y="2211481"/>
                <a:ext cx="2466975" cy="2381250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4870" y="2238375"/>
                <a:ext cx="2486025" cy="2466975"/>
              </a:xfrm>
              <a:prstGeom prst="rect">
                <a:avLst/>
              </a:prstGeom>
            </p:spPr>
          </p:pic>
        </p:grpSp>
        <p:cxnSp>
          <p:nvCxnSpPr>
            <p:cNvPr id="16" name="Straight Connector 15"/>
            <p:cNvCxnSpPr/>
            <p:nvPr/>
          </p:nvCxnSpPr>
          <p:spPr>
            <a:xfrm flipH="1">
              <a:off x="6266329" y="4249273"/>
              <a:ext cx="762108" cy="13445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 flipV="1">
              <a:off x="5916706" y="3644153"/>
              <a:ext cx="349623" cy="605120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 flipV="1">
              <a:off x="4760259" y="2904565"/>
              <a:ext cx="632012" cy="1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 flipV="1">
              <a:off x="5486400" y="2904565"/>
              <a:ext cx="412948" cy="739588"/>
            </a:xfrm>
            <a:prstGeom prst="line">
              <a:avLst/>
            </a:prstGeom>
            <a:ln>
              <a:solidFill>
                <a:schemeClr val="tx2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985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creates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to One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relationship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movie.ratingcode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field is referred to as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Foreign Key.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Foreign Key value in the Movie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 references a Primary Key value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the Rating 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912" y="1594254"/>
            <a:ext cx="5137288" cy="36694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428" y="4083193"/>
            <a:ext cx="5406278" cy="27031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BECD4B9-DFAB-4235-A447-B51EE2483057}"/>
                  </a:ext>
                </a:extLst>
              </p14:cNvPr>
              <p14:cNvContentPartPr/>
              <p14:nvPr/>
            </p14:nvContentPartPr>
            <p14:xfrm>
              <a:off x="2982600" y="4473720"/>
              <a:ext cx="7164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ECD4B9-DFAB-4235-A447-B51EE24830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6760" y="4410360"/>
                <a:ext cx="1029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8901FD5-287B-463E-B224-DD0E5AC84836}"/>
                  </a:ext>
                </a:extLst>
              </p14:cNvPr>
              <p14:cNvContentPartPr/>
              <p14:nvPr/>
            </p14:nvContentPartPr>
            <p14:xfrm>
              <a:off x="3982680" y="5447160"/>
              <a:ext cx="268200" cy="36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8901FD5-287B-463E-B224-DD0E5AC848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66840" y="5383800"/>
                <a:ext cx="29952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EDD42D4-BCF0-4302-9F43-19E1C32FCD9C}"/>
                  </a:ext>
                </a:extLst>
              </p14:cNvPr>
              <p14:cNvContentPartPr/>
              <p14:nvPr/>
            </p14:nvContentPartPr>
            <p14:xfrm>
              <a:off x="1089360" y="4554000"/>
              <a:ext cx="1134360" cy="27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EDD42D4-BCF0-4302-9F43-19E1C32FCD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3520" y="4490640"/>
                <a:ext cx="11656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C45D344-45AF-4E2A-A2FF-2262486B6004}"/>
                  </a:ext>
                </a:extLst>
              </p14:cNvPr>
              <p14:cNvContentPartPr/>
              <p14:nvPr/>
            </p14:nvContentPartPr>
            <p14:xfrm>
              <a:off x="4670280" y="5536440"/>
              <a:ext cx="1027080" cy="98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C45D344-45AF-4E2A-A2FF-2262486B600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54440" y="5473080"/>
                <a:ext cx="1058400" cy="22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0742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541" y="832728"/>
            <a:ext cx="1108485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Foreign Key value in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movie table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references a Primary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value in the Rating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Group 324"/>
          <p:cNvGraphicFramePr>
            <a:graphicFrameLocks noGrp="1"/>
          </p:cNvGraphicFramePr>
          <p:nvPr/>
        </p:nvGraphicFramePr>
        <p:xfrm>
          <a:off x="3676444" y="1069509"/>
          <a:ext cx="8210756" cy="2286000"/>
        </p:xfrm>
        <a:graphic>
          <a:graphicData uri="http://schemas.openxmlformats.org/drawingml/2006/table">
            <a:tbl>
              <a:tblPr/>
              <a:tblGrid>
                <a:gridCol w="1339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movieNo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title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relyear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runtime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Foreign Key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ratingcode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The Hunger Games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142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41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Silver Linings Playbook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122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156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324"/>
          <p:cNvGraphicFramePr>
            <a:graphicFrameLocks noGrp="1"/>
          </p:cNvGraphicFramePr>
          <p:nvPr/>
        </p:nvGraphicFramePr>
        <p:xfrm>
          <a:off x="1141656" y="4071005"/>
          <a:ext cx="10745544" cy="2677480"/>
        </p:xfrm>
        <a:graphic>
          <a:graphicData uri="http://schemas.openxmlformats.org/drawingml/2006/table">
            <a:tbl>
              <a:tblPr/>
              <a:tblGrid>
                <a:gridCol w="1493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9376">
                  <a:extLst>
                    <a:ext uri="{9D8B030D-6E8A-4147-A177-3AD203B41FA5}">
                      <a16:colId xmlns:a16="http://schemas.microsoft.com/office/drawing/2014/main" val="1083243938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3547811919"/>
                    </a:ext>
                  </a:extLst>
                </a:gridCol>
              </a:tblGrid>
              <a:tr h="3934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Primary Key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ratingcode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b="1" dirty="0" err="1">
                          <a:solidFill>
                            <a:schemeClr val="tx2"/>
                          </a:solidFill>
                          <a:latin typeface="+mn-lt"/>
                        </a:rPr>
                        <a:t>RatingName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+mn-lt"/>
                        </a:rPr>
                        <a:t>Description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General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Suitable for all 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  <a:latin typeface="+mn-lt"/>
                        </a:rPr>
                        <a:t>Parental Guidance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Recommended for mature audiences 15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Mature (15+)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Persons under 15 years must be accompanied by a mature adult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  <a:latin typeface="+mn-lt"/>
                        </a:rPr>
                        <a:t>Mature Accompanied (15+)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Parental guidance recommended for persons under 15 years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(18+)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to mature adults 18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57492"/>
                  </a:ext>
                </a:extLst>
              </a:tr>
            </a:tbl>
          </a:graphicData>
        </a:graphic>
      </p:graphicFrame>
      <p:sp>
        <p:nvSpPr>
          <p:cNvPr id="10" name="Freeform 9"/>
          <p:cNvSpPr/>
          <p:nvPr/>
        </p:nvSpPr>
        <p:spPr>
          <a:xfrm>
            <a:off x="242047" y="1852554"/>
            <a:ext cx="11452096" cy="3530862"/>
          </a:xfrm>
          <a:custGeom>
            <a:avLst/>
            <a:gdLst>
              <a:gd name="connsiteX0" fmla="*/ 10578960 w 11502009"/>
              <a:gd name="connsiteY0" fmla="*/ 30034 h 3530862"/>
              <a:gd name="connsiteX1" fmla="*/ 10982372 w 11502009"/>
              <a:gd name="connsiteY1" fmla="*/ 43481 h 3530862"/>
              <a:gd name="connsiteX2" fmla="*/ 11426125 w 11502009"/>
              <a:gd name="connsiteY2" fmla="*/ 446893 h 3530862"/>
              <a:gd name="connsiteX3" fmla="*/ 11453019 w 11502009"/>
              <a:gd name="connsiteY3" fmla="*/ 1078905 h 3530862"/>
              <a:gd name="connsiteX4" fmla="*/ 10928584 w 11502009"/>
              <a:gd name="connsiteY4" fmla="*/ 1657128 h 3530862"/>
              <a:gd name="connsiteX5" fmla="*/ 8548454 w 11502009"/>
              <a:gd name="connsiteY5" fmla="*/ 1872281 h 3530862"/>
              <a:gd name="connsiteX6" fmla="*/ 6168325 w 11502009"/>
              <a:gd name="connsiteY6" fmla="*/ 1764705 h 3530862"/>
              <a:gd name="connsiteX7" fmla="*/ 4581572 w 11502009"/>
              <a:gd name="connsiteY7" fmla="*/ 1616787 h 3530862"/>
              <a:gd name="connsiteX8" fmla="*/ 3344442 w 11502009"/>
              <a:gd name="connsiteY8" fmla="*/ 1522658 h 3530862"/>
              <a:gd name="connsiteX9" fmla="*/ 2295572 w 11502009"/>
              <a:gd name="connsiteY9" fmla="*/ 1146140 h 3530862"/>
              <a:gd name="connsiteX10" fmla="*/ 1219807 w 11502009"/>
              <a:gd name="connsiteY10" fmla="*/ 1119246 h 3530862"/>
              <a:gd name="connsiteX11" fmla="*/ 466772 w 11502009"/>
              <a:gd name="connsiteY11" fmla="*/ 1374740 h 3530862"/>
              <a:gd name="connsiteX12" fmla="*/ 63360 w 11502009"/>
              <a:gd name="connsiteY12" fmla="*/ 1966411 h 3530862"/>
              <a:gd name="connsiteX13" fmla="*/ 36466 w 11502009"/>
              <a:gd name="connsiteY13" fmla="*/ 3028728 h 3530862"/>
              <a:gd name="connsiteX14" fmla="*/ 412984 w 11502009"/>
              <a:gd name="connsiteY14" fmla="*/ 3472481 h 3530862"/>
              <a:gd name="connsiteX15" fmla="*/ 977760 w 11502009"/>
              <a:gd name="connsiteY15" fmla="*/ 3512822 h 353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02009" h="3530862">
                <a:moveTo>
                  <a:pt x="10578960" y="30034"/>
                </a:moveTo>
                <a:cubicBezTo>
                  <a:pt x="10710069" y="2019"/>
                  <a:pt x="10841178" y="-25995"/>
                  <a:pt x="10982372" y="43481"/>
                </a:cubicBezTo>
                <a:cubicBezTo>
                  <a:pt x="11123566" y="112957"/>
                  <a:pt x="11347684" y="274322"/>
                  <a:pt x="11426125" y="446893"/>
                </a:cubicBezTo>
                <a:cubicBezTo>
                  <a:pt x="11504566" y="619464"/>
                  <a:pt x="11535942" y="877199"/>
                  <a:pt x="11453019" y="1078905"/>
                </a:cubicBezTo>
                <a:cubicBezTo>
                  <a:pt x="11370096" y="1280611"/>
                  <a:pt x="11412678" y="1524899"/>
                  <a:pt x="10928584" y="1657128"/>
                </a:cubicBezTo>
                <a:cubicBezTo>
                  <a:pt x="10444490" y="1789357"/>
                  <a:pt x="9341830" y="1854352"/>
                  <a:pt x="8548454" y="1872281"/>
                </a:cubicBezTo>
                <a:cubicBezTo>
                  <a:pt x="7755078" y="1890210"/>
                  <a:pt x="6829472" y="1807287"/>
                  <a:pt x="6168325" y="1764705"/>
                </a:cubicBezTo>
                <a:cubicBezTo>
                  <a:pt x="5507178" y="1722123"/>
                  <a:pt x="4581572" y="1616787"/>
                  <a:pt x="4581572" y="1616787"/>
                </a:cubicBezTo>
                <a:cubicBezTo>
                  <a:pt x="4110925" y="1576446"/>
                  <a:pt x="3725442" y="1601099"/>
                  <a:pt x="3344442" y="1522658"/>
                </a:cubicBezTo>
                <a:cubicBezTo>
                  <a:pt x="2963442" y="1444217"/>
                  <a:pt x="2649678" y="1213375"/>
                  <a:pt x="2295572" y="1146140"/>
                </a:cubicBezTo>
                <a:cubicBezTo>
                  <a:pt x="1941466" y="1078905"/>
                  <a:pt x="1524607" y="1081146"/>
                  <a:pt x="1219807" y="1119246"/>
                </a:cubicBezTo>
                <a:cubicBezTo>
                  <a:pt x="915007" y="1157346"/>
                  <a:pt x="659513" y="1233546"/>
                  <a:pt x="466772" y="1374740"/>
                </a:cubicBezTo>
                <a:cubicBezTo>
                  <a:pt x="274031" y="1515934"/>
                  <a:pt x="135078" y="1690747"/>
                  <a:pt x="63360" y="1966411"/>
                </a:cubicBezTo>
                <a:cubicBezTo>
                  <a:pt x="-8358" y="2242075"/>
                  <a:pt x="-21805" y="2777716"/>
                  <a:pt x="36466" y="3028728"/>
                </a:cubicBezTo>
                <a:cubicBezTo>
                  <a:pt x="94737" y="3279740"/>
                  <a:pt x="256102" y="3391799"/>
                  <a:pt x="412984" y="3472481"/>
                </a:cubicBezTo>
                <a:cubicBezTo>
                  <a:pt x="569866" y="3553163"/>
                  <a:pt x="773813" y="3532992"/>
                  <a:pt x="977760" y="351282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6BE433-B7A3-4DA0-A63A-FA8894DAC46F}"/>
                  </a:ext>
                </a:extLst>
              </p14:cNvPr>
              <p14:cNvContentPartPr/>
              <p14:nvPr/>
            </p14:nvContentPartPr>
            <p14:xfrm>
              <a:off x="10099440" y="1910880"/>
              <a:ext cx="482760" cy="107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6BE433-B7A3-4DA0-A63A-FA8894DAC4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3600" y="1847520"/>
                <a:ext cx="5140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589063-CB21-4907-A58E-6B77E22E4D5F}"/>
                  </a:ext>
                </a:extLst>
              </p14:cNvPr>
              <p14:cNvContentPartPr/>
              <p14:nvPr/>
            </p14:nvContentPartPr>
            <p14:xfrm>
              <a:off x="1250280" y="5393520"/>
              <a:ext cx="580680" cy="18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589063-CB21-4907-A58E-6B77E22E4D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4440" y="5330160"/>
                <a:ext cx="6120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F3CD10E-1106-4A7C-A44F-0A931ED62475}"/>
                  </a:ext>
                </a:extLst>
              </p14:cNvPr>
              <p14:cNvContentPartPr/>
              <p14:nvPr/>
            </p14:nvContentPartPr>
            <p14:xfrm>
              <a:off x="10188720" y="1625040"/>
              <a:ext cx="1072080" cy="36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F3CD10E-1106-4A7C-A44F-0A931ED6247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72880" y="1561680"/>
                <a:ext cx="11034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8AA8512-2F9E-429F-8ED7-452F85EF032D}"/>
                  </a:ext>
                </a:extLst>
              </p14:cNvPr>
              <p14:cNvContentPartPr/>
              <p14:nvPr/>
            </p14:nvContentPartPr>
            <p14:xfrm>
              <a:off x="1258920" y="4581000"/>
              <a:ext cx="108108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8AA8512-2F9E-429F-8ED7-452F85EF032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43080" y="4517640"/>
                <a:ext cx="111240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242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Movies and Rating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a Many to One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FKs refer to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PK.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Group 324"/>
          <p:cNvGraphicFramePr>
            <a:graphicFrameLocks noGrp="1"/>
          </p:cNvGraphicFramePr>
          <p:nvPr/>
        </p:nvGraphicFramePr>
        <p:xfrm>
          <a:off x="3676444" y="1069509"/>
          <a:ext cx="8210756" cy="2286000"/>
        </p:xfrm>
        <a:graphic>
          <a:graphicData uri="http://schemas.openxmlformats.org/drawingml/2006/table">
            <a:tbl>
              <a:tblPr/>
              <a:tblGrid>
                <a:gridCol w="1339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movieNo</a:t>
                      </a:r>
                      <a:endParaRPr kumimoji="0" 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title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relyear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runtime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Foreign Key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ratingcode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The Hunger Games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142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41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Silver Linings Playbook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122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156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2014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101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Group 324"/>
          <p:cNvGraphicFramePr>
            <a:graphicFrameLocks noGrp="1"/>
          </p:cNvGraphicFramePr>
          <p:nvPr/>
        </p:nvGraphicFramePr>
        <p:xfrm>
          <a:off x="1141656" y="4071005"/>
          <a:ext cx="10745544" cy="2677480"/>
        </p:xfrm>
        <a:graphic>
          <a:graphicData uri="http://schemas.openxmlformats.org/drawingml/2006/table">
            <a:tbl>
              <a:tblPr/>
              <a:tblGrid>
                <a:gridCol w="1493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79376">
                  <a:extLst>
                    <a:ext uri="{9D8B030D-6E8A-4147-A177-3AD203B41FA5}">
                      <a16:colId xmlns:a16="http://schemas.microsoft.com/office/drawing/2014/main" val="1083243938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3547811919"/>
                    </a:ext>
                  </a:extLst>
                </a:gridCol>
              </a:tblGrid>
              <a:tr h="3934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Primary Key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ratingcode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b="1" dirty="0" err="1">
                          <a:solidFill>
                            <a:schemeClr val="tx2"/>
                          </a:solidFill>
                          <a:latin typeface="+mn-lt"/>
                        </a:rPr>
                        <a:t>RatingName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+mn-lt"/>
                        </a:rPr>
                        <a:t>Description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General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Suitable for all 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  <a:latin typeface="+mn-lt"/>
                        </a:rPr>
                        <a:t>Parental Guidance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Recommended for mature audiences 15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Mature (15+)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Persons under 15 years must be accompanied by a mature adult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1800" b="0" dirty="0">
                          <a:solidFill>
                            <a:schemeClr val="tx2"/>
                          </a:solidFill>
                          <a:latin typeface="+mn-lt"/>
                        </a:rPr>
                        <a:t>Mature Accompanied (15+)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Parental guidance recommended for persons under 15 years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(18+)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Restricted to mature adults 18 years and 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757492"/>
                  </a:ext>
                </a:extLst>
              </a:tr>
            </a:tbl>
          </a:graphicData>
        </a:graphic>
      </p:graphicFrame>
      <p:sp>
        <p:nvSpPr>
          <p:cNvPr id="10" name="Freeform 9"/>
          <p:cNvSpPr/>
          <p:nvPr/>
        </p:nvSpPr>
        <p:spPr>
          <a:xfrm>
            <a:off x="234395" y="1826859"/>
            <a:ext cx="11452096" cy="3530862"/>
          </a:xfrm>
          <a:custGeom>
            <a:avLst/>
            <a:gdLst>
              <a:gd name="connsiteX0" fmla="*/ 10578960 w 11502009"/>
              <a:gd name="connsiteY0" fmla="*/ 30034 h 3530862"/>
              <a:gd name="connsiteX1" fmla="*/ 10982372 w 11502009"/>
              <a:gd name="connsiteY1" fmla="*/ 43481 h 3530862"/>
              <a:gd name="connsiteX2" fmla="*/ 11426125 w 11502009"/>
              <a:gd name="connsiteY2" fmla="*/ 446893 h 3530862"/>
              <a:gd name="connsiteX3" fmla="*/ 11453019 w 11502009"/>
              <a:gd name="connsiteY3" fmla="*/ 1078905 h 3530862"/>
              <a:gd name="connsiteX4" fmla="*/ 10928584 w 11502009"/>
              <a:gd name="connsiteY4" fmla="*/ 1657128 h 3530862"/>
              <a:gd name="connsiteX5" fmla="*/ 8548454 w 11502009"/>
              <a:gd name="connsiteY5" fmla="*/ 1872281 h 3530862"/>
              <a:gd name="connsiteX6" fmla="*/ 6168325 w 11502009"/>
              <a:gd name="connsiteY6" fmla="*/ 1764705 h 3530862"/>
              <a:gd name="connsiteX7" fmla="*/ 4581572 w 11502009"/>
              <a:gd name="connsiteY7" fmla="*/ 1616787 h 3530862"/>
              <a:gd name="connsiteX8" fmla="*/ 3344442 w 11502009"/>
              <a:gd name="connsiteY8" fmla="*/ 1522658 h 3530862"/>
              <a:gd name="connsiteX9" fmla="*/ 2295572 w 11502009"/>
              <a:gd name="connsiteY9" fmla="*/ 1146140 h 3530862"/>
              <a:gd name="connsiteX10" fmla="*/ 1219807 w 11502009"/>
              <a:gd name="connsiteY10" fmla="*/ 1119246 h 3530862"/>
              <a:gd name="connsiteX11" fmla="*/ 466772 w 11502009"/>
              <a:gd name="connsiteY11" fmla="*/ 1374740 h 3530862"/>
              <a:gd name="connsiteX12" fmla="*/ 63360 w 11502009"/>
              <a:gd name="connsiteY12" fmla="*/ 1966411 h 3530862"/>
              <a:gd name="connsiteX13" fmla="*/ 36466 w 11502009"/>
              <a:gd name="connsiteY13" fmla="*/ 3028728 h 3530862"/>
              <a:gd name="connsiteX14" fmla="*/ 412984 w 11502009"/>
              <a:gd name="connsiteY14" fmla="*/ 3472481 h 3530862"/>
              <a:gd name="connsiteX15" fmla="*/ 977760 w 11502009"/>
              <a:gd name="connsiteY15" fmla="*/ 3512822 h 353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02009" h="3530862">
                <a:moveTo>
                  <a:pt x="10578960" y="30034"/>
                </a:moveTo>
                <a:cubicBezTo>
                  <a:pt x="10710069" y="2019"/>
                  <a:pt x="10841178" y="-25995"/>
                  <a:pt x="10982372" y="43481"/>
                </a:cubicBezTo>
                <a:cubicBezTo>
                  <a:pt x="11123566" y="112957"/>
                  <a:pt x="11347684" y="274322"/>
                  <a:pt x="11426125" y="446893"/>
                </a:cubicBezTo>
                <a:cubicBezTo>
                  <a:pt x="11504566" y="619464"/>
                  <a:pt x="11535942" y="877199"/>
                  <a:pt x="11453019" y="1078905"/>
                </a:cubicBezTo>
                <a:cubicBezTo>
                  <a:pt x="11370096" y="1280611"/>
                  <a:pt x="11412678" y="1524899"/>
                  <a:pt x="10928584" y="1657128"/>
                </a:cubicBezTo>
                <a:cubicBezTo>
                  <a:pt x="10444490" y="1789357"/>
                  <a:pt x="9341830" y="1854352"/>
                  <a:pt x="8548454" y="1872281"/>
                </a:cubicBezTo>
                <a:cubicBezTo>
                  <a:pt x="7755078" y="1890210"/>
                  <a:pt x="6829472" y="1807287"/>
                  <a:pt x="6168325" y="1764705"/>
                </a:cubicBezTo>
                <a:cubicBezTo>
                  <a:pt x="5507178" y="1722123"/>
                  <a:pt x="4581572" y="1616787"/>
                  <a:pt x="4581572" y="1616787"/>
                </a:cubicBezTo>
                <a:cubicBezTo>
                  <a:pt x="4110925" y="1576446"/>
                  <a:pt x="3725442" y="1601099"/>
                  <a:pt x="3344442" y="1522658"/>
                </a:cubicBezTo>
                <a:cubicBezTo>
                  <a:pt x="2963442" y="1444217"/>
                  <a:pt x="2649678" y="1213375"/>
                  <a:pt x="2295572" y="1146140"/>
                </a:cubicBezTo>
                <a:cubicBezTo>
                  <a:pt x="1941466" y="1078905"/>
                  <a:pt x="1524607" y="1081146"/>
                  <a:pt x="1219807" y="1119246"/>
                </a:cubicBezTo>
                <a:cubicBezTo>
                  <a:pt x="915007" y="1157346"/>
                  <a:pt x="659513" y="1233546"/>
                  <a:pt x="466772" y="1374740"/>
                </a:cubicBezTo>
                <a:cubicBezTo>
                  <a:pt x="274031" y="1515934"/>
                  <a:pt x="135078" y="1690747"/>
                  <a:pt x="63360" y="1966411"/>
                </a:cubicBezTo>
                <a:cubicBezTo>
                  <a:pt x="-8358" y="2242075"/>
                  <a:pt x="-21805" y="2777716"/>
                  <a:pt x="36466" y="3028728"/>
                </a:cubicBezTo>
                <a:cubicBezTo>
                  <a:pt x="94737" y="3279740"/>
                  <a:pt x="256102" y="3391799"/>
                  <a:pt x="412984" y="3472481"/>
                </a:cubicBezTo>
                <a:cubicBezTo>
                  <a:pt x="569866" y="3553163"/>
                  <a:pt x="773813" y="3532992"/>
                  <a:pt x="977760" y="3512822"/>
                </a:cubicBezTo>
              </a:path>
            </a:pathLst>
          </a:custGeom>
          <a:noFill/>
          <a:ln w="28575">
            <a:solidFill>
              <a:schemeClr val="tx1"/>
            </a:solidFill>
            <a:prstDash val="lgDash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10650071" y="3106271"/>
            <a:ext cx="695813" cy="336176"/>
          </a:xfrm>
          <a:custGeom>
            <a:avLst/>
            <a:gdLst>
              <a:gd name="connsiteX0" fmla="*/ 0 w 695813"/>
              <a:gd name="connsiteY0" fmla="*/ 0 h 336176"/>
              <a:gd name="connsiteX1" fmla="*/ 403411 w 695813"/>
              <a:gd name="connsiteY1" fmla="*/ 26894 h 336176"/>
              <a:gd name="connsiteX2" fmla="*/ 685800 w 695813"/>
              <a:gd name="connsiteY2" fmla="*/ 107576 h 336176"/>
              <a:gd name="connsiteX3" fmla="*/ 605117 w 695813"/>
              <a:gd name="connsiteY3" fmla="*/ 336176 h 336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813" h="336176">
                <a:moveTo>
                  <a:pt x="0" y="0"/>
                </a:moveTo>
                <a:cubicBezTo>
                  <a:pt x="144555" y="4482"/>
                  <a:pt x="289111" y="8965"/>
                  <a:pt x="403411" y="26894"/>
                </a:cubicBezTo>
                <a:cubicBezTo>
                  <a:pt x="517711" y="44823"/>
                  <a:pt x="652182" y="56029"/>
                  <a:pt x="685800" y="107576"/>
                </a:cubicBezTo>
                <a:cubicBezTo>
                  <a:pt x="719418" y="159123"/>
                  <a:pt x="662267" y="247649"/>
                  <a:pt x="605117" y="336176"/>
                </a:cubicBezTo>
              </a:path>
            </a:pathLst>
          </a:custGeom>
          <a:noFill/>
          <a:ln w="2857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5617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Query based on a two table relationship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38425"/>
            <a:ext cx="9629775" cy="2124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380" y="832728"/>
            <a:ext cx="48799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 design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new Query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using both the Movie and Rating tables.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you add the tables to the query,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is shown.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query has data from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both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tables. The query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every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FK 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 Movie table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 a PK 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 Rating table.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919" y="796631"/>
            <a:ext cx="6181725" cy="3800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B02444-EBD7-4E72-80AF-B2F23933B16F}"/>
                  </a:ext>
                </a:extLst>
              </p14:cNvPr>
              <p14:cNvContentPartPr/>
              <p14:nvPr/>
            </p14:nvContentPartPr>
            <p14:xfrm>
              <a:off x="8259840" y="1973520"/>
              <a:ext cx="161280" cy="71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B02444-EBD7-4E72-80AF-B2F23933B1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4000" y="1910160"/>
                <a:ext cx="19260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C510882-1DFF-4142-9744-FB3701B68F9E}"/>
                  </a:ext>
                </a:extLst>
              </p14:cNvPr>
              <p14:cNvContentPartPr/>
              <p14:nvPr/>
            </p14:nvContentPartPr>
            <p14:xfrm>
              <a:off x="7840440" y="2277000"/>
              <a:ext cx="2682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C510882-1DFF-4142-9744-FB3701B68F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24600" y="2213640"/>
                <a:ext cx="2995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1734DEA-4EC1-47FB-B4A9-3D9F4983A0A7}"/>
                  </a:ext>
                </a:extLst>
              </p14:cNvPr>
              <p14:cNvContentPartPr/>
              <p14:nvPr/>
            </p14:nvContentPartPr>
            <p14:xfrm>
              <a:off x="7161480" y="4402440"/>
              <a:ext cx="15228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1734DEA-4EC1-47FB-B4A9-3D9F4983A0A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45640" y="4339080"/>
                <a:ext cx="183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2B9032-87E6-41D2-96E3-E031B3E13620}"/>
                  </a:ext>
                </a:extLst>
              </p14:cNvPr>
              <p14:cNvContentPartPr/>
              <p14:nvPr/>
            </p14:nvContentPartPr>
            <p14:xfrm>
              <a:off x="8456400" y="4384440"/>
              <a:ext cx="54000" cy="9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2B9032-87E6-41D2-96E3-E031B3E1362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40560" y="4321080"/>
                <a:ext cx="8532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04F593F-A5F5-4CF0-A027-C592580AA355}"/>
                  </a:ext>
                </a:extLst>
              </p14:cNvPr>
              <p14:cNvContentPartPr/>
              <p14:nvPr/>
            </p14:nvContentPartPr>
            <p14:xfrm>
              <a:off x="9635040" y="437544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04F593F-A5F5-4CF0-A027-C592580AA35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19200" y="43120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3D8C234-40D9-43FC-889D-817E6F04B8FD}"/>
                  </a:ext>
                </a:extLst>
              </p14:cNvPr>
              <p14:cNvContentPartPr/>
              <p14:nvPr/>
            </p14:nvContentPartPr>
            <p14:xfrm>
              <a:off x="10402920" y="439344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3D8C234-40D9-43FC-889D-817E6F04B8F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387080" y="433008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F05070B-AB5D-4699-9E16-3F7D013F73CA}"/>
                  </a:ext>
                </a:extLst>
              </p14:cNvPr>
              <p14:cNvContentPartPr/>
              <p14:nvPr/>
            </p14:nvContentPartPr>
            <p14:xfrm>
              <a:off x="11519280" y="433080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F05070B-AB5D-4699-9E16-3F7D013F73C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503440" y="426744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0134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Referential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option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Enforce Referential Integrity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constraint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that the RDBMS performs to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only allow values in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movie.ratingcode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field that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 existing value in the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rating table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Entering 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movie.ratingcode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value of 'X'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would cause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referential integrity error.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01" y="4335836"/>
            <a:ext cx="7462841" cy="25221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470" y="857525"/>
            <a:ext cx="5017098" cy="3634006"/>
          </a:xfrm>
          <a:prstGeom prst="rect">
            <a:avLst/>
          </a:prstGeom>
        </p:spPr>
      </p:pic>
      <p:cxnSp>
        <p:nvCxnSpPr>
          <p:cNvPr id="7" name="Straight Arrow Connector 6"/>
          <p:cNvCxnSpPr>
            <a:stCxn id="6" idx="10"/>
          </p:cNvCxnSpPr>
          <p:nvPr/>
        </p:nvCxnSpPr>
        <p:spPr>
          <a:xfrm flipH="1">
            <a:off x="5916706" y="3023332"/>
            <a:ext cx="1203343" cy="1898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7037647" y="2525791"/>
            <a:ext cx="2463372" cy="712694"/>
          </a:xfrm>
          <a:custGeom>
            <a:avLst/>
            <a:gdLst>
              <a:gd name="connsiteX0" fmla="*/ 1185061 w 2463372"/>
              <a:gd name="connsiteY0" fmla="*/ 134470 h 712694"/>
              <a:gd name="connsiteX1" fmla="*/ 848884 w 2463372"/>
              <a:gd name="connsiteY1" fmla="*/ 147917 h 712694"/>
              <a:gd name="connsiteX2" fmla="*/ 687519 w 2463372"/>
              <a:gd name="connsiteY2" fmla="*/ 134470 h 712694"/>
              <a:gd name="connsiteX3" fmla="*/ 337896 w 2463372"/>
              <a:gd name="connsiteY3" fmla="*/ 147917 h 712694"/>
              <a:gd name="connsiteX4" fmla="*/ 216872 w 2463372"/>
              <a:gd name="connsiteY4" fmla="*/ 174812 h 712694"/>
              <a:gd name="connsiteX5" fmla="*/ 163084 w 2463372"/>
              <a:gd name="connsiteY5" fmla="*/ 188259 h 712694"/>
              <a:gd name="connsiteX6" fmla="*/ 82402 w 2463372"/>
              <a:gd name="connsiteY6" fmla="*/ 228600 h 712694"/>
              <a:gd name="connsiteX7" fmla="*/ 15166 w 2463372"/>
              <a:gd name="connsiteY7" fmla="*/ 282388 h 712694"/>
              <a:gd name="connsiteX8" fmla="*/ 15166 w 2463372"/>
              <a:gd name="connsiteY8" fmla="*/ 389964 h 712694"/>
              <a:gd name="connsiteX9" fmla="*/ 42061 w 2463372"/>
              <a:gd name="connsiteY9" fmla="*/ 416859 h 712694"/>
              <a:gd name="connsiteX10" fmla="*/ 82402 w 2463372"/>
              <a:gd name="connsiteY10" fmla="*/ 497541 h 712694"/>
              <a:gd name="connsiteX11" fmla="*/ 95849 w 2463372"/>
              <a:gd name="connsiteY11" fmla="*/ 537882 h 712694"/>
              <a:gd name="connsiteX12" fmla="*/ 136190 w 2463372"/>
              <a:gd name="connsiteY12" fmla="*/ 551329 h 712694"/>
              <a:gd name="connsiteX13" fmla="*/ 203425 w 2463372"/>
              <a:gd name="connsiteY13" fmla="*/ 605117 h 712694"/>
              <a:gd name="connsiteX14" fmla="*/ 230319 w 2463372"/>
              <a:gd name="connsiteY14" fmla="*/ 632012 h 712694"/>
              <a:gd name="connsiteX15" fmla="*/ 270661 w 2463372"/>
              <a:gd name="connsiteY15" fmla="*/ 645459 h 712694"/>
              <a:gd name="connsiteX16" fmla="*/ 324449 w 2463372"/>
              <a:gd name="connsiteY16" fmla="*/ 672353 h 712694"/>
              <a:gd name="connsiteX17" fmla="*/ 405131 w 2463372"/>
              <a:gd name="connsiteY17" fmla="*/ 699247 h 712694"/>
              <a:gd name="connsiteX18" fmla="*/ 458919 w 2463372"/>
              <a:gd name="connsiteY18" fmla="*/ 685800 h 712694"/>
              <a:gd name="connsiteX19" fmla="*/ 1373319 w 2463372"/>
              <a:gd name="connsiteY19" fmla="*/ 712694 h 712694"/>
              <a:gd name="connsiteX20" fmla="*/ 1696049 w 2463372"/>
              <a:gd name="connsiteY20" fmla="*/ 699247 h 712694"/>
              <a:gd name="connsiteX21" fmla="*/ 1897755 w 2463372"/>
              <a:gd name="connsiteY21" fmla="*/ 685800 h 712694"/>
              <a:gd name="connsiteX22" fmla="*/ 2153249 w 2463372"/>
              <a:gd name="connsiteY22" fmla="*/ 672353 h 712694"/>
              <a:gd name="connsiteX23" fmla="*/ 2220484 w 2463372"/>
              <a:gd name="connsiteY23" fmla="*/ 658906 h 712694"/>
              <a:gd name="connsiteX24" fmla="*/ 2435637 w 2463372"/>
              <a:gd name="connsiteY24" fmla="*/ 618564 h 712694"/>
              <a:gd name="connsiteX25" fmla="*/ 2462531 w 2463372"/>
              <a:gd name="connsiteY25" fmla="*/ 537882 h 712694"/>
              <a:gd name="connsiteX26" fmla="*/ 2435637 w 2463372"/>
              <a:gd name="connsiteY26" fmla="*/ 430306 h 712694"/>
              <a:gd name="connsiteX27" fmla="*/ 2368402 w 2463372"/>
              <a:gd name="connsiteY27" fmla="*/ 349623 h 712694"/>
              <a:gd name="connsiteX28" fmla="*/ 2287719 w 2463372"/>
              <a:gd name="connsiteY28" fmla="*/ 295835 h 712694"/>
              <a:gd name="connsiteX29" fmla="*/ 2153249 w 2463372"/>
              <a:gd name="connsiteY29" fmla="*/ 255494 h 712694"/>
              <a:gd name="connsiteX30" fmla="*/ 2072566 w 2463372"/>
              <a:gd name="connsiteY30" fmla="*/ 215153 h 712694"/>
              <a:gd name="connsiteX31" fmla="*/ 1978437 w 2463372"/>
              <a:gd name="connsiteY31" fmla="*/ 188259 h 712694"/>
              <a:gd name="connsiteX32" fmla="*/ 1938096 w 2463372"/>
              <a:gd name="connsiteY32" fmla="*/ 161364 h 712694"/>
              <a:gd name="connsiteX33" fmla="*/ 1736390 w 2463372"/>
              <a:gd name="connsiteY33" fmla="*/ 121023 h 712694"/>
              <a:gd name="connsiteX34" fmla="*/ 1696049 w 2463372"/>
              <a:gd name="connsiteY34" fmla="*/ 107576 h 712694"/>
              <a:gd name="connsiteX35" fmla="*/ 1494343 w 2463372"/>
              <a:gd name="connsiteY35" fmla="*/ 80682 h 712694"/>
              <a:gd name="connsiteX36" fmla="*/ 1346425 w 2463372"/>
              <a:gd name="connsiteY36" fmla="*/ 53788 h 712694"/>
              <a:gd name="connsiteX37" fmla="*/ 1171614 w 2463372"/>
              <a:gd name="connsiteY37" fmla="*/ 40341 h 712694"/>
              <a:gd name="connsiteX38" fmla="*/ 1090931 w 2463372"/>
              <a:gd name="connsiteY38" fmla="*/ 26894 h 712694"/>
              <a:gd name="connsiteX39" fmla="*/ 1050590 w 2463372"/>
              <a:gd name="connsiteY39" fmla="*/ 13447 h 712694"/>
              <a:gd name="connsiteX40" fmla="*/ 943014 w 2463372"/>
              <a:gd name="connsiteY40" fmla="*/ 0 h 712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463372" h="712694">
                <a:moveTo>
                  <a:pt x="1185061" y="134470"/>
                </a:moveTo>
                <a:cubicBezTo>
                  <a:pt x="1073002" y="138952"/>
                  <a:pt x="961033" y="147917"/>
                  <a:pt x="848884" y="147917"/>
                </a:cubicBezTo>
                <a:cubicBezTo>
                  <a:pt x="794909" y="147917"/>
                  <a:pt x="741494" y="134470"/>
                  <a:pt x="687519" y="134470"/>
                </a:cubicBezTo>
                <a:cubicBezTo>
                  <a:pt x="570892" y="134470"/>
                  <a:pt x="454437" y="143435"/>
                  <a:pt x="337896" y="147917"/>
                </a:cubicBezTo>
                <a:cubicBezTo>
                  <a:pt x="206719" y="180711"/>
                  <a:pt x="370516" y="140668"/>
                  <a:pt x="216872" y="174812"/>
                </a:cubicBezTo>
                <a:cubicBezTo>
                  <a:pt x="198831" y="178821"/>
                  <a:pt x="181013" y="183777"/>
                  <a:pt x="163084" y="188259"/>
                </a:cubicBezTo>
                <a:cubicBezTo>
                  <a:pt x="47472" y="265333"/>
                  <a:pt x="193748" y="172927"/>
                  <a:pt x="82402" y="228600"/>
                </a:cubicBezTo>
                <a:cubicBezTo>
                  <a:pt x="48477" y="245563"/>
                  <a:pt x="40181" y="257374"/>
                  <a:pt x="15166" y="282388"/>
                </a:cubicBezTo>
                <a:cubicBezTo>
                  <a:pt x="-477" y="329316"/>
                  <a:pt x="-9174" y="333171"/>
                  <a:pt x="15166" y="389964"/>
                </a:cubicBezTo>
                <a:cubicBezTo>
                  <a:pt x="20160" y="401617"/>
                  <a:pt x="33096" y="407894"/>
                  <a:pt x="42061" y="416859"/>
                </a:cubicBezTo>
                <a:cubicBezTo>
                  <a:pt x="75860" y="518257"/>
                  <a:pt x="30267" y="393271"/>
                  <a:pt x="82402" y="497541"/>
                </a:cubicBezTo>
                <a:cubicBezTo>
                  <a:pt x="88741" y="510219"/>
                  <a:pt x="85826" y="527859"/>
                  <a:pt x="95849" y="537882"/>
                </a:cubicBezTo>
                <a:cubicBezTo>
                  <a:pt x="105872" y="547905"/>
                  <a:pt x="122743" y="546847"/>
                  <a:pt x="136190" y="551329"/>
                </a:cubicBezTo>
                <a:cubicBezTo>
                  <a:pt x="189756" y="631678"/>
                  <a:pt x="131255" y="561814"/>
                  <a:pt x="203425" y="605117"/>
                </a:cubicBezTo>
                <a:cubicBezTo>
                  <a:pt x="214296" y="611640"/>
                  <a:pt x="219448" y="625489"/>
                  <a:pt x="230319" y="632012"/>
                </a:cubicBezTo>
                <a:cubicBezTo>
                  <a:pt x="242474" y="639305"/>
                  <a:pt x="257632" y="639875"/>
                  <a:pt x="270661" y="645459"/>
                </a:cubicBezTo>
                <a:cubicBezTo>
                  <a:pt x="289086" y="653355"/>
                  <a:pt x="305837" y="664908"/>
                  <a:pt x="324449" y="672353"/>
                </a:cubicBezTo>
                <a:cubicBezTo>
                  <a:pt x="350770" y="682881"/>
                  <a:pt x="405131" y="699247"/>
                  <a:pt x="405131" y="699247"/>
                </a:cubicBezTo>
                <a:cubicBezTo>
                  <a:pt x="423060" y="694765"/>
                  <a:pt x="440438" y="685800"/>
                  <a:pt x="458919" y="685800"/>
                </a:cubicBezTo>
                <a:cubicBezTo>
                  <a:pt x="1236578" y="685800"/>
                  <a:pt x="1026650" y="654916"/>
                  <a:pt x="1373319" y="712694"/>
                </a:cubicBezTo>
                <a:lnTo>
                  <a:pt x="1696049" y="699247"/>
                </a:lnTo>
                <a:cubicBezTo>
                  <a:pt x="1763345" y="695796"/>
                  <a:pt x="1830487" y="689757"/>
                  <a:pt x="1897755" y="685800"/>
                </a:cubicBezTo>
                <a:lnTo>
                  <a:pt x="2153249" y="672353"/>
                </a:lnTo>
                <a:cubicBezTo>
                  <a:pt x="2175661" y="667871"/>
                  <a:pt x="2197939" y="662663"/>
                  <a:pt x="2220484" y="658906"/>
                </a:cubicBezTo>
                <a:cubicBezTo>
                  <a:pt x="2423828" y="625015"/>
                  <a:pt x="2335874" y="651821"/>
                  <a:pt x="2435637" y="618564"/>
                </a:cubicBezTo>
                <a:cubicBezTo>
                  <a:pt x="2444602" y="591670"/>
                  <a:pt x="2468091" y="565680"/>
                  <a:pt x="2462531" y="537882"/>
                </a:cubicBezTo>
                <a:cubicBezTo>
                  <a:pt x="2457416" y="512308"/>
                  <a:pt x="2449420" y="457873"/>
                  <a:pt x="2435637" y="430306"/>
                </a:cubicBezTo>
                <a:cubicBezTo>
                  <a:pt x="2421510" y="402052"/>
                  <a:pt x="2392736" y="368549"/>
                  <a:pt x="2368402" y="349623"/>
                </a:cubicBezTo>
                <a:cubicBezTo>
                  <a:pt x="2342888" y="329779"/>
                  <a:pt x="2319077" y="303674"/>
                  <a:pt x="2287719" y="295835"/>
                </a:cubicBezTo>
                <a:cubicBezTo>
                  <a:pt x="2238442" y="283516"/>
                  <a:pt x="2202357" y="275956"/>
                  <a:pt x="2153249" y="255494"/>
                </a:cubicBezTo>
                <a:cubicBezTo>
                  <a:pt x="2125493" y="243929"/>
                  <a:pt x="2100043" y="227365"/>
                  <a:pt x="2072566" y="215153"/>
                </a:cubicBezTo>
                <a:cubicBezTo>
                  <a:pt x="2047762" y="204129"/>
                  <a:pt x="2002858" y="194364"/>
                  <a:pt x="1978437" y="188259"/>
                </a:cubicBezTo>
                <a:cubicBezTo>
                  <a:pt x="1964990" y="179294"/>
                  <a:pt x="1953284" y="166887"/>
                  <a:pt x="1938096" y="161364"/>
                </a:cubicBezTo>
                <a:cubicBezTo>
                  <a:pt x="1870970" y="136954"/>
                  <a:pt x="1806057" y="130975"/>
                  <a:pt x="1736390" y="121023"/>
                </a:cubicBezTo>
                <a:cubicBezTo>
                  <a:pt x="1722943" y="116541"/>
                  <a:pt x="1709886" y="110651"/>
                  <a:pt x="1696049" y="107576"/>
                </a:cubicBezTo>
                <a:cubicBezTo>
                  <a:pt x="1620035" y="90684"/>
                  <a:pt x="1575912" y="92335"/>
                  <a:pt x="1494343" y="80682"/>
                </a:cubicBezTo>
                <a:cubicBezTo>
                  <a:pt x="1398868" y="67043"/>
                  <a:pt x="1451447" y="64843"/>
                  <a:pt x="1346425" y="53788"/>
                </a:cubicBezTo>
                <a:cubicBezTo>
                  <a:pt x="1288304" y="47670"/>
                  <a:pt x="1229884" y="44823"/>
                  <a:pt x="1171614" y="40341"/>
                </a:cubicBezTo>
                <a:cubicBezTo>
                  <a:pt x="1144720" y="35859"/>
                  <a:pt x="1117547" y="32809"/>
                  <a:pt x="1090931" y="26894"/>
                </a:cubicBezTo>
                <a:cubicBezTo>
                  <a:pt x="1077094" y="23819"/>
                  <a:pt x="1064536" y="15983"/>
                  <a:pt x="1050590" y="13447"/>
                </a:cubicBezTo>
                <a:cubicBezTo>
                  <a:pt x="1015035" y="6982"/>
                  <a:pt x="943014" y="0"/>
                  <a:pt x="943014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5237AFF-E0DD-44F7-B7A3-F1BB9D8125AE}"/>
                  </a:ext>
                </a:extLst>
              </p14:cNvPr>
              <p14:cNvContentPartPr/>
              <p14:nvPr/>
            </p14:nvContentPartPr>
            <p14:xfrm>
              <a:off x="7295400" y="2928960"/>
              <a:ext cx="277200" cy="116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5237AFF-E0DD-44F7-B7A3-F1BB9D8125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79560" y="2865600"/>
                <a:ext cx="308520" cy="24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9360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4" y="105878"/>
            <a:ext cx="11098306" cy="1058779"/>
          </a:xfrm>
        </p:spPr>
        <p:txBody>
          <a:bodyPr/>
          <a:lstStyle/>
          <a:p>
            <a:r>
              <a:rPr lang="en-AU" dirty="0"/>
              <a:t>Be aware of unrelated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965" y="814934"/>
            <a:ext cx="5432611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Imagine that you did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create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between the Movie and Rating tables.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are simply two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unrelated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tables.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you create a query, the RDBMS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does not know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what these tables have in common.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There is no connection between the rating codes in the two tables (at least that's what the RDBMS thinks).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34961" b="27811"/>
          <a:stretch/>
        </p:blipFill>
        <p:spPr>
          <a:xfrm>
            <a:off x="6004455" y="1984828"/>
            <a:ext cx="6187545" cy="409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15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4" y="105878"/>
            <a:ext cx="11098306" cy="1058779"/>
          </a:xfrm>
        </p:spPr>
        <p:txBody>
          <a:bodyPr/>
          <a:lstStyle/>
          <a:p>
            <a:r>
              <a:rPr lang="en-AU" dirty="0"/>
              <a:t>Be aware of Cartesian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965" y="814934"/>
            <a:ext cx="11342089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you run a query that uses data from both unrelated tables, then a '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cartesian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product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 is created.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row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movie table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matches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every row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the ratings table.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318 movies * 5 ratings = 1590 rows!    Utterly useless.     Can be very slow to create.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AVOID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72" y="3844880"/>
            <a:ext cx="11937940" cy="29927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79160"/>
          <a:stretch/>
        </p:blipFill>
        <p:spPr>
          <a:xfrm>
            <a:off x="484094" y="2444389"/>
            <a:ext cx="11321097" cy="140616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1748117" y="6189133"/>
            <a:ext cx="1143000" cy="36307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35174" y="4812260"/>
            <a:ext cx="1359555" cy="16146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535173" y="4610651"/>
            <a:ext cx="1437243" cy="18690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217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Movie Table /  </a:t>
            </a:r>
            <a:r>
              <a:rPr lang="en-AU" dirty="0" err="1"/>
              <a:t>ColourType</a:t>
            </a:r>
            <a:r>
              <a:rPr lang="en-AU" dirty="0"/>
              <a:t> relationship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8280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Movie Table has a field called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Colour_Code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Imagine that we create a table named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ColourType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be added to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Relationship Manager.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have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Many to One relationships.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112" y="1990163"/>
            <a:ext cx="4463552" cy="11847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981889"/>
            <a:ext cx="5442111" cy="12013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397" y="3199547"/>
            <a:ext cx="9494124" cy="29895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DC618A-3182-43DB-AE67-7EEEAF3C3421}"/>
                  </a:ext>
                </a:extLst>
              </p14:cNvPr>
              <p14:cNvContentPartPr/>
              <p14:nvPr/>
            </p14:nvContentPartPr>
            <p14:xfrm>
              <a:off x="9036720" y="4125600"/>
              <a:ext cx="1125720" cy="98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DC618A-3182-43DB-AE67-7EEEAF3C34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20880" y="4062240"/>
                <a:ext cx="11570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E74996-C7C3-4949-BDDA-4E2990BEBB7A}"/>
                  </a:ext>
                </a:extLst>
              </p14:cNvPr>
              <p14:cNvContentPartPr/>
              <p14:nvPr/>
            </p14:nvContentPartPr>
            <p14:xfrm>
              <a:off x="5500800" y="5268600"/>
              <a:ext cx="911160" cy="27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E74996-C7C3-4949-BDDA-4E2990BEBB7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484960" y="5205240"/>
                <a:ext cx="942480" cy="15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8331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Actor data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The Movie Database requires information about 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actors.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en-AU" dirty="0">
                <a:latin typeface="Calibri" pitchFamily="34" charset="0"/>
                <a:cs typeface="Calibri" pitchFamily="34" charset="0"/>
              </a:rPr>
              <a:t>The following data about actors will be stored:</a:t>
            </a:r>
          </a:p>
          <a:p>
            <a:endParaRPr lang="en-AU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6" name="Group 153"/>
          <p:cNvGraphicFramePr>
            <a:graphicFrameLocks noGrp="1"/>
          </p:cNvGraphicFramePr>
          <p:nvPr/>
        </p:nvGraphicFramePr>
        <p:xfrm>
          <a:off x="1823891" y="2747824"/>
          <a:ext cx="4975225" cy="1981200"/>
        </p:xfrm>
        <a:graphic>
          <a:graphicData uri="http://schemas.openxmlformats.org/drawingml/2006/table">
            <a:tbl>
              <a:tblPr/>
              <a:tblGrid>
                <a:gridCol w="9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gender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72129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Jennifer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Lawrence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51329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Bradley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Cooper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Scarlett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Johansson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6968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Hugh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Jackman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449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Actor data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087655"/>
            <a:ext cx="6759388" cy="391748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cs typeface="Calibri" pitchFamily="34" charset="0"/>
              </a:rPr>
              <a:t>So now we have data about Movies and Actors</a:t>
            </a: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The next obvious task is to nominate </a:t>
            </a:r>
            <a:br>
              <a:rPr lang="en-US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</a:br>
            <a:r>
              <a:rPr lang="en-US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the actors who appear in each movie</a:t>
            </a:r>
          </a:p>
          <a:p>
            <a:endParaRPr lang="en-US" b="1" dirty="0">
              <a:latin typeface="Calibri" pitchFamily="34" charset="0"/>
              <a:cs typeface="Calibri" pitchFamily="34" charset="0"/>
            </a:endParaRP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AU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634009" name="Group 153"/>
          <p:cNvGraphicFramePr>
            <a:graphicFrameLocks noGrp="1"/>
          </p:cNvGraphicFramePr>
          <p:nvPr/>
        </p:nvGraphicFramePr>
        <p:xfrm>
          <a:off x="6772409" y="4334577"/>
          <a:ext cx="4975225" cy="1981200"/>
        </p:xfrm>
        <a:graphic>
          <a:graphicData uri="http://schemas.openxmlformats.org/drawingml/2006/table">
            <a:tbl>
              <a:tblPr/>
              <a:tblGrid>
                <a:gridCol w="993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6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20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firstname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surname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gender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72129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Jennifer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Lawrence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51329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Bradley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Cooper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Scarlett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Johansson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6968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Hugh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Jackman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Group 324"/>
          <p:cNvGraphicFramePr>
            <a:graphicFrameLocks noGrp="1"/>
          </p:cNvGraphicFramePr>
          <p:nvPr/>
        </p:nvGraphicFramePr>
        <p:xfrm>
          <a:off x="609600" y="1774257"/>
          <a:ext cx="8210756" cy="1950720"/>
        </p:xfrm>
        <a:graphic>
          <a:graphicData uri="http://schemas.openxmlformats.org/drawingml/2006/table">
            <a:tbl>
              <a:tblPr/>
              <a:tblGrid>
                <a:gridCol w="1339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18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title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relyear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runtime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ratingcode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70160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Hunger Games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142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82693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Silver Linings Playbook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18785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The Hangover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127585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X-Men Days of Future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2014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101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PG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577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ACTOR, MOVIE relations</a:t>
            </a:r>
            <a:endParaRPr lang="en-US"/>
          </a:p>
        </p:txBody>
      </p:sp>
      <p:sp>
        <p:nvSpPr>
          <p:cNvPr id="635983" name="Text Box 79"/>
          <p:cNvSpPr txBox="1">
            <a:spLocks noChangeArrowheads="1"/>
          </p:cNvSpPr>
          <p:nvPr/>
        </p:nvSpPr>
        <p:spPr bwMode="auto">
          <a:xfrm>
            <a:off x="806824" y="882650"/>
            <a:ext cx="11093823" cy="4598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Bradley Cooper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the movie titled "Silver Linings Playbook"</a:t>
            </a: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   I.e.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actorNo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51329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movieNo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82693</a:t>
            </a: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Jennifer Lawrence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the movie "Silver Linings Playbook"</a:t>
            </a: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   I.e.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actorNo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72129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movieNo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82693</a:t>
            </a: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Jennifer Lawrence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the movie "The Hunger Games"</a:t>
            </a:r>
          </a:p>
          <a:p>
            <a:pPr marL="457200" marR="0" lvl="0" indent="-45720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   I.e.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actorNo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72129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acted in </a:t>
            </a:r>
            <a:r>
              <a:rPr kumimoji="0" lang="en-A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movieNo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1C0ECC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70160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We can store this information using these codes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row shown here represents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one actor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b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cast into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one movie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graphicFrame>
        <p:nvGraphicFramePr>
          <p:cNvPr id="636008" name="Group 104"/>
          <p:cNvGraphicFramePr>
            <a:graphicFrameLocks noGrp="1"/>
          </p:cNvGraphicFramePr>
          <p:nvPr/>
        </p:nvGraphicFramePr>
        <p:xfrm>
          <a:off x="7854763" y="4656842"/>
          <a:ext cx="2867025" cy="1828800"/>
        </p:xfrm>
        <a:graphic>
          <a:graphicData uri="http://schemas.openxmlformats.org/drawingml/2006/table">
            <a:tbl>
              <a:tblPr/>
              <a:tblGrid>
                <a:gridCol w="1300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actorNo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cs typeface="Arial" pitchFamily="34" charset="0"/>
                        </a:rPr>
                        <a:t>movieNo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51329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82693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72129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82693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72129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AU" sz="2400" kern="1200" dirty="0">
                          <a:solidFill>
                            <a:srgbClr val="0033CC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70160</a:t>
                      </a:r>
                      <a:endParaRPr lang="en-US" sz="2400" kern="1200" dirty="0">
                        <a:solidFill>
                          <a:srgbClr val="0033CC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A9A5F1-BB22-4661-9CE7-A53BAE3DC9F9}"/>
                  </a:ext>
                </a:extLst>
              </p14:cNvPr>
              <p14:cNvContentPartPr/>
              <p14:nvPr/>
            </p14:nvContentPartPr>
            <p14:xfrm>
              <a:off x="7902720" y="4723920"/>
              <a:ext cx="2804400" cy="339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A9A5F1-BB22-4661-9CE7-A53BAE3DC9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86880" y="4660560"/>
                <a:ext cx="283572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33300C-EA84-42F8-AE5A-C5C9ECA072DB}"/>
                  </a:ext>
                </a:extLst>
              </p14:cNvPr>
              <p14:cNvContentPartPr/>
              <p14:nvPr/>
            </p14:nvContentPartPr>
            <p14:xfrm>
              <a:off x="8188560" y="5813280"/>
              <a:ext cx="759240" cy="4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33300C-EA84-42F8-AE5A-C5C9ECA072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72720" y="5749920"/>
                <a:ext cx="7905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83A8CA-1478-42AA-A39D-4FD66BE36E51}"/>
                  </a:ext>
                </a:extLst>
              </p14:cNvPr>
              <p14:cNvContentPartPr/>
              <p14:nvPr/>
            </p14:nvContentPartPr>
            <p14:xfrm>
              <a:off x="9420840" y="5804280"/>
              <a:ext cx="937800" cy="45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83A8CA-1478-42AA-A39D-4FD66BE36E5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05000" y="5740920"/>
                <a:ext cx="9691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375C8C-3E06-4D9E-8246-4B603906E3CC}"/>
                  </a:ext>
                </a:extLst>
              </p14:cNvPr>
              <p14:cNvContentPartPr/>
              <p14:nvPr/>
            </p14:nvContentPartPr>
            <p14:xfrm>
              <a:off x="8277840" y="6331320"/>
              <a:ext cx="607680" cy="9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375C8C-3E06-4D9E-8246-4B603906E3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62000" y="6267960"/>
                <a:ext cx="6390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6EAD403-33D9-46D6-98A8-8D0B9AA210B4}"/>
                  </a:ext>
                </a:extLst>
              </p14:cNvPr>
              <p14:cNvContentPartPr/>
              <p14:nvPr/>
            </p14:nvContentPartPr>
            <p14:xfrm>
              <a:off x="9501120" y="6179400"/>
              <a:ext cx="911160" cy="80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6EAD403-33D9-46D6-98A8-8D0B9AA210B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85280" y="6116040"/>
                <a:ext cx="942480" cy="20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5612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Casting table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40243" y="928612"/>
            <a:ext cx="1036702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We will create a table called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Casting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record in this table represents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One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Actor in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One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Movie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CastId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is simply a auto generated number to give each row a unique identity (a primary key value).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30" y="3008652"/>
            <a:ext cx="6735064" cy="1965138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7659499" y="2930525"/>
            <a:ext cx="4415959" cy="3738424"/>
            <a:chOff x="6731653" y="3267658"/>
            <a:chExt cx="2914650" cy="246745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1178" y="3267658"/>
              <a:ext cx="2905125" cy="140017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1653" y="4744517"/>
              <a:ext cx="2914650" cy="99060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B92363-25B3-45F8-8C89-B14C2A3F4E99}"/>
                  </a:ext>
                </a:extLst>
              </p14:cNvPr>
              <p14:cNvContentPartPr/>
              <p14:nvPr/>
            </p14:nvContentPartPr>
            <p14:xfrm>
              <a:off x="7974360" y="3625560"/>
              <a:ext cx="4179240" cy="125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B92363-25B3-45F8-8C89-B14C2A3F4E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58520" y="3562200"/>
                <a:ext cx="421056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84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Relationship Diagram</a:t>
            </a:r>
            <a:endParaRPr lang="en-US" dirty="0"/>
          </a:p>
        </p:txBody>
      </p:sp>
      <p:sp>
        <p:nvSpPr>
          <p:cNvPr id="637955" name="Text Box 3"/>
          <p:cNvSpPr txBox="1">
            <a:spLocks noChangeArrowheads="1"/>
          </p:cNvSpPr>
          <p:nvPr/>
        </p:nvSpPr>
        <p:spPr bwMode="auto">
          <a:xfrm>
            <a:off x="753035" y="925386"/>
            <a:ext cx="100180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This is an updated Relationship Diagram. It looks complicated.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However, it is simply a collection of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multiple Many to One relationships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Each relationship has a Foreign Key that references a Primary Key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1" y="2125715"/>
            <a:ext cx="11558729" cy="45527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FA77A9-610A-418F-86B5-BBC7EA33BDFD}"/>
                  </a:ext>
                </a:extLst>
              </p14:cNvPr>
              <p14:cNvContentPartPr/>
              <p14:nvPr/>
            </p14:nvContentPartPr>
            <p14:xfrm>
              <a:off x="1312560" y="3000240"/>
              <a:ext cx="911160" cy="116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FA77A9-610A-418F-86B5-BBC7EA33BD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6720" y="2936880"/>
                <a:ext cx="9424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2C323A-1DF6-4343-A4D4-A9A194C45183}"/>
                  </a:ext>
                </a:extLst>
              </p14:cNvPr>
              <p14:cNvContentPartPr/>
              <p14:nvPr/>
            </p14:nvContentPartPr>
            <p14:xfrm>
              <a:off x="1616400" y="2964600"/>
              <a:ext cx="571680" cy="9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2C323A-1DF6-4343-A4D4-A9A194C451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0560" y="2901240"/>
                <a:ext cx="60300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E29659-8D6F-4C18-A445-1096F0B38D28}"/>
                  </a:ext>
                </a:extLst>
              </p14:cNvPr>
              <p14:cNvContentPartPr/>
              <p14:nvPr/>
            </p14:nvContentPartPr>
            <p14:xfrm>
              <a:off x="1589400" y="5045400"/>
              <a:ext cx="947160" cy="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E29659-8D6F-4C18-A445-1096F0B38D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73560" y="4982040"/>
                <a:ext cx="9784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CAFC823-8BE6-4A3C-BC3D-EDC01452DF39}"/>
                  </a:ext>
                </a:extLst>
              </p14:cNvPr>
              <p14:cNvContentPartPr/>
              <p14:nvPr/>
            </p14:nvContentPartPr>
            <p14:xfrm>
              <a:off x="7750800" y="3018240"/>
              <a:ext cx="321840" cy="9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CAFC823-8BE6-4A3C-BC3D-EDC01452DF3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34960" y="2954880"/>
                <a:ext cx="3531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D7086E-6D70-4582-BE63-E9226C434F7F}"/>
                  </a:ext>
                </a:extLst>
              </p14:cNvPr>
              <p14:cNvContentPartPr/>
              <p14:nvPr/>
            </p14:nvContentPartPr>
            <p14:xfrm>
              <a:off x="7438320" y="3036240"/>
              <a:ext cx="2149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D7086E-6D70-4582-BE63-E9226C434F7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22480" y="2972880"/>
                <a:ext cx="24624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AB36F0F-7970-489E-9BDC-27E05633DDFF}"/>
                  </a:ext>
                </a:extLst>
              </p14:cNvPr>
              <p14:cNvContentPartPr/>
              <p14:nvPr/>
            </p14:nvContentPartPr>
            <p14:xfrm>
              <a:off x="7742160" y="3277080"/>
              <a:ext cx="527040" cy="27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AB36F0F-7970-489E-9BDC-27E05633DDF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26320" y="3213720"/>
                <a:ext cx="5583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E981ED3-A997-4665-82BE-8257B0E3DD56}"/>
                  </a:ext>
                </a:extLst>
              </p14:cNvPr>
              <p14:cNvContentPartPr/>
              <p14:nvPr/>
            </p14:nvContentPartPr>
            <p14:xfrm>
              <a:off x="10456560" y="2991600"/>
              <a:ext cx="678960" cy="53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E981ED3-A997-4665-82BE-8257B0E3DD5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440720" y="2928240"/>
                <a:ext cx="7102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5696524-3D30-4213-A2E2-062935F7E698}"/>
                  </a:ext>
                </a:extLst>
              </p14:cNvPr>
              <p14:cNvContentPartPr/>
              <p14:nvPr/>
            </p14:nvContentPartPr>
            <p14:xfrm>
              <a:off x="7733160" y="3455640"/>
              <a:ext cx="554040" cy="45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5696524-3D30-4213-A2E2-062935F7E69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17320" y="3392280"/>
                <a:ext cx="5853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971373-C5B4-4821-B15A-382C0E20E802}"/>
                  </a:ext>
                </a:extLst>
              </p14:cNvPr>
              <p14:cNvContentPartPr/>
              <p14:nvPr/>
            </p14:nvContentPartPr>
            <p14:xfrm>
              <a:off x="4304160" y="2982600"/>
              <a:ext cx="616320" cy="27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971373-C5B4-4821-B15A-382C0E20E80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88320" y="2919240"/>
                <a:ext cx="6476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13FA94D-BF31-463C-BE3F-026CBC6C2507}"/>
                  </a:ext>
                </a:extLst>
              </p14:cNvPr>
              <p14:cNvContentPartPr/>
              <p14:nvPr/>
            </p14:nvContentPartPr>
            <p14:xfrm>
              <a:off x="4402440" y="3839760"/>
              <a:ext cx="732600" cy="27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13FA94D-BF31-463C-BE3F-026CBC6C250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386600" y="3776400"/>
                <a:ext cx="7639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BBA7F57-4A38-426A-A2E7-3E2D8B81C9DC}"/>
                  </a:ext>
                </a:extLst>
              </p14:cNvPr>
              <p14:cNvContentPartPr/>
              <p14:nvPr/>
            </p14:nvContentPartPr>
            <p14:xfrm>
              <a:off x="4375440" y="4009320"/>
              <a:ext cx="902520" cy="18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BBA7F57-4A38-426A-A2E7-3E2D8B81C9D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59600" y="3945960"/>
                <a:ext cx="9338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5D25AE-0A4C-44F6-A06C-D98E1E31F61D}"/>
                  </a:ext>
                </a:extLst>
              </p14:cNvPr>
              <p14:cNvContentPartPr/>
              <p14:nvPr/>
            </p14:nvContentPartPr>
            <p14:xfrm>
              <a:off x="3723840" y="3741480"/>
              <a:ext cx="339480" cy="18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5D25AE-0A4C-44F6-A06C-D98E1E31F61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708000" y="3678120"/>
                <a:ext cx="3708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D5DDF88-D7BA-48C4-9024-8D0F8A308220}"/>
                  </a:ext>
                </a:extLst>
              </p14:cNvPr>
              <p14:cNvContentPartPr/>
              <p14:nvPr/>
            </p14:nvContentPartPr>
            <p14:xfrm>
              <a:off x="3795120" y="3964680"/>
              <a:ext cx="250560" cy="18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D5DDF88-D7BA-48C4-9024-8D0F8A30822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779280" y="3901320"/>
                <a:ext cx="2818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556074-F70E-450C-834E-C43F58DF75FC}"/>
                  </a:ext>
                </a:extLst>
              </p14:cNvPr>
              <p14:cNvContentPartPr/>
              <p14:nvPr/>
            </p14:nvContentPartPr>
            <p14:xfrm>
              <a:off x="7099200" y="3375360"/>
              <a:ext cx="10728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556074-F70E-450C-834E-C43F58DF75F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83360" y="3312000"/>
                <a:ext cx="138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8297277-022B-46A8-8D02-26A124B5E293}"/>
                  </a:ext>
                </a:extLst>
              </p14:cNvPr>
              <p14:cNvContentPartPr/>
              <p14:nvPr/>
            </p14:nvContentPartPr>
            <p14:xfrm>
              <a:off x="9144000" y="3152160"/>
              <a:ext cx="71640" cy="18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8297277-022B-46A8-8D02-26A124B5E29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128160" y="3088800"/>
                <a:ext cx="102960" cy="1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4016909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1363</Words>
  <Application>Microsoft Office PowerPoint</Application>
  <PresentationFormat>Widescreen</PresentationFormat>
  <Paragraphs>457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Narrow</vt:lpstr>
      <vt:lpstr>Calibri</vt:lpstr>
      <vt:lpstr>Open Sans</vt:lpstr>
      <vt:lpstr>Times New Roman</vt:lpstr>
      <vt:lpstr>Swinburne_Tiles</vt:lpstr>
      <vt:lpstr>INF10025 Data Management and Analytics</vt:lpstr>
      <vt:lpstr>Adding a new record to the Movie Table </vt:lpstr>
      <vt:lpstr>The Movie Table</vt:lpstr>
      <vt:lpstr>Too much in one table</vt:lpstr>
      <vt:lpstr>Movies and Rating Codes</vt:lpstr>
      <vt:lpstr>Movies and Rating Codes</vt:lpstr>
      <vt:lpstr>Movies and Rating Codes</vt:lpstr>
      <vt:lpstr>Movies and Rating Codes</vt:lpstr>
      <vt:lpstr>Movies and Rating Codes</vt:lpstr>
      <vt:lpstr>Movies and Rating Codes</vt:lpstr>
      <vt:lpstr>Query based on a two table relationship</vt:lpstr>
      <vt:lpstr>Referential Integrity</vt:lpstr>
      <vt:lpstr>Be aware of unrelated tables</vt:lpstr>
      <vt:lpstr>Be aware of Cartesian Products</vt:lpstr>
      <vt:lpstr>Movie Table /  ColourType relationship</vt:lpstr>
      <vt:lpstr>Actor data</vt:lpstr>
      <vt:lpstr>Actor data</vt:lpstr>
      <vt:lpstr>ACTOR, MOVIE relations</vt:lpstr>
      <vt:lpstr>Casting table</vt:lpstr>
      <vt:lpstr>Relationship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2023-02-17T01:10:18Z</dcterms:created>
  <dcterms:modified xsi:type="dcterms:W3CDTF">2023-02-17T01:13:01Z</dcterms:modified>
</cp:coreProperties>
</file>