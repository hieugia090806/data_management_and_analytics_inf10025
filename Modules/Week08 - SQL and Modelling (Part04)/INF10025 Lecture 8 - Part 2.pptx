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82" r:id="rId2"/>
    <p:sldId id="348" r:id="rId3"/>
    <p:sldId id="349" r:id="rId4"/>
    <p:sldId id="350" r:id="rId5"/>
    <p:sldId id="352" r:id="rId6"/>
    <p:sldId id="353" r:id="rId7"/>
    <p:sldId id="354" r:id="rId8"/>
    <p:sldId id="355" r:id="rId9"/>
    <p:sldId id="357" r:id="rId10"/>
    <p:sldId id="374" r:id="rId11"/>
    <p:sldId id="375" r:id="rId12"/>
    <p:sldId id="297" r:id="rId13"/>
    <p:sldId id="298" r:id="rId14"/>
    <p:sldId id="299" r:id="rId15"/>
    <p:sldId id="300" r:id="rId16"/>
    <p:sldId id="381" r:id="rId17"/>
    <p:sldId id="380" r:id="rId18"/>
    <p:sldId id="325" r:id="rId19"/>
    <p:sldId id="376" r:id="rId20"/>
    <p:sldId id="326" r:id="rId21"/>
    <p:sldId id="377" r:id="rId22"/>
    <p:sldId id="327" r:id="rId23"/>
    <p:sldId id="378" r:id="rId24"/>
    <p:sldId id="3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50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27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31" y="-5226"/>
            <a:ext cx="681371" cy="960987"/>
          </a:xfrm>
          <a:prstGeom prst="rect">
            <a:avLst/>
          </a:prstGeom>
          <a:noFill/>
        </p:spPr>
        <p:txBody>
          <a:bodyPr spcFirstLastPara="1" wrap="none" lIns="51435" tIns="25718" rIns="51435" bIns="25718" numCol="1">
            <a:prstTxWarp prst="textCircle">
              <a:avLst/>
            </a:prstTxWarp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38" b="0" i="0" u="none" strike="noStrike" kern="1200" cap="none" spc="0" normalizeH="0" baseline="0" noProof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 Management &amp; Analytics   </a:t>
            </a: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96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2"/>
            <a:ext cx="10972800" cy="1058779"/>
          </a:xfrm>
        </p:spPr>
        <p:txBody>
          <a:bodyPr anchor="t">
            <a:normAutofit/>
          </a:bodyPr>
          <a:lstStyle>
            <a:lvl1pPr>
              <a:defRPr sz="2475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087655"/>
            <a:ext cx="10680835" cy="3917482"/>
          </a:xfrm>
          <a:noFill/>
        </p:spPr>
        <p:txBody>
          <a:bodyPr/>
          <a:lstStyle>
            <a:lvl1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31" y="-5226"/>
            <a:ext cx="681371" cy="960987"/>
          </a:xfrm>
          <a:prstGeom prst="rect">
            <a:avLst/>
          </a:prstGeom>
          <a:noFill/>
        </p:spPr>
        <p:txBody>
          <a:bodyPr spcFirstLastPara="1" wrap="none" lIns="51435" tIns="25718" rIns="51435" bIns="25718" numCol="1">
            <a:prstTxWarp prst="textCircle">
              <a:avLst/>
            </a:prstTxWarp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38" b="0" i="0" u="none" strike="noStrike" kern="1200" cap="none" spc="0" normalizeH="0" baseline="0" noProof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5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35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5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35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2" y="85725"/>
            <a:ext cx="622300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3429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35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3429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35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68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2475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3844703"/>
          </a:xfrm>
        </p:spPr>
        <p:txBody>
          <a:bodyPr/>
          <a:lstStyle>
            <a:lvl1pPr>
              <a:defRPr sz="1575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125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013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013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3844703"/>
          </a:xfrm>
        </p:spPr>
        <p:txBody>
          <a:bodyPr/>
          <a:lstStyle>
            <a:lvl1pPr>
              <a:defRPr sz="1575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125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013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013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830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344619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225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3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125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275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8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3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5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35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5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35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2" y="85725"/>
            <a:ext cx="622300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3429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35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3429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35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1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51435" tIns="25718" rIns="51435" bIns="25718" numCol="1">
            <a:prstTxWarp prst="textCircle">
              <a:avLst/>
            </a:prstTxWarp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38" b="0" i="0" u="none" strike="noStrike" kern="1200" cap="none" spc="0" normalizeH="0" baseline="0" noProof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</p:spTree>
    <p:extLst>
      <p:ext uri="{BB962C8B-B14F-4D97-AF65-F5344CB8AC3E}">
        <p14:creationId xmlns:p14="http://schemas.microsoft.com/office/powerpoint/2010/main" val="291256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257175" rtl="0" eaLnBrk="1" latinLnBrk="0" hangingPunct="1">
        <a:spcBef>
          <a:spcPct val="0"/>
        </a:spcBef>
        <a:buNone/>
        <a:defRPr sz="2475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192881" indent="-192881" algn="l" defTabSz="257175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1pPr>
      <a:lvl2pPr marL="417910" indent="-160735" algn="l" defTabSz="257175" rtl="0" eaLnBrk="1" latinLnBrk="0" hangingPunct="1">
        <a:spcBef>
          <a:spcPct val="20000"/>
        </a:spcBef>
        <a:buFont typeface="Arial"/>
        <a:buChar char="–"/>
        <a:defRPr sz="1575" kern="1200">
          <a:solidFill>
            <a:srgbClr val="000000"/>
          </a:solidFill>
          <a:latin typeface="+mn-lt"/>
          <a:ea typeface="+mn-ea"/>
          <a:cs typeface="+mn-cs"/>
        </a:defRPr>
      </a:lvl2pPr>
      <a:lvl3pPr marL="642938" indent="-128588" algn="l" defTabSz="257175" rtl="0" eaLnBrk="1" latinLnBrk="0" hangingPunct="1">
        <a:spcBef>
          <a:spcPct val="20000"/>
        </a:spcBef>
        <a:buFont typeface="Arial"/>
        <a:buChar char="•"/>
        <a:defRPr sz="1350" kern="1200">
          <a:solidFill>
            <a:srgbClr val="000000"/>
          </a:solidFill>
          <a:latin typeface="+mn-lt"/>
          <a:ea typeface="+mn-ea"/>
          <a:cs typeface="+mn-cs"/>
        </a:defRPr>
      </a:lvl3pPr>
      <a:lvl4pPr marL="900113" indent="-128588" algn="l" defTabSz="257175" rtl="0" eaLnBrk="1" latinLnBrk="0" hangingPunct="1">
        <a:spcBef>
          <a:spcPct val="20000"/>
        </a:spcBef>
        <a:buFont typeface="Arial"/>
        <a:buChar char="–"/>
        <a:defRPr sz="1125" kern="1200">
          <a:solidFill>
            <a:srgbClr val="000000"/>
          </a:solidFill>
          <a:latin typeface="+mn-lt"/>
          <a:ea typeface="+mn-ea"/>
          <a:cs typeface="+mn-cs"/>
        </a:defRPr>
      </a:lvl4pPr>
      <a:lvl5pPr marL="1157288" indent="-128588" algn="l" defTabSz="257175" rtl="0" eaLnBrk="1" latinLnBrk="0" hangingPunct="1">
        <a:spcBef>
          <a:spcPct val="20000"/>
        </a:spcBef>
        <a:buFont typeface="Arial"/>
        <a:buChar char="»"/>
        <a:defRPr sz="1125" kern="1200">
          <a:solidFill>
            <a:srgbClr val="000000"/>
          </a:solidFill>
          <a:latin typeface="+mn-lt"/>
          <a:ea typeface="+mn-ea"/>
          <a:cs typeface="+mn-cs"/>
        </a:defRPr>
      </a:lvl5pPr>
      <a:lvl6pPr marL="141446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essentialsql.com/get-ready-to-learn-sql-server-19-introduction-to-sub-queri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836988" y="2406503"/>
            <a:ext cx="6021388" cy="1143000"/>
          </a:xfrm>
        </p:spPr>
        <p:txBody>
          <a:bodyPr>
            <a:normAutofit fontScale="90000"/>
          </a:bodyPr>
          <a:lstStyle/>
          <a:p>
            <a:r>
              <a:rPr lang="en-AU">
                <a:solidFill>
                  <a:schemeClr val="tx1"/>
                </a:solidFill>
              </a:rPr>
              <a:t>INF10025</a:t>
            </a:r>
            <a:br>
              <a:rPr lang="en-AU">
                <a:solidFill>
                  <a:schemeClr val="tx1"/>
                </a:solidFill>
              </a:rPr>
            </a:br>
            <a:r>
              <a:rPr lang="en-AU" sz="3200"/>
              <a:t>Data Management and Analytics</a:t>
            </a:r>
            <a:br>
              <a:rPr lang="en-AU">
                <a:solidFill>
                  <a:schemeClr val="tx1"/>
                </a:solidFill>
              </a:rPr>
            </a:br>
            <a:r>
              <a:rPr lang="en-AU">
                <a:solidFill>
                  <a:schemeClr val="tx1"/>
                </a:solidFill>
              </a:rPr>
              <a:t>Lecture 8 – Part 2</a:t>
            </a: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5726112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/>
              <a:t>Modelling </a:t>
            </a:r>
          </a:p>
          <a:p>
            <a:r>
              <a:rPr lang="en-AU" b="1"/>
              <a:t>M:M relationships</a:t>
            </a:r>
          </a:p>
          <a:p>
            <a:r>
              <a:rPr lang="en-AU" b="1"/>
              <a:t>SQL: Outer Joins, </a:t>
            </a:r>
            <a:r>
              <a:rPr lang="en-AU" b="1" err="1"/>
              <a:t>SubQueries</a:t>
            </a:r>
            <a:r>
              <a:rPr lang="en-AU" b="1"/>
              <a:t>,</a:t>
            </a:r>
          </a:p>
          <a:p>
            <a:r>
              <a:rPr lang="en-AU" b="1"/>
              <a:t>Unions, Views</a:t>
            </a:r>
          </a:p>
          <a:p>
            <a:endParaRPr lang="en-AU" b="1"/>
          </a:p>
          <a:p>
            <a:endParaRPr lang="en-AU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1524000" y="5954713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Conversion to Relational Schema</a:t>
            </a:r>
          </a:p>
        </p:txBody>
      </p:sp>
      <p:sp>
        <p:nvSpPr>
          <p:cNvPr id="12294" name="Rectangle 4"/>
          <p:cNvSpPr>
            <a:spLocks noGrp="1" noChangeArrowheads="1"/>
          </p:cNvSpPr>
          <p:nvPr>
            <p:ph idx="1"/>
          </p:nvPr>
        </p:nvSpPr>
        <p:spPr>
          <a:xfrm>
            <a:off x="1909483" y="795004"/>
            <a:ext cx="8010626" cy="3917482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/>
              <a:t>The ERD translates to the following relational schema:</a:t>
            </a:r>
          </a:p>
          <a:p>
            <a:pPr marL="381000" indent="-381000">
              <a:lnSpc>
                <a:spcPct val="90000"/>
              </a:lnSpc>
              <a:tabLst>
                <a:tab pos="1435100" algn="l"/>
              </a:tabLst>
            </a:pPr>
            <a:endParaRPr lang="en-AU" sz="800"/>
          </a:p>
          <a:p>
            <a:pPr marL="381000" indent="-38100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>
                <a:solidFill>
                  <a:srgbClr val="0033CC"/>
                </a:solidFill>
              </a:rPr>
              <a:t>	      PATRON (</a:t>
            </a:r>
            <a:r>
              <a:rPr lang="en-AU" u="sng" err="1">
                <a:solidFill>
                  <a:srgbClr val="0033CC"/>
                </a:solidFill>
              </a:rPr>
              <a:t>PatronNo</a:t>
            </a:r>
            <a:r>
              <a:rPr lang="en-AU">
                <a:solidFill>
                  <a:srgbClr val="0033CC"/>
                </a:solidFill>
              </a:rPr>
              <a:t>, Name, Gender)</a:t>
            </a: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>
                <a:solidFill>
                  <a:srgbClr val="0033CC"/>
                </a:solidFill>
              </a:rPr>
              <a:t>	PK: </a:t>
            </a:r>
            <a:r>
              <a:rPr lang="en-AU" err="1">
                <a:solidFill>
                  <a:srgbClr val="0033CC"/>
                </a:solidFill>
              </a:rPr>
              <a:t>PatronNo</a:t>
            </a:r>
            <a:endParaRPr lang="en-AU">
              <a:solidFill>
                <a:srgbClr val="0033CC"/>
              </a:solidFill>
            </a:endParaRP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endParaRPr lang="en-AU" sz="1200">
              <a:solidFill>
                <a:srgbClr val="0033CC"/>
              </a:solidFill>
            </a:endParaRP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>
                <a:solidFill>
                  <a:srgbClr val="0033CC"/>
                </a:solidFill>
              </a:rPr>
              <a:t>TOY( </a:t>
            </a:r>
            <a:r>
              <a:rPr lang="en-AU" u="sng" err="1">
                <a:solidFill>
                  <a:srgbClr val="0033CC"/>
                </a:solidFill>
              </a:rPr>
              <a:t>ToyNo</a:t>
            </a:r>
            <a:r>
              <a:rPr lang="en-AU">
                <a:solidFill>
                  <a:srgbClr val="0033CC"/>
                </a:solidFill>
              </a:rPr>
              <a:t>, Description, </a:t>
            </a:r>
            <a:r>
              <a:rPr lang="en-AU" err="1">
                <a:solidFill>
                  <a:srgbClr val="0033CC"/>
                </a:solidFill>
              </a:rPr>
              <a:t>YearAquired</a:t>
            </a:r>
            <a:r>
              <a:rPr lang="en-AU">
                <a:solidFill>
                  <a:srgbClr val="0033CC"/>
                </a:solidFill>
              </a:rPr>
              <a:t>)</a:t>
            </a: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>
                <a:solidFill>
                  <a:srgbClr val="0033CC"/>
                </a:solidFill>
              </a:rPr>
              <a:t>	PK: </a:t>
            </a:r>
            <a:r>
              <a:rPr lang="en-AU" err="1">
                <a:solidFill>
                  <a:srgbClr val="0033CC"/>
                </a:solidFill>
              </a:rPr>
              <a:t>ToyNo</a:t>
            </a:r>
            <a:endParaRPr lang="en-AU">
              <a:solidFill>
                <a:srgbClr val="0033CC"/>
              </a:solidFill>
            </a:endParaRP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endParaRPr lang="en-AU" sz="900">
              <a:solidFill>
                <a:srgbClr val="0033CC"/>
              </a:solidFill>
            </a:endParaRP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>
                <a:solidFill>
                  <a:srgbClr val="0033CC"/>
                </a:solidFill>
              </a:rPr>
              <a:t>LOAN( </a:t>
            </a:r>
            <a:r>
              <a:rPr lang="en-AU" u="sng" err="1">
                <a:solidFill>
                  <a:srgbClr val="0033CC"/>
                </a:solidFill>
              </a:rPr>
              <a:t>PatronNo</a:t>
            </a:r>
            <a:r>
              <a:rPr lang="en-AU" u="sng">
                <a:solidFill>
                  <a:srgbClr val="0033CC"/>
                </a:solidFill>
              </a:rPr>
              <a:t>, </a:t>
            </a:r>
            <a:r>
              <a:rPr lang="en-AU" u="sng" err="1">
                <a:solidFill>
                  <a:srgbClr val="0033CC"/>
                </a:solidFill>
              </a:rPr>
              <a:t>ToyNo</a:t>
            </a:r>
            <a:r>
              <a:rPr lang="en-AU">
                <a:solidFill>
                  <a:srgbClr val="0033CC"/>
                </a:solidFill>
              </a:rPr>
              <a:t>, </a:t>
            </a:r>
            <a:r>
              <a:rPr lang="en-AU" err="1">
                <a:solidFill>
                  <a:srgbClr val="0033CC"/>
                </a:solidFill>
              </a:rPr>
              <a:t>DateBorrowed</a:t>
            </a:r>
            <a:r>
              <a:rPr lang="en-AU">
                <a:solidFill>
                  <a:srgbClr val="0033CC"/>
                </a:solidFill>
              </a:rPr>
              <a:t>, </a:t>
            </a:r>
            <a:r>
              <a:rPr lang="en-AU" err="1">
                <a:solidFill>
                  <a:srgbClr val="0033CC"/>
                </a:solidFill>
              </a:rPr>
              <a:t>DateReturned</a:t>
            </a:r>
            <a:r>
              <a:rPr lang="en-AU">
                <a:solidFill>
                  <a:srgbClr val="0033CC"/>
                </a:solidFill>
              </a:rPr>
              <a:t>)</a:t>
            </a: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>
                <a:solidFill>
                  <a:srgbClr val="0033CC"/>
                </a:solidFill>
              </a:rPr>
              <a:t>	PK: </a:t>
            </a:r>
            <a:r>
              <a:rPr lang="en-AU" err="1">
                <a:solidFill>
                  <a:srgbClr val="0033CC"/>
                </a:solidFill>
              </a:rPr>
              <a:t>PatronNo</a:t>
            </a:r>
            <a:r>
              <a:rPr lang="en-AU">
                <a:solidFill>
                  <a:srgbClr val="0033CC"/>
                </a:solidFill>
              </a:rPr>
              <a:t>, </a:t>
            </a:r>
            <a:r>
              <a:rPr lang="en-AU" err="1">
                <a:solidFill>
                  <a:srgbClr val="0033CC"/>
                </a:solidFill>
              </a:rPr>
              <a:t>ToyNo</a:t>
            </a:r>
            <a:endParaRPr lang="en-AU">
              <a:solidFill>
                <a:srgbClr val="0033CC"/>
              </a:solidFill>
            </a:endParaRP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>
                <a:solidFill>
                  <a:srgbClr val="0033CC"/>
                </a:solidFill>
              </a:rPr>
              <a:t>	FK1: </a:t>
            </a:r>
            <a:r>
              <a:rPr lang="en-AU" err="1">
                <a:solidFill>
                  <a:srgbClr val="0033CC"/>
                </a:solidFill>
              </a:rPr>
              <a:t>PatronNo</a:t>
            </a:r>
            <a:r>
              <a:rPr lang="en-AU">
                <a:solidFill>
                  <a:srgbClr val="0033CC"/>
                </a:solidFill>
              </a:rPr>
              <a:t> references PATRON</a:t>
            </a: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r>
              <a:rPr lang="en-AU">
                <a:solidFill>
                  <a:srgbClr val="0033CC"/>
                </a:solidFill>
              </a:rPr>
              <a:t>	FK2: </a:t>
            </a:r>
            <a:r>
              <a:rPr lang="en-AU" err="1">
                <a:solidFill>
                  <a:srgbClr val="0033CC"/>
                </a:solidFill>
              </a:rPr>
              <a:t>ToyNo</a:t>
            </a:r>
            <a:r>
              <a:rPr lang="en-AU">
                <a:solidFill>
                  <a:srgbClr val="0033CC"/>
                </a:solidFill>
              </a:rPr>
              <a:t> references TOY</a:t>
            </a:r>
          </a:p>
          <a:p>
            <a:pPr marL="1138238" lvl="2" indent="-381000">
              <a:lnSpc>
                <a:spcPct val="90000"/>
              </a:lnSpc>
              <a:buNone/>
              <a:tabLst>
                <a:tab pos="1435100" algn="l"/>
              </a:tabLst>
            </a:pPr>
            <a:endParaRPr lang="en-AU">
              <a:solidFill>
                <a:srgbClr val="0033CC"/>
              </a:solidFill>
            </a:endParaRPr>
          </a:p>
          <a:p>
            <a:pPr marL="1138238" lvl="2" indent="-381000">
              <a:buNone/>
              <a:tabLst>
                <a:tab pos="1435100" algn="l"/>
              </a:tabLst>
            </a:pPr>
            <a:endParaRPr lang="en-AU">
              <a:solidFill>
                <a:srgbClr val="0033CC"/>
              </a:solidFill>
            </a:endParaRPr>
          </a:p>
          <a:p>
            <a:pPr marL="1138238" lvl="2" indent="-381000">
              <a:buNone/>
              <a:tabLst>
                <a:tab pos="1435100" algn="l"/>
              </a:tabLst>
            </a:pPr>
            <a:endParaRPr lang="en-AU">
              <a:solidFill>
                <a:srgbClr val="0033CC"/>
              </a:solidFill>
            </a:endParaRPr>
          </a:p>
          <a:p>
            <a:pPr marL="1138238" lvl="2" indent="-381000">
              <a:buNone/>
              <a:tabLst>
                <a:tab pos="1435100" algn="l"/>
              </a:tabLst>
            </a:pPr>
            <a:endParaRPr lang="en-AU">
              <a:solidFill>
                <a:srgbClr val="0033CC"/>
              </a:solidFill>
            </a:endParaRPr>
          </a:p>
          <a:p>
            <a:pPr marL="1138238" lvl="2" indent="-381000">
              <a:buNone/>
              <a:tabLst>
                <a:tab pos="1435100" algn="l"/>
              </a:tabLst>
            </a:pPr>
            <a:endParaRPr lang="en-AU">
              <a:solidFill>
                <a:srgbClr val="0033CC"/>
              </a:solidFill>
            </a:endParaRPr>
          </a:p>
          <a:p>
            <a:pPr marL="1138238" lvl="2" indent="-381000">
              <a:buNone/>
              <a:tabLst>
                <a:tab pos="1435100" algn="l"/>
              </a:tabLst>
            </a:pPr>
            <a:endParaRPr lang="en-AU" sz="1200">
              <a:solidFill>
                <a:schemeClr val="accent2"/>
              </a:solidFill>
            </a:endParaRPr>
          </a:p>
        </p:txBody>
      </p:sp>
      <p:graphicFrame>
        <p:nvGraphicFramePr>
          <p:cNvPr id="12290" name="Object 5"/>
          <p:cNvGraphicFramePr>
            <a:graphicFrameLocks noChangeAspect="1"/>
          </p:cNvGraphicFramePr>
          <p:nvPr/>
        </p:nvGraphicFramePr>
        <p:xfrm>
          <a:off x="2868295" y="4232588"/>
          <a:ext cx="5022476" cy="1470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1229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433"/>
                      <a:stretch>
                        <a:fillRect/>
                      </a:stretch>
                    </p:blipFill>
                    <p:spPr bwMode="auto">
                      <a:xfrm>
                        <a:off x="2868295" y="4232588"/>
                        <a:ext cx="5022476" cy="1470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116434" y="5954712"/>
            <a:ext cx="626960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lnSpc>
                <a:spcPct val="90000"/>
              </a:lnSpc>
              <a:tabLst>
                <a:tab pos="1435100" algn="l"/>
              </a:tabLst>
            </a:pPr>
            <a:r>
              <a:rPr lang="en-AU">
                <a:solidFill>
                  <a:srgbClr val="D1161E"/>
                </a:solidFill>
                <a:latin typeface="Calibri"/>
              </a:rPr>
              <a:t>Is this correct???       Find out by testing with some sample data…</a:t>
            </a:r>
          </a:p>
        </p:txBody>
      </p:sp>
    </p:spTree>
    <p:extLst>
      <p:ext uri="{BB962C8B-B14F-4D97-AF65-F5344CB8AC3E}">
        <p14:creationId xmlns:p14="http://schemas.microsoft.com/office/powerpoint/2010/main" val="3362493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Testing the ERD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sz="2800"/>
          </a:p>
          <a:p>
            <a:endParaRPr lang="en-AU" sz="2800"/>
          </a:p>
          <a:p>
            <a:endParaRPr lang="en-AU" sz="2000" b="1"/>
          </a:p>
          <a:p>
            <a:endParaRPr lang="en-AU" sz="2000" b="1"/>
          </a:p>
        </p:txBody>
      </p:sp>
      <p:sp>
        <p:nvSpPr>
          <p:cNvPr id="39939" name="Rectangle 6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39942" name="Rectangle 9"/>
          <p:cNvSpPr>
            <a:spLocks noChangeArrowheads="1"/>
          </p:cNvSpPr>
          <p:nvPr/>
        </p:nvSpPr>
        <p:spPr bwMode="auto">
          <a:xfrm>
            <a:off x="2208214" y="836614"/>
            <a:ext cx="7704137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Generate some </a:t>
            </a:r>
            <a:r>
              <a:rPr lang="en-AU" sz="2200" b="1">
                <a:solidFill>
                  <a:srgbClr val="000000"/>
                </a:solidFill>
                <a:latin typeface="Calibri" panose="020F0502020204030204" pitchFamily="34" charset="0"/>
              </a:rPr>
              <a:t>sample data 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for the </a:t>
            </a:r>
            <a:r>
              <a:rPr lang="en-AU" sz="2200" b="1">
                <a:solidFill>
                  <a:srgbClr val="000000"/>
                </a:solidFill>
                <a:latin typeface="Calibri" panose="020F0502020204030204" pitchFamily="34" charset="0"/>
              </a:rPr>
              <a:t>Strong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 Entities 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PatronNo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 53	Sofia </a:t>
            </a: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Vergara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	Female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PatronNo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 71	Alex Dyson	Male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 err="1">
                <a:solidFill>
                  <a:srgbClr val="FF0000"/>
                </a:solidFill>
                <a:latin typeface="Calibri" panose="020F0502020204030204" pitchFamily="34" charset="0"/>
              </a:rPr>
              <a:t>ToyNo</a:t>
            </a:r>
            <a:r>
              <a:rPr lang="en-AU" sz="2200">
                <a:solidFill>
                  <a:srgbClr val="FF0000"/>
                </a:solidFill>
                <a:latin typeface="Calibri" panose="020F0502020204030204" pitchFamily="34" charset="0"/>
              </a:rPr>
              <a:t> 27	Rocking Horse	2013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 err="1">
                <a:solidFill>
                  <a:srgbClr val="FF0000"/>
                </a:solidFill>
                <a:latin typeface="Calibri" panose="020F0502020204030204" pitchFamily="34" charset="0"/>
              </a:rPr>
              <a:t>ToyNo</a:t>
            </a:r>
            <a:r>
              <a:rPr lang="en-AU" sz="2200">
                <a:solidFill>
                  <a:srgbClr val="FF0000"/>
                </a:solidFill>
                <a:latin typeface="Calibri" panose="020F0502020204030204" pitchFamily="34" charset="0"/>
              </a:rPr>
              <a:t> 31	Spinning Top	2014</a:t>
            </a:r>
          </a:p>
          <a:p>
            <a:pPr marL="655638" lvl="1" indent="-381000" defTabSz="457200">
              <a:buSzPct val="80000"/>
              <a:buFont typeface="Arial Narrow" pitchFamily="34" charset="0"/>
              <a:buChar char="●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Generate some </a:t>
            </a:r>
            <a:r>
              <a:rPr lang="en-AU" sz="2200" b="1">
                <a:solidFill>
                  <a:srgbClr val="000000"/>
                </a:solidFill>
                <a:latin typeface="Calibri" panose="020F0502020204030204" pitchFamily="34" charset="0"/>
              </a:rPr>
              <a:t>sample data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 for the </a:t>
            </a:r>
            <a:r>
              <a:rPr lang="en-AU" sz="2200" b="1">
                <a:solidFill>
                  <a:srgbClr val="000000"/>
                </a:solidFill>
                <a:latin typeface="Calibri" panose="020F0502020204030204" pitchFamily="34" charset="0"/>
              </a:rPr>
              <a:t>Weak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 Entity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 u="sng" err="1">
                <a:solidFill>
                  <a:srgbClr val="000000"/>
                </a:solidFill>
                <a:latin typeface="Calibri" panose="020F0502020204030204" pitchFamily="34" charset="0"/>
              </a:rPr>
              <a:t>PatronNo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AU" sz="2200" u="sng" err="1">
                <a:solidFill>
                  <a:srgbClr val="000000"/>
                </a:solidFill>
                <a:latin typeface="Calibri" panose="020F0502020204030204" pitchFamily="34" charset="0"/>
              </a:rPr>
              <a:t>ToyNo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AU" sz="2200" err="1">
                <a:solidFill>
                  <a:srgbClr val="000000"/>
                </a:solidFill>
                <a:latin typeface="Calibri" panose="020F0502020204030204" pitchFamily="34" charset="0"/>
              </a:rPr>
              <a:t>DateBorrow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AU" sz="2200" err="1">
                <a:solidFill>
                  <a:srgbClr val="000000"/>
                </a:solidFill>
                <a:latin typeface="Calibri" panose="020F0502020204030204" pitchFamily="34" charset="0"/>
              </a:rPr>
              <a:t>DateReturn</a:t>
            </a: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53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	</a:t>
            </a:r>
            <a:r>
              <a:rPr lang="en-AU" sz="2200">
                <a:solidFill>
                  <a:srgbClr val="FF0000"/>
                </a:solidFill>
                <a:latin typeface="Calibri" panose="020F0502020204030204" pitchFamily="34" charset="0"/>
              </a:rPr>
              <a:t>27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1 June			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53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	</a:t>
            </a:r>
            <a:r>
              <a:rPr lang="en-AU" sz="220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1 June			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53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	</a:t>
            </a:r>
            <a:r>
              <a:rPr lang="en-AU" sz="2200">
                <a:solidFill>
                  <a:srgbClr val="FF0000"/>
                </a:solidFill>
                <a:latin typeface="Calibri" panose="020F0502020204030204" pitchFamily="34" charset="0"/>
              </a:rPr>
              <a:t>27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19 July			30 July</a:t>
            </a:r>
          </a:p>
        </p:txBody>
      </p:sp>
    </p:spTree>
    <p:extLst>
      <p:ext uri="{BB962C8B-B14F-4D97-AF65-F5344CB8AC3E}">
        <p14:creationId xmlns:p14="http://schemas.microsoft.com/office/powerpoint/2010/main" val="195162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406" y="4657364"/>
            <a:ext cx="1267002" cy="1181265"/>
          </a:xfrm>
          <a:prstGeom prst="rect">
            <a:avLst/>
          </a:prstGeom>
        </p:spPr>
      </p:pic>
      <p:sp>
        <p:nvSpPr>
          <p:cNvPr id="4096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Does the ERD match business rules</a:t>
            </a:r>
          </a:p>
        </p:txBody>
      </p:sp>
      <p:sp>
        <p:nvSpPr>
          <p:cNvPr id="40965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sz="2800"/>
          </a:p>
          <a:p>
            <a:endParaRPr lang="en-AU" sz="2800"/>
          </a:p>
          <a:p>
            <a:endParaRPr lang="en-AU" sz="2000" b="1"/>
          </a:p>
          <a:p>
            <a:endParaRPr lang="en-AU" sz="2000" b="1"/>
          </a:p>
        </p:txBody>
      </p:sp>
      <p:sp>
        <p:nvSpPr>
          <p:cNvPr id="40963" name="Rectangle 2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auto">
          <a:xfrm>
            <a:off x="2208214" y="836614"/>
            <a:ext cx="7704137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Can you see a problem with the 3rd Loan transaction?</a:t>
            </a:r>
          </a:p>
          <a:p>
            <a:pPr marL="381000" indent="-381000" defTabSz="457200">
              <a:buSzPct val="75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 u="sng" err="1">
                <a:solidFill>
                  <a:srgbClr val="000000"/>
                </a:solidFill>
                <a:latin typeface="Calibri" panose="020F0502020204030204" pitchFamily="34" charset="0"/>
              </a:rPr>
              <a:t>PatronNo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AU" sz="2200" u="sng" err="1">
                <a:solidFill>
                  <a:srgbClr val="000000"/>
                </a:solidFill>
                <a:latin typeface="Calibri" panose="020F0502020204030204" pitchFamily="34" charset="0"/>
              </a:rPr>
              <a:t>ToyNo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AU" sz="2200" err="1">
                <a:solidFill>
                  <a:srgbClr val="000000"/>
                </a:solidFill>
                <a:latin typeface="Calibri" panose="020F0502020204030204" pitchFamily="34" charset="0"/>
              </a:rPr>
              <a:t>DateBorrow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AU" sz="2200" err="1">
                <a:solidFill>
                  <a:srgbClr val="000000"/>
                </a:solidFill>
                <a:latin typeface="Calibri" panose="020F0502020204030204" pitchFamily="34" charset="0"/>
              </a:rPr>
              <a:t>DateReturn</a:t>
            </a: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53		27	1 June			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53		31	1 June			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FF0000"/>
                </a:solidFill>
                <a:latin typeface="Calibri" panose="020F0502020204030204" pitchFamily="34" charset="0"/>
              </a:rPr>
              <a:t>53		27	19 July			30 July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The PK of the 3</a:t>
            </a:r>
            <a:r>
              <a:rPr lang="en-AU" sz="2200" baseline="3000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 row is a duplicate!    This will cause an error.</a:t>
            </a:r>
            <a:b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</a:br>
            <a:b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This schema will</a:t>
            </a:r>
            <a:r>
              <a:rPr lang="en-AU" sz="2200" b="1">
                <a:solidFill>
                  <a:srgbClr val="000000"/>
                </a:solidFill>
                <a:latin typeface="Calibri" panose="020F0502020204030204" pitchFamily="34" charset="0"/>
              </a:rPr>
              <a:t> not allow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 a Patron to Borrow any toy more than once.</a:t>
            </a: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It seems that the</a:t>
            </a:r>
            <a:b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current identifier of LOAN </a:t>
            </a:r>
            <a:b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is incorrect / inadequate.</a:t>
            </a: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2107813" y="2223247"/>
            <a:ext cx="3719689" cy="860612"/>
          </a:xfrm>
          <a:custGeom>
            <a:avLst/>
            <a:gdLst>
              <a:gd name="connsiteX0" fmla="*/ 1415317 w 3719689"/>
              <a:gd name="connsiteY0" fmla="*/ 242047 h 860612"/>
              <a:gd name="connsiteX1" fmla="*/ 491953 w 3719689"/>
              <a:gd name="connsiteY1" fmla="*/ 286871 h 860612"/>
              <a:gd name="connsiteX2" fmla="*/ 61647 w 3719689"/>
              <a:gd name="connsiteY2" fmla="*/ 367553 h 860612"/>
              <a:gd name="connsiteX3" fmla="*/ 106470 w 3719689"/>
              <a:gd name="connsiteY3" fmla="*/ 618565 h 860612"/>
              <a:gd name="connsiteX4" fmla="*/ 1020870 w 3719689"/>
              <a:gd name="connsiteY4" fmla="*/ 797859 h 860612"/>
              <a:gd name="connsiteX5" fmla="*/ 2284894 w 3719689"/>
              <a:gd name="connsiteY5" fmla="*/ 860612 h 860612"/>
              <a:gd name="connsiteX6" fmla="*/ 3405482 w 3719689"/>
              <a:gd name="connsiteY6" fmla="*/ 797859 h 860612"/>
              <a:gd name="connsiteX7" fmla="*/ 3719247 w 3719689"/>
              <a:gd name="connsiteY7" fmla="*/ 555812 h 860612"/>
              <a:gd name="connsiteX8" fmla="*/ 3459270 w 3719689"/>
              <a:gd name="connsiteY8" fmla="*/ 358588 h 860612"/>
              <a:gd name="connsiteX9" fmla="*/ 2876564 w 3719689"/>
              <a:gd name="connsiteY9" fmla="*/ 277906 h 860612"/>
              <a:gd name="connsiteX10" fmla="*/ 1989059 w 3719689"/>
              <a:gd name="connsiteY10" fmla="*/ 152400 h 860612"/>
              <a:gd name="connsiteX11" fmla="*/ 1128447 w 3719689"/>
              <a:gd name="connsiteY11" fmla="*/ 0 h 860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19689" h="860612">
                <a:moveTo>
                  <a:pt x="1415317" y="242047"/>
                </a:moveTo>
                <a:cubicBezTo>
                  <a:pt x="1066441" y="254000"/>
                  <a:pt x="717565" y="265953"/>
                  <a:pt x="491953" y="286871"/>
                </a:cubicBezTo>
                <a:cubicBezTo>
                  <a:pt x="266341" y="307789"/>
                  <a:pt x="125894" y="312271"/>
                  <a:pt x="61647" y="367553"/>
                </a:cubicBezTo>
                <a:cubicBezTo>
                  <a:pt x="-2600" y="422835"/>
                  <a:pt x="-53400" y="546847"/>
                  <a:pt x="106470" y="618565"/>
                </a:cubicBezTo>
                <a:cubicBezTo>
                  <a:pt x="266340" y="690283"/>
                  <a:pt x="657800" y="757518"/>
                  <a:pt x="1020870" y="797859"/>
                </a:cubicBezTo>
                <a:cubicBezTo>
                  <a:pt x="1383940" y="838200"/>
                  <a:pt x="1887459" y="860612"/>
                  <a:pt x="2284894" y="860612"/>
                </a:cubicBezTo>
                <a:cubicBezTo>
                  <a:pt x="2682329" y="860612"/>
                  <a:pt x="3166423" y="848659"/>
                  <a:pt x="3405482" y="797859"/>
                </a:cubicBezTo>
                <a:cubicBezTo>
                  <a:pt x="3644541" y="747059"/>
                  <a:pt x="3710282" y="629024"/>
                  <a:pt x="3719247" y="555812"/>
                </a:cubicBezTo>
                <a:cubicBezTo>
                  <a:pt x="3728212" y="482600"/>
                  <a:pt x="3599717" y="404906"/>
                  <a:pt x="3459270" y="358588"/>
                </a:cubicBezTo>
                <a:cubicBezTo>
                  <a:pt x="3318823" y="312270"/>
                  <a:pt x="2876564" y="277906"/>
                  <a:pt x="2876564" y="277906"/>
                </a:cubicBezTo>
                <a:lnTo>
                  <a:pt x="1989059" y="152400"/>
                </a:lnTo>
                <a:cubicBezTo>
                  <a:pt x="1697706" y="106082"/>
                  <a:pt x="1413076" y="53041"/>
                  <a:pt x="1128447" y="0"/>
                </a:cubicBezTo>
              </a:path>
            </a:pathLst>
          </a:custGeom>
          <a:noFill/>
          <a:ln w="19050">
            <a:solidFill>
              <a:srgbClr val="FF0066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671" y="4603791"/>
            <a:ext cx="1905266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46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Testing Identifiers</a:t>
            </a:r>
          </a:p>
        </p:txBody>
      </p:sp>
      <p:sp>
        <p:nvSpPr>
          <p:cNvPr id="13318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>
                <a:latin typeface="Calibri" panose="020F0502020204030204" pitchFamily="34" charset="0"/>
              </a:rPr>
              <a:t>A patron </a:t>
            </a:r>
            <a:r>
              <a:rPr lang="en-AU" sz="2200" b="1">
                <a:latin typeface="Calibri" panose="020F0502020204030204" pitchFamily="34" charset="0"/>
              </a:rPr>
              <a:t>must</a:t>
            </a:r>
            <a:r>
              <a:rPr lang="en-AU" sz="2200">
                <a:latin typeface="Calibri" panose="020F0502020204030204" pitchFamily="34" charset="0"/>
              </a:rPr>
              <a:t> be able to borrow the same toy on </a:t>
            </a:r>
            <a:r>
              <a:rPr lang="en-AU" sz="2200" b="1">
                <a:latin typeface="Calibri" panose="020F0502020204030204" pitchFamily="34" charset="0"/>
              </a:rPr>
              <a:t>multiple</a:t>
            </a:r>
            <a:r>
              <a:rPr lang="en-AU" sz="2200">
                <a:latin typeface="Calibri" panose="020F0502020204030204" pitchFamily="34" charset="0"/>
              </a:rPr>
              <a:t> dates.</a:t>
            </a:r>
          </a:p>
          <a:p>
            <a:pPr marL="381000" indent="-381000">
              <a:spcBef>
                <a:spcPct val="0"/>
              </a:spcBef>
            </a:pPr>
            <a:r>
              <a:rPr lang="en-AU" sz="2200">
                <a:latin typeface="Calibri" panose="020F0502020204030204" pitchFamily="34" charset="0"/>
              </a:rPr>
              <a:t>So underline the </a:t>
            </a:r>
            <a:r>
              <a:rPr lang="en-AU" sz="2200" err="1">
                <a:latin typeface="Calibri" panose="020F0502020204030204" pitchFamily="34" charset="0"/>
              </a:rPr>
              <a:t>DateBorrowed</a:t>
            </a:r>
            <a:r>
              <a:rPr lang="en-AU" sz="2200">
                <a:latin typeface="Calibri" panose="020F0502020204030204" pitchFamily="34" charset="0"/>
              </a:rPr>
              <a:t> attribute.</a:t>
            </a:r>
          </a:p>
          <a:p>
            <a:pPr marL="381000" indent="-381000">
              <a:spcBef>
                <a:spcPct val="0"/>
              </a:spcBef>
            </a:pPr>
            <a:r>
              <a:rPr lang="en-AU" sz="2200">
                <a:latin typeface="Calibri" panose="020F0502020204030204" pitchFamily="34" charset="0"/>
              </a:rPr>
              <a:t>The identifier is now </a:t>
            </a:r>
            <a:r>
              <a:rPr lang="en-AU" sz="2200" err="1">
                <a:latin typeface="Calibri" panose="020F0502020204030204" pitchFamily="34" charset="0"/>
              </a:rPr>
              <a:t>PatronNo</a:t>
            </a:r>
            <a:r>
              <a:rPr lang="en-AU" sz="2200">
                <a:latin typeface="Calibri" panose="020F0502020204030204" pitchFamily="34" charset="0"/>
              </a:rPr>
              <a:t> + </a:t>
            </a:r>
            <a:r>
              <a:rPr lang="en-AU" sz="2200" err="1">
                <a:latin typeface="Calibri" panose="020F0502020204030204" pitchFamily="34" charset="0"/>
              </a:rPr>
              <a:t>ToyNo</a:t>
            </a:r>
            <a:r>
              <a:rPr lang="en-AU" sz="2200">
                <a:latin typeface="Calibri" panose="020F0502020204030204" pitchFamily="34" charset="0"/>
              </a:rPr>
              <a:t> + </a:t>
            </a:r>
            <a:r>
              <a:rPr lang="en-AU" sz="2200" err="1">
                <a:latin typeface="Calibri" panose="020F0502020204030204" pitchFamily="34" charset="0"/>
              </a:rPr>
              <a:t>DateBorrowed</a:t>
            </a:r>
            <a:endParaRPr lang="en-AU" sz="2200">
              <a:latin typeface="Calibri" panose="020F0502020204030204" pitchFamily="34" charset="0"/>
            </a:endParaRPr>
          </a:p>
          <a:p>
            <a:pPr marL="655638" lvl="1" indent="-381000">
              <a:spcBef>
                <a:spcPct val="0"/>
              </a:spcBef>
            </a:pPr>
            <a:endParaRPr lang="en-AU" sz="2200">
              <a:latin typeface="Calibri" panose="020F0502020204030204" pitchFamily="34" charset="0"/>
            </a:endParaRPr>
          </a:p>
          <a:p>
            <a:pPr marL="1138238" lvl="2" indent="-381000">
              <a:spcBef>
                <a:spcPct val="0"/>
              </a:spcBef>
            </a:pPr>
            <a:endParaRPr lang="en-US" sz="220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>
              <a:latin typeface="Calibri" panose="020F0502020204030204" pitchFamily="34" charset="0"/>
            </a:endParaRPr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3314" name="Object 5"/>
          <p:cNvGraphicFramePr>
            <a:graphicFrameLocks noChangeAspect="1"/>
          </p:cNvGraphicFramePr>
          <p:nvPr/>
        </p:nvGraphicFramePr>
        <p:xfrm>
          <a:off x="2424118" y="2690995"/>
          <a:ext cx="7851682" cy="2298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133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433"/>
                      <a:stretch>
                        <a:fillRect/>
                      </a:stretch>
                    </p:blipFill>
                    <p:spPr bwMode="auto">
                      <a:xfrm>
                        <a:off x="2424118" y="2690995"/>
                        <a:ext cx="7851682" cy="2298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07468" y="5693104"/>
            <a:ext cx="5882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 defTabSz="457200"/>
            <a:r>
              <a:rPr lang="en-AU" sz="2400">
                <a:solidFill>
                  <a:srgbClr val="FF0000"/>
                </a:solidFill>
                <a:latin typeface="Calibri"/>
              </a:rPr>
              <a:t>Is this ERD correct? Test it with sample data …</a:t>
            </a:r>
            <a:endParaRPr lang="en-AU" sz="160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295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Testing Identifiers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sz="2800"/>
          </a:p>
          <a:p>
            <a:endParaRPr lang="en-AU" sz="2800"/>
          </a:p>
          <a:p>
            <a:endParaRPr lang="en-AU" sz="2000" b="1"/>
          </a:p>
          <a:p>
            <a:endParaRPr lang="en-AU" sz="2000" b="1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43014" name="Rectangle 5"/>
          <p:cNvSpPr>
            <a:spLocks noChangeArrowheads="1"/>
          </p:cNvSpPr>
          <p:nvPr/>
        </p:nvSpPr>
        <p:spPr bwMode="auto">
          <a:xfrm>
            <a:off x="2208214" y="836614"/>
            <a:ext cx="7704137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/>
              </a:rPr>
              <a:t>The relational schema for Loan is now:</a:t>
            </a:r>
          </a:p>
          <a:p>
            <a:pPr marL="1138238" lvl="2" indent="-381000" defTabSz="457200">
              <a:lnSpc>
                <a:spcPct val="90000"/>
              </a:lnSpc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LOAN( </a:t>
            </a:r>
            <a:r>
              <a:rPr lang="en-AU" u="sng" err="1">
                <a:solidFill>
                  <a:srgbClr val="0033CC"/>
                </a:solidFill>
                <a:latin typeface="Calibri"/>
              </a:rPr>
              <a:t>PatronNo</a:t>
            </a:r>
            <a:r>
              <a:rPr lang="en-AU" u="sng">
                <a:solidFill>
                  <a:srgbClr val="0033CC"/>
                </a:solidFill>
                <a:latin typeface="Calibri"/>
              </a:rPr>
              <a:t>, </a:t>
            </a:r>
            <a:r>
              <a:rPr lang="en-AU" u="sng" err="1">
                <a:solidFill>
                  <a:srgbClr val="0033CC"/>
                </a:solidFill>
                <a:latin typeface="Calibri"/>
              </a:rPr>
              <a:t>ToyNo</a:t>
            </a:r>
            <a:r>
              <a:rPr lang="en-AU" u="sng">
                <a:solidFill>
                  <a:srgbClr val="0033CC"/>
                </a:solidFill>
                <a:latin typeface="Calibri"/>
              </a:rPr>
              <a:t>, </a:t>
            </a:r>
            <a:r>
              <a:rPr lang="en-AU" u="sng" err="1">
                <a:solidFill>
                  <a:srgbClr val="0033CC"/>
                </a:solidFill>
                <a:latin typeface="Calibri"/>
              </a:rPr>
              <a:t>DateBorrowed</a:t>
            </a:r>
            <a:r>
              <a:rPr lang="en-AU">
                <a:solidFill>
                  <a:srgbClr val="0033CC"/>
                </a:solidFill>
                <a:latin typeface="Calibri"/>
              </a:rPr>
              <a:t>, 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DateReturned</a:t>
            </a:r>
            <a:r>
              <a:rPr lang="en-AU">
                <a:solidFill>
                  <a:srgbClr val="0033CC"/>
                </a:solidFill>
                <a:latin typeface="Calibri"/>
              </a:rPr>
              <a:t>)</a:t>
            </a:r>
          </a:p>
          <a:p>
            <a:pPr marL="1138238" lvl="2" indent="-381000" defTabSz="457200">
              <a:lnSpc>
                <a:spcPct val="90000"/>
              </a:lnSpc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	PK: 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PatronNo</a:t>
            </a:r>
            <a:r>
              <a:rPr lang="en-AU">
                <a:solidFill>
                  <a:srgbClr val="0033CC"/>
                </a:solidFill>
                <a:latin typeface="Calibri"/>
              </a:rPr>
              <a:t>, 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ToyNo</a:t>
            </a:r>
            <a:r>
              <a:rPr lang="en-AU">
                <a:solidFill>
                  <a:srgbClr val="0033CC"/>
                </a:solidFill>
                <a:latin typeface="Calibri"/>
              </a:rPr>
              <a:t>, 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DateBorrowed</a:t>
            </a:r>
            <a:endParaRPr lang="en-AU">
              <a:solidFill>
                <a:srgbClr val="0033CC"/>
              </a:solidFill>
              <a:latin typeface="Calibri"/>
            </a:endParaRPr>
          </a:p>
          <a:p>
            <a:pPr marL="1138238" lvl="2" indent="-381000" defTabSz="457200">
              <a:lnSpc>
                <a:spcPct val="90000"/>
              </a:lnSpc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	FK1: 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PatronNo</a:t>
            </a:r>
            <a:r>
              <a:rPr lang="en-AU">
                <a:solidFill>
                  <a:srgbClr val="0033CC"/>
                </a:solidFill>
                <a:latin typeface="Calibri"/>
              </a:rPr>
              <a:t> references PATRON</a:t>
            </a:r>
          </a:p>
          <a:p>
            <a:pPr marL="1138238" lvl="2" indent="-381000" defTabSz="457200">
              <a:lnSpc>
                <a:spcPct val="90000"/>
              </a:lnSpc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	FK2: 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ToyNo</a:t>
            </a:r>
            <a:r>
              <a:rPr lang="en-AU">
                <a:solidFill>
                  <a:srgbClr val="0033CC"/>
                </a:solidFill>
                <a:latin typeface="Calibri"/>
              </a:rPr>
              <a:t> references TOY</a:t>
            </a: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2781300" algn="l"/>
                <a:tab pos="4660900" algn="l"/>
              </a:tabLst>
            </a:pPr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/>
              </a:rPr>
              <a:t>Test the following Loan data rows. Will they be valid?</a:t>
            </a:r>
          </a:p>
          <a:p>
            <a:pPr marL="381000" indent="-381000" defTabSz="457200">
              <a:buSzPct val="75000"/>
              <a:tabLst>
                <a:tab pos="2781300" algn="l"/>
                <a:tab pos="4660900" algn="l"/>
              </a:tabLst>
            </a:pPr>
            <a:endParaRPr lang="en-AU" sz="900">
              <a:solidFill>
                <a:srgbClr val="0033CC"/>
              </a:solidFill>
              <a:latin typeface="Calibri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u="sng" err="1">
                <a:solidFill>
                  <a:srgbClr val="0033CC"/>
                </a:solidFill>
                <a:latin typeface="Calibri"/>
              </a:rPr>
              <a:t>PatronNo</a:t>
            </a:r>
            <a:r>
              <a:rPr lang="en-AU">
                <a:solidFill>
                  <a:srgbClr val="0033CC"/>
                </a:solidFill>
                <a:latin typeface="Calibri"/>
              </a:rPr>
              <a:t>	</a:t>
            </a:r>
            <a:r>
              <a:rPr lang="en-AU" u="sng" err="1">
                <a:solidFill>
                  <a:srgbClr val="0033CC"/>
                </a:solidFill>
                <a:latin typeface="Calibri"/>
              </a:rPr>
              <a:t>ToyNo</a:t>
            </a:r>
            <a:r>
              <a:rPr lang="en-AU">
                <a:solidFill>
                  <a:srgbClr val="0033CC"/>
                </a:solidFill>
                <a:latin typeface="Calibri"/>
              </a:rPr>
              <a:t>	</a:t>
            </a:r>
            <a:r>
              <a:rPr lang="en-AU" u="sng" err="1">
                <a:solidFill>
                  <a:srgbClr val="0033CC"/>
                </a:solidFill>
                <a:latin typeface="Calibri"/>
              </a:rPr>
              <a:t>DateBorrow</a:t>
            </a:r>
            <a:r>
              <a:rPr lang="en-AU">
                <a:solidFill>
                  <a:srgbClr val="0033CC"/>
                </a:solidFill>
                <a:latin typeface="Calibri"/>
              </a:rPr>
              <a:t>	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DateReturn</a:t>
            </a:r>
            <a:endParaRPr lang="en-AU">
              <a:solidFill>
                <a:srgbClr val="0033CC"/>
              </a:solidFill>
              <a:latin typeface="Calibri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53		27	1 June		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53		31	1 June		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53		27	19 July		30 July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53		27	2 August	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71		27	11 June		18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71		31	11 June		18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71		28	31 July		30 August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>
                <a:solidFill>
                  <a:srgbClr val="0033CC"/>
                </a:solidFill>
                <a:latin typeface="Calibri"/>
              </a:rPr>
              <a:t>53		31	9 October	</a:t>
            </a:r>
          </a:p>
        </p:txBody>
      </p:sp>
    </p:spTree>
    <p:extLst>
      <p:ext uri="{BB962C8B-B14F-4D97-AF65-F5344CB8AC3E}">
        <p14:creationId xmlns:p14="http://schemas.microsoft.com/office/powerpoint/2010/main" val="124750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Keep testing…</a:t>
            </a:r>
          </a:p>
        </p:txBody>
      </p:sp>
      <p:sp>
        <p:nvSpPr>
          <p:cNvPr id="14342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507413" cy="3917482"/>
          </a:xfrm>
          <a:noFill/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>
                <a:latin typeface="Calibri" panose="020F0502020204030204" pitchFamily="34" charset="0"/>
              </a:rPr>
              <a:t>Would the ERD still be correct if we included </a:t>
            </a:r>
            <a:r>
              <a:rPr lang="en-AU" sz="2200" b="1" err="1">
                <a:latin typeface="Calibri" panose="020F0502020204030204" pitchFamily="34" charset="0"/>
              </a:rPr>
              <a:t>DateReturned</a:t>
            </a:r>
            <a:r>
              <a:rPr lang="en-AU" sz="2200">
                <a:latin typeface="Calibri" panose="020F0502020204030204" pitchFamily="34" charset="0"/>
              </a:rPr>
              <a:t> as part of the Loan Identifier?     </a:t>
            </a:r>
            <a:br>
              <a:rPr lang="en-AU" sz="2200">
                <a:latin typeface="Calibri" panose="020F0502020204030204" pitchFamily="34" charset="0"/>
              </a:rPr>
            </a:br>
            <a:r>
              <a:rPr lang="en-AU" sz="2200">
                <a:latin typeface="Calibri" panose="020F0502020204030204" pitchFamily="34" charset="0"/>
              </a:rPr>
              <a:t>Three possible answers exist</a:t>
            </a:r>
          </a:p>
          <a:p>
            <a:pPr marL="1851025" lvl="3" indent="-381000">
              <a:spcBef>
                <a:spcPct val="0"/>
              </a:spcBef>
              <a:buFont typeface="Wingdings" pitchFamily="2" charset="2"/>
              <a:buAutoNum type="alphaLcPeriod"/>
            </a:pPr>
            <a:r>
              <a:rPr lang="en-AU" sz="2200" err="1">
                <a:latin typeface="Calibri" panose="020F0502020204030204" pitchFamily="34" charset="0"/>
              </a:rPr>
              <a:t>DateReturned</a:t>
            </a:r>
            <a:r>
              <a:rPr lang="en-AU" sz="2200">
                <a:latin typeface="Calibri" panose="020F0502020204030204" pitchFamily="34" charset="0"/>
              </a:rPr>
              <a:t> </a:t>
            </a:r>
            <a:r>
              <a:rPr lang="en-AU" sz="2200" b="1">
                <a:latin typeface="Calibri" panose="020F0502020204030204" pitchFamily="34" charset="0"/>
              </a:rPr>
              <a:t>should be</a:t>
            </a:r>
            <a:r>
              <a:rPr lang="en-AU" sz="2200">
                <a:latin typeface="Calibri" panose="020F0502020204030204" pitchFamily="34" charset="0"/>
              </a:rPr>
              <a:t> part of Loan identifier</a:t>
            </a:r>
          </a:p>
          <a:p>
            <a:pPr marL="1851025" lvl="3" indent="-381000">
              <a:spcBef>
                <a:spcPct val="0"/>
              </a:spcBef>
              <a:buFont typeface="Wingdings" pitchFamily="2" charset="2"/>
              <a:buAutoNum type="alphaLcPeriod"/>
            </a:pPr>
            <a:r>
              <a:rPr lang="en-AU" sz="2200" err="1">
                <a:latin typeface="Calibri" panose="020F0502020204030204" pitchFamily="34" charset="0"/>
              </a:rPr>
              <a:t>DateReturned</a:t>
            </a:r>
            <a:r>
              <a:rPr lang="en-AU" sz="2200">
                <a:latin typeface="Calibri" panose="020F0502020204030204" pitchFamily="34" charset="0"/>
              </a:rPr>
              <a:t> </a:t>
            </a:r>
            <a:r>
              <a:rPr lang="en-AU" sz="2200" b="1">
                <a:latin typeface="Calibri" panose="020F0502020204030204" pitchFamily="34" charset="0"/>
              </a:rPr>
              <a:t>must not</a:t>
            </a:r>
            <a:r>
              <a:rPr lang="en-AU" sz="2200">
                <a:latin typeface="Calibri" panose="020F0502020204030204" pitchFamily="34" charset="0"/>
              </a:rPr>
              <a:t> be part of Loan identifier</a:t>
            </a:r>
          </a:p>
          <a:p>
            <a:pPr marL="1851025" lvl="3" indent="-381000">
              <a:spcBef>
                <a:spcPct val="0"/>
              </a:spcBef>
              <a:buFont typeface="Wingdings" pitchFamily="2" charset="2"/>
              <a:buAutoNum type="alphaLcPeriod"/>
            </a:pPr>
            <a:r>
              <a:rPr lang="en-AU" sz="2200">
                <a:latin typeface="Calibri" panose="020F0502020204030204" pitchFamily="34" charset="0"/>
              </a:rPr>
              <a:t>It makes </a:t>
            </a:r>
            <a:r>
              <a:rPr lang="en-AU" sz="2200" b="1">
                <a:latin typeface="Calibri" panose="020F0502020204030204" pitchFamily="34" charset="0"/>
              </a:rPr>
              <a:t>no difference</a:t>
            </a:r>
            <a:r>
              <a:rPr lang="en-AU" sz="2200">
                <a:latin typeface="Calibri" panose="020F0502020204030204" pitchFamily="34" charset="0"/>
              </a:rPr>
              <a:t> to the outcome / usage</a:t>
            </a:r>
          </a:p>
          <a:p>
            <a:pPr marL="1138238" lvl="2" indent="-381000">
              <a:spcBef>
                <a:spcPct val="0"/>
              </a:spcBef>
              <a:buFont typeface="Wingdings" pitchFamily="2" charset="2"/>
              <a:buAutoNum type="alphaLcPeriod"/>
            </a:pPr>
            <a:endParaRPr lang="en-AU" sz="2200">
              <a:latin typeface="Calibri" panose="020F0502020204030204" pitchFamily="34" charset="0"/>
            </a:endParaRPr>
          </a:p>
          <a:p>
            <a:pPr marL="655638" lvl="1" indent="-381000">
              <a:spcBef>
                <a:spcPct val="0"/>
              </a:spcBef>
            </a:pPr>
            <a:endParaRPr lang="en-AU" sz="2200">
              <a:latin typeface="Calibri" panose="020F0502020204030204" pitchFamily="34" charset="0"/>
            </a:endParaRPr>
          </a:p>
          <a:p>
            <a:pPr marL="1138238" lvl="2" indent="-381000">
              <a:spcBef>
                <a:spcPct val="0"/>
              </a:spcBef>
            </a:pPr>
            <a:endParaRPr lang="en-US" sz="220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>
              <a:latin typeface="Calibri" panose="020F0502020204030204" pitchFamily="34" charset="0"/>
            </a:endParaRPr>
          </a:p>
        </p:txBody>
      </p:sp>
      <p:sp>
        <p:nvSpPr>
          <p:cNvPr id="14340" name="Rectangle 2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4338" name="Object 5"/>
          <p:cNvGraphicFramePr>
            <a:graphicFrameLocks noChangeAspect="1"/>
          </p:cNvGraphicFramePr>
          <p:nvPr/>
        </p:nvGraphicFramePr>
        <p:xfrm>
          <a:off x="2702858" y="3545916"/>
          <a:ext cx="7064095" cy="2068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1433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433"/>
                      <a:stretch>
                        <a:fillRect/>
                      </a:stretch>
                    </p:blipFill>
                    <p:spPr bwMode="auto">
                      <a:xfrm>
                        <a:off x="2702858" y="3545916"/>
                        <a:ext cx="7064095" cy="2068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507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Testing Identifiers again</a:t>
            </a:r>
          </a:p>
        </p:txBody>
      </p:sp>
      <p:sp>
        <p:nvSpPr>
          <p:cNvPr id="44037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sz="2800"/>
          </a:p>
          <a:p>
            <a:endParaRPr lang="en-AU" sz="2800"/>
          </a:p>
          <a:p>
            <a:endParaRPr lang="en-AU" sz="2000" b="1"/>
          </a:p>
          <a:p>
            <a:endParaRPr lang="en-AU" sz="2000" b="1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44038" name="Rectangle 5"/>
          <p:cNvSpPr>
            <a:spLocks noChangeArrowheads="1"/>
          </p:cNvSpPr>
          <p:nvPr/>
        </p:nvSpPr>
        <p:spPr bwMode="auto">
          <a:xfrm>
            <a:off x="2208214" y="836614"/>
            <a:ext cx="7704137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The relational schema for Loan is now:</a:t>
            </a:r>
          </a:p>
          <a:p>
            <a:pPr marL="1138238" lvl="2" indent="-381000" defTabSz="457200"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LOAN( </a:t>
            </a:r>
            <a:r>
              <a:rPr lang="en-AU" sz="2200" u="sng" err="1">
                <a:solidFill>
                  <a:srgbClr val="0033CC"/>
                </a:solidFill>
                <a:latin typeface="Calibri" panose="020F0502020204030204" pitchFamily="34" charset="0"/>
              </a:rPr>
              <a:t>PatronNo</a:t>
            </a:r>
            <a:r>
              <a:rPr lang="en-AU" sz="2200" u="sng">
                <a:solidFill>
                  <a:srgbClr val="0033CC"/>
                </a:solidFill>
                <a:latin typeface="Calibri" panose="020F0502020204030204" pitchFamily="34" charset="0"/>
              </a:rPr>
              <a:t>, </a:t>
            </a:r>
            <a:r>
              <a:rPr lang="en-AU" sz="2200" u="sng" err="1">
                <a:solidFill>
                  <a:srgbClr val="0033CC"/>
                </a:solidFill>
                <a:latin typeface="Calibri" panose="020F0502020204030204" pitchFamily="34" charset="0"/>
              </a:rPr>
              <a:t>ToyNo</a:t>
            </a:r>
            <a:r>
              <a:rPr lang="en-AU" sz="2200" u="sng">
                <a:solidFill>
                  <a:srgbClr val="0033CC"/>
                </a:solidFill>
                <a:latin typeface="Calibri" panose="020F0502020204030204" pitchFamily="34" charset="0"/>
              </a:rPr>
              <a:t>, </a:t>
            </a:r>
            <a:r>
              <a:rPr lang="en-AU" sz="2200" u="sng" err="1">
                <a:solidFill>
                  <a:srgbClr val="0033CC"/>
                </a:solidFill>
                <a:latin typeface="Calibri" panose="020F0502020204030204" pitchFamily="34" charset="0"/>
              </a:rPr>
              <a:t>DateBorrowed</a:t>
            </a:r>
            <a:r>
              <a:rPr lang="en-AU" sz="2200" u="sng">
                <a:solidFill>
                  <a:srgbClr val="0033CC"/>
                </a:solidFill>
                <a:latin typeface="Calibri" panose="020F0502020204030204" pitchFamily="34" charset="0"/>
              </a:rPr>
              <a:t>, </a:t>
            </a:r>
            <a:r>
              <a:rPr lang="en-AU" sz="2200" u="sng" err="1">
                <a:solidFill>
                  <a:srgbClr val="0033CC"/>
                </a:solidFill>
                <a:latin typeface="Calibri" panose="020F0502020204030204" pitchFamily="34" charset="0"/>
              </a:rPr>
              <a:t>DateReturned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)</a:t>
            </a:r>
          </a:p>
          <a:p>
            <a:pPr marL="1138238" lvl="2" indent="-381000" defTabSz="457200"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	PK: </a:t>
            </a: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PatronNo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, </a:t>
            </a: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ToyNo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, </a:t>
            </a: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DateBorrowed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, </a:t>
            </a: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DateReturned</a:t>
            </a:r>
            <a:endParaRPr lang="en-AU" sz="2200">
              <a:solidFill>
                <a:srgbClr val="0033CC"/>
              </a:solidFill>
              <a:latin typeface="Calibri" panose="020F0502020204030204" pitchFamily="34" charset="0"/>
            </a:endParaRPr>
          </a:p>
          <a:p>
            <a:pPr marL="1138238" lvl="2" indent="-381000" defTabSz="457200"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	FK1: </a:t>
            </a: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PatronNo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 references PATRON</a:t>
            </a:r>
          </a:p>
          <a:p>
            <a:pPr marL="1138238" lvl="2" indent="-381000" defTabSz="457200"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	FK2: </a:t>
            </a:r>
            <a:r>
              <a:rPr lang="en-AU" sz="2200" err="1">
                <a:solidFill>
                  <a:srgbClr val="0033CC"/>
                </a:solidFill>
                <a:latin typeface="Calibri" panose="020F0502020204030204" pitchFamily="34" charset="0"/>
              </a:rPr>
              <a:t>ToyNo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 references TOY</a:t>
            </a: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D1161E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Test the following Loan data rows. Will they be valid?</a:t>
            </a:r>
          </a:p>
          <a:p>
            <a:pPr marL="381000" indent="-381000" defTabSz="457200">
              <a:buSzPct val="75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33CC"/>
              </a:solidFill>
              <a:latin typeface="Calibri" panose="020F0502020204030204" pitchFamily="34" charset="0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 u="sng" err="1">
                <a:solidFill>
                  <a:srgbClr val="0033CC"/>
                </a:solidFill>
                <a:latin typeface="Calibri" panose="020F0502020204030204" pitchFamily="34" charset="0"/>
              </a:rPr>
              <a:t>PatronNo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	</a:t>
            </a:r>
            <a:r>
              <a:rPr lang="en-AU" sz="2200" u="sng" err="1">
                <a:solidFill>
                  <a:srgbClr val="0033CC"/>
                </a:solidFill>
                <a:latin typeface="Calibri" panose="020F0502020204030204" pitchFamily="34" charset="0"/>
              </a:rPr>
              <a:t>ToyNo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	</a:t>
            </a:r>
            <a:r>
              <a:rPr lang="en-AU" sz="2200" u="sng" err="1">
                <a:solidFill>
                  <a:srgbClr val="0033CC"/>
                </a:solidFill>
                <a:latin typeface="Calibri" panose="020F0502020204030204" pitchFamily="34" charset="0"/>
              </a:rPr>
              <a:t>DateBorrow</a:t>
            </a: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	</a:t>
            </a:r>
            <a:r>
              <a:rPr lang="en-AU" sz="2200" u="sng" err="1">
                <a:solidFill>
                  <a:srgbClr val="0033CC"/>
                </a:solidFill>
                <a:latin typeface="Calibri" panose="020F0502020204030204" pitchFamily="34" charset="0"/>
              </a:rPr>
              <a:t>DateReturn</a:t>
            </a:r>
            <a:endParaRPr lang="en-AU" sz="2200" u="sng">
              <a:solidFill>
                <a:srgbClr val="0033CC"/>
              </a:solidFill>
              <a:latin typeface="Calibri" panose="020F0502020204030204" pitchFamily="34" charset="0"/>
            </a:endParaRP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53		27	1 June			8 June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53		27	19 July			30 July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53		27	2 August	</a:t>
            </a:r>
          </a:p>
          <a:p>
            <a:pPr marL="274638" lvl="1" defTabSz="457200">
              <a:buSzPct val="80000"/>
              <a:tabLst>
                <a:tab pos="2781300" algn="l"/>
                <a:tab pos="4660900" algn="l"/>
              </a:tabLst>
            </a:pPr>
            <a:endParaRPr lang="en-AU" sz="2200">
              <a:solidFill>
                <a:srgbClr val="0033CC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A PK must not contain Nulls</a:t>
            </a:r>
          </a:p>
          <a:p>
            <a:pPr defTabSz="457200">
              <a:buSzPct val="75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Row 3 </a:t>
            </a:r>
            <a:r>
              <a:rPr lang="en-AU" sz="2200" u="sng">
                <a:solidFill>
                  <a:srgbClr val="000000"/>
                </a:solidFill>
                <a:latin typeface="Calibri" panose="020F0502020204030204" pitchFamily="34" charset="0"/>
              </a:rPr>
              <a:t>fails</a:t>
            </a:r>
            <a:r>
              <a:rPr lang="en-AU" sz="2200">
                <a:solidFill>
                  <a:srgbClr val="000000"/>
                </a:solidFill>
                <a:latin typeface="Calibri" panose="020F0502020204030204" pitchFamily="34" charset="0"/>
              </a:rPr>
              <a:t> this test.</a:t>
            </a:r>
          </a:p>
          <a:p>
            <a:pPr marL="655638" lvl="1" indent="-381000" defTabSz="457200">
              <a:buSzPct val="80000"/>
              <a:tabLst>
                <a:tab pos="2781300" algn="l"/>
                <a:tab pos="4660900" algn="l"/>
              </a:tabLst>
            </a:pPr>
            <a:r>
              <a:rPr lang="en-AU" sz="2200">
                <a:solidFill>
                  <a:srgbClr val="0033CC"/>
                </a:solidFill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6" name="Freeform 5"/>
          <p:cNvSpPr/>
          <p:nvPr/>
        </p:nvSpPr>
        <p:spPr>
          <a:xfrm>
            <a:off x="8265459" y="4347883"/>
            <a:ext cx="1535860" cy="555919"/>
          </a:xfrm>
          <a:custGeom>
            <a:avLst/>
            <a:gdLst>
              <a:gd name="connsiteX0" fmla="*/ 1415317 w 3719689"/>
              <a:gd name="connsiteY0" fmla="*/ 242047 h 860612"/>
              <a:gd name="connsiteX1" fmla="*/ 491953 w 3719689"/>
              <a:gd name="connsiteY1" fmla="*/ 286871 h 860612"/>
              <a:gd name="connsiteX2" fmla="*/ 61647 w 3719689"/>
              <a:gd name="connsiteY2" fmla="*/ 367553 h 860612"/>
              <a:gd name="connsiteX3" fmla="*/ 106470 w 3719689"/>
              <a:gd name="connsiteY3" fmla="*/ 618565 h 860612"/>
              <a:gd name="connsiteX4" fmla="*/ 1020870 w 3719689"/>
              <a:gd name="connsiteY4" fmla="*/ 797859 h 860612"/>
              <a:gd name="connsiteX5" fmla="*/ 2284894 w 3719689"/>
              <a:gd name="connsiteY5" fmla="*/ 860612 h 860612"/>
              <a:gd name="connsiteX6" fmla="*/ 3405482 w 3719689"/>
              <a:gd name="connsiteY6" fmla="*/ 797859 h 860612"/>
              <a:gd name="connsiteX7" fmla="*/ 3719247 w 3719689"/>
              <a:gd name="connsiteY7" fmla="*/ 555812 h 860612"/>
              <a:gd name="connsiteX8" fmla="*/ 3459270 w 3719689"/>
              <a:gd name="connsiteY8" fmla="*/ 358588 h 860612"/>
              <a:gd name="connsiteX9" fmla="*/ 2876564 w 3719689"/>
              <a:gd name="connsiteY9" fmla="*/ 277906 h 860612"/>
              <a:gd name="connsiteX10" fmla="*/ 1989059 w 3719689"/>
              <a:gd name="connsiteY10" fmla="*/ 152400 h 860612"/>
              <a:gd name="connsiteX11" fmla="*/ 1128447 w 3719689"/>
              <a:gd name="connsiteY11" fmla="*/ 0 h 860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19689" h="860612">
                <a:moveTo>
                  <a:pt x="1415317" y="242047"/>
                </a:moveTo>
                <a:cubicBezTo>
                  <a:pt x="1066441" y="254000"/>
                  <a:pt x="717565" y="265953"/>
                  <a:pt x="491953" y="286871"/>
                </a:cubicBezTo>
                <a:cubicBezTo>
                  <a:pt x="266341" y="307789"/>
                  <a:pt x="125894" y="312271"/>
                  <a:pt x="61647" y="367553"/>
                </a:cubicBezTo>
                <a:cubicBezTo>
                  <a:pt x="-2600" y="422835"/>
                  <a:pt x="-53400" y="546847"/>
                  <a:pt x="106470" y="618565"/>
                </a:cubicBezTo>
                <a:cubicBezTo>
                  <a:pt x="266340" y="690283"/>
                  <a:pt x="657800" y="757518"/>
                  <a:pt x="1020870" y="797859"/>
                </a:cubicBezTo>
                <a:cubicBezTo>
                  <a:pt x="1383940" y="838200"/>
                  <a:pt x="1887459" y="860612"/>
                  <a:pt x="2284894" y="860612"/>
                </a:cubicBezTo>
                <a:cubicBezTo>
                  <a:pt x="2682329" y="860612"/>
                  <a:pt x="3166423" y="848659"/>
                  <a:pt x="3405482" y="797859"/>
                </a:cubicBezTo>
                <a:cubicBezTo>
                  <a:pt x="3644541" y="747059"/>
                  <a:pt x="3710282" y="629024"/>
                  <a:pt x="3719247" y="555812"/>
                </a:cubicBezTo>
                <a:cubicBezTo>
                  <a:pt x="3728212" y="482600"/>
                  <a:pt x="3599717" y="404906"/>
                  <a:pt x="3459270" y="358588"/>
                </a:cubicBezTo>
                <a:cubicBezTo>
                  <a:pt x="3318823" y="312270"/>
                  <a:pt x="2876564" y="277906"/>
                  <a:pt x="2876564" y="277906"/>
                </a:cubicBezTo>
                <a:lnTo>
                  <a:pt x="1989059" y="152400"/>
                </a:lnTo>
                <a:cubicBezTo>
                  <a:pt x="1697706" y="106082"/>
                  <a:pt x="1413076" y="53041"/>
                  <a:pt x="1128447" y="0"/>
                </a:cubicBezTo>
              </a:path>
            </a:pathLst>
          </a:custGeom>
          <a:noFill/>
          <a:ln w="19050">
            <a:solidFill>
              <a:srgbClr val="FF0066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70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US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Multiple Topics</a:t>
            </a:r>
          </a:p>
        </p:txBody>
      </p:sp>
      <p:sp>
        <p:nvSpPr>
          <p:cNvPr id="34821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7951694" cy="39174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200"/>
              <a:t>The following slides describe a number of SQL statements and clauses the we will consider to be 'advanced'.</a:t>
            </a:r>
          </a:p>
          <a:p>
            <a:pPr marL="0" indent="0">
              <a:buNone/>
            </a:pPr>
            <a:endParaRPr lang="en-AU" sz="2200"/>
          </a:p>
          <a:p>
            <a:pPr marL="0" indent="0">
              <a:buNone/>
            </a:pPr>
            <a:r>
              <a:rPr lang="en-AU" sz="2200"/>
              <a:t>Students hoping to secure only a Pass in this unit will not have to attempt these questions in PASS submission requirements or in Test number 2</a:t>
            </a:r>
          </a:p>
          <a:p>
            <a:pPr marL="0" indent="0">
              <a:buNone/>
            </a:pPr>
            <a:endParaRPr lang="en-AU" sz="2200"/>
          </a:p>
          <a:p>
            <a:pPr marL="0" indent="0">
              <a:buNone/>
            </a:pPr>
            <a:r>
              <a:rPr lang="en-AU" sz="2200"/>
              <a:t>Students seeking a higher grade should try some or all of the following:</a:t>
            </a:r>
          </a:p>
          <a:p>
            <a:pPr lvl="4"/>
            <a:r>
              <a:rPr lang="en-AU" sz="2200"/>
              <a:t>	Date functions</a:t>
            </a:r>
          </a:p>
          <a:p>
            <a:pPr lvl="4"/>
            <a:r>
              <a:rPr lang="en-AU" sz="2200"/>
              <a:t>   Outer Joins</a:t>
            </a:r>
          </a:p>
          <a:p>
            <a:pPr lvl="4"/>
            <a:r>
              <a:rPr lang="en-AU" sz="2200"/>
              <a:t>	Sub Queries</a:t>
            </a:r>
          </a:p>
          <a:p>
            <a:pPr lvl="4"/>
            <a:r>
              <a:rPr lang="en-AU" sz="2200"/>
              <a:t>	Unions</a:t>
            </a:r>
          </a:p>
          <a:p>
            <a:pPr lvl="4"/>
            <a:r>
              <a:rPr lang="en-AU" sz="2200"/>
              <a:t>   Constraints</a:t>
            </a:r>
          </a:p>
        </p:txBody>
      </p:sp>
    </p:spTree>
    <p:extLst>
      <p:ext uri="{BB962C8B-B14F-4D97-AF65-F5344CB8AC3E}">
        <p14:creationId xmlns:p14="http://schemas.microsoft.com/office/powerpoint/2010/main" val="239676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SQL: Dates using Oracle</a:t>
            </a:r>
          </a:p>
        </p:txBody>
      </p:sp>
      <p:sp>
        <p:nvSpPr>
          <p:cNvPr id="57348" name="Text Box 3"/>
          <p:cNvSpPr txBox="1">
            <a:spLocks noChangeArrowheads="1"/>
          </p:cNvSpPr>
          <p:nvPr/>
        </p:nvSpPr>
        <p:spPr bwMode="auto">
          <a:xfrm>
            <a:off x="1949450" y="836614"/>
            <a:ext cx="8491153" cy="271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57188" indent="-268288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88900" indent="0" defTabSz="457200" eaLnBrk="1" hangingPunct="1"/>
            <a:r>
              <a:rPr lang="en-US" b="0" i="0">
                <a:solidFill>
                  <a:srgbClr val="000000"/>
                </a:solidFill>
              </a:rPr>
              <a:t>Some simple examples of using the Date </a:t>
            </a:r>
            <a:r>
              <a:rPr lang="en-US" b="0" i="0" err="1">
                <a:solidFill>
                  <a:srgbClr val="000000"/>
                </a:solidFill>
              </a:rPr>
              <a:t>Datatype</a:t>
            </a:r>
            <a:r>
              <a:rPr lang="en-US" b="0" i="0">
                <a:solidFill>
                  <a:srgbClr val="000000"/>
                </a:solidFill>
              </a:rPr>
              <a:t> within Oracle</a:t>
            </a:r>
          </a:p>
          <a:p>
            <a:pPr defTabSz="457200" eaLnBrk="1" hangingPunct="1">
              <a:buFont typeface="Wingdings" pitchFamily="2" charset="2"/>
              <a:buChar char="Ø"/>
            </a:pP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>
              <a:buFont typeface="Wingdings" pitchFamily="2" charset="2"/>
              <a:buChar char="Ø"/>
            </a:pP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>
              <a:buFont typeface="Wingdings" pitchFamily="2" charset="2"/>
              <a:buChar char="Ø"/>
            </a:pP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>
              <a:buFont typeface="Wingdings" pitchFamily="2" charset="2"/>
              <a:buChar char="Ø"/>
            </a:pPr>
            <a:endParaRPr lang="en-US" b="0" i="0">
              <a:solidFill>
                <a:srgbClr val="D1161E"/>
              </a:solidFill>
            </a:endParaRPr>
          </a:p>
          <a:p>
            <a:pPr marL="457200" indent="-457200" defTabSz="457200">
              <a:lnSpc>
                <a:spcPct val="110000"/>
              </a:lnSpc>
              <a:tabLst>
                <a:tab pos="628650" algn="l"/>
                <a:tab pos="1793875" algn="l"/>
              </a:tabLst>
            </a:pPr>
            <a:r>
              <a:rPr lang="en-AU">
                <a:solidFill>
                  <a:srgbClr val="0033CC"/>
                </a:solidFill>
              </a:rPr>
              <a:t>	</a:t>
            </a: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/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57376" name="Text Box 31"/>
          <p:cNvSpPr txBox="1">
            <a:spLocks noChangeArrowheads="1"/>
          </p:cNvSpPr>
          <p:nvPr/>
        </p:nvSpPr>
        <p:spPr bwMode="auto">
          <a:xfrm>
            <a:off x="2680029" y="5778104"/>
            <a:ext cx="514563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defTabSz="457200" eaLnBrk="1" hangingPunct="1"/>
            <a:r>
              <a:rPr lang="en-AU" sz="2000">
                <a:solidFill>
                  <a:srgbClr val="FF0000"/>
                </a:solidFill>
                <a:latin typeface="Calibri"/>
              </a:rPr>
              <a:t>With the TO_DATE function</a:t>
            </a:r>
            <a:br>
              <a:rPr lang="en-AU" sz="2000">
                <a:solidFill>
                  <a:srgbClr val="FF0000"/>
                </a:solidFill>
                <a:latin typeface="Calibri"/>
              </a:rPr>
            </a:br>
            <a:r>
              <a:rPr lang="en-AU" sz="2000">
                <a:solidFill>
                  <a:srgbClr val="FF0000"/>
                </a:solidFill>
                <a:latin typeface="Calibri"/>
              </a:rPr>
              <a:t>You may specify the format of the incoming date</a:t>
            </a:r>
          </a:p>
        </p:txBody>
      </p:sp>
      <p:sp>
        <p:nvSpPr>
          <p:cNvPr id="57377" name="Line 32"/>
          <p:cNvSpPr>
            <a:spLocks noChangeShapeType="1"/>
          </p:cNvSpPr>
          <p:nvPr/>
        </p:nvSpPr>
        <p:spPr bwMode="auto">
          <a:xfrm flipH="1" flipV="1">
            <a:off x="6149789" y="5453119"/>
            <a:ext cx="394447" cy="55323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84534" y="1690981"/>
            <a:ext cx="3612207" cy="1311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AU">
                <a:solidFill>
                  <a:srgbClr val="0033CC"/>
                </a:solidFill>
                <a:latin typeface="Calibri"/>
              </a:rPr>
              <a:t>CREATE TABLE STUDENT ( </a:t>
            </a:r>
          </a:p>
          <a:p>
            <a:pPr defTabSz="457200">
              <a:lnSpc>
                <a:spcPct val="110000"/>
              </a:lnSpc>
            </a:pPr>
            <a:r>
              <a:rPr lang="en-AU">
                <a:solidFill>
                  <a:srgbClr val="0033CC"/>
                </a:solidFill>
                <a:latin typeface="Calibri"/>
              </a:rPr>
              <a:t>  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stuID</a:t>
            </a:r>
            <a:r>
              <a:rPr lang="en-AU">
                <a:solidFill>
                  <a:srgbClr val="0033CC"/>
                </a:solidFill>
                <a:latin typeface="Calibri"/>
              </a:rPr>
              <a:t>   	        NUMBER  Primary Key</a:t>
            </a:r>
          </a:p>
          <a:p>
            <a:pPr defTabSz="457200">
              <a:lnSpc>
                <a:spcPct val="110000"/>
              </a:lnSpc>
            </a:pPr>
            <a:r>
              <a:rPr lang="en-AU">
                <a:solidFill>
                  <a:srgbClr val="0033CC"/>
                </a:solidFill>
                <a:latin typeface="Calibri"/>
              </a:rPr>
              <a:t>, birthdate      DATE </a:t>
            </a:r>
          </a:p>
          <a:p>
            <a:pPr defTabSz="457200">
              <a:lnSpc>
                <a:spcPct val="110000"/>
              </a:lnSpc>
            </a:pPr>
            <a:r>
              <a:rPr lang="en-AU">
                <a:solidFill>
                  <a:srgbClr val="0033CC"/>
                </a:solidFill>
                <a:latin typeface="Calibri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7267" y="3165252"/>
            <a:ext cx="3987054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9900"/>
                </a:solidFill>
                <a:latin typeface="Calibri"/>
              </a:rPr>
              <a:t>INSERT using DD-MON-YYYY date format</a:t>
            </a:r>
          </a:p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33CC"/>
                </a:solidFill>
                <a:latin typeface="Calibri"/>
              </a:rPr>
              <a:t>INSERT INTO </a:t>
            </a:r>
            <a:r>
              <a:rPr lang="en-AU">
                <a:solidFill>
                  <a:srgbClr val="0033CC"/>
                </a:solidFill>
                <a:latin typeface="Calibri"/>
              </a:rPr>
              <a:t>STUDENT (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stuid</a:t>
            </a:r>
            <a:r>
              <a:rPr lang="en-AU">
                <a:solidFill>
                  <a:srgbClr val="0033CC"/>
                </a:solidFill>
                <a:latin typeface="Calibri"/>
              </a:rPr>
              <a:t>, birthdate) </a:t>
            </a:r>
          </a:p>
          <a:p>
            <a:pPr defTabSz="457200">
              <a:lnSpc>
                <a:spcPct val="110000"/>
              </a:lnSpc>
            </a:pPr>
            <a:r>
              <a:rPr lang="en-AU">
                <a:solidFill>
                  <a:srgbClr val="0033CC"/>
                </a:solidFill>
                <a:latin typeface="Calibri"/>
              </a:rPr>
              <a:t>VALUES </a:t>
            </a:r>
            <a:r>
              <a:rPr lang="en-US">
                <a:solidFill>
                  <a:srgbClr val="0033CC"/>
                </a:solidFill>
                <a:latin typeface="Calibri"/>
              </a:rPr>
              <a:t>(100,  '21-MAY-1996' );</a:t>
            </a:r>
          </a:p>
          <a:p>
            <a:pPr defTabSz="457200">
              <a:lnSpc>
                <a:spcPct val="110000"/>
              </a:lnSpc>
            </a:pPr>
            <a:endParaRPr lang="en-US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14514" y="4446660"/>
            <a:ext cx="5355120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9900"/>
                </a:solidFill>
                <a:latin typeface="Calibri"/>
              </a:rPr>
              <a:t>INSERT using OTHER date format</a:t>
            </a:r>
          </a:p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33CC"/>
                </a:solidFill>
                <a:latin typeface="Calibri"/>
              </a:rPr>
              <a:t>INSERT INTO </a:t>
            </a:r>
            <a:r>
              <a:rPr lang="en-AU">
                <a:solidFill>
                  <a:srgbClr val="0033CC"/>
                </a:solidFill>
                <a:latin typeface="Calibri"/>
              </a:rPr>
              <a:t>STUDENT (</a:t>
            </a:r>
            <a:r>
              <a:rPr lang="en-AU" err="1">
                <a:solidFill>
                  <a:srgbClr val="0033CC"/>
                </a:solidFill>
                <a:latin typeface="Calibri"/>
              </a:rPr>
              <a:t>stuid</a:t>
            </a:r>
            <a:r>
              <a:rPr lang="en-AU">
                <a:solidFill>
                  <a:srgbClr val="0033CC"/>
                </a:solidFill>
                <a:latin typeface="Calibri"/>
              </a:rPr>
              <a:t>, birthdate) </a:t>
            </a:r>
          </a:p>
          <a:p>
            <a:pPr defTabSz="457200">
              <a:lnSpc>
                <a:spcPct val="110000"/>
              </a:lnSpc>
            </a:pPr>
            <a:r>
              <a:rPr lang="en-AU">
                <a:solidFill>
                  <a:srgbClr val="0033CC"/>
                </a:solidFill>
                <a:latin typeface="Calibri"/>
              </a:rPr>
              <a:t>VALUES </a:t>
            </a:r>
            <a:r>
              <a:rPr lang="en-US">
                <a:solidFill>
                  <a:srgbClr val="0033CC"/>
                </a:solidFill>
                <a:latin typeface="Calibri"/>
              </a:rPr>
              <a:t>(100, TO_DATE( '21/05/1996', '</a:t>
            </a:r>
            <a:r>
              <a:rPr lang="en-US" err="1">
                <a:solidFill>
                  <a:srgbClr val="0033CC"/>
                </a:solidFill>
                <a:latin typeface="Calibri"/>
              </a:rPr>
              <a:t>dd</a:t>
            </a:r>
            <a:r>
              <a:rPr lang="en-US">
                <a:solidFill>
                  <a:srgbClr val="0033CC"/>
                </a:solidFill>
                <a:latin typeface="Calibri"/>
              </a:rPr>
              <a:t>/mm/</a:t>
            </a:r>
            <a:r>
              <a:rPr lang="en-US" err="1">
                <a:solidFill>
                  <a:srgbClr val="0033CC"/>
                </a:solidFill>
                <a:latin typeface="Calibri"/>
              </a:rPr>
              <a:t>yyyy</a:t>
            </a:r>
            <a:r>
              <a:rPr lang="en-US">
                <a:solidFill>
                  <a:srgbClr val="0033CC"/>
                </a:solidFill>
                <a:latin typeface="Calibri"/>
              </a:rPr>
              <a:t>') );</a:t>
            </a:r>
          </a:p>
          <a:p>
            <a:pPr defTabSz="457200">
              <a:lnSpc>
                <a:spcPct val="110000"/>
              </a:lnSpc>
            </a:pPr>
            <a:endParaRPr lang="en-US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9" name="Text Box 31"/>
          <p:cNvSpPr txBox="1">
            <a:spLocks noChangeArrowheads="1"/>
          </p:cNvSpPr>
          <p:nvPr/>
        </p:nvSpPr>
        <p:spPr bwMode="auto">
          <a:xfrm>
            <a:off x="6439505" y="3802379"/>
            <a:ext cx="28403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 eaLnBrk="1" hangingPunct="1"/>
            <a:r>
              <a:rPr lang="en-AU" sz="2000">
                <a:solidFill>
                  <a:srgbClr val="FF0000"/>
                </a:solidFill>
                <a:latin typeface="Calibri"/>
              </a:rPr>
              <a:t>Oracle default date format</a:t>
            </a:r>
          </a:p>
        </p:txBody>
      </p:sp>
      <p:sp>
        <p:nvSpPr>
          <p:cNvPr id="12" name="Line 32"/>
          <p:cNvSpPr>
            <a:spLocks noChangeShapeType="1"/>
          </p:cNvSpPr>
          <p:nvPr/>
        </p:nvSpPr>
        <p:spPr bwMode="auto">
          <a:xfrm flipH="1" flipV="1">
            <a:off x="5047128" y="3947664"/>
            <a:ext cx="130884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3114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SQL: Dates using Oracle</a:t>
            </a:r>
          </a:p>
        </p:txBody>
      </p:sp>
      <p:sp>
        <p:nvSpPr>
          <p:cNvPr id="57348" name="Text Box 3"/>
          <p:cNvSpPr txBox="1">
            <a:spLocks noChangeArrowheads="1"/>
          </p:cNvSpPr>
          <p:nvPr/>
        </p:nvSpPr>
        <p:spPr bwMode="auto">
          <a:xfrm>
            <a:off x="1949450" y="836614"/>
            <a:ext cx="8644659" cy="271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57188" indent="-268288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0463" algn="l"/>
              </a:tabLs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88900" indent="0" defTabSz="457200" eaLnBrk="1" hangingPunct="1"/>
            <a:r>
              <a:rPr lang="en-US" b="0" i="0">
                <a:solidFill>
                  <a:srgbClr val="000000"/>
                </a:solidFill>
              </a:rPr>
              <a:t>Some simple query examples of using the Date Datatype within Oracle</a:t>
            </a:r>
          </a:p>
          <a:p>
            <a:pPr defTabSz="457200" eaLnBrk="1" hangingPunct="1">
              <a:buFont typeface="Wingdings" pitchFamily="2" charset="2"/>
              <a:buChar char="Ø"/>
            </a:pP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>
              <a:buFont typeface="Wingdings" pitchFamily="2" charset="2"/>
              <a:buChar char="Ø"/>
            </a:pP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>
              <a:buFont typeface="Wingdings" pitchFamily="2" charset="2"/>
              <a:buChar char="Ø"/>
            </a:pP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>
              <a:buFont typeface="Wingdings" pitchFamily="2" charset="2"/>
              <a:buChar char="Ø"/>
            </a:pPr>
            <a:endParaRPr lang="en-US" b="0" i="0">
              <a:solidFill>
                <a:srgbClr val="D1161E"/>
              </a:solidFill>
            </a:endParaRPr>
          </a:p>
          <a:p>
            <a:pPr marL="457200" indent="-457200" defTabSz="457200">
              <a:lnSpc>
                <a:spcPct val="110000"/>
              </a:lnSpc>
              <a:tabLst>
                <a:tab pos="628650" algn="l"/>
                <a:tab pos="1793875" algn="l"/>
              </a:tabLst>
            </a:pPr>
            <a:r>
              <a:rPr lang="en-AU">
                <a:solidFill>
                  <a:srgbClr val="0033CC"/>
                </a:solidFill>
              </a:rPr>
              <a:t>	</a:t>
            </a: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/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1200" y="1538344"/>
            <a:ext cx="5912516" cy="9911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9900"/>
                </a:solidFill>
                <a:latin typeface="Calibri"/>
              </a:rPr>
              <a:t>SELECT using DD-MON-YYYY date format</a:t>
            </a:r>
          </a:p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33CC"/>
                </a:solidFill>
                <a:latin typeface="Calibri"/>
              </a:rPr>
              <a:t>SELECT * FROM </a:t>
            </a:r>
            <a:r>
              <a:rPr lang="en-AU">
                <a:solidFill>
                  <a:srgbClr val="0033CC"/>
                </a:solidFill>
                <a:latin typeface="Calibri"/>
              </a:rPr>
              <a:t>STUDENT WHERE birthdate = '21</a:t>
            </a:r>
            <a:r>
              <a:rPr lang="en-US">
                <a:solidFill>
                  <a:srgbClr val="0033CC"/>
                </a:solidFill>
                <a:latin typeface="Calibri"/>
              </a:rPr>
              <a:t>-MAY-1996';</a:t>
            </a:r>
          </a:p>
          <a:p>
            <a:pPr defTabSz="457200">
              <a:lnSpc>
                <a:spcPct val="110000"/>
              </a:lnSpc>
            </a:pPr>
            <a:endParaRPr lang="en-US">
              <a:solidFill>
                <a:srgbClr val="0033C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0" y="2692505"/>
            <a:ext cx="8853486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9900"/>
                </a:solidFill>
                <a:latin typeface="Calibri"/>
              </a:rPr>
              <a:t>SELECT using OTHER date format</a:t>
            </a:r>
          </a:p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33CC"/>
                </a:solidFill>
                <a:latin typeface="Calibri"/>
              </a:rPr>
              <a:t>SELECT * FROM </a:t>
            </a:r>
            <a:r>
              <a:rPr lang="en-AU">
                <a:solidFill>
                  <a:srgbClr val="0033CC"/>
                </a:solidFill>
                <a:latin typeface="Calibri"/>
              </a:rPr>
              <a:t>STUDENT </a:t>
            </a:r>
          </a:p>
          <a:p>
            <a:pPr defTabSz="457200">
              <a:lnSpc>
                <a:spcPct val="110000"/>
              </a:lnSpc>
            </a:pPr>
            <a:r>
              <a:rPr lang="en-AU">
                <a:solidFill>
                  <a:srgbClr val="0033CC"/>
                </a:solidFill>
                <a:latin typeface="Calibri"/>
              </a:rPr>
              <a:t>WHERE birthdate &gt;= </a:t>
            </a:r>
            <a:r>
              <a:rPr lang="en-US">
                <a:solidFill>
                  <a:srgbClr val="0033CC"/>
                </a:solidFill>
                <a:latin typeface="Calibri"/>
              </a:rPr>
              <a:t>(TO_DATE( '01/01/1996', '</a:t>
            </a:r>
            <a:r>
              <a:rPr lang="en-US" err="1">
                <a:solidFill>
                  <a:srgbClr val="0033CC"/>
                </a:solidFill>
                <a:latin typeface="Calibri"/>
              </a:rPr>
              <a:t>dd</a:t>
            </a:r>
            <a:r>
              <a:rPr lang="en-US">
                <a:solidFill>
                  <a:srgbClr val="0033CC"/>
                </a:solidFill>
                <a:latin typeface="Calibri"/>
              </a:rPr>
              <a:t>/mm/</a:t>
            </a:r>
            <a:r>
              <a:rPr lang="en-US" err="1">
                <a:solidFill>
                  <a:srgbClr val="0033CC"/>
                </a:solidFill>
                <a:latin typeface="Calibri"/>
              </a:rPr>
              <a:t>yyyy</a:t>
            </a:r>
            <a:r>
              <a:rPr lang="en-US">
                <a:solidFill>
                  <a:srgbClr val="0033CC"/>
                </a:solidFill>
                <a:latin typeface="Calibri"/>
              </a:rPr>
              <a:t>') </a:t>
            </a:r>
          </a:p>
          <a:p>
            <a:pPr defTabSz="457200">
              <a:lnSpc>
                <a:spcPct val="110000"/>
              </a:lnSpc>
            </a:pPr>
            <a:r>
              <a:rPr lang="en-AU">
                <a:solidFill>
                  <a:srgbClr val="0033CC"/>
                </a:solidFill>
                <a:latin typeface="Calibri"/>
              </a:rPr>
              <a:t>AND      birthdate &lt;= </a:t>
            </a:r>
            <a:r>
              <a:rPr lang="en-US">
                <a:solidFill>
                  <a:srgbClr val="0033CC"/>
                </a:solidFill>
                <a:latin typeface="Calibri"/>
              </a:rPr>
              <a:t>(TO_DATE( '31/12/2016', '</a:t>
            </a:r>
            <a:r>
              <a:rPr lang="en-US" err="1">
                <a:solidFill>
                  <a:srgbClr val="0033CC"/>
                </a:solidFill>
                <a:latin typeface="Calibri"/>
              </a:rPr>
              <a:t>dd</a:t>
            </a:r>
            <a:r>
              <a:rPr lang="en-US">
                <a:solidFill>
                  <a:srgbClr val="0033CC"/>
                </a:solidFill>
                <a:latin typeface="Calibri"/>
              </a:rPr>
              <a:t>/mm/</a:t>
            </a:r>
            <a:r>
              <a:rPr lang="en-US" err="1">
                <a:solidFill>
                  <a:srgbClr val="0033CC"/>
                </a:solidFill>
                <a:latin typeface="Calibri"/>
              </a:rPr>
              <a:t>yyyy</a:t>
            </a:r>
            <a:r>
              <a:rPr lang="en-US">
                <a:solidFill>
                  <a:srgbClr val="0033CC"/>
                </a:solidFill>
                <a:latin typeface="Calibri"/>
              </a:rPr>
              <a:t>') </a:t>
            </a:r>
          </a:p>
          <a:p>
            <a:pPr defTabSz="457200">
              <a:lnSpc>
                <a:spcPct val="110000"/>
              </a:lnSpc>
            </a:pPr>
            <a:r>
              <a:rPr lang="en-US">
                <a:solidFill>
                  <a:srgbClr val="0033CC"/>
                </a:solidFill>
                <a:latin typeface="Calibri"/>
              </a:rPr>
              <a:t>);</a:t>
            </a:r>
          </a:p>
          <a:p>
            <a:pPr defTabSz="457200">
              <a:lnSpc>
                <a:spcPct val="110000"/>
              </a:lnSpc>
            </a:pPr>
            <a:endParaRPr lang="en-US">
              <a:solidFill>
                <a:srgbClr val="0033C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1147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1524001" y="5951538"/>
            <a:ext cx="1755775" cy="906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US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</a:t>
            </a:r>
            <a:r>
              <a:rPr lang="en-AU" err="1"/>
              <a:t>SubQueries</a:t>
            </a:r>
            <a:endParaRPr lang="en-AU"/>
          </a:p>
        </p:txBody>
      </p:sp>
      <p:sp>
        <p:nvSpPr>
          <p:cNvPr id="34821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AU" sz="2200"/>
              <a:t>We have already examined the AVG </a:t>
            </a:r>
            <a:r>
              <a:rPr lang="en-AU" sz="2200" b="1"/>
              <a:t>aggregate</a:t>
            </a:r>
            <a:r>
              <a:rPr lang="en-AU" sz="2200"/>
              <a:t> function.</a:t>
            </a:r>
          </a:p>
          <a:p>
            <a:pPr marL="923925" lvl="1" indent="-381000">
              <a:buNone/>
            </a:pPr>
            <a:r>
              <a:rPr lang="en-AU" sz="2200" b="1"/>
              <a:t>E.g. </a:t>
            </a:r>
            <a:r>
              <a:rPr lang="en-AU" sz="2200" b="1">
                <a:solidFill>
                  <a:srgbClr val="0033CC"/>
                </a:solidFill>
              </a:rPr>
              <a:t>SELECT AVG(runtime) From Movie;  </a:t>
            </a:r>
            <a:r>
              <a:rPr lang="en-AU" sz="2200" b="1"/>
              <a:t> </a:t>
            </a:r>
            <a:br>
              <a:rPr lang="en-AU" sz="2200" b="1"/>
            </a:br>
            <a:r>
              <a:rPr lang="en-AU" sz="2200" b="1"/>
              <a:t>      --calculates the average movie length</a:t>
            </a:r>
          </a:p>
          <a:p>
            <a:pPr marL="923925" lvl="1" indent="-381000">
              <a:buNone/>
            </a:pPr>
            <a:endParaRPr lang="en-AU" sz="1100"/>
          </a:p>
          <a:p>
            <a:pPr marL="0" indent="0">
              <a:buNone/>
            </a:pPr>
            <a:r>
              <a:rPr lang="en-AU" sz="2200"/>
              <a:t>Suppose we need to </a:t>
            </a:r>
            <a:r>
              <a:rPr lang="en-AU" sz="2200" b="1"/>
              <a:t>find all movies </a:t>
            </a:r>
            <a:r>
              <a:rPr lang="en-AU" sz="2200" b="1" u="sng"/>
              <a:t>longer</a:t>
            </a:r>
            <a:r>
              <a:rPr lang="en-AU" sz="2200" b="1"/>
              <a:t> than the average</a:t>
            </a:r>
            <a:r>
              <a:rPr lang="en-AU" sz="2200"/>
              <a:t>.</a:t>
            </a:r>
          </a:p>
          <a:p>
            <a:r>
              <a:rPr lang="en-AU" sz="2200"/>
              <a:t>You might try this:</a:t>
            </a:r>
          </a:p>
          <a:p>
            <a:pPr marL="923925" lvl="1" indent="-381000">
              <a:buNone/>
            </a:pPr>
            <a:r>
              <a:rPr lang="en-AU" sz="2200">
                <a:solidFill>
                  <a:srgbClr val="0033CC"/>
                </a:solidFill>
              </a:rPr>
              <a:t>SELECT * FROM MOVIE </a:t>
            </a:r>
          </a:p>
          <a:p>
            <a:pPr marL="923925" lvl="1" indent="-381000">
              <a:buNone/>
            </a:pPr>
            <a:r>
              <a:rPr lang="en-AU" sz="2200">
                <a:solidFill>
                  <a:srgbClr val="0033CC"/>
                </a:solidFill>
              </a:rPr>
              <a:t>WHERE    </a:t>
            </a:r>
            <a:r>
              <a:rPr lang="en-AU" sz="2200" b="1">
                <a:solidFill>
                  <a:srgbClr val="0033CC"/>
                </a:solidFill>
              </a:rPr>
              <a:t>runtime &gt;  AVG(runtime);</a:t>
            </a:r>
          </a:p>
          <a:p>
            <a:pPr marL="923925" lvl="1" indent="-381000">
              <a:buNone/>
            </a:pPr>
            <a:endParaRPr lang="en-AU" sz="110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AU" sz="2200"/>
              <a:t>This is incorrect. </a:t>
            </a:r>
          </a:p>
          <a:p>
            <a:r>
              <a:rPr lang="en-AU" sz="2200"/>
              <a:t>Aggregation functions are </a:t>
            </a:r>
            <a:r>
              <a:rPr lang="en-AU" sz="2200" b="1"/>
              <a:t>NOT</a:t>
            </a:r>
            <a:r>
              <a:rPr lang="en-AU" sz="2200"/>
              <a:t> permitted in the WHERE clause.</a:t>
            </a:r>
          </a:p>
          <a:p>
            <a:pPr marL="0" indent="0">
              <a:buNone/>
            </a:pPr>
            <a:r>
              <a:rPr lang="en-AU" sz="2200"/>
              <a:t>Why?</a:t>
            </a:r>
          </a:p>
          <a:p>
            <a:pPr marL="923925" lvl="1" indent="-381000"/>
            <a:r>
              <a:rPr lang="en-AU" sz="2200"/>
              <a:t>An aggregation function </a:t>
            </a:r>
            <a:r>
              <a:rPr lang="en-AU" sz="2200" b="1"/>
              <a:t>must</a:t>
            </a:r>
            <a:r>
              <a:rPr lang="en-AU" sz="2200"/>
              <a:t> be evaluated in the context of its own query. </a:t>
            </a:r>
          </a:p>
          <a:p>
            <a:pPr marL="923925" lvl="1" indent="-381000"/>
            <a:r>
              <a:rPr lang="en-AU" sz="2200"/>
              <a:t>Solution: use a </a:t>
            </a:r>
            <a:r>
              <a:rPr lang="en-AU" sz="2200" b="1"/>
              <a:t>subquery</a:t>
            </a:r>
            <a:r>
              <a:rPr lang="en-AU" sz="2200"/>
              <a:t>.</a:t>
            </a:r>
          </a:p>
        </p:txBody>
      </p:sp>
      <p:sp>
        <p:nvSpPr>
          <p:cNvPr id="34822" name="Text Box 5"/>
          <p:cNvSpPr txBox="1">
            <a:spLocks noChangeArrowheads="1"/>
          </p:cNvSpPr>
          <p:nvPr/>
        </p:nvSpPr>
        <p:spPr bwMode="auto">
          <a:xfrm>
            <a:off x="7080625" y="2821081"/>
            <a:ext cx="71654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 eaLnBrk="1" hangingPunct="1"/>
            <a:r>
              <a:rPr lang="en-AU" sz="8800" b="0" i="0">
                <a:solidFill>
                  <a:srgbClr val="FF0000"/>
                </a:solidFill>
                <a:sym typeface="Wingdings" pitchFamily="2" charset="2"/>
              </a:rPr>
              <a:t></a:t>
            </a:r>
          </a:p>
        </p:txBody>
      </p:sp>
    </p:spTree>
    <p:extLst>
      <p:ext uri="{BB962C8B-B14F-4D97-AF65-F5344CB8AC3E}">
        <p14:creationId xmlns:p14="http://schemas.microsoft.com/office/powerpoint/2010/main" val="267161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SQL:Subqueries Example 1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010626" cy="5196767"/>
          </a:xfrm>
        </p:spPr>
        <p:txBody>
          <a:bodyPr>
            <a:normAutofit lnSpcReduction="10000"/>
          </a:bodyPr>
          <a:lstStyle/>
          <a:p>
            <a:r>
              <a:rPr lang="en-AU" sz="2200"/>
              <a:t>A </a:t>
            </a:r>
            <a:r>
              <a:rPr lang="en-AU" sz="2200" b="1"/>
              <a:t>SUBQUERY</a:t>
            </a:r>
            <a:r>
              <a:rPr lang="en-AU" sz="2200"/>
              <a:t> is a </a:t>
            </a:r>
            <a:r>
              <a:rPr lang="en-AU" sz="2200" b="1"/>
              <a:t>complete</a:t>
            </a:r>
            <a:r>
              <a:rPr lang="en-AU" sz="2200"/>
              <a:t> SQL statement that is placed </a:t>
            </a:r>
            <a:r>
              <a:rPr lang="en-AU" sz="2200" b="1"/>
              <a:t>WITHIN</a:t>
            </a:r>
            <a:r>
              <a:rPr lang="en-AU" sz="2200"/>
              <a:t> an existing SQL statement.</a:t>
            </a:r>
          </a:p>
          <a:p>
            <a:pPr marL="681038" lvl="1" indent="-200025"/>
            <a:r>
              <a:rPr lang="en-AU" sz="2200"/>
              <a:t>Subqueries are often used when a result cannot be calculated by a single SQL statement. (The outcome requires two or more SQL statements)</a:t>
            </a:r>
          </a:p>
          <a:p>
            <a:pPr marL="681038" lvl="1" indent="-200025"/>
            <a:r>
              <a:rPr lang="en-AU" sz="2200"/>
              <a:t>Subqueries </a:t>
            </a:r>
            <a:r>
              <a:rPr lang="en-AU" sz="2200" b="1"/>
              <a:t>ARE</a:t>
            </a:r>
            <a:r>
              <a:rPr lang="en-AU" sz="2200"/>
              <a:t> permitted within the WHERE clause.</a:t>
            </a:r>
          </a:p>
          <a:p>
            <a:pPr marL="681038" lvl="1" indent="-200025"/>
            <a:r>
              <a:rPr lang="en-AU" sz="2400">
                <a:solidFill>
                  <a:schemeClr val="tx2"/>
                </a:solidFill>
              </a:rPr>
              <a:t>The subquery is evaluated </a:t>
            </a:r>
            <a:r>
              <a:rPr lang="en-AU" sz="2400" b="1">
                <a:solidFill>
                  <a:schemeClr val="tx2"/>
                </a:solidFill>
              </a:rPr>
              <a:t>first</a:t>
            </a:r>
            <a:r>
              <a:rPr lang="en-AU" sz="2400">
                <a:solidFill>
                  <a:schemeClr val="tx2"/>
                </a:solidFill>
              </a:rPr>
              <a:t> (takes precedence) because it is in brackets.  </a:t>
            </a:r>
          </a:p>
          <a:p>
            <a:pPr marL="681038" lvl="1" indent="-200025"/>
            <a:r>
              <a:rPr lang="en-AU" sz="2400">
                <a:solidFill>
                  <a:schemeClr val="tx2"/>
                </a:solidFill>
              </a:rPr>
              <a:t>The subquery is executed </a:t>
            </a:r>
            <a:r>
              <a:rPr lang="en-AU" sz="2400" b="1">
                <a:solidFill>
                  <a:schemeClr val="tx2"/>
                </a:solidFill>
              </a:rPr>
              <a:t>ONCE</a:t>
            </a:r>
            <a:r>
              <a:rPr lang="en-AU" sz="2400">
                <a:solidFill>
                  <a:schemeClr val="tx2"/>
                </a:solidFill>
              </a:rPr>
              <a:t>. It is not executed separately for every row.</a:t>
            </a:r>
          </a:p>
          <a:p>
            <a:pPr marL="681038" lvl="1" indent="-200025"/>
            <a:endParaRPr lang="en-AU" sz="500"/>
          </a:p>
          <a:p>
            <a:pPr marL="300038" lvl="1" indent="0">
              <a:buNone/>
            </a:pPr>
            <a:r>
              <a:rPr lang="en-AU" sz="2200">
                <a:solidFill>
                  <a:srgbClr val="0033CC"/>
                </a:solidFill>
              </a:rPr>
              <a:t>SELECT  * </a:t>
            </a:r>
            <a:br>
              <a:rPr lang="en-AU" sz="2200">
                <a:solidFill>
                  <a:srgbClr val="0033CC"/>
                </a:solidFill>
              </a:rPr>
            </a:br>
            <a:r>
              <a:rPr lang="en-AU" sz="2200">
                <a:solidFill>
                  <a:srgbClr val="0033CC"/>
                </a:solidFill>
              </a:rPr>
              <a:t>FROM    MOVIE </a:t>
            </a:r>
          </a:p>
          <a:p>
            <a:pPr>
              <a:buFont typeface="Wingdings" pitchFamily="2" charset="2"/>
              <a:buNone/>
            </a:pPr>
            <a:r>
              <a:rPr lang="en-AU" sz="2200">
                <a:solidFill>
                  <a:srgbClr val="0033CC"/>
                </a:solidFill>
              </a:rPr>
              <a:t>	WHERE   runtime  &gt;</a:t>
            </a:r>
            <a:r>
              <a:rPr lang="en-AU" sz="2200"/>
              <a:t>   </a:t>
            </a:r>
            <a:r>
              <a:rPr lang="en-AU" sz="2200" b="1">
                <a:solidFill>
                  <a:srgbClr val="0033CC"/>
                </a:solidFill>
              </a:rPr>
              <a:t>(    	SELECT AVG(runtime)</a:t>
            </a:r>
            <a:br>
              <a:rPr lang="en-AU" sz="2200" b="1">
                <a:solidFill>
                  <a:srgbClr val="0033CC"/>
                </a:solidFill>
              </a:rPr>
            </a:br>
            <a:r>
              <a:rPr lang="en-AU" sz="2200" b="1">
                <a:solidFill>
                  <a:srgbClr val="0033CC"/>
                </a:solidFill>
              </a:rPr>
              <a:t>			     						FROM     MOVIE              );</a:t>
            </a:r>
            <a:endParaRPr lang="en-AU" sz="2200" b="1"/>
          </a:p>
          <a:p>
            <a:endParaRPr lang="en-AU" b="1">
              <a:latin typeface="Lucida Console" pitchFamily="49" charset="0"/>
            </a:endParaRP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3116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SQL: Sub Queries dissected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endParaRPr lang="en-AU" sz="2200" b="1"/>
          </a:p>
          <a:p>
            <a:pPr marL="200025" lvl="1" indent="-200025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    SELECT * </a:t>
            </a:r>
          </a:p>
          <a:p>
            <a:pPr marL="200025" lvl="1" indent="-200025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    FROM     movie </a:t>
            </a:r>
          </a:p>
          <a:p>
            <a:pPr marL="200025" lvl="1" indent="-200025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    WHERE  runtime &gt;  </a:t>
            </a:r>
            <a:r>
              <a:rPr lang="en-US" sz="2200" b="1">
                <a:solidFill>
                  <a:srgbClr val="0033CC"/>
                </a:solidFill>
              </a:rPr>
              <a:t>( SELECT    AVG(runtime) FROM       movie )   ;</a:t>
            </a:r>
            <a:endParaRPr lang="en-AU" sz="2200" b="1">
              <a:solidFill>
                <a:srgbClr val="0033CC"/>
              </a:solidFill>
            </a:endParaRPr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2426682" y="2933239"/>
            <a:ext cx="733863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342900" indent="-342900" defTabSz="457200" eaLnBrk="1" hangingPunct="1">
              <a:buFont typeface="Arial" panose="020B0604020202020204" pitchFamily="34" charset="0"/>
              <a:buChar char="•"/>
            </a:pPr>
            <a:r>
              <a:rPr lang="en-AU" b="0" i="0">
                <a:solidFill>
                  <a:srgbClr val="000000"/>
                </a:solidFill>
              </a:rPr>
              <a:t>The </a:t>
            </a:r>
            <a:r>
              <a:rPr lang="en-AU" i="0">
                <a:solidFill>
                  <a:srgbClr val="000000"/>
                </a:solidFill>
              </a:rPr>
              <a:t>subquery</a:t>
            </a:r>
            <a:r>
              <a:rPr lang="en-AU" b="0" i="0">
                <a:solidFill>
                  <a:srgbClr val="000000"/>
                </a:solidFill>
              </a:rPr>
              <a:t> is evaluated first because it is in brackets.  </a:t>
            </a:r>
          </a:p>
          <a:p>
            <a:pPr marL="628650" lvl="1" indent="-342900" defTabSz="457200" eaLnBrk="1" hangingPunct="1">
              <a:buFont typeface="Arial" panose="020B0604020202020204" pitchFamily="34" charset="0"/>
              <a:buChar char="•"/>
            </a:pPr>
            <a:r>
              <a:rPr lang="en-AU" b="0" i="0">
                <a:solidFill>
                  <a:srgbClr val="000000"/>
                </a:solidFill>
              </a:rPr>
              <a:t>See BODMAS    </a:t>
            </a:r>
            <a:r>
              <a:rPr lang="en-AU" sz="1400" b="0" i="0">
                <a:solidFill>
                  <a:srgbClr val="000000"/>
                </a:solidFill>
              </a:rPr>
              <a:t>http://www.mathsisfun.com/operation-order-bodmas.html</a:t>
            </a:r>
            <a:endParaRPr lang="en-AU" b="0" i="0">
              <a:solidFill>
                <a:srgbClr val="000000"/>
              </a:solidFill>
            </a:endParaRPr>
          </a:p>
          <a:p>
            <a:pPr marL="628650" lvl="1" indent="-342900" defTabSz="457200" eaLnBrk="1" hangingPunct="1">
              <a:buFont typeface="Arial" panose="020B0604020202020204" pitchFamily="34" charset="0"/>
              <a:buChar char="•"/>
            </a:pPr>
            <a:endParaRPr lang="en-AU" b="0" i="0">
              <a:solidFill>
                <a:srgbClr val="000000"/>
              </a:solidFill>
            </a:endParaRPr>
          </a:p>
          <a:p>
            <a:pPr marL="342900" indent="-342900" defTabSz="457200" eaLnBrk="1" hangingPunct="1">
              <a:buFont typeface="Arial" panose="020B0604020202020204" pitchFamily="34" charset="0"/>
              <a:buChar char="•"/>
            </a:pPr>
            <a:r>
              <a:rPr lang="en-AU" b="0" i="0">
                <a:solidFill>
                  <a:srgbClr val="000000"/>
                </a:solidFill>
              </a:rPr>
              <a:t>This </a:t>
            </a:r>
            <a:r>
              <a:rPr lang="en-AU" i="0">
                <a:solidFill>
                  <a:srgbClr val="000000"/>
                </a:solidFill>
              </a:rPr>
              <a:t>subquery</a:t>
            </a:r>
            <a:r>
              <a:rPr lang="en-AU" b="0" i="0">
                <a:solidFill>
                  <a:srgbClr val="000000"/>
                </a:solidFill>
              </a:rPr>
              <a:t> returns a </a:t>
            </a:r>
            <a:r>
              <a:rPr lang="en-AU" i="0">
                <a:solidFill>
                  <a:srgbClr val="000000"/>
                </a:solidFill>
              </a:rPr>
              <a:t>single</a:t>
            </a:r>
            <a:r>
              <a:rPr lang="en-AU" b="0" i="0">
                <a:solidFill>
                  <a:srgbClr val="000000"/>
                </a:solidFill>
              </a:rPr>
              <a:t> value </a:t>
            </a:r>
          </a:p>
          <a:p>
            <a:pPr marL="342900" indent="-342900" defTabSz="457200" eaLnBrk="1" hangingPunct="1">
              <a:buFont typeface="Arial" panose="020B0604020202020204" pitchFamily="34" charset="0"/>
              <a:buChar char="•"/>
            </a:pPr>
            <a:endParaRPr lang="en-US" b="0" i="0">
              <a:solidFill>
                <a:srgbClr val="000000"/>
              </a:solidFill>
            </a:endParaRPr>
          </a:p>
          <a:p>
            <a:pPr marL="342900" indent="-342900" defTabSz="457200" eaLnBrk="1" hangingPunct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</a:rPr>
              <a:t>For each row in the movie table, the </a:t>
            </a:r>
            <a:r>
              <a:rPr lang="en-US" i="0">
                <a:solidFill>
                  <a:srgbClr val="000000"/>
                </a:solidFill>
              </a:rPr>
              <a:t>runtime</a:t>
            </a:r>
            <a:r>
              <a:rPr lang="en-US" b="0" i="0">
                <a:solidFill>
                  <a:srgbClr val="000000"/>
                </a:solidFill>
              </a:rPr>
              <a:t> value is compared to the </a:t>
            </a:r>
            <a:r>
              <a:rPr lang="en-US" i="0">
                <a:solidFill>
                  <a:srgbClr val="000000"/>
                </a:solidFill>
              </a:rPr>
              <a:t>value</a:t>
            </a:r>
            <a:r>
              <a:rPr lang="en-US" b="0" i="0">
                <a:solidFill>
                  <a:srgbClr val="000000"/>
                </a:solidFill>
              </a:rPr>
              <a:t> </a:t>
            </a:r>
            <a:r>
              <a:rPr lang="en-US" i="0">
                <a:solidFill>
                  <a:srgbClr val="000000"/>
                </a:solidFill>
              </a:rPr>
              <a:t>returned </a:t>
            </a:r>
            <a:r>
              <a:rPr lang="en-US" b="0" i="0">
                <a:solidFill>
                  <a:srgbClr val="000000"/>
                </a:solidFill>
              </a:rPr>
              <a:t>by the subquery.</a:t>
            </a:r>
          </a:p>
          <a:p>
            <a:pPr defTabSz="457200" eaLnBrk="1" hangingPunct="1">
              <a:buClr>
                <a:srgbClr val="0033CC"/>
              </a:buClr>
              <a:buFont typeface="Wingdings" pitchFamily="2" charset="2"/>
              <a:buChar char="§"/>
            </a:pPr>
            <a:endParaRPr lang="en-US" b="0" i="0">
              <a:solidFill>
                <a:srgbClr val="D1161E"/>
              </a:solidFill>
            </a:endParaRPr>
          </a:p>
          <a:p>
            <a:pPr defTabSz="457200" eaLnBrk="1" hangingPunct="1">
              <a:buClr>
                <a:srgbClr val="0033CC"/>
              </a:buClr>
            </a:pPr>
            <a:endParaRPr lang="en-AU" b="0" i="0">
              <a:solidFill>
                <a:srgbClr val="0033CC"/>
              </a:solidFill>
            </a:endParaRPr>
          </a:p>
          <a:p>
            <a:pPr defTabSz="457200" eaLnBrk="1" hangingPunct="1">
              <a:buClr>
                <a:srgbClr val="0033CC"/>
              </a:buClr>
            </a:pPr>
            <a:endParaRPr lang="en-AU" b="0" i="0">
              <a:solidFill>
                <a:srgbClr val="0033CC"/>
              </a:solidFill>
            </a:endParaRPr>
          </a:p>
          <a:p>
            <a:pPr defTabSz="457200" eaLnBrk="1" hangingPunct="1">
              <a:buClr>
                <a:srgbClr val="0033CC"/>
              </a:buClr>
            </a:pPr>
            <a:endParaRPr lang="en-AU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211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SQL:Subqueries  Example 2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72502"/>
            <a:ext cx="8010626" cy="572552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2200"/>
              <a:t>Find the movie with the longest duration.</a:t>
            </a:r>
          </a:p>
          <a:p>
            <a:pPr marL="381000" indent="-381000">
              <a:spcBef>
                <a:spcPts val="0"/>
              </a:spcBef>
            </a:pPr>
            <a:endParaRPr lang="en-AU" sz="2200"/>
          </a:p>
          <a:p>
            <a:pPr marL="381000" indent="-381000">
              <a:spcBef>
                <a:spcPts val="0"/>
              </a:spcBef>
            </a:pPr>
            <a:r>
              <a:rPr lang="en-AU" sz="2200"/>
              <a:t>First, determine the query to find the longest duration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SELECT MAX(runtime)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FROM MOVIE;</a:t>
            </a:r>
          </a:p>
          <a:p>
            <a:pPr marL="381000" indent="-381000">
              <a:spcBef>
                <a:spcPts val="0"/>
              </a:spcBef>
            </a:pPr>
            <a:endParaRPr lang="en-AU" sz="2200">
              <a:solidFill>
                <a:srgbClr val="0033CC"/>
              </a:solidFill>
            </a:endParaRPr>
          </a:p>
          <a:p>
            <a:pPr marL="381000" indent="-381000">
              <a:spcBef>
                <a:spcPts val="0"/>
              </a:spcBef>
            </a:pPr>
            <a:r>
              <a:rPr lang="en-AU" sz="2200"/>
              <a:t>Now write the other code that interacts with the </a:t>
            </a:r>
            <a:r>
              <a:rPr lang="en-AU" sz="2200" b="1"/>
              <a:t>subquery</a:t>
            </a:r>
            <a:endParaRPr lang="en-AU" sz="2200"/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SELECT *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FROM MOVIE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WHERE runtime = ( </a:t>
            </a:r>
            <a:r>
              <a:rPr lang="en-AU" sz="2200" b="1" i="1">
                <a:solidFill>
                  <a:srgbClr val="0033CC"/>
                </a:solidFill>
              </a:rPr>
              <a:t>result of subquery</a:t>
            </a:r>
            <a:r>
              <a:rPr lang="en-AU" sz="2200" b="1">
                <a:solidFill>
                  <a:srgbClr val="0033CC"/>
                </a:solidFill>
              </a:rPr>
              <a:t> );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sz="2200" b="1">
              <a:solidFill>
                <a:srgbClr val="0033CC"/>
              </a:solidFill>
            </a:endParaRPr>
          </a:p>
          <a:p>
            <a:pPr marL="381000" lvl="1" indent="-381000">
              <a:spcBef>
                <a:spcPts val="0"/>
              </a:spcBef>
              <a:buFont typeface="Arial"/>
              <a:buChar char="•"/>
            </a:pPr>
            <a:r>
              <a:rPr lang="en-AU" sz="2200"/>
              <a:t>Put it all together in a single statement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SELECT *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FROM MOVIE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WHERE runtime = (  SELECT   MAX(runtime)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                                    FROM    </a:t>
            </a:r>
            <a:r>
              <a:rPr lang="en-AU" sz="1400">
                <a:solidFill>
                  <a:srgbClr val="0033CC"/>
                </a:solidFill>
              </a:rPr>
              <a:t> </a:t>
            </a:r>
            <a:r>
              <a:rPr lang="en-AU" sz="2200">
                <a:solidFill>
                  <a:srgbClr val="0033CC"/>
                </a:solidFill>
              </a:rPr>
              <a:t>MOVIE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                                       );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sz="2200" b="1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endParaRPr lang="en-AU" sz="2200" b="1">
              <a:solidFill>
                <a:srgbClr val="0033CC"/>
              </a:solidFill>
            </a:endParaRPr>
          </a:p>
          <a:p>
            <a:pPr marL="381000" indent="-381000"/>
            <a:endParaRPr lang="en-AU" b="1"/>
          </a:p>
          <a:p>
            <a:pPr marL="381000" indent="-381000"/>
            <a:endParaRPr lang="en-AU" sz="200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929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err="1"/>
              <a:t>SQL:Subqueries</a:t>
            </a:r>
            <a:r>
              <a:rPr lang="en-AU"/>
              <a:t>  Example 3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72502"/>
            <a:ext cx="8010626" cy="572552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2200"/>
              <a:t>“Find all movies with Canadian Actors”</a:t>
            </a:r>
          </a:p>
          <a:p>
            <a:pPr marL="0" indent="0">
              <a:spcBef>
                <a:spcPts val="0"/>
              </a:spcBef>
              <a:buNone/>
            </a:pPr>
            <a:endParaRPr lang="en-AU" sz="2200"/>
          </a:p>
          <a:p>
            <a:pPr marL="0" indent="0">
              <a:spcBef>
                <a:spcPts val="0"/>
              </a:spcBef>
              <a:buNone/>
            </a:pPr>
            <a:r>
              <a:rPr lang="en-AU" sz="2200"/>
              <a:t>Sub Query with Where In</a:t>
            </a:r>
          </a:p>
          <a:p>
            <a:pPr marL="381000" indent="-381000">
              <a:spcBef>
                <a:spcPts val="0"/>
              </a:spcBef>
            </a:pPr>
            <a:endParaRPr lang="en-AU" sz="2200"/>
          </a:p>
          <a:p>
            <a:pPr marL="381000" indent="-381000">
              <a:spcBef>
                <a:spcPts val="0"/>
              </a:spcBef>
            </a:pPr>
            <a:r>
              <a:rPr lang="en-AU" sz="2200"/>
              <a:t>First, determine actor numbers of actors born in Canada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SELECT </a:t>
            </a:r>
            <a:r>
              <a:rPr lang="en-AU" sz="2200" err="1">
                <a:solidFill>
                  <a:srgbClr val="0033CC"/>
                </a:solidFill>
              </a:rPr>
              <a:t>actorno</a:t>
            </a:r>
            <a:r>
              <a:rPr lang="en-AU" sz="2200">
                <a:solidFill>
                  <a:srgbClr val="0033CC"/>
                </a:solidFill>
              </a:rPr>
              <a:t> FROM actor WHERE bornin = 'Canada';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sz="2200">
              <a:solidFill>
                <a:srgbClr val="0033CC"/>
              </a:solidFill>
            </a:endParaRPr>
          </a:p>
          <a:p>
            <a:pPr marL="381000" indent="-381000">
              <a:spcBef>
                <a:spcPts val="0"/>
              </a:spcBef>
            </a:pPr>
            <a:r>
              <a:rPr lang="en-AU" sz="2200"/>
              <a:t>Now write the other code that interacts with the </a:t>
            </a:r>
            <a:r>
              <a:rPr lang="en-AU" sz="2200" b="1"/>
              <a:t>subquery</a:t>
            </a:r>
            <a:endParaRPr lang="en-AU" sz="2200"/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SELECT </a:t>
            </a:r>
            <a:r>
              <a:rPr lang="en-AU" sz="2000" err="1">
                <a:solidFill>
                  <a:srgbClr val="0033CC"/>
                </a:solidFill>
              </a:rPr>
              <a:t>m.title</a:t>
            </a:r>
            <a:endParaRPr lang="en-AU" sz="2000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FROM movie m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INNER JOIN casting c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ON </a:t>
            </a:r>
            <a:r>
              <a:rPr lang="en-AU" sz="2000" err="1">
                <a:solidFill>
                  <a:srgbClr val="0033CC"/>
                </a:solidFill>
              </a:rPr>
              <a:t>m.movieno</a:t>
            </a:r>
            <a:r>
              <a:rPr lang="en-AU" sz="2000">
                <a:solidFill>
                  <a:srgbClr val="0033CC"/>
                </a:solidFill>
              </a:rPr>
              <a:t> = </a:t>
            </a:r>
            <a:r>
              <a:rPr lang="en-AU" sz="2000" err="1">
                <a:solidFill>
                  <a:srgbClr val="0033CC"/>
                </a:solidFill>
              </a:rPr>
              <a:t>c.movieno</a:t>
            </a:r>
            <a:endParaRPr lang="en-AU" sz="2000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WHERE </a:t>
            </a:r>
            <a:r>
              <a:rPr lang="en-AU" sz="2000" err="1">
                <a:solidFill>
                  <a:srgbClr val="0033CC"/>
                </a:solidFill>
              </a:rPr>
              <a:t>actorno</a:t>
            </a:r>
            <a:r>
              <a:rPr lang="en-AU" sz="2000">
                <a:solidFill>
                  <a:srgbClr val="0033CC"/>
                </a:solidFill>
              </a:rPr>
              <a:t> IN  ( </a:t>
            </a:r>
            <a:r>
              <a:rPr lang="en-AU" sz="2000" b="1" i="1">
                <a:solidFill>
                  <a:srgbClr val="0033CC"/>
                </a:solidFill>
              </a:rPr>
              <a:t>result of subquery</a:t>
            </a:r>
            <a:r>
              <a:rPr lang="en-AU" sz="2000" b="1">
                <a:solidFill>
                  <a:srgbClr val="0033CC"/>
                </a:solidFill>
              </a:rPr>
              <a:t> );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sz="2200" b="1">
              <a:solidFill>
                <a:srgbClr val="0033CC"/>
              </a:solidFill>
            </a:endParaRPr>
          </a:p>
          <a:p>
            <a:pPr marL="381000" lvl="1" indent="-381000">
              <a:spcBef>
                <a:spcPts val="0"/>
              </a:spcBef>
              <a:buFont typeface="Arial"/>
              <a:buChar char="•"/>
            </a:pPr>
            <a:r>
              <a:rPr lang="en-AU" sz="2200"/>
              <a:t>Put it all together in a single statement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SELECT </a:t>
            </a:r>
            <a:r>
              <a:rPr lang="en-AU" sz="2000" err="1">
                <a:solidFill>
                  <a:srgbClr val="0033CC"/>
                </a:solidFill>
              </a:rPr>
              <a:t>m.title</a:t>
            </a:r>
            <a:endParaRPr lang="en-AU" sz="2000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FROM movie m	INNER JOIN casting c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ON </a:t>
            </a:r>
            <a:r>
              <a:rPr lang="en-AU" sz="2000" err="1">
                <a:solidFill>
                  <a:srgbClr val="0033CC"/>
                </a:solidFill>
              </a:rPr>
              <a:t>m.movieno</a:t>
            </a:r>
            <a:r>
              <a:rPr lang="en-AU" sz="2000">
                <a:solidFill>
                  <a:srgbClr val="0033CC"/>
                </a:solidFill>
              </a:rPr>
              <a:t> = </a:t>
            </a:r>
            <a:r>
              <a:rPr lang="en-AU" sz="2000" err="1">
                <a:solidFill>
                  <a:srgbClr val="0033CC"/>
                </a:solidFill>
              </a:rPr>
              <a:t>c.movieno</a:t>
            </a:r>
            <a:endParaRPr lang="en-AU" sz="2000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WHERE </a:t>
            </a:r>
            <a:r>
              <a:rPr lang="en-AU" sz="2000" err="1">
                <a:solidFill>
                  <a:srgbClr val="0033CC"/>
                </a:solidFill>
              </a:rPr>
              <a:t>actorno</a:t>
            </a:r>
            <a:r>
              <a:rPr lang="en-AU" sz="2000">
                <a:solidFill>
                  <a:srgbClr val="0033CC"/>
                </a:solidFill>
              </a:rPr>
              <a:t> IN</a:t>
            </a:r>
            <a:r>
              <a:rPr lang="en-AU" sz="1600">
                <a:solidFill>
                  <a:srgbClr val="0033CC"/>
                </a:solidFill>
              </a:rPr>
              <a:t> (</a:t>
            </a:r>
            <a:r>
              <a:rPr lang="en-AU">
                <a:solidFill>
                  <a:srgbClr val="0033CC"/>
                </a:solidFill>
              </a:rPr>
              <a:t>SELECT </a:t>
            </a:r>
            <a:r>
              <a:rPr lang="en-AU" err="1">
                <a:solidFill>
                  <a:srgbClr val="0033CC"/>
                </a:solidFill>
              </a:rPr>
              <a:t>actorno</a:t>
            </a:r>
            <a:r>
              <a:rPr lang="en-AU">
                <a:solidFill>
                  <a:srgbClr val="0033CC"/>
                </a:solidFill>
              </a:rPr>
              <a:t> FROM actor WHERE bornin = 'Canada');</a:t>
            </a:r>
            <a:endParaRPr lang="en-AU" sz="2200" b="1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endParaRPr lang="en-AU" sz="2200" b="1">
              <a:solidFill>
                <a:srgbClr val="0033CC"/>
              </a:solidFill>
            </a:endParaRPr>
          </a:p>
          <a:p>
            <a:pPr marL="381000" indent="-381000"/>
            <a:endParaRPr lang="en-AU" b="1"/>
          </a:p>
          <a:p>
            <a:pPr marL="381000" indent="-381000"/>
            <a:endParaRPr lang="en-AU" sz="2000">
              <a:latin typeface="Lucida Console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956" y="1931281"/>
            <a:ext cx="866775" cy="1362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005" y="4987308"/>
            <a:ext cx="2550931" cy="99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46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err="1"/>
              <a:t>SQL:Subqueries</a:t>
            </a:r>
            <a:r>
              <a:rPr lang="en-AU"/>
              <a:t>  Example 4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72502"/>
            <a:ext cx="8010626" cy="5725522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2200"/>
              <a:t>“Which rating codes have an average runtime greater than the average runtime for all movies?”</a:t>
            </a:r>
          </a:p>
          <a:p>
            <a:pPr marL="0" indent="0">
              <a:spcBef>
                <a:spcPts val="0"/>
              </a:spcBef>
              <a:buNone/>
            </a:pPr>
            <a:endParaRPr lang="en-AU" sz="2200"/>
          </a:p>
          <a:p>
            <a:pPr marL="0" indent="0">
              <a:spcBef>
                <a:spcPts val="0"/>
              </a:spcBef>
              <a:buNone/>
            </a:pPr>
            <a:r>
              <a:rPr lang="en-AU" sz="2200"/>
              <a:t>Sub Query in the Having clause</a:t>
            </a:r>
          </a:p>
          <a:p>
            <a:pPr marL="381000" indent="-381000">
              <a:spcBef>
                <a:spcPts val="0"/>
              </a:spcBef>
            </a:pPr>
            <a:endParaRPr lang="en-AU" sz="2200"/>
          </a:p>
          <a:p>
            <a:pPr marL="381000" indent="-381000">
              <a:spcBef>
                <a:spcPts val="0"/>
              </a:spcBef>
            </a:pPr>
            <a:r>
              <a:rPr lang="en-AU" sz="2200"/>
              <a:t>First, determine the query to find average runtime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200">
                <a:solidFill>
                  <a:srgbClr val="0033CC"/>
                </a:solidFill>
              </a:rPr>
              <a:t>	SELECT AVG(runtime) FROM movie;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sz="2200">
              <a:solidFill>
                <a:srgbClr val="0033CC"/>
              </a:solidFill>
            </a:endParaRPr>
          </a:p>
          <a:p>
            <a:pPr marL="381000" indent="-381000">
              <a:spcBef>
                <a:spcPts val="0"/>
              </a:spcBef>
            </a:pPr>
            <a:r>
              <a:rPr lang="en-AU" sz="2200"/>
              <a:t>Now write the other code that interacts with the </a:t>
            </a:r>
            <a:r>
              <a:rPr lang="en-AU" sz="2200" b="1"/>
              <a:t>subquery</a:t>
            </a:r>
            <a:endParaRPr lang="en-AU" sz="2200"/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SELECT </a:t>
            </a:r>
            <a:r>
              <a:rPr lang="en-AU" sz="2000" err="1">
                <a:solidFill>
                  <a:srgbClr val="0033CC"/>
                </a:solidFill>
              </a:rPr>
              <a:t>rating_code</a:t>
            </a:r>
            <a:r>
              <a:rPr lang="en-AU" sz="2000">
                <a:solidFill>
                  <a:srgbClr val="0033CC"/>
                </a:solidFill>
              </a:rPr>
              <a:t>, AVG(runtime)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FROM movie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GROUP BY </a:t>
            </a:r>
            <a:r>
              <a:rPr lang="en-AU" sz="2000" err="1">
                <a:solidFill>
                  <a:srgbClr val="0033CC"/>
                </a:solidFill>
              </a:rPr>
              <a:t>rating_code</a:t>
            </a:r>
            <a:endParaRPr lang="en-AU" sz="2000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HAVING AVG(runtime) &gt;  ( </a:t>
            </a:r>
            <a:r>
              <a:rPr lang="en-AU" sz="2000" b="1" i="1">
                <a:solidFill>
                  <a:srgbClr val="0033CC"/>
                </a:solidFill>
              </a:rPr>
              <a:t>result of subquery</a:t>
            </a:r>
            <a:r>
              <a:rPr lang="en-AU" sz="2000" b="1">
                <a:solidFill>
                  <a:srgbClr val="0033CC"/>
                </a:solidFill>
              </a:rPr>
              <a:t> );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sz="2200" b="1">
              <a:solidFill>
                <a:srgbClr val="0033CC"/>
              </a:solidFill>
            </a:endParaRPr>
          </a:p>
          <a:p>
            <a:pPr marL="381000" lvl="1" indent="-381000">
              <a:spcBef>
                <a:spcPts val="0"/>
              </a:spcBef>
              <a:buFont typeface="Arial"/>
              <a:buChar char="•"/>
            </a:pPr>
            <a:r>
              <a:rPr lang="en-AU" sz="2200"/>
              <a:t>Put it all together in a single statement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SELECT </a:t>
            </a:r>
            <a:r>
              <a:rPr lang="en-AU" sz="2000" err="1">
                <a:solidFill>
                  <a:srgbClr val="0033CC"/>
                </a:solidFill>
              </a:rPr>
              <a:t>rating_code</a:t>
            </a:r>
            <a:r>
              <a:rPr lang="en-AU" sz="2000">
                <a:solidFill>
                  <a:srgbClr val="0033CC"/>
                </a:solidFill>
              </a:rPr>
              <a:t>, AVG(runtime)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FROM movie</a:t>
            </a: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GROUP BY </a:t>
            </a:r>
            <a:r>
              <a:rPr lang="en-AU" sz="2000" err="1">
                <a:solidFill>
                  <a:srgbClr val="0033CC"/>
                </a:solidFill>
              </a:rPr>
              <a:t>rating_code</a:t>
            </a:r>
            <a:endParaRPr lang="en-AU" sz="2000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2000">
                <a:solidFill>
                  <a:srgbClr val="0033CC"/>
                </a:solidFill>
              </a:rPr>
              <a:t>	HAVING AVG(runtime) &gt;  (SELECT AVG(runtime) FROM movie;</a:t>
            </a:r>
            <a:endParaRPr lang="en-AU" sz="2000" b="1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endParaRPr lang="en-AU" sz="1200" b="1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sz="1200" b="1">
                <a:solidFill>
                  <a:srgbClr val="0033CC"/>
                </a:solidFill>
                <a:hlinkClick r:id="rId2"/>
              </a:rPr>
              <a:t>https://www.essentialsql.com/get-ready-to-learn-sql-server-19-introduction-to-sub-queries/</a:t>
            </a:r>
            <a:endParaRPr lang="en-AU" sz="1200" b="1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endParaRPr lang="en-AU" sz="1200" b="1">
              <a:solidFill>
                <a:srgbClr val="0033CC"/>
              </a:solidFill>
            </a:endParaRPr>
          </a:p>
          <a:p>
            <a:pPr marL="862013" lvl="1" indent="-381000">
              <a:spcBef>
                <a:spcPts val="0"/>
              </a:spcBef>
              <a:buNone/>
            </a:pPr>
            <a:endParaRPr lang="en-AU" sz="2200" b="1">
              <a:solidFill>
                <a:srgbClr val="0033CC"/>
              </a:solidFill>
            </a:endParaRPr>
          </a:p>
          <a:p>
            <a:pPr marL="381000" indent="-381000"/>
            <a:endParaRPr lang="en-AU" b="1"/>
          </a:p>
          <a:p>
            <a:pPr marL="381000" indent="-381000"/>
            <a:endParaRPr lang="en-AU" sz="2000">
              <a:latin typeface="Lucida Console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50196"/>
          <a:stretch/>
        </p:blipFill>
        <p:spPr>
          <a:xfrm>
            <a:off x="8445732" y="2234828"/>
            <a:ext cx="1655581" cy="52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676" y="4753247"/>
            <a:ext cx="21431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82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1524001" y="5926658"/>
            <a:ext cx="1895475" cy="93134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indent="-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</a:pPr>
            <a:endParaRPr lang="en-AU" sz="2400" b="1" i="1">
              <a:solidFill>
                <a:srgbClr val="D1161E"/>
              </a:solidFill>
              <a:latin typeface="Arial Narrow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Types of Joins</a:t>
            </a:r>
          </a:p>
        </p:txBody>
      </p:sp>
      <p:sp>
        <p:nvSpPr>
          <p:cNvPr id="22" name="Rectangle 3"/>
          <p:cNvSpPr>
            <a:spLocks noGrp="1" noChangeArrowheads="1"/>
          </p:cNvSpPr>
          <p:nvPr>
            <p:ph idx="1"/>
          </p:nvPr>
        </p:nvSpPr>
        <p:spPr>
          <a:xfrm>
            <a:off x="1976475" y="802937"/>
            <a:ext cx="8444753" cy="391748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200"/>
              <a:t>Consider the data in table 1 and table 2.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/>
              <a:t>Assume there is a </a:t>
            </a:r>
            <a:r>
              <a:rPr lang="en-US" sz="2200" b="1"/>
              <a:t>PK:FK</a:t>
            </a:r>
            <a:r>
              <a:rPr lang="en-US" sz="2200"/>
              <a:t> relationship between the tables.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/>
              <a:t>A Select statement with an </a:t>
            </a:r>
            <a:r>
              <a:rPr lang="en-US" sz="2200" b="1"/>
              <a:t>inner join</a:t>
            </a:r>
            <a:r>
              <a:rPr lang="en-US" sz="2200"/>
              <a:t> gets data where </a:t>
            </a:r>
            <a:r>
              <a:rPr lang="en-US" sz="2200" b="1"/>
              <a:t>PK=FK</a:t>
            </a:r>
            <a:r>
              <a:rPr lang="en-US" sz="2200"/>
              <a:t> </a:t>
            </a:r>
            <a:r>
              <a:rPr lang="en-AU"/>
              <a:t>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2518" y="2993459"/>
            <a:ext cx="28776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Dave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Sue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Emma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Jennifer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01354" y="2993459"/>
            <a:ext cx="8242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Taylor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Sophie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Jaden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4454" y="2983742"/>
            <a:ext cx="8242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Taylor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Sophie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Jaden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49384" y="2993460"/>
            <a:ext cx="9022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Noah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Amelia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Jackson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Lucas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5671" y="2383859"/>
            <a:ext cx="84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Table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453" y="2383859"/>
            <a:ext cx="84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Table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15671" y="2383859"/>
            <a:ext cx="2949388" cy="223296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8851" y="2383859"/>
            <a:ext cx="2949388" cy="223296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10074" y="2882920"/>
            <a:ext cx="3078644" cy="2232966"/>
          </a:xfrm>
          <a:prstGeom prst="rect">
            <a:avLst/>
          </a:prstGeom>
          <a:noFill/>
          <a:ln w="28575">
            <a:solidFill>
              <a:srgbClr val="FF0066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1887" y="5080387"/>
            <a:ext cx="141256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2000" b="1">
                <a:solidFill>
                  <a:srgbClr val="FF0066"/>
                </a:solidFill>
                <a:latin typeface="Calibri"/>
              </a:rPr>
              <a:t>INNER JOIN</a:t>
            </a:r>
          </a:p>
          <a:p>
            <a:pPr defTabSz="457200"/>
            <a:endParaRPr lang="en-AU">
              <a:solidFill>
                <a:srgbClr val="FF0066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17258" y="5549591"/>
            <a:ext cx="3873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AU">
                <a:solidFill>
                  <a:srgbClr val="FF0066"/>
                </a:solidFill>
                <a:latin typeface="Calibri"/>
              </a:rPr>
              <a:t>An INNER JOIN uses</a:t>
            </a:r>
          </a:p>
          <a:p>
            <a:pPr algn="ctr" defTabSz="457200"/>
            <a:r>
              <a:rPr lang="en-AU">
                <a:solidFill>
                  <a:srgbClr val="FF0066"/>
                </a:solidFill>
                <a:latin typeface="Calibri"/>
              </a:rPr>
              <a:t>Values that have a match in both tables</a:t>
            </a:r>
          </a:p>
          <a:p>
            <a:pPr algn="ctr" defTabSz="457200"/>
            <a:endParaRPr lang="en-AU">
              <a:solidFill>
                <a:srgbClr val="FF0066"/>
              </a:solidFill>
              <a:latin typeface="Calibri"/>
            </a:endParaRPr>
          </a:p>
          <a:p>
            <a:pPr algn="ctr" defTabSz="457200"/>
            <a:endParaRPr lang="en-AU">
              <a:solidFill>
                <a:srgbClr val="FF00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9457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Inner Joins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705395"/>
            <a:ext cx="8444753" cy="429974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200" b="1"/>
              <a:t>Business Requirement: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i="1"/>
              <a:t>"Provide a list showing </a:t>
            </a:r>
            <a:r>
              <a:rPr lang="en-AU" b="1" i="1"/>
              <a:t>all</a:t>
            </a:r>
            <a:r>
              <a:rPr lang="en-AU" i="1"/>
              <a:t> actors. </a:t>
            </a:r>
            <a:br>
              <a:rPr lang="en-AU" i="1"/>
            </a:br>
            <a:r>
              <a:rPr lang="en-AU" i="1"/>
              <a:t>List the movies that each appears in" </a:t>
            </a:r>
            <a:endParaRPr lang="en-AU" sz="2400" i="1"/>
          </a:p>
          <a:p>
            <a:pPr marL="838200" lvl="1" indent="-381000">
              <a:spcBef>
                <a:spcPts val="0"/>
              </a:spcBef>
            </a:pPr>
            <a:endParaRPr lang="en-US" sz="2200"/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i="1"/>
              <a:t>        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i="1"/>
          </a:p>
          <a:p>
            <a:pPr marL="381000" indent="-381000">
              <a:lnSpc>
                <a:spcPct val="80000"/>
              </a:lnSpc>
              <a:buNone/>
            </a:pPr>
            <a:r>
              <a:rPr lang="en-AU"/>
              <a:t>	</a:t>
            </a:r>
          </a:p>
        </p:txBody>
      </p:sp>
      <p:sp>
        <p:nvSpPr>
          <p:cNvPr id="2" name="Rectangle 1"/>
          <p:cNvSpPr/>
          <p:nvPr/>
        </p:nvSpPr>
        <p:spPr>
          <a:xfrm>
            <a:off x="5398675" y="647626"/>
            <a:ext cx="54326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SELECT       	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a.fullname</a:t>
            </a:r>
            <a:r>
              <a:rPr lang="en-US" b="1">
                <a:solidFill>
                  <a:srgbClr val="0033CC"/>
                </a:solidFill>
                <a:latin typeface="Calibri"/>
              </a:rPr>
              <a:t>,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c.movieno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FROM           	actor a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INNER JOIN 	casting c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ON                	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c.actorno</a:t>
            </a:r>
            <a:r>
              <a:rPr lang="en-US" b="1">
                <a:solidFill>
                  <a:srgbClr val="0033CC"/>
                </a:solidFill>
                <a:latin typeface="Calibri"/>
              </a:rPr>
              <a:t>  =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a.actorno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ORDER BY   	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a.fullname</a:t>
            </a:r>
            <a:r>
              <a:rPr lang="en-US" b="1">
                <a:solidFill>
                  <a:srgbClr val="0033CC"/>
                </a:solidFill>
                <a:latin typeface="Calibri"/>
              </a:rPr>
              <a:t>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59574" y="2139708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ActorNo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Fullname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Brad Pitt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Robert Downey 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Amy Adams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Natalie Portman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1694" y="2272877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MovieNo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V for Vendetta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La </a:t>
                      </a:r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La</a:t>
                      </a:r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 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Black Swan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Iron 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19402" y="2739874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ActorNo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MovieNo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694587" y="4886539"/>
            <a:ext cx="5432611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7030A0"/>
                </a:solidFill>
                <a:latin typeface="Calibri"/>
              </a:rPr>
              <a:t>Result Set: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err="1">
                <a:solidFill>
                  <a:srgbClr val="7030A0"/>
                </a:solidFill>
                <a:latin typeface="Calibri"/>
              </a:rPr>
              <a:t>Fullname</a:t>
            </a:r>
            <a:r>
              <a:rPr lang="en-US">
                <a:solidFill>
                  <a:srgbClr val="7030A0"/>
                </a:solidFill>
                <a:latin typeface="Calibri"/>
              </a:rPr>
              <a:t>				</a:t>
            </a:r>
            <a:r>
              <a:rPr lang="en-US" err="1">
                <a:solidFill>
                  <a:srgbClr val="7030A0"/>
                </a:solidFill>
                <a:latin typeface="Calibri"/>
              </a:rPr>
              <a:t>MovieNo</a:t>
            </a:r>
            <a:endParaRPr lang="en-US">
              <a:solidFill>
                <a:srgbClr val="7030A0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Amy Adams			721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Natalie Portman		731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Natalie Portman		711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Robert Downey Jr		745	</a:t>
            </a:r>
          </a:p>
          <a:p>
            <a:pPr marL="681038" lvl="1" indent="-200025" defTabSz="457200">
              <a:lnSpc>
                <a:spcPct val="80000"/>
              </a:lnSpc>
            </a:pP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73456" y="4856939"/>
            <a:ext cx="501445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2800">
                <a:solidFill>
                  <a:srgbClr val="D1161E"/>
                </a:solidFill>
                <a:latin typeface="Calibri"/>
              </a:rPr>
              <a:t>What has happened to Brad Pitt?</a:t>
            </a:r>
          </a:p>
          <a:p>
            <a:pPr defTabSz="457200"/>
            <a:r>
              <a:rPr lang="en-AU" sz="2800">
                <a:solidFill>
                  <a:srgbClr val="D1161E"/>
                </a:solidFill>
                <a:latin typeface="Calibri"/>
              </a:rPr>
              <a:t>He is NOT in the result set!</a:t>
            </a:r>
          </a:p>
          <a:p>
            <a:pPr defTabSz="457200"/>
            <a:endParaRPr lang="en-AU" sz="2800">
              <a:solidFill>
                <a:srgbClr val="D1161E"/>
              </a:solidFill>
              <a:latin typeface="Calibri"/>
            </a:endParaRPr>
          </a:p>
          <a:p>
            <a:pPr defTabSz="457200"/>
            <a:r>
              <a:rPr lang="en-AU" sz="2800">
                <a:solidFill>
                  <a:srgbClr val="D1161E"/>
                </a:solidFill>
                <a:latin typeface="Calibri"/>
              </a:rPr>
              <a:t>Requirement is not met.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9575" y="1847010"/>
            <a:ext cx="124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Actor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5042" y="2455814"/>
            <a:ext cx="1414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Casting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348" y="1987697"/>
            <a:ext cx="132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Movie Table</a:t>
            </a:r>
          </a:p>
        </p:txBody>
      </p:sp>
    </p:spTree>
    <p:extLst>
      <p:ext uri="{BB962C8B-B14F-4D97-AF65-F5344CB8AC3E}">
        <p14:creationId xmlns:p14="http://schemas.microsoft.com/office/powerpoint/2010/main" val="3803650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1524001" y="5926658"/>
            <a:ext cx="1895475" cy="93134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indent="-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</a:pPr>
            <a:endParaRPr lang="en-AU" sz="2400" b="1" i="1">
              <a:solidFill>
                <a:srgbClr val="D1161E"/>
              </a:solidFill>
              <a:latin typeface="Arial Narrow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LEFT OUTER JOIN</a:t>
            </a:r>
          </a:p>
        </p:txBody>
      </p:sp>
      <p:sp>
        <p:nvSpPr>
          <p:cNvPr id="21" name="Rectangle 3"/>
          <p:cNvSpPr>
            <a:spLocks noGrp="1" noChangeArrowheads="1"/>
          </p:cNvSpPr>
          <p:nvPr>
            <p:ph idx="1"/>
          </p:nvPr>
        </p:nvSpPr>
        <p:spPr>
          <a:xfrm>
            <a:off x="1976475" y="802937"/>
            <a:ext cx="8444753" cy="391748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200"/>
              <a:t>Imagine that we want</a:t>
            </a:r>
            <a:r>
              <a:rPr lang="en-US" sz="2200" b="1"/>
              <a:t> all rows</a:t>
            </a:r>
            <a:r>
              <a:rPr lang="en-US" sz="2200"/>
              <a:t> from Table 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/>
              <a:t>and all </a:t>
            </a:r>
            <a:r>
              <a:rPr lang="en-US" sz="2200" b="1"/>
              <a:t>matching rows </a:t>
            </a:r>
            <a:r>
              <a:rPr lang="en-US" sz="2200"/>
              <a:t>from Table 2.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/>
              <a:t>This is known as a LEFT OUTER JOIN (because table 1 is on the left!)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/>
              <a:t>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5271" y="3020352"/>
            <a:ext cx="28776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Dave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Sue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Emma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Jennifer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64107" y="3020352"/>
            <a:ext cx="8242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Taylor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Sophie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Jaden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7207" y="3010635"/>
            <a:ext cx="8242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Taylor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Sophie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Jaden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12137" y="3020353"/>
            <a:ext cx="9022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Noah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Amelia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Jackson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Lucas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78424" y="2410752"/>
            <a:ext cx="84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Table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7206" y="2410752"/>
            <a:ext cx="84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Table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78424" y="2410752"/>
            <a:ext cx="2949388" cy="223296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1604" y="2410752"/>
            <a:ext cx="2949388" cy="223296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81201" y="2909813"/>
            <a:ext cx="5270271" cy="2232966"/>
          </a:xfrm>
          <a:prstGeom prst="rect">
            <a:avLst/>
          </a:prstGeom>
          <a:noFill/>
          <a:ln w="28575">
            <a:solidFill>
              <a:srgbClr val="FF0066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34427" y="5641839"/>
            <a:ext cx="3855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AU">
                <a:solidFill>
                  <a:srgbClr val="FF0066"/>
                </a:solidFill>
                <a:latin typeface="Calibri"/>
              </a:rPr>
              <a:t>A LEFT OUTER JOIN uses</a:t>
            </a:r>
          </a:p>
          <a:p>
            <a:pPr algn="ctr" defTabSz="457200"/>
            <a:r>
              <a:rPr lang="en-AU">
                <a:solidFill>
                  <a:srgbClr val="FF0066"/>
                </a:solidFill>
                <a:latin typeface="Calibri"/>
              </a:rPr>
              <a:t>All values from LEFT table plus</a:t>
            </a:r>
          </a:p>
          <a:p>
            <a:pPr algn="ctr" defTabSz="457200"/>
            <a:r>
              <a:rPr lang="en-AU">
                <a:solidFill>
                  <a:srgbClr val="FF0066"/>
                </a:solidFill>
                <a:latin typeface="Calibri"/>
              </a:rPr>
              <a:t>values that have a match in both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2229" y="5125738"/>
            <a:ext cx="200888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2000" b="1">
                <a:solidFill>
                  <a:srgbClr val="FF0066"/>
                </a:solidFill>
                <a:latin typeface="Calibri"/>
              </a:rPr>
              <a:t>LEFT OUTER JOIN</a:t>
            </a:r>
          </a:p>
          <a:p>
            <a:pPr defTabSz="457200"/>
            <a:endParaRPr lang="en-AU">
              <a:solidFill>
                <a:srgbClr val="FF00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58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Outer Joins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2020001" y="678177"/>
            <a:ext cx="8444753" cy="429974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200" b="1"/>
              <a:t>Business Requirement: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i="1"/>
              <a:t>"Provide a list showing </a:t>
            </a:r>
            <a:r>
              <a:rPr lang="en-AU" b="1" i="1"/>
              <a:t>all</a:t>
            </a:r>
            <a:r>
              <a:rPr lang="en-AU" i="1"/>
              <a:t> actors. </a:t>
            </a:r>
            <a:br>
              <a:rPr lang="en-AU" i="1"/>
            </a:br>
            <a:r>
              <a:rPr lang="en-AU" i="1"/>
              <a:t>List the movies that each appears in" </a:t>
            </a:r>
            <a:endParaRPr lang="en-AU" sz="2400" i="1"/>
          </a:p>
          <a:p>
            <a:pPr marL="838200" lvl="1" indent="-381000">
              <a:spcBef>
                <a:spcPts val="0"/>
              </a:spcBef>
            </a:pPr>
            <a:endParaRPr lang="en-US" sz="2200"/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i="1"/>
              <a:t>        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i="1"/>
          </a:p>
          <a:p>
            <a:pPr marL="381000" indent="-381000">
              <a:lnSpc>
                <a:spcPct val="80000"/>
              </a:lnSpc>
              <a:buNone/>
            </a:pPr>
            <a:r>
              <a:rPr lang="en-AU"/>
              <a:t>	</a:t>
            </a:r>
          </a:p>
        </p:txBody>
      </p:sp>
      <p:sp>
        <p:nvSpPr>
          <p:cNvPr id="2" name="Rectangle 1"/>
          <p:cNvSpPr/>
          <p:nvPr/>
        </p:nvSpPr>
        <p:spPr>
          <a:xfrm>
            <a:off x="5398675" y="1157077"/>
            <a:ext cx="54326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SELECT       	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a.fullname</a:t>
            </a:r>
            <a:r>
              <a:rPr lang="en-US" b="1">
                <a:solidFill>
                  <a:srgbClr val="0033CC"/>
                </a:solidFill>
                <a:latin typeface="Calibri"/>
              </a:rPr>
              <a:t>,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c.movieno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FROM           	        actor a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FF0000"/>
                </a:solidFill>
                <a:latin typeface="Calibri"/>
              </a:rPr>
              <a:t>LEFT OUTER JOIN</a:t>
            </a:r>
            <a:r>
              <a:rPr lang="en-US" b="1">
                <a:solidFill>
                  <a:srgbClr val="0033CC"/>
                </a:solidFill>
                <a:latin typeface="Calibri"/>
              </a:rPr>
              <a:t>   casting c  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ON                	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c.actorno</a:t>
            </a:r>
            <a:r>
              <a:rPr lang="en-US" b="1">
                <a:solidFill>
                  <a:srgbClr val="0033CC"/>
                </a:solidFill>
                <a:latin typeface="Calibri"/>
              </a:rPr>
              <a:t>  =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a.actorno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ORDER BY   	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a.fullname</a:t>
            </a:r>
            <a:r>
              <a:rPr lang="en-US" b="1">
                <a:solidFill>
                  <a:srgbClr val="0033CC"/>
                </a:solidFill>
                <a:latin typeface="Calibri"/>
              </a:rPr>
              <a:t>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59574" y="2694879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ActorNo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Fullname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Brad Pitt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Robert Downey 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Amy Adams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Natalie Portman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1694" y="2828048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MovieNo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V for Vendetta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La </a:t>
                      </a:r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La</a:t>
                      </a:r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 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Black Swan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Iron 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19402" y="3295045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ActorNo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MovieNo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694587" y="4886539"/>
            <a:ext cx="5432611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7030A0"/>
                </a:solidFill>
                <a:latin typeface="Calibri"/>
              </a:rPr>
              <a:t>Result Set: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err="1">
                <a:solidFill>
                  <a:srgbClr val="7030A0"/>
                </a:solidFill>
                <a:latin typeface="Calibri"/>
              </a:rPr>
              <a:t>Fullname</a:t>
            </a:r>
            <a:r>
              <a:rPr lang="en-US">
                <a:solidFill>
                  <a:srgbClr val="7030A0"/>
                </a:solidFill>
                <a:latin typeface="Calibri"/>
              </a:rPr>
              <a:t>				</a:t>
            </a:r>
            <a:r>
              <a:rPr lang="en-US" err="1">
                <a:solidFill>
                  <a:srgbClr val="7030A0"/>
                </a:solidFill>
                <a:latin typeface="Calibri"/>
              </a:rPr>
              <a:t>MovieNo</a:t>
            </a:r>
            <a:endParaRPr lang="en-US">
              <a:solidFill>
                <a:srgbClr val="7030A0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Amy Adams			721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Brad Pitt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Natalie Portman		731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Natalie Portman		711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Robert Downey Jr		745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73456" y="4856939"/>
            <a:ext cx="484363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2800">
                <a:solidFill>
                  <a:srgbClr val="D1161E"/>
                </a:solidFill>
                <a:latin typeface="Calibri"/>
              </a:rPr>
              <a:t>The Outer Join causes</a:t>
            </a:r>
            <a:br>
              <a:rPr lang="en-AU" sz="2800">
                <a:solidFill>
                  <a:srgbClr val="D1161E"/>
                </a:solidFill>
                <a:latin typeface="Calibri"/>
              </a:rPr>
            </a:br>
            <a:r>
              <a:rPr lang="en-AU" sz="2800">
                <a:solidFill>
                  <a:srgbClr val="D1161E"/>
                </a:solidFill>
                <a:latin typeface="Calibri"/>
              </a:rPr>
              <a:t>actor 102 (BP) to be listed even</a:t>
            </a:r>
          </a:p>
          <a:p>
            <a:pPr defTabSz="457200"/>
            <a:r>
              <a:rPr lang="en-AU" sz="2800">
                <a:solidFill>
                  <a:srgbClr val="D1161E"/>
                </a:solidFill>
                <a:latin typeface="Calibri"/>
              </a:rPr>
              <a:t>though he is not in the </a:t>
            </a:r>
            <a:br>
              <a:rPr lang="en-AU" sz="2800">
                <a:solidFill>
                  <a:srgbClr val="D1161E"/>
                </a:solidFill>
                <a:latin typeface="Calibri"/>
              </a:rPr>
            </a:br>
            <a:r>
              <a:rPr lang="en-AU" sz="2800">
                <a:solidFill>
                  <a:srgbClr val="D1161E"/>
                </a:solidFill>
                <a:latin typeface="Calibri"/>
              </a:rPr>
              <a:t>intersection 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9575" y="2402181"/>
            <a:ext cx="124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Actor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5042" y="3010985"/>
            <a:ext cx="1414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Casting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348" y="2542868"/>
            <a:ext cx="132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Movie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7565" y="184679"/>
            <a:ext cx="2339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>
                <a:solidFill>
                  <a:srgbClr val="7030A0"/>
                </a:solidFill>
                <a:latin typeface="Calibri"/>
              </a:rPr>
              <a:t>The 'left' table is the </a:t>
            </a:r>
            <a:r>
              <a:rPr lang="en-AU" b="1">
                <a:solidFill>
                  <a:srgbClr val="7030A0"/>
                </a:solidFill>
                <a:latin typeface="Calibri"/>
              </a:rPr>
              <a:t>first</a:t>
            </a:r>
            <a:r>
              <a:rPr lang="en-AU">
                <a:solidFill>
                  <a:srgbClr val="7030A0"/>
                </a:solidFill>
                <a:latin typeface="Calibri"/>
              </a:rPr>
              <a:t> table listed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7267624" y="794191"/>
            <a:ext cx="402450" cy="63619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683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1524001" y="5926658"/>
            <a:ext cx="1895475" cy="93134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indent="-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</a:pPr>
            <a:endParaRPr lang="en-AU" sz="2400" b="1" i="1">
              <a:solidFill>
                <a:srgbClr val="D1161E"/>
              </a:solidFill>
              <a:latin typeface="Arial Narrow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RIGHT OUTER JOIN</a:t>
            </a:r>
          </a:p>
        </p:txBody>
      </p:sp>
      <p:sp>
        <p:nvSpPr>
          <p:cNvPr id="20" name="Rectangle 3"/>
          <p:cNvSpPr>
            <a:spLocks noGrp="1" noChangeArrowheads="1"/>
          </p:cNvSpPr>
          <p:nvPr>
            <p:ph idx="1"/>
          </p:nvPr>
        </p:nvSpPr>
        <p:spPr>
          <a:xfrm>
            <a:off x="1976475" y="802937"/>
            <a:ext cx="8444753" cy="391748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200"/>
              <a:t>Imagine that we want</a:t>
            </a:r>
            <a:r>
              <a:rPr lang="en-US" sz="2200" b="1"/>
              <a:t> all rows</a:t>
            </a:r>
            <a:r>
              <a:rPr lang="en-US" sz="2200"/>
              <a:t> from Table 2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/>
              <a:t>and </a:t>
            </a:r>
            <a:r>
              <a:rPr lang="en-US" sz="2200" b="1"/>
              <a:t>matching rows </a:t>
            </a:r>
            <a:r>
              <a:rPr lang="en-US" sz="2200"/>
              <a:t>from Table 1.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/>
              <a:t>This is known as a RIGHT OUTER JOIN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/>
              <a:t>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2518" y="3172753"/>
            <a:ext cx="28776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Dave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Sue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Emma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Jennifer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01354" y="3172753"/>
            <a:ext cx="8242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Taylor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Sophie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Jaden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4454" y="3163036"/>
            <a:ext cx="8242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Taylor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Sophie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Jaden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49384" y="3172754"/>
            <a:ext cx="9022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Noah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Amelia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Jackson</a:t>
            </a:r>
          </a:p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Lucas</a:t>
            </a: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5671" y="2563153"/>
            <a:ext cx="84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Table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453" y="2563153"/>
            <a:ext cx="84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D1161E"/>
                </a:solidFill>
                <a:latin typeface="Calibri"/>
              </a:rPr>
              <a:t>Table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15671" y="2563153"/>
            <a:ext cx="2949388" cy="223296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8851" y="2563153"/>
            <a:ext cx="2949388" cy="223296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72341" y="2932485"/>
            <a:ext cx="5270271" cy="2232966"/>
          </a:xfrm>
          <a:prstGeom prst="rect">
            <a:avLst/>
          </a:prstGeom>
          <a:noFill/>
          <a:ln w="28575">
            <a:solidFill>
              <a:srgbClr val="FF0066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05309" y="5194360"/>
            <a:ext cx="219643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2000" b="1">
                <a:solidFill>
                  <a:srgbClr val="FF0066"/>
                </a:solidFill>
                <a:latin typeface="Calibri"/>
              </a:rPr>
              <a:t>RIGHT OUTER JOIN</a:t>
            </a:r>
          </a:p>
          <a:p>
            <a:pPr defTabSz="457200"/>
            <a:endParaRPr lang="en-AU">
              <a:solidFill>
                <a:srgbClr val="FF0066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75818" y="5775051"/>
            <a:ext cx="3855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AU">
                <a:solidFill>
                  <a:srgbClr val="FF0066"/>
                </a:solidFill>
                <a:latin typeface="Calibri"/>
              </a:rPr>
              <a:t>A RIGHT OUTER JOIN uses</a:t>
            </a:r>
          </a:p>
          <a:p>
            <a:pPr algn="ctr" defTabSz="457200"/>
            <a:r>
              <a:rPr lang="en-AU">
                <a:solidFill>
                  <a:srgbClr val="FF0066"/>
                </a:solidFill>
                <a:latin typeface="Calibri"/>
              </a:rPr>
              <a:t>all values from RIGHT table plus</a:t>
            </a:r>
          </a:p>
          <a:p>
            <a:pPr algn="ctr" defTabSz="457200"/>
            <a:r>
              <a:rPr lang="en-AU">
                <a:solidFill>
                  <a:srgbClr val="FF0066"/>
                </a:solidFill>
                <a:latin typeface="Calibri"/>
              </a:rPr>
              <a:t>values that have a match in both tables</a:t>
            </a:r>
          </a:p>
        </p:txBody>
      </p:sp>
    </p:spTree>
    <p:extLst>
      <p:ext uri="{BB962C8B-B14F-4D97-AF65-F5344CB8AC3E}">
        <p14:creationId xmlns:p14="http://schemas.microsoft.com/office/powerpoint/2010/main" val="414772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Outer Joins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705395"/>
            <a:ext cx="8444753" cy="429974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200" b="1"/>
              <a:t>Business Requirement: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AU" i="1"/>
              <a:t>"Provide a list showing </a:t>
            </a:r>
            <a:r>
              <a:rPr lang="en-AU" b="1" i="1"/>
              <a:t>all</a:t>
            </a:r>
            <a:r>
              <a:rPr lang="en-AU" i="1"/>
              <a:t> actors. </a:t>
            </a:r>
            <a:br>
              <a:rPr lang="en-AU" i="1"/>
            </a:br>
            <a:r>
              <a:rPr lang="en-AU" i="1"/>
              <a:t>List the movies that each appears in" </a:t>
            </a:r>
            <a:endParaRPr lang="en-AU" sz="2400" i="1"/>
          </a:p>
          <a:p>
            <a:pPr marL="838200" lvl="1" indent="-381000">
              <a:spcBef>
                <a:spcPts val="0"/>
              </a:spcBef>
            </a:pPr>
            <a:endParaRPr lang="en-US" sz="2200"/>
          </a:p>
          <a:p>
            <a:pPr marL="862013" lvl="1" indent="-381000">
              <a:spcBef>
                <a:spcPts val="0"/>
              </a:spcBef>
              <a:buNone/>
            </a:pPr>
            <a:r>
              <a:rPr lang="en-AU" i="1"/>
              <a:t>        </a:t>
            </a:r>
          </a:p>
          <a:p>
            <a:pPr marL="862013" lvl="1" indent="-381000">
              <a:spcBef>
                <a:spcPts val="0"/>
              </a:spcBef>
              <a:buNone/>
            </a:pPr>
            <a:endParaRPr lang="en-AU" i="1"/>
          </a:p>
          <a:p>
            <a:pPr marL="381000" indent="-381000">
              <a:lnSpc>
                <a:spcPct val="80000"/>
              </a:lnSpc>
              <a:buNone/>
            </a:pPr>
            <a:r>
              <a:rPr lang="en-AU"/>
              <a:t>	</a:t>
            </a:r>
          </a:p>
        </p:txBody>
      </p:sp>
      <p:sp>
        <p:nvSpPr>
          <p:cNvPr id="2" name="Rectangle 1"/>
          <p:cNvSpPr/>
          <p:nvPr/>
        </p:nvSpPr>
        <p:spPr>
          <a:xfrm>
            <a:off x="5382825" y="867031"/>
            <a:ext cx="54326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SELECT       	  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a.fullname</a:t>
            </a:r>
            <a:r>
              <a:rPr lang="en-US" b="1">
                <a:solidFill>
                  <a:srgbClr val="0033CC"/>
                </a:solidFill>
                <a:latin typeface="Calibri"/>
              </a:rPr>
              <a:t>,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c.movieno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FROM           	          casting c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FF0000"/>
                </a:solidFill>
                <a:latin typeface="Calibri"/>
              </a:rPr>
              <a:t>RIGHT OUTER JOIN</a:t>
            </a:r>
            <a:r>
              <a:rPr lang="en-US" b="1">
                <a:solidFill>
                  <a:srgbClr val="0033CC"/>
                </a:solidFill>
                <a:latin typeface="Calibri"/>
              </a:rPr>
              <a:t>  actor a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ON                	  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c.actorno</a:t>
            </a:r>
            <a:r>
              <a:rPr lang="en-US" b="1">
                <a:solidFill>
                  <a:srgbClr val="0033CC"/>
                </a:solidFill>
                <a:latin typeface="Calibri"/>
              </a:rPr>
              <a:t>  =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a.actorno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ORDER BY   	  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a.fullname</a:t>
            </a:r>
            <a:r>
              <a:rPr lang="en-US" b="1">
                <a:solidFill>
                  <a:srgbClr val="0033CC"/>
                </a:solidFill>
                <a:latin typeface="Calibri"/>
              </a:rPr>
              <a:t>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59574" y="2139708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ActorNo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Fullname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Brad Pitt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Robert Downey 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Amy Adams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Natalie Portman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1694" y="2272877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MovieNo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V for Vendetta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La </a:t>
                      </a:r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La</a:t>
                      </a:r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 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Black Swan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Iron 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19402" y="2739874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ActorNo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MovieNo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694587" y="4886540"/>
            <a:ext cx="5432611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7030A0"/>
                </a:solidFill>
                <a:latin typeface="Calibri"/>
              </a:rPr>
              <a:t>Result Set: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err="1">
                <a:solidFill>
                  <a:srgbClr val="7030A0"/>
                </a:solidFill>
                <a:latin typeface="Calibri"/>
              </a:rPr>
              <a:t>Fullname</a:t>
            </a:r>
            <a:r>
              <a:rPr lang="en-US">
                <a:solidFill>
                  <a:srgbClr val="7030A0"/>
                </a:solidFill>
                <a:latin typeface="Calibri"/>
              </a:rPr>
              <a:t>				</a:t>
            </a:r>
            <a:r>
              <a:rPr lang="en-US" err="1">
                <a:solidFill>
                  <a:srgbClr val="7030A0"/>
                </a:solidFill>
                <a:latin typeface="Calibri"/>
              </a:rPr>
              <a:t>MovieNo</a:t>
            </a:r>
            <a:endParaRPr lang="en-US">
              <a:solidFill>
                <a:srgbClr val="7030A0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Amy Adams			721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Brad Pitt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Natalie Portman		731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Natalie Portman		711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Robert Downey Jr		745	</a:t>
            </a:r>
          </a:p>
          <a:p>
            <a:pPr marL="681038" lvl="1" indent="-200025" defTabSz="457200">
              <a:lnSpc>
                <a:spcPct val="80000"/>
              </a:lnSpc>
            </a:pP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73456" y="4856940"/>
            <a:ext cx="445397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2800">
                <a:solidFill>
                  <a:srgbClr val="D1161E"/>
                </a:solidFill>
                <a:latin typeface="Calibri"/>
              </a:rPr>
              <a:t>The outcome is identical to a </a:t>
            </a:r>
            <a:br>
              <a:rPr lang="en-AU" sz="2800">
                <a:solidFill>
                  <a:srgbClr val="D1161E"/>
                </a:solidFill>
                <a:latin typeface="Calibri"/>
              </a:rPr>
            </a:br>
            <a:r>
              <a:rPr lang="en-AU" sz="2800">
                <a:solidFill>
                  <a:srgbClr val="D1161E"/>
                </a:solidFill>
                <a:latin typeface="Calibri"/>
              </a:rPr>
              <a:t>LEFT outer join.</a:t>
            </a:r>
          </a:p>
          <a:p>
            <a:pPr defTabSz="457200"/>
            <a:r>
              <a:rPr lang="en-AU" sz="2800">
                <a:solidFill>
                  <a:srgbClr val="D1161E"/>
                </a:solidFill>
                <a:latin typeface="Calibri"/>
              </a:rPr>
              <a:t>LEFT or RIGHT depends on </a:t>
            </a:r>
            <a:br>
              <a:rPr lang="en-AU" sz="2800">
                <a:solidFill>
                  <a:srgbClr val="D1161E"/>
                </a:solidFill>
                <a:latin typeface="Calibri"/>
              </a:rPr>
            </a:br>
            <a:r>
              <a:rPr lang="en-AU" sz="2800">
                <a:solidFill>
                  <a:srgbClr val="D1161E"/>
                </a:solidFill>
                <a:latin typeface="Calibri"/>
              </a:rPr>
              <a:t>the order of table names.</a:t>
            </a:r>
            <a:br>
              <a:rPr lang="en-AU" sz="2800">
                <a:solidFill>
                  <a:srgbClr val="D1161E"/>
                </a:solidFill>
                <a:latin typeface="Calibri"/>
              </a:rPr>
            </a:br>
            <a:endParaRPr lang="en-AU" sz="280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9575" y="1847010"/>
            <a:ext cx="124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Actor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5042" y="2455814"/>
            <a:ext cx="1414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Casting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348" y="1987697"/>
            <a:ext cx="132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Movie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7565" y="184679"/>
            <a:ext cx="2339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>
                <a:solidFill>
                  <a:srgbClr val="7030A0"/>
                </a:solidFill>
                <a:latin typeface="Calibri"/>
              </a:rPr>
              <a:t>The 'right' table is the </a:t>
            </a:r>
            <a:r>
              <a:rPr lang="en-AU" b="1">
                <a:solidFill>
                  <a:srgbClr val="7030A0"/>
                </a:solidFill>
                <a:latin typeface="Calibri"/>
              </a:rPr>
              <a:t>second</a:t>
            </a:r>
            <a:r>
              <a:rPr lang="en-AU">
                <a:solidFill>
                  <a:srgbClr val="7030A0"/>
                </a:solidFill>
                <a:latin typeface="Calibri"/>
              </a:rPr>
              <a:t> table listed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7267625" y="794192"/>
            <a:ext cx="601723" cy="58195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289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Inner &amp; Outer Joins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705395"/>
            <a:ext cx="8444753" cy="429974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AU" sz="2400">
                <a:solidFill>
                  <a:srgbClr val="7030A0"/>
                </a:solidFill>
              </a:rPr>
              <a:t>The Inner Join gathers data</a:t>
            </a:r>
            <a:br>
              <a:rPr lang="en-AU" sz="2400">
                <a:solidFill>
                  <a:srgbClr val="7030A0"/>
                </a:solidFill>
              </a:rPr>
            </a:br>
            <a:r>
              <a:rPr lang="en-AU" sz="2400">
                <a:solidFill>
                  <a:srgbClr val="7030A0"/>
                </a:solidFill>
              </a:rPr>
              <a:t>from casting and movie.</a:t>
            </a:r>
            <a:br>
              <a:rPr lang="en-AU" sz="2400">
                <a:solidFill>
                  <a:srgbClr val="7030A0"/>
                </a:solidFill>
              </a:rPr>
            </a:br>
            <a:r>
              <a:rPr lang="en-AU" sz="2400">
                <a:solidFill>
                  <a:srgbClr val="7030A0"/>
                </a:solidFill>
              </a:rPr>
              <a:t>The Outer Join then adds</a:t>
            </a:r>
            <a:br>
              <a:rPr lang="en-AU" sz="2400">
                <a:solidFill>
                  <a:srgbClr val="7030A0"/>
                </a:solidFill>
              </a:rPr>
            </a:br>
            <a:r>
              <a:rPr lang="en-AU" sz="2400">
                <a:solidFill>
                  <a:srgbClr val="7030A0"/>
                </a:solidFill>
              </a:rPr>
              <a:t> the </a:t>
            </a:r>
            <a:r>
              <a:rPr lang="en-AU" sz="2400" err="1">
                <a:solidFill>
                  <a:srgbClr val="7030A0"/>
                </a:solidFill>
              </a:rPr>
              <a:t>fullname</a:t>
            </a:r>
            <a:r>
              <a:rPr lang="en-AU" sz="2400">
                <a:solidFill>
                  <a:srgbClr val="7030A0"/>
                </a:solidFill>
              </a:rPr>
              <a:t> of ALL actors</a:t>
            </a:r>
            <a:endParaRPr lang="en-AU"/>
          </a:p>
        </p:txBody>
      </p:sp>
      <p:sp>
        <p:nvSpPr>
          <p:cNvPr id="2" name="Rectangle 1"/>
          <p:cNvSpPr/>
          <p:nvPr/>
        </p:nvSpPr>
        <p:spPr>
          <a:xfrm>
            <a:off x="5382825" y="867031"/>
            <a:ext cx="5432611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SELECT       	  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a.fullname</a:t>
            </a:r>
            <a:r>
              <a:rPr lang="en-US" b="1">
                <a:solidFill>
                  <a:srgbClr val="0033CC"/>
                </a:solidFill>
                <a:latin typeface="Calibri"/>
              </a:rPr>
              <a:t>,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c.movieno</a:t>
            </a:r>
            <a:r>
              <a:rPr lang="en-US" b="1">
                <a:solidFill>
                  <a:srgbClr val="0033CC"/>
                </a:solidFill>
                <a:latin typeface="Calibri"/>
              </a:rPr>
              <a:t>,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m.title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FROM           	          casting c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FF0000"/>
                </a:solidFill>
                <a:latin typeface="Calibri"/>
              </a:rPr>
              <a:t>INNER JOIN               </a:t>
            </a:r>
            <a:r>
              <a:rPr lang="en-US" b="1">
                <a:solidFill>
                  <a:srgbClr val="0033CC"/>
                </a:solidFill>
                <a:latin typeface="Calibri"/>
              </a:rPr>
              <a:t>movie m</a:t>
            </a:r>
            <a:r>
              <a:rPr lang="en-US" b="1">
                <a:solidFill>
                  <a:srgbClr val="FF0000"/>
                </a:solidFill>
                <a:latin typeface="Calibri"/>
              </a:rPr>
              <a:t> 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ON                      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c.movieno</a:t>
            </a:r>
            <a:r>
              <a:rPr lang="en-US" b="1">
                <a:solidFill>
                  <a:srgbClr val="0033CC"/>
                </a:solidFill>
                <a:latin typeface="Calibri"/>
              </a:rPr>
              <a:t> =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m.movieno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FF0000"/>
                </a:solidFill>
                <a:latin typeface="Calibri"/>
              </a:rPr>
              <a:t>RIGHT OUTER JOIN</a:t>
            </a:r>
            <a:r>
              <a:rPr lang="en-US" b="1">
                <a:solidFill>
                  <a:srgbClr val="0033CC"/>
                </a:solidFill>
                <a:latin typeface="Calibri"/>
              </a:rPr>
              <a:t>  actor a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ON                	  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c.actorno</a:t>
            </a:r>
            <a:r>
              <a:rPr lang="en-US" b="1">
                <a:solidFill>
                  <a:srgbClr val="0033CC"/>
                </a:solidFill>
                <a:latin typeface="Calibri"/>
              </a:rPr>
              <a:t>  =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a.actorno</a:t>
            </a: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ORDER BY   	          </a:t>
            </a:r>
            <a:r>
              <a:rPr lang="en-US" b="1" err="1">
                <a:solidFill>
                  <a:srgbClr val="0033CC"/>
                </a:solidFill>
                <a:latin typeface="Calibri"/>
              </a:rPr>
              <a:t>a.actorno</a:t>
            </a:r>
            <a:r>
              <a:rPr lang="en-US" b="1">
                <a:solidFill>
                  <a:srgbClr val="0033CC"/>
                </a:solidFill>
                <a:latin typeface="Calibri"/>
              </a:rPr>
              <a:t>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59574" y="2713754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ActorNo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Fullname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Brad Pitt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Robert Downey 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Amy Adams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Natalie Portman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1694" y="2846923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MovieNo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V for Vendetta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La </a:t>
                      </a:r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La</a:t>
                      </a:r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 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Black Swan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Iron 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19402" y="3313920"/>
          <a:ext cx="2351318" cy="12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152">
                  <a:extLst>
                    <a:ext uri="{9D8B030D-6E8A-4147-A177-3AD203B41FA5}">
                      <a16:colId xmlns:a16="http://schemas.microsoft.com/office/drawing/2014/main" val="3259018217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892417817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ActorNo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err="1">
                          <a:solidFill>
                            <a:sysClr val="windowText" lastClr="000000"/>
                          </a:solidFill>
                        </a:rPr>
                        <a:t>MovieNo</a:t>
                      </a:r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51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71617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44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658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ysClr val="windowText" lastClr="000000"/>
                          </a:solidFill>
                        </a:rPr>
                        <a:t>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5428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694587" y="4886540"/>
            <a:ext cx="6406563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7030A0"/>
                </a:solidFill>
                <a:latin typeface="Calibri"/>
              </a:rPr>
              <a:t>Result Set: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 err="1">
                <a:solidFill>
                  <a:srgbClr val="7030A0"/>
                </a:solidFill>
                <a:latin typeface="Calibri"/>
              </a:rPr>
              <a:t>Fullname</a:t>
            </a:r>
            <a:r>
              <a:rPr lang="en-US">
                <a:solidFill>
                  <a:srgbClr val="7030A0"/>
                </a:solidFill>
                <a:latin typeface="Calibri"/>
              </a:rPr>
              <a:t>				</a:t>
            </a:r>
            <a:r>
              <a:rPr lang="en-US" err="1">
                <a:solidFill>
                  <a:srgbClr val="7030A0"/>
                </a:solidFill>
                <a:latin typeface="Calibri"/>
              </a:rPr>
              <a:t>MovieNo</a:t>
            </a:r>
            <a:r>
              <a:rPr lang="en-US">
                <a:solidFill>
                  <a:srgbClr val="7030A0"/>
                </a:solidFill>
                <a:latin typeface="Calibri"/>
              </a:rPr>
              <a:t>		Title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Amy Adams			721			La </a:t>
            </a:r>
            <a:r>
              <a:rPr lang="en-US" err="1">
                <a:solidFill>
                  <a:srgbClr val="7030A0"/>
                </a:solidFill>
                <a:latin typeface="Calibri"/>
              </a:rPr>
              <a:t>La</a:t>
            </a:r>
            <a:r>
              <a:rPr lang="en-US">
                <a:solidFill>
                  <a:srgbClr val="7030A0"/>
                </a:solidFill>
                <a:latin typeface="Calibri"/>
              </a:rPr>
              <a:t> Land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Brad Pitt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Natalie Portman		731			Black Swan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Natalie Portman		711			V for Vendetta</a:t>
            </a:r>
          </a:p>
          <a:p>
            <a:pPr marL="681038" lvl="1" indent="-200025" defTabSz="457200">
              <a:lnSpc>
                <a:spcPct val="80000"/>
              </a:lnSpc>
            </a:pPr>
            <a:r>
              <a:rPr lang="en-US">
                <a:solidFill>
                  <a:srgbClr val="7030A0"/>
                </a:solidFill>
                <a:latin typeface="Calibri"/>
              </a:rPr>
              <a:t>Robert Downey Jr		745			Iron Man</a:t>
            </a:r>
          </a:p>
          <a:p>
            <a:pPr marL="681038" lvl="1" indent="-200025" defTabSz="457200">
              <a:lnSpc>
                <a:spcPct val="80000"/>
              </a:lnSpc>
            </a:pPr>
            <a:endParaRPr lang="en-US" b="1">
              <a:solidFill>
                <a:srgbClr val="0033CC"/>
              </a:solidFill>
              <a:latin typeface="Calibri"/>
            </a:endParaRPr>
          </a:p>
          <a:p>
            <a:pPr marL="681038" lvl="1" indent="-200025" defTabSz="457200">
              <a:lnSpc>
                <a:spcPct val="80000"/>
              </a:lnSpc>
            </a:pPr>
            <a:r>
              <a:rPr lang="en-US" b="1">
                <a:solidFill>
                  <a:srgbClr val="0033CC"/>
                </a:solidFill>
                <a:latin typeface="Calibri"/>
              </a:rPr>
              <a:t>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9575" y="2421055"/>
            <a:ext cx="124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Actor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5042" y="3029859"/>
            <a:ext cx="1414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Casting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348" y="2561742"/>
            <a:ext cx="132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AU">
                <a:solidFill>
                  <a:srgbClr val="000000"/>
                </a:solidFill>
                <a:latin typeface="Calibri"/>
              </a:rPr>
              <a:t>Movie Table</a:t>
            </a:r>
          </a:p>
        </p:txBody>
      </p:sp>
    </p:spTree>
    <p:extLst>
      <p:ext uri="{BB962C8B-B14F-4D97-AF65-F5344CB8AC3E}">
        <p14:creationId xmlns:p14="http://schemas.microsoft.com/office/powerpoint/2010/main" val="942479103"/>
      </p:ext>
    </p:extLst>
  </p:cSld>
  <p:clrMapOvr>
    <a:masterClrMapping/>
  </p:clrMapOvr>
</p:sld>
</file>

<file path=ppt/theme/theme1.xml><?xml version="1.0" encoding="utf-8"?>
<a:theme xmlns:a="http://schemas.openxmlformats.org/drawingml/2006/main" name="1_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9286</TotalTime>
  <Words>2455</Words>
  <Application>Microsoft Office PowerPoint</Application>
  <PresentationFormat>Widescreen</PresentationFormat>
  <Paragraphs>555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Narrow</vt:lpstr>
      <vt:lpstr>Calibri</vt:lpstr>
      <vt:lpstr>Lucida Console</vt:lpstr>
      <vt:lpstr>Open Sans</vt:lpstr>
      <vt:lpstr>Wingdings</vt:lpstr>
      <vt:lpstr>1_Swinburne_Tiles</vt:lpstr>
      <vt:lpstr>Visio</vt:lpstr>
      <vt:lpstr>INF10025 Data Management and Analytics Lecture 8 – Part 2</vt:lpstr>
      <vt:lpstr>Conversion to Relational Schema</vt:lpstr>
      <vt:lpstr>Testing the ERD</vt:lpstr>
      <vt:lpstr>Does the ERD match business rules</vt:lpstr>
      <vt:lpstr>Testing Identifiers</vt:lpstr>
      <vt:lpstr>Testing Identifiers</vt:lpstr>
      <vt:lpstr>Keep testing…</vt:lpstr>
      <vt:lpstr>Testing Identifiers again</vt:lpstr>
      <vt:lpstr>SQL: Multiple Topics</vt:lpstr>
      <vt:lpstr>SQL: Dates using Oracle</vt:lpstr>
      <vt:lpstr>SQL: Dates using Oracle</vt:lpstr>
      <vt:lpstr>SQL: SubQueries</vt:lpstr>
      <vt:lpstr>SQL:Subqueries Example 1</vt:lpstr>
      <vt:lpstr>SQL: Sub Queries dissected</vt:lpstr>
      <vt:lpstr>SQL:Subqueries  Example 2</vt:lpstr>
      <vt:lpstr>SQL:Subqueries  Example 3</vt:lpstr>
      <vt:lpstr>SQL:Subqueries  Example 4</vt:lpstr>
      <vt:lpstr>Types of Joins</vt:lpstr>
      <vt:lpstr>SQL: Inner Joins</vt:lpstr>
      <vt:lpstr>LEFT OUTER JOIN</vt:lpstr>
      <vt:lpstr>SQL: Outer Joins</vt:lpstr>
      <vt:lpstr>RIGHT OUTER JOIN</vt:lpstr>
      <vt:lpstr>SQL: Outer Joins</vt:lpstr>
      <vt:lpstr>SQL: Inner &amp; Outer Joins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 Lecture 8 – Part 2</dc:title>
  <dc:creator>Robert Tipping</dc:creator>
  <cp:lastModifiedBy>Robert Tipping</cp:lastModifiedBy>
  <cp:revision>2</cp:revision>
  <dcterms:created xsi:type="dcterms:W3CDTF">2023-04-21T00:51:00Z</dcterms:created>
  <dcterms:modified xsi:type="dcterms:W3CDTF">2023-04-27T11:37:32Z</dcterms:modified>
</cp:coreProperties>
</file>