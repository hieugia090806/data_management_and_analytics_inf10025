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74" r:id="rId2"/>
    <p:sldId id="309" r:id="rId3"/>
    <p:sldId id="310" r:id="rId4"/>
    <p:sldId id="311" r:id="rId5"/>
    <p:sldId id="312" r:id="rId6"/>
    <p:sldId id="313" r:id="rId7"/>
    <p:sldId id="315" r:id="rId8"/>
    <p:sldId id="317" r:id="rId9"/>
    <p:sldId id="318" r:id="rId10"/>
    <p:sldId id="320" r:id="rId11"/>
    <p:sldId id="368" r:id="rId12"/>
    <p:sldId id="369" r:id="rId13"/>
    <p:sldId id="370" r:id="rId14"/>
    <p:sldId id="371" r:id="rId15"/>
    <p:sldId id="372" r:id="rId16"/>
    <p:sldId id="3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59" d="100"/>
          <a:sy n="159" d="100"/>
        </p:scale>
        <p:origin x="2544"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012850"/>
            <a:ext cx="10363200" cy="1470025"/>
          </a:xfrm>
        </p:spPr>
        <p:txBody>
          <a:bodyPr anchor="b" anchorCtr="0">
            <a:normAutofit/>
          </a:bodyPr>
          <a:lstStyle>
            <a:lvl1pPr algn="ctr">
              <a:defRPr sz="2700" b="0">
                <a:latin typeface="Open Sans"/>
                <a:cs typeface="Open Sans"/>
              </a:defRPr>
            </a:lvl1pPr>
          </a:lstStyle>
          <a:p>
            <a:r>
              <a:rPr lang="en-AU" dirty="0"/>
              <a:t>Presentation Title</a:t>
            </a:r>
            <a:endParaRPr lang="en-US" dirty="0"/>
          </a:p>
        </p:txBody>
      </p:sp>
      <p:sp>
        <p:nvSpPr>
          <p:cNvPr id="3" name="Subtitle 2"/>
          <p:cNvSpPr>
            <a:spLocks noGrp="1"/>
          </p:cNvSpPr>
          <p:nvPr>
            <p:ph type="subTitle" idx="1" hasCustomPrompt="1"/>
          </p:nvPr>
        </p:nvSpPr>
        <p:spPr>
          <a:xfrm>
            <a:off x="1828800" y="3604008"/>
            <a:ext cx="8534400" cy="1752600"/>
          </a:xfrm>
          <a:noFill/>
        </p:spPr>
        <p:txBody>
          <a:bodyPr/>
          <a:lstStyle>
            <a:lvl1pPr marL="0" indent="0" algn="ctr">
              <a:buNone/>
              <a:defRPr>
                <a:solidFill>
                  <a:schemeClr val="tx2"/>
                </a:solidFill>
                <a:latin typeface="Open Sans"/>
                <a:cs typeface="Open San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AU" dirty="0"/>
              <a:t>Subtitle</a:t>
            </a:r>
            <a:endParaRPr lang="en-US" dirty="0"/>
          </a:p>
        </p:txBody>
      </p:sp>
      <p:pic>
        <p:nvPicPr>
          <p:cNvPr id="5" name="Picture 7" descr="corpV_3 300_lzw"/>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2880784"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52A1D595-1EAF-B3CA-096B-6E72AE9C4578}"/>
              </a:ext>
            </a:extLst>
          </p:cNvPr>
          <p:cNvSpPr/>
          <p:nvPr userDrawn="1"/>
        </p:nvSpPr>
        <p:spPr>
          <a:xfrm rot="18000966">
            <a:off x="11208031" y="-5226"/>
            <a:ext cx="681371" cy="960987"/>
          </a:xfrm>
          <a:prstGeom prst="rect">
            <a:avLst/>
          </a:prstGeom>
          <a:noFill/>
        </p:spPr>
        <p:txBody>
          <a:bodyPr spcFirstLastPara="1" wrap="none" lIns="51435" tIns="25718" rIns="51435" bIns="25718" numCol="1">
            <a:prstTxWarp prst="textCircle">
              <a:avLst/>
            </a:prstTxWarp>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3038" b="0" i="0" u="none" strike="noStrike" kern="1200" cap="none" spc="0" normalizeH="0" baseline="0" noProof="0" dirty="0">
                <a:ln w="0"/>
                <a:solidFill>
                  <a:srgbClr val="D1161E"/>
                </a:solidFill>
                <a:effectLst>
                  <a:outerShdw blurRad="38100" dist="19050" dir="2700000" algn="tl" rotWithShape="0">
                    <a:srgbClr val="D1161E">
                      <a:alpha val="40000"/>
                    </a:srgbClr>
                  </a:outerShdw>
                </a:effectLst>
                <a:uLnTx/>
                <a:uFillTx/>
                <a:latin typeface="Calibri"/>
                <a:ea typeface="+mn-ea"/>
                <a:cs typeface="+mn-cs"/>
              </a:rPr>
              <a:t>Data Management &amp; Analytics   </a:t>
            </a:r>
          </a:p>
        </p:txBody>
      </p:sp>
      <p:pic>
        <p:nvPicPr>
          <p:cNvPr id="6" name="Picture 5" descr="KNOWING Logo RGB.png">
            <a:extLst>
              <a:ext uri="{FF2B5EF4-FFF2-40B4-BE49-F238E27FC236}">
                <a16:creationId xmlns:a16="http://schemas.microsoft.com/office/drawing/2014/main" id="{D562B274-86C5-1054-ACF2-497295C868E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83516" y="5573716"/>
            <a:ext cx="1219200" cy="914400"/>
          </a:xfrm>
          <a:prstGeom prst="rect">
            <a:avLst/>
          </a:prstGeom>
        </p:spPr>
      </p:pic>
    </p:spTree>
    <p:extLst>
      <p:ext uri="{BB962C8B-B14F-4D97-AF65-F5344CB8AC3E}">
        <p14:creationId xmlns:p14="http://schemas.microsoft.com/office/powerpoint/2010/main" val="181165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05882"/>
            <a:ext cx="10972800" cy="1058779"/>
          </a:xfrm>
        </p:spPr>
        <p:txBody>
          <a:bodyPr anchor="t">
            <a:normAutofit/>
          </a:bodyPr>
          <a:lstStyle>
            <a:lvl1pPr>
              <a:defRPr sz="2475" b="0">
                <a:latin typeface="+mn-lt"/>
                <a:cs typeface="Open Sans"/>
              </a:defRPr>
            </a:lvl1pPr>
          </a:lstStyle>
          <a:p>
            <a:r>
              <a:rPr lang="en-AU" dirty="0"/>
              <a:t>Slide Title</a:t>
            </a:r>
            <a:endParaRPr lang="en-US" dirty="0"/>
          </a:p>
        </p:txBody>
      </p:sp>
      <p:sp>
        <p:nvSpPr>
          <p:cNvPr id="3" name="Content Placeholder 2"/>
          <p:cNvSpPr>
            <a:spLocks noGrp="1"/>
          </p:cNvSpPr>
          <p:nvPr>
            <p:ph idx="1"/>
          </p:nvPr>
        </p:nvSpPr>
        <p:spPr>
          <a:xfrm>
            <a:off x="609601" y="1087655"/>
            <a:ext cx="10680835" cy="3917482"/>
          </a:xfrm>
          <a:noFill/>
        </p:spPr>
        <p:txBody>
          <a:bodyPr/>
          <a:lstStyle>
            <a:lvl1pPr>
              <a:defRPr sz="1350">
                <a:solidFill>
                  <a:srgbClr val="000000"/>
                </a:solidFill>
                <a:latin typeface="+mn-lt"/>
                <a:cs typeface="Open Sans"/>
              </a:defRPr>
            </a:lvl1pPr>
            <a:lvl2pPr>
              <a:defRPr sz="1350">
                <a:solidFill>
                  <a:srgbClr val="000000"/>
                </a:solidFill>
                <a:latin typeface="+mn-lt"/>
                <a:cs typeface="Open Sans"/>
              </a:defRPr>
            </a:lvl2pPr>
            <a:lvl3pPr>
              <a:defRPr sz="1350">
                <a:solidFill>
                  <a:srgbClr val="000000"/>
                </a:solidFill>
                <a:latin typeface="+mn-lt"/>
                <a:cs typeface="Open Sans"/>
              </a:defRPr>
            </a:lvl3pPr>
            <a:lvl4pPr>
              <a:defRPr sz="1350">
                <a:solidFill>
                  <a:srgbClr val="000000"/>
                </a:solidFill>
                <a:latin typeface="+mn-lt"/>
                <a:cs typeface="Open Sans"/>
              </a:defRPr>
            </a:lvl4pPr>
            <a:lvl5pPr>
              <a:defRPr sz="1350">
                <a:solidFill>
                  <a:srgbClr val="000000"/>
                </a:solidFill>
                <a:latin typeface="+mn-lt"/>
                <a:cs typeface="Open San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rot="18000966">
            <a:off x="11208031" y="-5226"/>
            <a:ext cx="681371" cy="960987"/>
          </a:xfrm>
          <a:prstGeom prst="rect">
            <a:avLst/>
          </a:prstGeom>
          <a:noFill/>
        </p:spPr>
        <p:txBody>
          <a:bodyPr spcFirstLastPara="1" wrap="none" lIns="51435" tIns="25718" rIns="51435" bIns="25718" numCol="1">
            <a:prstTxWarp prst="textCircle">
              <a:avLst/>
            </a:prstTxWarp>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3038" b="0" i="0" u="none" strike="noStrike" kern="1200" cap="none" spc="0" normalizeH="0" baseline="0" noProof="0" dirty="0">
                <a:ln w="0"/>
                <a:solidFill>
                  <a:srgbClr val="D1161E"/>
                </a:solidFill>
                <a:effectLst>
                  <a:outerShdw blurRad="38100" dist="19050" dir="2700000" algn="tl" rotWithShape="0">
                    <a:srgbClr val="D1161E">
                      <a:alpha val="40000"/>
                    </a:srgbClr>
                  </a:outerShdw>
                </a:effectLst>
                <a:uLnTx/>
                <a:uFillTx/>
                <a:latin typeface="Calibri"/>
                <a:ea typeface="+mn-ea"/>
                <a:cs typeface="+mn-cs"/>
              </a:rPr>
              <a:t>Database Analysis and Design   </a:t>
            </a:r>
          </a:p>
        </p:txBody>
      </p:sp>
      <p:sp>
        <p:nvSpPr>
          <p:cNvPr id="7" name="Line 22"/>
          <p:cNvSpPr>
            <a:spLocks noChangeShapeType="1"/>
          </p:cNvSpPr>
          <p:nvPr userDrawn="1"/>
        </p:nvSpPr>
        <p:spPr bwMode="auto">
          <a:xfrm flipV="1">
            <a:off x="283635" y="85725"/>
            <a:ext cx="575733" cy="381000"/>
          </a:xfrm>
          <a:prstGeom prst="line">
            <a:avLst/>
          </a:prstGeom>
          <a:noFill/>
          <a:ln w="9525">
            <a:solidFill>
              <a:srgbClr val="FF0000"/>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342900" rtl="0" eaLnBrk="1" fontAlgn="auto" latinLnBrk="0" hangingPunct="1">
              <a:lnSpc>
                <a:spcPct val="100000"/>
              </a:lnSpc>
              <a:spcBef>
                <a:spcPts val="0"/>
              </a:spcBef>
              <a:spcAft>
                <a:spcPts val="0"/>
              </a:spcAft>
              <a:buClrTx/>
              <a:buSzTx/>
              <a:buFontTx/>
              <a:buNone/>
              <a:tabLst/>
              <a:defRPr/>
            </a:pPr>
            <a:endParaRPr kumimoji="0" lang="en-AU" sz="1350" b="0" i="0" u="none" strike="noStrike" kern="1200" cap="none" spc="0" normalizeH="0" baseline="0" noProof="0">
              <a:ln>
                <a:noFill/>
              </a:ln>
              <a:solidFill>
                <a:srgbClr val="D1161E"/>
              </a:solidFill>
              <a:effectLst/>
              <a:uLnTx/>
              <a:uFillTx/>
              <a:latin typeface="Calibri"/>
              <a:ea typeface="+mn-ea"/>
              <a:cs typeface="+mn-cs"/>
            </a:endParaRPr>
          </a:p>
        </p:txBody>
      </p:sp>
      <p:sp>
        <p:nvSpPr>
          <p:cNvPr id="8" name="Line 23"/>
          <p:cNvSpPr>
            <a:spLocks noChangeShapeType="1"/>
          </p:cNvSpPr>
          <p:nvPr userDrawn="1"/>
        </p:nvSpPr>
        <p:spPr bwMode="auto">
          <a:xfrm flipV="1">
            <a:off x="334435" y="98425"/>
            <a:ext cx="575733" cy="381000"/>
          </a:xfrm>
          <a:prstGeom prst="line">
            <a:avLst/>
          </a:prstGeom>
          <a:noFill/>
          <a:ln w="9525">
            <a:solidFill>
              <a:srgbClr val="FF0000"/>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342900" rtl="0" eaLnBrk="1" fontAlgn="auto" latinLnBrk="0" hangingPunct="1">
              <a:lnSpc>
                <a:spcPct val="100000"/>
              </a:lnSpc>
              <a:spcBef>
                <a:spcPts val="0"/>
              </a:spcBef>
              <a:spcAft>
                <a:spcPts val="0"/>
              </a:spcAft>
              <a:buClrTx/>
              <a:buSzTx/>
              <a:buFontTx/>
              <a:buNone/>
              <a:tabLst/>
              <a:defRPr/>
            </a:pPr>
            <a:endParaRPr kumimoji="0" lang="en-AU" sz="1350" b="0" i="0" u="none" strike="noStrike" kern="1200" cap="none" spc="0" normalizeH="0" baseline="0" noProof="0">
              <a:ln>
                <a:noFill/>
              </a:ln>
              <a:solidFill>
                <a:srgbClr val="D1161E"/>
              </a:solidFill>
              <a:effectLst/>
              <a:uLnTx/>
              <a:uFillTx/>
              <a:latin typeface="Calibri"/>
              <a:ea typeface="+mn-ea"/>
              <a:cs typeface="+mn-cs"/>
            </a:endParaRPr>
          </a:p>
        </p:txBody>
      </p:sp>
      <p:sp>
        <p:nvSpPr>
          <p:cNvPr id="9" name="TextBox 8"/>
          <p:cNvSpPr txBox="1">
            <a:spLocks noChangeArrowheads="1"/>
          </p:cNvSpPr>
          <p:nvPr userDrawn="1"/>
        </p:nvSpPr>
        <p:spPr bwMode="auto">
          <a:xfrm>
            <a:off x="2" y="85725"/>
            <a:ext cx="622300"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buClr>
                <a:schemeClr val="tx1"/>
              </a:buClr>
              <a:buSzPct val="85000"/>
              <a:buFont typeface="Wingdings" pitchFamily="2" charset="2"/>
              <a:defRPr sz="2400" b="1" i="1">
                <a:solidFill>
                  <a:schemeClr val="tx1"/>
                </a:solidFill>
                <a:latin typeface="Arial Narrow" pitchFamily="34" charset="0"/>
              </a:defRPr>
            </a:lvl1pPr>
            <a:lvl2pPr marL="742950" indent="-285750" eaLnBrk="0" hangingPunct="0">
              <a:lnSpc>
                <a:spcPct val="80000"/>
              </a:lnSpc>
              <a:buClr>
                <a:schemeClr val="tx1"/>
              </a:buClr>
              <a:buSzPct val="85000"/>
              <a:buFont typeface="Wingdings" pitchFamily="2" charset="2"/>
              <a:defRPr sz="2400" b="1" i="1">
                <a:solidFill>
                  <a:schemeClr val="tx1"/>
                </a:solidFill>
                <a:latin typeface="Arial Narrow" pitchFamily="34" charset="0"/>
              </a:defRPr>
            </a:lvl2pPr>
            <a:lvl3pPr marL="1143000" indent="-228600" eaLnBrk="0" hangingPunct="0">
              <a:lnSpc>
                <a:spcPct val="80000"/>
              </a:lnSpc>
              <a:buClr>
                <a:schemeClr val="tx1"/>
              </a:buClr>
              <a:buSzPct val="85000"/>
              <a:buFont typeface="Wingdings" pitchFamily="2" charset="2"/>
              <a:defRPr sz="2400" b="1" i="1">
                <a:solidFill>
                  <a:schemeClr val="tx1"/>
                </a:solidFill>
                <a:latin typeface="Arial Narrow" pitchFamily="34" charset="0"/>
              </a:defRPr>
            </a:lvl3pPr>
            <a:lvl4pPr marL="1600200" indent="-228600" eaLnBrk="0" hangingPunct="0">
              <a:lnSpc>
                <a:spcPct val="80000"/>
              </a:lnSpc>
              <a:buClr>
                <a:schemeClr val="tx1"/>
              </a:buClr>
              <a:buSzPct val="85000"/>
              <a:buFont typeface="Wingdings" pitchFamily="2" charset="2"/>
              <a:defRPr sz="2400" b="1" i="1">
                <a:solidFill>
                  <a:schemeClr val="tx1"/>
                </a:solidFill>
                <a:latin typeface="Arial Narrow" pitchFamily="34" charset="0"/>
              </a:defRPr>
            </a:lvl4pPr>
            <a:lvl5pPr marL="2057400" indent="-228600" eaLnBrk="0" hangingPunct="0">
              <a:lnSpc>
                <a:spcPct val="80000"/>
              </a:lnSpc>
              <a:buClr>
                <a:schemeClr val="tx1"/>
              </a:buClr>
              <a:buSzPct val="85000"/>
              <a:buFont typeface="Wingdings" pitchFamily="2" charset="2"/>
              <a:defRPr sz="2400" b="1" i="1">
                <a:solidFill>
                  <a:schemeClr val="tx1"/>
                </a:solidFill>
                <a:latin typeface="Arial Narrow" pitchFamily="34" charset="0"/>
              </a:defRPr>
            </a:lvl5pPr>
            <a:lvl6pPr marL="25146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6pPr>
            <a:lvl7pPr marL="29718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7pPr>
            <a:lvl8pPr marL="34290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8pPr>
            <a:lvl9pPr marL="38862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9pPr>
          </a:lstStyle>
          <a:p>
            <a:pPr marL="0" marR="0" lvl="0" indent="0" algn="r" defTabSz="342900" rtl="0" eaLnBrk="0" fontAlgn="auto" latinLnBrk="0" hangingPunct="0">
              <a:lnSpc>
                <a:spcPct val="80000"/>
              </a:lnSpc>
              <a:spcBef>
                <a:spcPts val="0"/>
              </a:spcBef>
              <a:spcAft>
                <a:spcPts val="0"/>
              </a:spcAft>
              <a:buClr>
                <a:srgbClr val="D1161E"/>
              </a:buClr>
              <a:buSzPct val="85000"/>
              <a:buFont typeface="Wingdings" pitchFamily="2" charset="2"/>
              <a:buNone/>
              <a:tabLst/>
              <a:defRPr/>
            </a:pPr>
            <a:fld id="{A0B7F734-0547-4653-B8DE-E21D4CE8AB45}" type="slidenum">
              <a:rPr kumimoji="0" lang="en-AU" sz="1350" b="1" i="0" u="none" strike="noStrike" kern="1200" cap="none" spc="0" normalizeH="0" baseline="0" noProof="0">
                <a:ln>
                  <a:noFill/>
                </a:ln>
                <a:solidFill>
                  <a:srgbClr val="D1161E"/>
                </a:solidFill>
                <a:effectLst/>
                <a:uLnTx/>
                <a:uFillTx/>
                <a:latin typeface="Arial Narrow" pitchFamily="34" charset="0"/>
                <a:ea typeface="+mn-ea"/>
                <a:cs typeface="+mn-cs"/>
              </a:rPr>
              <a:pPr marL="0" marR="0" lvl="0" indent="0" algn="r" defTabSz="342900" rtl="0" eaLnBrk="0" fontAlgn="auto" latinLnBrk="0" hangingPunct="0">
                <a:lnSpc>
                  <a:spcPct val="80000"/>
                </a:lnSpc>
                <a:spcBef>
                  <a:spcPts val="0"/>
                </a:spcBef>
                <a:spcAft>
                  <a:spcPts val="0"/>
                </a:spcAft>
                <a:buClr>
                  <a:srgbClr val="D1161E"/>
                </a:buClr>
                <a:buSzPct val="85000"/>
                <a:buFont typeface="Wingdings" pitchFamily="2" charset="2"/>
                <a:buNone/>
                <a:tabLst/>
                <a:defRPr/>
              </a:pPr>
              <a:t>‹#›</a:t>
            </a:fld>
            <a:endParaRPr kumimoji="0" lang="en-AU" sz="1350" b="1" i="0" u="none" strike="noStrike" kern="1200" cap="none" spc="0" normalizeH="0" baseline="0" noProof="0">
              <a:ln>
                <a:noFill/>
              </a:ln>
              <a:solidFill>
                <a:srgbClr val="D1161E"/>
              </a:solidFill>
              <a:effectLst/>
              <a:uLnTx/>
              <a:uFillTx/>
              <a:latin typeface="Arial Narrow" pitchFamily="34" charset="0"/>
              <a:ea typeface="+mn-ea"/>
              <a:cs typeface="+mn-cs"/>
            </a:endParaRPr>
          </a:p>
        </p:txBody>
      </p:sp>
    </p:spTree>
    <p:extLst>
      <p:ext uri="{BB962C8B-B14F-4D97-AF65-F5344CB8AC3E}">
        <p14:creationId xmlns:p14="http://schemas.microsoft.com/office/powerpoint/2010/main" val="335091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Obj" preserve="1">
  <p:cSld name="Title and 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1143000"/>
          </a:xfrm>
        </p:spPr>
        <p:txBody>
          <a:bodyPr>
            <a:normAutofit/>
          </a:bodyPr>
          <a:lstStyle>
            <a:lvl1pPr>
              <a:defRPr sz="2475" b="0">
                <a:latin typeface="Open Sans"/>
                <a:cs typeface="Open Sans"/>
              </a:defRPr>
            </a:lvl1pPr>
          </a:lstStyle>
          <a:p>
            <a:r>
              <a:rPr lang="en-AU" dirty="0"/>
              <a:t>Slide Title</a:t>
            </a:r>
            <a:endParaRPr lang="en-US" dirty="0"/>
          </a:p>
        </p:txBody>
      </p:sp>
      <p:sp>
        <p:nvSpPr>
          <p:cNvPr id="3" name="Content Placeholder 2"/>
          <p:cNvSpPr>
            <a:spLocks noGrp="1"/>
          </p:cNvSpPr>
          <p:nvPr>
            <p:ph sz="half" idx="1"/>
          </p:nvPr>
        </p:nvSpPr>
        <p:spPr>
          <a:xfrm>
            <a:off x="609600" y="1600205"/>
            <a:ext cx="5384800" cy="3844703"/>
          </a:xfrm>
        </p:spPr>
        <p:txBody>
          <a:bodyPr/>
          <a:lstStyle>
            <a:lvl1pPr>
              <a:defRPr sz="1575">
                <a:solidFill>
                  <a:srgbClr val="000000"/>
                </a:solidFill>
                <a:latin typeface="Open Sans"/>
                <a:cs typeface="Open Sans"/>
              </a:defRPr>
            </a:lvl1pPr>
            <a:lvl2pPr>
              <a:defRPr sz="1350">
                <a:solidFill>
                  <a:srgbClr val="000000"/>
                </a:solidFill>
                <a:latin typeface="Open Sans"/>
                <a:cs typeface="Open Sans"/>
              </a:defRPr>
            </a:lvl2pPr>
            <a:lvl3pPr>
              <a:defRPr sz="1125">
                <a:solidFill>
                  <a:srgbClr val="000000"/>
                </a:solidFill>
                <a:latin typeface="Open Sans"/>
                <a:cs typeface="Open Sans"/>
              </a:defRPr>
            </a:lvl3pPr>
            <a:lvl4pPr>
              <a:defRPr sz="1013">
                <a:solidFill>
                  <a:srgbClr val="000000"/>
                </a:solidFill>
                <a:latin typeface="Open Sans"/>
                <a:cs typeface="Open Sans"/>
              </a:defRPr>
            </a:lvl4pPr>
            <a:lvl5pPr>
              <a:defRPr sz="1013">
                <a:solidFill>
                  <a:srgbClr val="000000"/>
                </a:solidFill>
                <a:latin typeface="Open Sans"/>
                <a:cs typeface="Open Sans"/>
              </a:defRPr>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5"/>
            <a:ext cx="5384800" cy="3844703"/>
          </a:xfrm>
        </p:spPr>
        <p:txBody>
          <a:bodyPr/>
          <a:lstStyle>
            <a:lvl1pPr>
              <a:defRPr sz="1575">
                <a:solidFill>
                  <a:srgbClr val="000000"/>
                </a:solidFill>
                <a:latin typeface="Open Sans"/>
                <a:cs typeface="Open Sans"/>
              </a:defRPr>
            </a:lvl1pPr>
            <a:lvl2pPr>
              <a:defRPr sz="1350">
                <a:solidFill>
                  <a:srgbClr val="000000"/>
                </a:solidFill>
                <a:latin typeface="Open Sans"/>
                <a:cs typeface="Open Sans"/>
              </a:defRPr>
            </a:lvl2pPr>
            <a:lvl3pPr>
              <a:defRPr sz="1125">
                <a:solidFill>
                  <a:srgbClr val="000000"/>
                </a:solidFill>
                <a:latin typeface="Open Sans"/>
                <a:cs typeface="Open Sans"/>
              </a:defRPr>
            </a:lvl3pPr>
            <a:lvl4pPr>
              <a:defRPr sz="1013">
                <a:solidFill>
                  <a:srgbClr val="000000"/>
                </a:solidFill>
                <a:latin typeface="Open Sans"/>
                <a:cs typeface="Open Sans"/>
              </a:defRPr>
            </a:lvl4pPr>
            <a:lvl5pPr>
              <a:defRPr sz="1013">
                <a:solidFill>
                  <a:srgbClr val="000000"/>
                </a:solidFill>
                <a:latin typeface="Open Sans"/>
                <a:cs typeface="Open Sans"/>
              </a:defRPr>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KNOWING Logo RGB.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63200" y="5567700"/>
            <a:ext cx="1219200" cy="914400"/>
          </a:xfrm>
          <a:prstGeom prst="rect">
            <a:avLst/>
          </a:prstGeom>
        </p:spPr>
      </p:pic>
    </p:spTree>
    <p:extLst>
      <p:ext uri="{BB962C8B-B14F-4D97-AF65-F5344CB8AC3E}">
        <p14:creationId xmlns:p14="http://schemas.microsoft.com/office/powerpoint/2010/main" val="372779516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3" y="1344619"/>
            <a:ext cx="9487359" cy="1465609"/>
          </a:xfrm>
        </p:spPr>
        <p:txBody>
          <a:bodyPr anchor="b" anchorCtr="0">
            <a:normAutofit/>
          </a:bodyPr>
          <a:lstStyle>
            <a:lvl1pPr>
              <a:defRPr sz="2250" b="0">
                <a:latin typeface="Open Sans"/>
                <a:cs typeface="Open Sans"/>
              </a:defRPr>
            </a:lvl1pPr>
          </a:lstStyle>
          <a:p>
            <a:r>
              <a:rPr lang="en-AU" dirty="0"/>
              <a:t>Heading</a:t>
            </a:r>
            <a:endParaRPr lang="en-US" dirty="0"/>
          </a:p>
        </p:txBody>
      </p:sp>
      <p:sp>
        <p:nvSpPr>
          <p:cNvPr id="5" name="Text Placeholder 4"/>
          <p:cNvSpPr>
            <a:spLocks noGrp="1"/>
          </p:cNvSpPr>
          <p:nvPr>
            <p:ph type="body" sz="quarter" idx="11" hasCustomPrompt="1"/>
          </p:nvPr>
        </p:nvSpPr>
        <p:spPr>
          <a:xfrm>
            <a:off x="609603" y="2927805"/>
            <a:ext cx="9487359" cy="2563256"/>
          </a:xfrm>
          <a:noFill/>
        </p:spPr>
        <p:txBody>
          <a:bodyPr>
            <a:normAutofit/>
          </a:bodyPr>
          <a:lstStyle>
            <a:lvl1pPr marL="0" indent="0">
              <a:buNone/>
              <a:defRPr sz="1125">
                <a:solidFill>
                  <a:srgbClr val="000000"/>
                </a:solidFill>
                <a:latin typeface="Open Sans"/>
                <a:cs typeface="Open Sans"/>
              </a:defRPr>
            </a:lvl1pPr>
          </a:lstStyle>
          <a:p>
            <a:pPr lvl="0"/>
            <a:r>
              <a:rPr lang="en-US" dirty="0"/>
              <a:t>Sub-heading</a:t>
            </a:r>
          </a:p>
        </p:txBody>
      </p:sp>
      <p:pic>
        <p:nvPicPr>
          <p:cNvPr id="6" name="Picture 5" descr="Swinburne Logo RGB.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63200" y="0"/>
            <a:ext cx="1219200" cy="1828800"/>
          </a:xfrm>
          <a:prstGeom prst="rect">
            <a:avLst/>
          </a:prstGeom>
        </p:spPr>
      </p:pic>
      <p:pic>
        <p:nvPicPr>
          <p:cNvPr id="7" name="Picture 6" descr="KNOWING Logo RGB.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3200" y="5567700"/>
            <a:ext cx="1219200" cy="914400"/>
          </a:xfrm>
          <a:prstGeom prst="rect">
            <a:avLst/>
          </a:prstGeom>
        </p:spPr>
      </p:pic>
    </p:spTree>
    <p:extLst>
      <p:ext uri="{BB962C8B-B14F-4D97-AF65-F5344CB8AC3E}">
        <p14:creationId xmlns:p14="http://schemas.microsoft.com/office/powerpoint/2010/main" val="15813811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2" name="Picture 1" descr="KNOWING Logo RGB.png">
            <a:extLst>
              <a:ext uri="{FF2B5EF4-FFF2-40B4-BE49-F238E27FC236}">
                <a16:creationId xmlns:a16="http://schemas.microsoft.com/office/drawing/2014/main" id="{76A2C585-110A-9CEF-DC80-A478B0B3BE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63200" y="5567700"/>
            <a:ext cx="1219200" cy="914400"/>
          </a:xfrm>
          <a:prstGeom prst="rect">
            <a:avLst/>
          </a:prstGeom>
        </p:spPr>
      </p:pic>
    </p:spTree>
    <p:extLst>
      <p:ext uri="{BB962C8B-B14F-4D97-AF65-F5344CB8AC3E}">
        <p14:creationId xmlns:p14="http://schemas.microsoft.com/office/powerpoint/2010/main" val="65641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90000"/>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AU" dirty="0"/>
              <a:t>Title</a:t>
            </a:r>
            <a:endParaRPr lang="en-US" dirty="0"/>
          </a:p>
        </p:txBody>
      </p:sp>
      <p:sp>
        <p:nvSpPr>
          <p:cNvPr id="3" name="Text Placeholder 2"/>
          <p:cNvSpPr>
            <a:spLocks noGrp="1"/>
          </p:cNvSpPr>
          <p:nvPr>
            <p:ph type="body" idx="1"/>
          </p:nvPr>
        </p:nvSpPr>
        <p:spPr>
          <a:xfrm>
            <a:off x="609600" y="1417643"/>
            <a:ext cx="10972800" cy="3991833"/>
          </a:xfrm>
          <a:prstGeom prst="rect">
            <a:avLst/>
          </a:prstGeom>
          <a:solidFill>
            <a:srgbClr val="F6F6F6"/>
          </a:solidFill>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descr="KNOWING Logo RGB.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02215" y="5866083"/>
            <a:ext cx="1219200" cy="914400"/>
          </a:xfrm>
          <a:prstGeom prst="rect">
            <a:avLst/>
          </a:prstGeom>
        </p:spPr>
      </p:pic>
      <p:cxnSp>
        <p:nvCxnSpPr>
          <p:cNvPr id="6" name="Straight Connector 5"/>
          <p:cNvCxnSpPr/>
          <p:nvPr/>
        </p:nvCxnSpPr>
        <p:spPr>
          <a:xfrm>
            <a:off x="1206368" y="6710785"/>
            <a:ext cx="95497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Line 22"/>
          <p:cNvSpPr>
            <a:spLocks noChangeShapeType="1"/>
          </p:cNvSpPr>
          <p:nvPr userDrawn="1"/>
        </p:nvSpPr>
        <p:spPr bwMode="auto">
          <a:xfrm flipV="1">
            <a:off x="283635" y="85725"/>
            <a:ext cx="575733" cy="381000"/>
          </a:xfrm>
          <a:prstGeom prst="line">
            <a:avLst/>
          </a:prstGeom>
          <a:noFill/>
          <a:ln w="9525">
            <a:solidFill>
              <a:srgbClr val="FF0000"/>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342900" rtl="0" eaLnBrk="1" fontAlgn="auto" latinLnBrk="0" hangingPunct="1">
              <a:lnSpc>
                <a:spcPct val="100000"/>
              </a:lnSpc>
              <a:spcBef>
                <a:spcPts val="0"/>
              </a:spcBef>
              <a:spcAft>
                <a:spcPts val="0"/>
              </a:spcAft>
              <a:buClrTx/>
              <a:buSzTx/>
              <a:buFontTx/>
              <a:buNone/>
              <a:tabLst/>
              <a:defRPr/>
            </a:pPr>
            <a:endParaRPr kumimoji="0" lang="en-AU" sz="1350" b="0" i="0" u="none" strike="noStrike" kern="1200" cap="none" spc="0" normalizeH="0" baseline="0" noProof="0">
              <a:ln>
                <a:noFill/>
              </a:ln>
              <a:solidFill>
                <a:srgbClr val="D1161E"/>
              </a:solidFill>
              <a:effectLst/>
              <a:uLnTx/>
              <a:uFillTx/>
              <a:latin typeface="Calibri"/>
              <a:ea typeface="+mn-ea"/>
              <a:cs typeface="+mn-cs"/>
            </a:endParaRPr>
          </a:p>
        </p:txBody>
      </p:sp>
      <p:sp>
        <p:nvSpPr>
          <p:cNvPr id="8" name="Line 23"/>
          <p:cNvSpPr>
            <a:spLocks noChangeShapeType="1"/>
          </p:cNvSpPr>
          <p:nvPr userDrawn="1"/>
        </p:nvSpPr>
        <p:spPr bwMode="auto">
          <a:xfrm flipV="1">
            <a:off x="334435" y="98425"/>
            <a:ext cx="575733" cy="381000"/>
          </a:xfrm>
          <a:prstGeom prst="line">
            <a:avLst/>
          </a:prstGeom>
          <a:noFill/>
          <a:ln w="9525">
            <a:solidFill>
              <a:srgbClr val="FF0000"/>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342900" rtl="0" eaLnBrk="1" fontAlgn="auto" latinLnBrk="0" hangingPunct="1">
              <a:lnSpc>
                <a:spcPct val="100000"/>
              </a:lnSpc>
              <a:spcBef>
                <a:spcPts val="0"/>
              </a:spcBef>
              <a:spcAft>
                <a:spcPts val="0"/>
              </a:spcAft>
              <a:buClrTx/>
              <a:buSzTx/>
              <a:buFontTx/>
              <a:buNone/>
              <a:tabLst/>
              <a:defRPr/>
            </a:pPr>
            <a:endParaRPr kumimoji="0" lang="en-AU" sz="1350" b="0" i="0" u="none" strike="noStrike" kern="1200" cap="none" spc="0" normalizeH="0" baseline="0" noProof="0">
              <a:ln>
                <a:noFill/>
              </a:ln>
              <a:solidFill>
                <a:srgbClr val="D1161E"/>
              </a:solidFill>
              <a:effectLst/>
              <a:uLnTx/>
              <a:uFillTx/>
              <a:latin typeface="Calibri"/>
              <a:ea typeface="+mn-ea"/>
              <a:cs typeface="+mn-cs"/>
            </a:endParaRPr>
          </a:p>
        </p:txBody>
      </p:sp>
      <p:sp>
        <p:nvSpPr>
          <p:cNvPr id="9" name="TextBox 8"/>
          <p:cNvSpPr txBox="1">
            <a:spLocks noChangeArrowheads="1"/>
          </p:cNvSpPr>
          <p:nvPr userDrawn="1"/>
        </p:nvSpPr>
        <p:spPr bwMode="auto">
          <a:xfrm>
            <a:off x="2" y="85725"/>
            <a:ext cx="622300"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buClr>
                <a:schemeClr val="tx1"/>
              </a:buClr>
              <a:buSzPct val="85000"/>
              <a:buFont typeface="Wingdings" pitchFamily="2" charset="2"/>
              <a:defRPr sz="2400" b="1" i="1">
                <a:solidFill>
                  <a:schemeClr val="tx1"/>
                </a:solidFill>
                <a:latin typeface="Arial Narrow" pitchFamily="34" charset="0"/>
              </a:defRPr>
            </a:lvl1pPr>
            <a:lvl2pPr marL="742950" indent="-285750" eaLnBrk="0" hangingPunct="0">
              <a:lnSpc>
                <a:spcPct val="80000"/>
              </a:lnSpc>
              <a:buClr>
                <a:schemeClr val="tx1"/>
              </a:buClr>
              <a:buSzPct val="85000"/>
              <a:buFont typeface="Wingdings" pitchFamily="2" charset="2"/>
              <a:defRPr sz="2400" b="1" i="1">
                <a:solidFill>
                  <a:schemeClr val="tx1"/>
                </a:solidFill>
                <a:latin typeface="Arial Narrow" pitchFamily="34" charset="0"/>
              </a:defRPr>
            </a:lvl2pPr>
            <a:lvl3pPr marL="1143000" indent="-228600" eaLnBrk="0" hangingPunct="0">
              <a:lnSpc>
                <a:spcPct val="80000"/>
              </a:lnSpc>
              <a:buClr>
                <a:schemeClr val="tx1"/>
              </a:buClr>
              <a:buSzPct val="85000"/>
              <a:buFont typeface="Wingdings" pitchFamily="2" charset="2"/>
              <a:defRPr sz="2400" b="1" i="1">
                <a:solidFill>
                  <a:schemeClr val="tx1"/>
                </a:solidFill>
                <a:latin typeface="Arial Narrow" pitchFamily="34" charset="0"/>
              </a:defRPr>
            </a:lvl3pPr>
            <a:lvl4pPr marL="1600200" indent="-228600" eaLnBrk="0" hangingPunct="0">
              <a:lnSpc>
                <a:spcPct val="80000"/>
              </a:lnSpc>
              <a:buClr>
                <a:schemeClr val="tx1"/>
              </a:buClr>
              <a:buSzPct val="85000"/>
              <a:buFont typeface="Wingdings" pitchFamily="2" charset="2"/>
              <a:defRPr sz="2400" b="1" i="1">
                <a:solidFill>
                  <a:schemeClr val="tx1"/>
                </a:solidFill>
                <a:latin typeface="Arial Narrow" pitchFamily="34" charset="0"/>
              </a:defRPr>
            </a:lvl4pPr>
            <a:lvl5pPr marL="2057400" indent="-228600" eaLnBrk="0" hangingPunct="0">
              <a:lnSpc>
                <a:spcPct val="80000"/>
              </a:lnSpc>
              <a:buClr>
                <a:schemeClr val="tx1"/>
              </a:buClr>
              <a:buSzPct val="85000"/>
              <a:buFont typeface="Wingdings" pitchFamily="2" charset="2"/>
              <a:defRPr sz="2400" b="1" i="1">
                <a:solidFill>
                  <a:schemeClr val="tx1"/>
                </a:solidFill>
                <a:latin typeface="Arial Narrow" pitchFamily="34" charset="0"/>
              </a:defRPr>
            </a:lvl5pPr>
            <a:lvl6pPr marL="25146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6pPr>
            <a:lvl7pPr marL="29718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7pPr>
            <a:lvl8pPr marL="34290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8pPr>
            <a:lvl9pPr marL="3886200" indent="-228600" eaLnBrk="0" fontAlgn="base" hangingPunct="0">
              <a:lnSpc>
                <a:spcPct val="80000"/>
              </a:lnSpc>
              <a:spcBef>
                <a:spcPct val="0"/>
              </a:spcBef>
              <a:spcAft>
                <a:spcPct val="0"/>
              </a:spcAft>
              <a:buClr>
                <a:schemeClr val="tx1"/>
              </a:buClr>
              <a:buSzPct val="85000"/>
              <a:buFont typeface="Wingdings" pitchFamily="2" charset="2"/>
              <a:defRPr sz="2400" b="1" i="1">
                <a:solidFill>
                  <a:schemeClr val="tx1"/>
                </a:solidFill>
                <a:latin typeface="Arial Narrow" pitchFamily="34" charset="0"/>
              </a:defRPr>
            </a:lvl9pPr>
          </a:lstStyle>
          <a:p>
            <a:pPr marL="0" marR="0" lvl="0" indent="0" algn="r" defTabSz="342900" rtl="0" eaLnBrk="0" fontAlgn="auto" latinLnBrk="0" hangingPunct="0">
              <a:lnSpc>
                <a:spcPct val="80000"/>
              </a:lnSpc>
              <a:spcBef>
                <a:spcPts val="0"/>
              </a:spcBef>
              <a:spcAft>
                <a:spcPts val="0"/>
              </a:spcAft>
              <a:buClr>
                <a:srgbClr val="D1161E"/>
              </a:buClr>
              <a:buSzPct val="85000"/>
              <a:buFont typeface="Wingdings" pitchFamily="2" charset="2"/>
              <a:buNone/>
              <a:tabLst/>
              <a:defRPr/>
            </a:pPr>
            <a:fld id="{A0B7F734-0547-4653-B8DE-E21D4CE8AB45}" type="slidenum">
              <a:rPr kumimoji="0" lang="en-AU" sz="1350" b="1" i="0" u="none" strike="noStrike" kern="1200" cap="none" spc="0" normalizeH="0" baseline="0" noProof="0">
                <a:ln>
                  <a:noFill/>
                </a:ln>
                <a:solidFill>
                  <a:srgbClr val="D1161E"/>
                </a:solidFill>
                <a:effectLst/>
                <a:uLnTx/>
                <a:uFillTx/>
                <a:latin typeface="Arial Narrow" pitchFamily="34" charset="0"/>
                <a:ea typeface="+mn-ea"/>
                <a:cs typeface="+mn-cs"/>
              </a:rPr>
              <a:pPr marL="0" marR="0" lvl="0" indent="0" algn="r" defTabSz="342900" rtl="0" eaLnBrk="0" fontAlgn="auto" latinLnBrk="0" hangingPunct="0">
                <a:lnSpc>
                  <a:spcPct val="80000"/>
                </a:lnSpc>
                <a:spcBef>
                  <a:spcPts val="0"/>
                </a:spcBef>
                <a:spcAft>
                  <a:spcPts val="0"/>
                </a:spcAft>
                <a:buClr>
                  <a:srgbClr val="D1161E"/>
                </a:buClr>
                <a:buSzPct val="85000"/>
                <a:buFont typeface="Wingdings" pitchFamily="2" charset="2"/>
                <a:buNone/>
                <a:tabLst/>
                <a:defRPr/>
              </a:pPr>
              <a:t>‹#›</a:t>
            </a:fld>
            <a:endParaRPr kumimoji="0" lang="en-AU" sz="1350" b="1" i="0" u="none" strike="noStrike" kern="1200" cap="none" spc="0" normalizeH="0" baseline="0" noProof="0">
              <a:ln>
                <a:noFill/>
              </a:ln>
              <a:solidFill>
                <a:srgbClr val="D1161E"/>
              </a:solidFill>
              <a:effectLst/>
              <a:uLnTx/>
              <a:uFillTx/>
              <a:latin typeface="Arial Narrow" pitchFamily="34" charset="0"/>
              <a:ea typeface="+mn-ea"/>
              <a:cs typeface="+mn-cs"/>
            </a:endParaRPr>
          </a:p>
        </p:txBody>
      </p:sp>
      <p:sp>
        <p:nvSpPr>
          <p:cNvPr id="10" name="Rectangle 9"/>
          <p:cNvSpPr/>
          <p:nvPr userDrawn="1"/>
        </p:nvSpPr>
        <p:spPr>
          <a:xfrm rot="18000966">
            <a:off x="11299701" y="-55435"/>
            <a:ext cx="565401" cy="960987"/>
          </a:xfrm>
          <a:prstGeom prst="rect">
            <a:avLst/>
          </a:prstGeom>
          <a:noFill/>
        </p:spPr>
        <p:txBody>
          <a:bodyPr spcFirstLastPara="1" wrap="none" lIns="51435" tIns="25718" rIns="51435" bIns="25718" numCol="1">
            <a:prstTxWarp prst="textCircle">
              <a:avLst/>
            </a:prstTxWarp>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3038" b="0" i="0" u="none" strike="noStrike" kern="1200" cap="none" spc="0" normalizeH="0" baseline="0" noProof="0" dirty="0">
                <a:ln w="0"/>
                <a:solidFill>
                  <a:srgbClr val="D1161E"/>
                </a:solidFill>
                <a:effectLst>
                  <a:outerShdw blurRad="38100" dist="19050" dir="2700000" algn="tl" rotWithShape="0">
                    <a:srgbClr val="D1161E">
                      <a:alpha val="40000"/>
                    </a:srgbClr>
                  </a:outerShdw>
                </a:effectLst>
                <a:uLnTx/>
                <a:uFillTx/>
                <a:latin typeface="Calibri"/>
                <a:ea typeface="+mn-ea"/>
                <a:cs typeface="+mn-cs"/>
              </a:rPr>
              <a:t>Database Analysis and Design   </a:t>
            </a:r>
          </a:p>
        </p:txBody>
      </p:sp>
    </p:spTree>
    <p:extLst>
      <p:ext uri="{BB962C8B-B14F-4D97-AF65-F5344CB8AC3E}">
        <p14:creationId xmlns:p14="http://schemas.microsoft.com/office/powerpoint/2010/main" val="15267197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l" defTabSz="257175" rtl="0" eaLnBrk="1" latinLnBrk="0" hangingPunct="1">
        <a:spcBef>
          <a:spcPct val="0"/>
        </a:spcBef>
        <a:buNone/>
        <a:defRPr sz="2475" b="0" kern="1200">
          <a:solidFill>
            <a:schemeClr val="tx1"/>
          </a:solidFill>
          <a:latin typeface="Open Sans"/>
          <a:ea typeface="+mj-ea"/>
          <a:cs typeface="Open Sans"/>
        </a:defRPr>
      </a:lvl1pPr>
    </p:titleStyle>
    <p:bodyStyle>
      <a:lvl1pPr marL="192881" indent="-192881" algn="l" defTabSz="257175" rtl="0" eaLnBrk="1" latinLnBrk="0" hangingPunct="1">
        <a:spcBef>
          <a:spcPct val="20000"/>
        </a:spcBef>
        <a:buFont typeface="Arial"/>
        <a:buChar char="•"/>
        <a:defRPr sz="1800" kern="1200">
          <a:solidFill>
            <a:srgbClr val="000000"/>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rgbClr val="000000"/>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rgbClr val="000000"/>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rgbClr val="000000"/>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rgbClr val="000000"/>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p:bodyStyle>
    <p:otherStyle>
      <a:defPPr>
        <a:defRPr lang="en-US"/>
      </a:defPPr>
      <a:lvl1pPr marL="0" algn="l" defTabSz="257175" rtl="0" eaLnBrk="1" latinLnBrk="0" hangingPunct="1">
        <a:defRPr sz="1013" kern="1200">
          <a:solidFill>
            <a:schemeClr val="tx1"/>
          </a:solidFill>
          <a:latin typeface="+mn-lt"/>
          <a:ea typeface="+mn-ea"/>
          <a:cs typeface="+mn-cs"/>
        </a:defRPr>
      </a:lvl1pPr>
      <a:lvl2pPr marL="257175" algn="l" defTabSz="257175" rtl="0" eaLnBrk="1" latinLnBrk="0" hangingPunct="1">
        <a:defRPr sz="1013" kern="1200">
          <a:solidFill>
            <a:schemeClr val="tx1"/>
          </a:solidFill>
          <a:latin typeface="+mn-lt"/>
          <a:ea typeface="+mn-ea"/>
          <a:cs typeface="+mn-cs"/>
        </a:defRPr>
      </a:lvl2pPr>
      <a:lvl3pPr marL="514350" algn="l" defTabSz="257175" rtl="0" eaLnBrk="1" latinLnBrk="0" hangingPunct="1">
        <a:defRPr sz="1013" kern="1200">
          <a:solidFill>
            <a:schemeClr val="tx1"/>
          </a:solidFill>
          <a:latin typeface="+mn-lt"/>
          <a:ea typeface="+mn-ea"/>
          <a:cs typeface="+mn-cs"/>
        </a:defRPr>
      </a:lvl3pPr>
      <a:lvl4pPr marL="771525" algn="l" defTabSz="257175" rtl="0" eaLnBrk="1" latinLnBrk="0" hangingPunct="1">
        <a:defRPr sz="1013" kern="1200">
          <a:solidFill>
            <a:schemeClr val="tx1"/>
          </a:solidFill>
          <a:latin typeface="+mn-lt"/>
          <a:ea typeface="+mn-ea"/>
          <a:cs typeface="+mn-cs"/>
        </a:defRPr>
      </a:lvl4pPr>
      <a:lvl5pPr marL="1028700" algn="l" defTabSz="257175" rtl="0" eaLnBrk="1" latinLnBrk="0" hangingPunct="1">
        <a:defRPr sz="1013" kern="1200">
          <a:solidFill>
            <a:schemeClr val="tx1"/>
          </a:solidFill>
          <a:latin typeface="+mn-lt"/>
          <a:ea typeface="+mn-ea"/>
          <a:cs typeface="+mn-cs"/>
        </a:defRPr>
      </a:lvl5pPr>
      <a:lvl6pPr marL="1285875" algn="l" defTabSz="257175" rtl="0" eaLnBrk="1" latinLnBrk="0" hangingPunct="1">
        <a:defRPr sz="1013" kern="1200">
          <a:solidFill>
            <a:schemeClr val="tx1"/>
          </a:solidFill>
          <a:latin typeface="+mn-lt"/>
          <a:ea typeface="+mn-ea"/>
          <a:cs typeface="+mn-cs"/>
        </a:defRPr>
      </a:lvl6pPr>
      <a:lvl7pPr marL="1543050" algn="l" defTabSz="257175" rtl="0" eaLnBrk="1" latinLnBrk="0" hangingPunct="1">
        <a:defRPr sz="1013" kern="1200">
          <a:solidFill>
            <a:schemeClr val="tx1"/>
          </a:solidFill>
          <a:latin typeface="+mn-lt"/>
          <a:ea typeface="+mn-ea"/>
          <a:cs typeface="+mn-cs"/>
        </a:defRPr>
      </a:lvl7pPr>
      <a:lvl8pPr marL="1800225" algn="l" defTabSz="257175" rtl="0" eaLnBrk="1" latinLnBrk="0" hangingPunct="1">
        <a:defRPr sz="1013" kern="1200">
          <a:solidFill>
            <a:schemeClr val="tx1"/>
          </a:solidFill>
          <a:latin typeface="+mn-lt"/>
          <a:ea typeface="+mn-ea"/>
          <a:cs typeface="+mn-cs"/>
        </a:defRPr>
      </a:lvl8pPr>
      <a:lvl9pPr marL="2057400" algn="l" defTabSz="257175"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formulate.com.au/blog/sex-and-gender" TargetMode="External"/><Relationship Id="rId2" Type="http://schemas.openxmlformats.org/officeDocument/2006/relationships/hyperlink" Target="https://www.humanrights.gov.au/news/media-releases/sexual-orientation-gender-identity-and-intersex-amendments-step-closer-ful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8"/>
          <p:cNvSpPr>
            <a:spLocks noGrp="1" noChangeArrowheads="1"/>
          </p:cNvSpPr>
          <p:nvPr>
            <p:ph type="ctrTitle"/>
          </p:nvPr>
        </p:nvSpPr>
        <p:spPr>
          <a:xfrm>
            <a:off x="3836988" y="2406503"/>
            <a:ext cx="6021388" cy="1143000"/>
          </a:xfrm>
        </p:spPr>
        <p:txBody>
          <a:bodyPr>
            <a:normAutofit fontScale="90000"/>
          </a:bodyPr>
          <a:lstStyle/>
          <a:p>
            <a:r>
              <a:rPr lang="en-AU" dirty="0">
                <a:solidFill>
                  <a:schemeClr val="tx1"/>
                </a:solidFill>
              </a:rPr>
              <a:t>INF10025</a:t>
            </a:r>
            <a:br>
              <a:rPr lang="en-AU" dirty="0">
                <a:solidFill>
                  <a:schemeClr val="tx1"/>
                </a:solidFill>
              </a:rPr>
            </a:br>
            <a:r>
              <a:rPr lang="en-AU" sz="3200" dirty="0"/>
              <a:t>Data Management and Analytics</a:t>
            </a:r>
            <a:br>
              <a:rPr lang="en-AU" dirty="0">
                <a:solidFill>
                  <a:schemeClr val="tx1"/>
                </a:solidFill>
              </a:rPr>
            </a:br>
            <a:r>
              <a:rPr lang="en-AU" dirty="0">
                <a:solidFill>
                  <a:schemeClr val="tx1"/>
                </a:solidFill>
              </a:rPr>
              <a:t>Lecture 8 – Part 3</a:t>
            </a:r>
          </a:p>
        </p:txBody>
      </p:sp>
      <p:sp>
        <p:nvSpPr>
          <p:cNvPr id="5122" name="Rectangle 7"/>
          <p:cNvSpPr>
            <a:spLocks noGrp="1" noChangeArrowheads="1"/>
          </p:cNvSpPr>
          <p:nvPr>
            <p:ph type="subTitle" idx="1"/>
          </p:nvPr>
        </p:nvSpPr>
        <p:spPr>
          <a:xfrm>
            <a:off x="3836988" y="3636335"/>
            <a:ext cx="5726112" cy="1719890"/>
          </a:xfrm>
        </p:spPr>
        <p:txBody>
          <a:bodyPr vert="horz" lIns="0" tIns="0" rIns="0" bIns="0" rtlCol="0">
            <a:normAutofit/>
          </a:bodyPr>
          <a:lstStyle/>
          <a:p>
            <a:r>
              <a:rPr lang="en-AU" b="1" dirty="0"/>
              <a:t>Modelling </a:t>
            </a:r>
          </a:p>
          <a:p>
            <a:r>
              <a:rPr lang="en-AU" b="1" dirty="0"/>
              <a:t>M:M relationships</a:t>
            </a:r>
          </a:p>
          <a:p>
            <a:r>
              <a:rPr lang="en-AU" b="1" dirty="0"/>
              <a:t>SQL: Outer Joins, </a:t>
            </a:r>
            <a:r>
              <a:rPr lang="en-AU" b="1" dirty="0" err="1"/>
              <a:t>SubQueries</a:t>
            </a:r>
            <a:r>
              <a:rPr lang="en-AU" b="1" dirty="0"/>
              <a:t>,</a:t>
            </a:r>
          </a:p>
          <a:p>
            <a:r>
              <a:rPr lang="en-AU" b="1"/>
              <a:t>Unions, Constraints</a:t>
            </a:r>
            <a:endParaRPr lang="en-AU" b="1" dirty="0"/>
          </a:p>
          <a:p>
            <a:endParaRPr lang="en-AU"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en-AU"/>
              <a:t>SQL: UNION &amp; UNION ALL</a:t>
            </a:r>
          </a:p>
        </p:txBody>
      </p:sp>
      <p:sp>
        <p:nvSpPr>
          <p:cNvPr id="46084" name="Rectangle 3"/>
          <p:cNvSpPr>
            <a:spLocks noGrp="1" noChangeArrowheads="1"/>
          </p:cNvSpPr>
          <p:nvPr>
            <p:ph idx="1"/>
          </p:nvPr>
        </p:nvSpPr>
        <p:spPr/>
        <p:txBody>
          <a:bodyPr>
            <a:normAutofit/>
          </a:bodyPr>
          <a:lstStyle/>
          <a:p>
            <a:pPr marL="357188" indent="-357188">
              <a:spcBef>
                <a:spcPts val="100"/>
              </a:spcBef>
            </a:pPr>
            <a:r>
              <a:rPr lang="en-AU" sz="2200" dirty="0"/>
              <a:t>The </a:t>
            </a:r>
            <a:r>
              <a:rPr lang="en-AU" sz="2200" b="1" dirty="0"/>
              <a:t>UNION</a:t>
            </a:r>
            <a:r>
              <a:rPr lang="en-AU" sz="2200" dirty="0"/>
              <a:t> operators combine the results of </a:t>
            </a:r>
            <a:r>
              <a:rPr lang="en-AU" sz="2200" b="1" u="sng" dirty="0"/>
              <a:t>two</a:t>
            </a:r>
            <a:r>
              <a:rPr lang="en-AU" sz="2200" dirty="0"/>
              <a:t> queries into a </a:t>
            </a:r>
            <a:r>
              <a:rPr lang="en-AU" sz="2200" b="1" dirty="0"/>
              <a:t>single result set</a:t>
            </a:r>
            <a:r>
              <a:rPr lang="en-AU" sz="2200" dirty="0"/>
              <a:t>. </a:t>
            </a:r>
          </a:p>
          <a:p>
            <a:pPr marL="357188" indent="-357188">
              <a:spcBef>
                <a:spcPts val="100"/>
              </a:spcBef>
            </a:pPr>
            <a:endParaRPr lang="en-AU" sz="2200" dirty="0"/>
          </a:p>
          <a:p>
            <a:pPr marL="357188" indent="-357188">
              <a:spcBef>
                <a:spcPts val="100"/>
              </a:spcBef>
            </a:pPr>
            <a:r>
              <a:rPr lang="en-AU" sz="2200" dirty="0"/>
              <a:t>The number and data types of the columns selected by each component query </a:t>
            </a:r>
            <a:r>
              <a:rPr lang="en-AU" sz="2200" b="1" dirty="0"/>
              <a:t>must be the same</a:t>
            </a:r>
            <a:r>
              <a:rPr lang="en-AU" sz="2200" dirty="0"/>
              <a:t>, but the column lengths can be different.</a:t>
            </a:r>
          </a:p>
          <a:p>
            <a:pPr marL="357188" indent="-357188">
              <a:spcBef>
                <a:spcPts val="100"/>
              </a:spcBef>
            </a:pPr>
            <a:endParaRPr lang="en-AU" sz="2200" dirty="0"/>
          </a:p>
          <a:p>
            <a:pPr marL="357188" indent="-357188">
              <a:spcBef>
                <a:spcPts val="100"/>
              </a:spcBef>
            </a:pPr>
            <a:r>
              <a:rPr lang="en-AU" sz="2200" b="1" dirty="0"/>
              <a:t>UNION</a:t>
            </a:r>
            <a:r>
              <a:rPr lang="en-AU" sz="2200" dirty="0"/>
              <a:t>  </a:t>
            </a:r>
          </a:p>
          <a:p>
            <a:pPr marL="822325" lvl="1" indent="-285750">
              <a:spcBef>
                <a:spcPts val="100"/>
              </a:spcBef>
            </a:pPr>
            <a:r>
              <a:rPr lang="en-AU" sz="2200" dirty="0"/>
              <a:t>All rows selected by either query.  </a:t>
            </a:r>
            <a:br>
              <a:rPr lang="en-AU" sz="2200" dirty="0"/>
            </a:br>
            <a:endParaRPr lang="en-AU" sz="2200" dirty="0"/>
          </a:p>
          <a:p>
            <a:pPr marL="357188" indent="-357188">
              <a:spcBef>
                <a:spcPts val="100"/>
              </a:spcBef>
            </a:pPr>
            <a:r>
              <a:rPr lang="en-AU" sz="2200" b="1" dirty="0"/>
              <a:t>UNION ALL</a:t>
            </a:r>
            <a:r>
              <a:rPr lang="en-AU" sz="2200" dirty="0"/>
              <a:t>  </a:t>
            </a:r>
          </a:p>
          <a:p>
            <a:pPr marL="822325" lvl="1" indent="-285750">
              <a:spcBef>
                <a:spcPts val="100"/>
              </a:spcBef>
            </a:pPr>
            <a:r>
              <a:rPr lang="en-AU" sz="2200" dirty="0"/>
              <a:t> All rows selected by either query, including all duplicates.  </a:t>
            </a:r>
          </a:p>
          <a:p>
            <a:pPr marL="822325" lvl="1" indent="-285750">
              <a:buNone/>
            </a:pPr>
            <a:endParaRPr lang="en-AU" dirty="0"/>
          </a:p>
          <a:p>
            <a:pPr marL="357188" indent="-357188">
              <a:buNone/>
            </a:pPr>
            <a:endParaRPr lang="en-AU" dirty="0"/>
          </a:p>
        </p:txBody>
      </p:sp>
    </p:spTree>
    <p:extLst>
      <p:ext uri="{BB962C8B-B14F-4D97-AF65-F5344CB8AC3E}">
        <p14:creationId xmlns:p14="http://schemas.microsoft.com/office/powerpoint/2010/main" val="2635845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p:cNvSpPr>
            <a:spLocks noGrp="1" noChangeArrowheads="1"/>
          </p:cNvSpPr>
          <p:nvPr>
            <p:ph type="title"/>
          </p:nvPr>
        </p:nvSpPr>
        <p:spPr/>
        <p:txBody>
          <a:bodyPr/>
          <a:lstStyle/>
          <a:p>
            <a:r>
              <a:rPr lang="en-AU"/>
              <a:t>SQL: Union</a:t>
            </a:r>
          </a:p>
        </p:txBody>
      </p:sp>
      <p:sp>
        <p:nvSpPr>
          <p:cNvPr id="47107" name="Rectangle 2"/>
          <p:cNvSpPr>
            <a:spLocks noChangeArrowheads="1"/>
          </p:cNvSpPr>
          <p:nvPr/>
        </p:nvSpPr>
        <p:spPr bwMode="auto">
          <a:xfrm>
            <a:off x="1524000" y="5981700"/>
            <a:ext cx="1733550" cy="876300"/>
          </a:xfrm>
          <a:prstGeom prst="rect">
            <a:avLst/>
          </a:prstGeom>
          <a:solidFill>
            <a:schemeClr val="bg1"/>
          </a:solidFill>
          <a:ln>
            <a:noFill/>
          </a:ln>
          <a:effectLst/>
          <a:extLst>
            <a:ext uri="{91240B29-F687-4F45-9708-019B960494DF}">
              <a14:hiddenLine xmlns:a14="http://schemas.microsoft.com/office/drawing/2010/main" w="9525" algn="ctr">
                <a:solidFill>
                  <a:schemeClr val="accent2"/>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defTabSz="457200"/>
            <a:endParaRPr lang="en-US">
              <a:solidFill>
                <a:srgbClr val="D1161E"/>
              </a:solidFill>
              <a:latin typeface="Calibri"/>
            </a:endParaRPr>
          </a:p>
        </p:txBody>
      </p:sp>
      <p:sp>
        <p:nvSpPr>
          <p:cNvPr id="47111" name="Text Box 6"/>
          <p:cNvSpPr txBox="1">
            <a:spLocks noChangeArrowheads="1"/>
          </p:cNvSpPr>
          <p:nvPr/>
        </p:nvSpPr>
        <p:spPr bwMode="auto">
          <a:xfrm>
            <a:off x="1876427" y="3833039"/>
            <a:ext cx="5521325" cy="3016210"/>
          </a:xfrm>
          <a:prstGeom prst="rect">
            <a:avLst/>
          </a:prstGeom>
          <a:noFill/>
          <a:ln w="9525">
            <a:solidFill>
              <a:srgbClr val="0033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r>
              <a:rPr lang="en-AU" sz="2000" i="0" dirty="0">
                <a:solidFill>
                  <a:srgbClr val="6C008D">
                    <a:lumMod val="50000"/>
                  </a:srgbClr>
                </a:solidFill>
              </a:rPr>
              <a:t>SELECT name FROM STUDENT</a:t>
            </a:r>
          </a:p>
          <a:p>
            <a:pPr defTabSz="457200" eaLnBrk="1" hangingPunct="1"/>
            <a:r>
              <a:rPr lang="en-AU" sz="2000" i="0" dirty="0">
                <a:solidFill>
                  <a:srgbClr val="0000FF"/>
                </a:solidFill>
              </a:rPr>
              <a:t>UNION </a:t>
            </a:r>
          </a:p>
          <a:p>
            <a:pPr defTabSz="457200" eaLnBrk="1" hangingPunct="1"/>
            <a:r>
              <a:rPr lang="en-AU" sz="2000" i="0" dirty="0">
                <a:solidFill>
                  <a:srgbClr val="6C008D">
                    <a:lumMod val="50000"/>
                  </a:srgbClr>
                </a:solidFill>
              </a:rPr>
              <a:t>SELECT name FROM TUTOR;</a:t>
            </a:r>
          </a:p>
          <a:p>
            <a:pPr defTabSz="457200" eaLnBrk="1" hangingPunct="1"/>
            <a:endParaRPr lang="en-AU" sz="1000" i="0" dirty="0">
              <a:solidFill>
                <a:srgbClr val="6C008D">
                  <a:lumMod val="50000"/>
                </a:srgbClr>
              </a:solidFill>
            </a:endParaRPr>
          </a:p>
          <a:p>
            <a:pPr defTabSz="457200" eaLnBrk="1" hangingPunct="1"/>
            <a:r>
              <a:rPr lang="en-AU" sz="2000" i="0" dirty="0">
                <a:solidFill>
                  <a:srgbClr val="6C008D">
                    <a:lumMod val="50000"/>
                  </a:srgbClr>
                </a:solidFill>
              </a:rPr>
              <a:t>Amanda Allen </a:t>
            </a:r>
          </a:p>
          <a:p>
            <a:pPr defTabSz="457200" eaLnBrk="1" hangingPunct="1"/>
            <a:r>
              <a:rPr lang="en-AU" sz="2000" i="0" dirty="0">
                <a:solidFill>
                  <a:srgbClr val="6C008D">
                    <a:lumMod val="50000"/>
                  </a:srgbClr>
                </a:solidFill>
              </a:rPr>
              <a:t>Bob Black</a:t>
            </a:r>
          </a:p>
          <a:p>
            <a:pPr defTabSz="457200" eaLnBrk="1" hangingPunct="1"/>
            <a:r>
              <a:rPr lang="en-AU" sz="2000" i="0" dirty="0">
                <a:solidFill>
                  <a:srgbClr val="FF0000"/>
                </a:solidFill>
              </a:rPr>
              <a:t>Carol Chen</a:t>
            </a:r>
          </a:p>
          <a:p>
            <a:pPr defTabSz="457200" eaLnBrk="1" hangingPunct="1"/>
            <a:r>
              <a:rPr lang="en-AU" sz="2000" i="0" dirty="0">
                <a:solidFill>
                  <a:srgbClr val="6C008D">
                    <a:lumMod val="50000"/>
                  </a:srgbClr>
                </a:solidFill>
              </a:rPr>
              <a:t>Dave Dole</a:t>
            </a:r>
          </a:p>
          <a:p>
            <a:pPr defTabSz="457200" eaLnBrk="1" hangingPunct="1"/>
            <a:r>
              <a:rPr lang="en-AU" sz="2000" i="0" dirty="0">
                <a:solidFill>
                  <a:srgbClr val="6C008D">
                    <a:lumMod val="50000"/>
                  </a:srgbClr>
                </a:solidFill>
              </a:rPr>
              <a:t>Ed Ellis </a:t>
            </a:r>
          </a:p>
          <a:p>
            <a:pPr defTabSz="457200" eaLnBrk="1" hangingPunct="1"/>
            <a:r>
              <a:rPr lang="en-AU" sz="2000" i="0" dirty="0">
                <a:solidFill>
                  <a:srgbClr val="6C008D">
                    <a:lumMod val="50000"/>
                  </a:srgbClr>
                </a:solidFill>
              </a:rPr>
              <a:t>Fred Foley</a:t>
            </a:r>
          </a:p>
        </p:txBody>
      </p:sp>
      <p:sp>
        <p:nvSpPr>
          <p:cNvPr id="47112" name="Text Box 7"/>
          <p:cNvSpPr txBox="1">
            <a:spLocks noChangeArrowheads="1"/>
          </p:cNvSpPr>
          <p:nvPr/>
        </p:nvSpPr>
        <p:spPr bwMode="auto">
          <a:xfrm>
            <a:off x="4071939" y="5441951"/>
            <a:ext cx="2395537" cy="1019175"/>
          </a:xfrm>
          <a:prstGeom prst="rect">
            <a:avLst/>
          </a:prstGeom>
          <a:solidFill>
            <a:schemeClr val="bg1"/>
          </a:solidFill>
          <a:ln w="127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algn="ctr" defTabSz="457200" eaLnBrk="1" hangingPunct="1"/>
            <a:r>
              <a:rPr lang="en-AU" sz="2000" i="0" dirty="0">
                <a:solidFill>
                  <a:srgbClr val="0C64A7"/>
                </a:solidFill>
                <a:latin typeface="Arial" charset="0"/>
              </a:rPr>
              <a:t>Names that are in both tables are </a:t>
            </a:r>
            <a:r>
              <a:rPr lang="en-AU" sz="2000" i="0" u="sng" dirty="0">
                <a:solidFill>
                  <a:srgbClr val="0C64A7"/>
                </a:solidFill>
                <a:latin typeface="Arial" charset="0"/>
              </a:rPr>
              <a:t>not</a:t>
            </a:r>
            <a:r>
              <a:rPr lang="en-AU" sz="2000" i="0" dirty="0">
                <a:solidFill>
                  <a:srgbClr val="0C64A7"/>
                </a:solidFill>
                <a:latin typeface="Arial" charset="0"/>
              </a:rPr>
              <a:t> duplicated</a:t>
            </a:r>
            <a:endParaRPr lang="en-US" sz="2000" i="0" dirty="0">
              <a:solidFill>
                <a:srgbClr val="0C64A7"/>
              </a:solidFill>
              <a:latin typeface="Arial" charset="0"/>
            </a:endParaRPr>
          </a:p>
        </p:txBody>
      </p:sp>
      <p:sp>
        <p:nvSpPr>
          <p:cNvPr id="47113" name="Text Box 8"/>
          <p:cNvSpPr txBox="1">
            <a:spLocks noChangeArrowheads="1"/>
          </p:cNvSpPr>
          <p:nvPr/>
        </p:nvSpPr>
        <p:spPr bwMode="auto">
          <a:xfrm>
            <a:off x="2172215" y="2897821"/>
            <a:ext cx="76366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marL="266700" indent="-266700" defTabSz="457200" eaLnBrk="1" hangingPunct="1">
              <a:buFont typeface="Arial" pitchFamily="34" charset="0"/>
              <a:buChar char="•"/>
            </a:pPr>
            <a:r>
              <a:rPr lang="en-AU" b="0" i="0" dirty="0">
                <a:solidFill>
                  <a:srgbClr val="000000"/>
                </a:solidFill>
              </a:rPr>
              <a:t>A </a:t>
            </a:r>
            <a:r>
              <a:rPr lang="en-AU" i="0" dirty="0">
                <a:solidFill>
                  <a:srgbClr val="000000"/>
                </a:solidFill>
              </a:rPr>
              <a:t>Union </a:t>
            </a:r>
            <a:r>
              <a:rPr lang="en-AU" b="0" i="0" dirty="0">
                <a:solidFill>
                  <a:srgbClr val="000000"/>
                </a:solidFill>
              </a:rPr>
              <a:t>operator</a:t>
            </a:r>
            <a:r>
              <a:rPr lang="en-AU" i="0" dirty="0">
                <a:solidFill>
                  <a:srgbClr val="000000"/>
                </a:solidFill>
              </a:rPr>
              <a:t> combines </a:t>
            </a:r>
            <a:r>
              <a:rPr lang="en-AU" b="0" i="0" dirty="0">
                <a:solidFill>
                  <a:srgbClr val="000000"/>
                </a:solidFill>
              </a:rPr>
              <a:t>results of individual </a:t>
            </a:r>
            <a:br>
              <a:rPr lang="en-AU" b="0" i="0" dirty="0">
                <a:solidFill>
                  <a:srgbClr val="000000"/>
                </a:solidFill>
              </a:rPr>
            </a:br>
            <a:r>
              <a:rPr lang="en-AU" b="0" i="0" dirty="0">
                <a:solidFill>
                  <a:srgbClr val="000000"/>
                </a:solidFill>
              </a:rPr>
              <a:t>SQL queries to be combined </a:t>
            </a:r>
            <a:r>
              <a:rPr lang="en-AU" i="0" dirty="0">
                <a:solidFill>
                  <a:srgbClr val="000000"/>
                </a:solidFill>
              </a:rPr>
              <a:t>into one single result set</a:t>
            </a:r>
            <a:endParaRPr lang="en-AU" sz="2000" i="0" dirty="0">
              <a:solidFill>
                <a:srgbClr val="000000"/>
              </a:solidFill>
            </a:endParaRPr>
          </a:p>
        </p:txBody>
      </p:sp>
      <p:sp>
        <p:nvSpPr>
          <p:cNvPr id="47115" name="Oval 10"/>
          <p:cNvSpPr>
            <a:spLocks noChangeArrowheads="1"/>
          </p:cNvSpPr>
          <p:nvPr/>
        </p:nvSpPr>
        <p:spPr bwMode="auto">
          <a:xfrm>
            <a:off x="7899400" y="4783138"/>
            <a:ext cx="1862138" cy="944562"/>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a:solidFill>
                  <a:srgbClr val="D1161E"/>
                </a:solidFill>
                <a:latin typeface="Lucida Console" pitchFamily="49" charset="0"/>
              </a:rPr>
              <a:t>STUDENT</a:t>
            </a:r>
            <a:endParaRPr lang="en-US">
              <a:solidFill>
                <a:srgbClr val="D1161E"/>
              </a:solidFill>
              <a:latin typeface="Lucida Console" pitchFamily="49" charset="0"/>
            </a:endParaRPr>
          </a:p>
        </p:txBody>
      </p:sp>
      <p:sp>
        <p:nvSpPr>
          <p:cNvPr id="47116" name="Oval 11"/>
          <p:cNvSpPr>
            <a:spLocks noChangeArrowheads="1"/>
          </p:cNvSpPr>
          <p:nvPr/>
        </p:nvSpPr>
        <p:spPr bwMode="auto">
          <a:xfrm>
            <a:off x="8342313" y="5441951"/>
            <a:ext cx="1414462" cy="944563"/>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a:solidFill>
                  <a:srgbClr val="D1161E"/>
                </a:solidFill>
                <a:latin typeface="Lucida Console" pitchFamily="49" charset="0"/>
              </a:rPr>
              <a:t>TUTOR</a:t>
            </a:r>
            <a:endParaRPr lang="en-US">
              <a:solidFill>
                <a:srgbClr val="D1161E"/>
              </a:solidFill>
              <a:latin typeface="Lucida Console" pitchFamily="49" charset="0"/>
            </a:endParaRPr>
          </a:p>
        </p:txBody>
      </p:sp>
      <p:sp>
        <p:nvSpPr>
          <p:cNvPr id="3" name="TextBox 2"/>
          <p:cNvSpPr txBox="1"/>
          <p:nvPr/>
        </p:nvSpPr>
        <p:spPr>
          <a:xfrm>
            <a:off x="1876426" y="1500922"/>
            <a:ext cx="3886200" cy="1378326"/>
          </a:xfrm>
          <a:prstGeom prst="rect">
            <a:avLst/>
          </a:prstGeom>
          <a:noFill/>
          <a:ln>
            <a:solidFill>
              <a:srgbClr val="0033CC"/>
            </a:solidFill>
          </a:ln>
        </p:spPr>
        <p:txBody>
          <a:bodyPr wrap="square" rtlCol="0">
            <a:spAutoFit/>
          </a:bodyPr>
          <a:lstStyle/>
          <a:p>
            <a:pPr defTabSz="457200">
              <a:lnSpc>
                <a:spcPts val="2000"/>
              </a:lnSpc>
            </a:pPr>
            <a:r>
              <a:rPr lang="en-AU" sz="2000" dirty="0">
                <a:solidFill>
                  <a:srgbClr val="6C008D">
                    <a:lumMod val="50000"/>
                  </a:srgbClr>
                </a:solidFill>
                <a:latin typeface="Calibri"/>
              </a:rPr>
              <a:t>SELECT name FROM STUDENT;</a:t>
            </a:r>
            <a:br>
              <a:rPr lang="en-AU" sz="2000" dirty="0">
                <a:solidFill>
                  <a:srgbClr val="6C008D">
                    <a:lumMod val="50000"/>
                  </a:srgbClr>
                </a:solidFill>
                <a:latin typeface="Calibri"/>
              </a:rPr>
            </a:br>
            <a:r>
              <a:rPr lang="en-AU" sz="2000" dirty="0">
                <a:solidFill>
                  <a:srgbClr val="6C008D">
                    <a:lumMod val="50000"/>
                  </a:srgbClr>
                </a:solidFill>
                <a:latin typeface="Calibri"/>
              </a:rPr>
              <a:t>Amanda Allen </a:t>
            </a:r>
          </a:p>
          <a:p>
            <a:pPr defTabSz="457200">
              <a:lnSpc>
                <a:spcPts val="2000"/>
              </a:lnSpc>
            </a:pPr>
            <a:r>
              <a:rPr lang="en-AU" sz="2000" dirty="0">
                <a:solidFill>
                  <a:srgbClr val="6C008D">
                    <a:lumMod val="50000"/>
                  </a:srgbClr>
                </a:solidFill>
                <a:latin typeface="Calibri"/>
              </a:rPr>
              <a:t>Bob Black </a:t>
            </a:r>
          </a:p>
          <a:p>
            <a:pPr defTabSz="457200">
              <a:lnSpc>
                <a:spcPts val="2000"/>
              </a:lnSpc>
            </a:pPr>
            <a:r>
              <a:rPr lang="en-AU" sz="2000" dirty="0">
                <a:solidFill>
                  <a:srgbClr val="0033CC"/>
                </a:solidFill>
                <a:latin typeface="Calibri"/>
              </a:rPr>
              <a:t>Carol Chen</a:t>
            </a:r>
          </a:p>
          <a:p>
            <a:pPr defTabSz="457200">
              <a:lnSpc>
                <a:spcPts val="2000"/>
              </a:lnSpc>
            </a:pPr>
            <a:r>
              <a:rPr lang="en-AU" sz="2000" dirty="0">
                <a:solidFill>
                  <a:srgbClr val="6C008D">
                    <a:lumMod val="50000"/>
                  </a:srgbClr>
                </a:solidFill>
                <a:latin typeface="Calibri"/>
              </a:rPr>
              <a:t>Dave Dole</a:t>
            </a:r>
          </a:p>
        </p:txBody>
      </p:sp>
      <p:sp>
        <p:nvSpPr>
          <p:cNvPr id="4" name="TextBox 3"/>
          <p:cNvSpPr txBox="1"/>
          <p:nvPr/>
        </p:nvSpPr>
        <p:spPr>
          <a:xfrm>
            <a:off x="6199188" y="1503363"/>
            <a:ext cx="3992563" cy="1121846"/>
          </a:xfrm>
          <a:prstGeom prst="rect">
            <a:avLst/>
          </a:prstGeom>
          <a:noFill/>
          <a:ln>
            <a:solidFill>
              <a:srgbClr val="0033CC"/>
            </a:solidFill>
          </a:ln>
        </p:spPr>
        <p:txBody>
          <a:bodyPr wrap="square" rtlCol="0">
            <a:spAutoFit/>
          </a:bodyPr>
          <a:lstStyle/>
          <a:p>
            <a:pPr defTabSz="457200">
              <a:lnSpc>
                <a:spcPts val="2000"/>
              </a:lnSpc>
            </a:pPr>
            <a:r>
              <a:rPr lang="en-AU" sz="2000" dirty="0">
                <a:solidFill>
                  <a:srgbClr val="6C008D">
                    <a:lumMod val="50000"/>
                  </a:srgbClr>
                </a:solidFill>
                <a:latin typeface="Calibri"/>
              </a:rPr>
              <a:t>SELECT name FROM TUTOR;</a:t>
            </a:r>
            <a:br>
              <a:rPr lang="en-AU" sz="2000" dirty="0">
                <a:solidFill>
                  <a:srgbClr val="D1161E"/>
                </a:solidFill>
                <a:latin typeface="Calibri"/>
              </a:rPr>
            </a:br>
            <a:r>
              <a:rPr lang="en-AU" sz="2000" dirty="0">
                <a:solidFill>
                  <a:srgbClr val="0033CC"/>
                </a:solidFill>
                <a:latin typeface="Calibri"/>
              </a:rPr>
              <a:t>Carol Chen</a:t>
            </a:r>
            <a:r>
              <a:rPr lang="en-AU" sz="2000" dirty="0">
                <a:solidFill>
                  <a:srgbClr val="D1161E"/>
                </a:solidFill>
                <a:latin typeface="Calibri"/>
              </a:rPr>
              <a:t> </a:t>
            </a:r>
          </a:p>
          <a:p>
            <a:pPr defTabSz="457200">
              <a:lnSpc>
                <a:spcPts val="2000"/>
              </a:lnSpc>
            </a:pPr>
            <a:r>
              <a:rPr lang="en-AU" sz="2000" dirty="0">
                <a:solidFill>
                  <a:srgbClr val="6C008D">
                    <a:lumMod val="50000"/>
                  </a:srgbClr>
                </a:solidFill>
                <a:latin typeface="Calibri"/>
              </a:rPr>
              <a:t>Ed Ellis </a:t>
            </a:r>
          </a:p>
          <a:p>
            <a:pPr defTabSz="457200">
              <a:lnSpc>
                <a:spcPts val="2000"/>
              </a:lnSpc>
            </a:pPr>
            <a:r>
              <a:rPr lang="en-AU" sz="2000" dirty="0">
                <a:solidFill>
                  <a:srgbClr val="6C008D">
                    <a:lumMod val="50000"/>
                  </a:srgbClr>
                </a:solidFill>
                <a:latin typeface="Calibri"/>
              </a:rPr>
              <a:t>Fred Foley</a:t>
            </a:r>
          </a:p>
        </p:txBody>
      </p:sp>
      <p:sp>
        <p:nvSpPr>
          <p:cNvPr id="13" name="Rectangle 3"/>
          <p:cNvSpPr txBox="1">
            <a:spLocks noChangeArrowheads="1"/>
          </p:cNvSpPr>
          <p:nvPr/>
        </p:nvSpPr>
        <p:spPr bwMode="auto">
          <a:xfrm>
            <a:off x="1876427" y="781051"/>
            <a:ext cx="8012112" cy="828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3525" indent="-263525" algn="l" rtl="0" eaLnBrk="0" fontAlgn="base" hangingPunct="0">
              <a:spcBef>
                <a:spcPct val="0"/>
              </a:spcBef>
              <a:spcAft>
                <a:spcPct val="0"/>
              </a:spcAft>
              <a:buClr>
                <a:schemeClr val="tx1"/>
              </a:buClr>
              <a:buSzPct val="75000"/>
              <a:buFont typeface="Wingdings" pitchFamily="2" charset="2"/>
              <a:buChar char="l"/>
              <a:defRPr sz="2400">
                <a:solidFill>
                  <a:schemeClr val="tx1"/>
                </a:solidFill>
                <a:latin typeface="+mn-lt"/>
                <a:ea typeface="+mn-ea"/>
                <a:cs typeface="+mn-cs"/>
              </a:defRPr>
            </a:lvl1pPr>
            <a:lvl2pPr marL="720725" indent="-244475" algn="l" rtl="0" eaLnBrk="0" fontAlgn="base" hangingPunct="0">
              <a:spcBef>
                <a:spcPct val="0"/>
              </a:spcBef>
              <a:spcAft>
                <a:spcPct val="0"/>
              </a:spcAft>
              <a:buClr>
                <a:schemeClr val="tx1"/>
              </a:buClr>
              <a:buSzPct val="70000"/>
              <a:buFont typeface="Wingdings" pitchFamily="2" charset="2"/>
              <a:buChar char="¤"/>
              <a:defRPr sz="2400">
                <a:solidFill>
                  <a:schemeClr val="tx1"/>
                </a:solidFill>
                <a:latin typeface="+mn-lt"/>
              </a:defRPr>
            </a:lvl2pPr>
            <a:lvl3pPr marL="1276350" indent="-228600" algn="l" rtl="0" eaLnBrk="0" fontAlgn="base" hangingPunct="0">
              <a:spcBef>
                <a:spcPct val="0"/>
              </a:spcBef>
              <a:spcAft>
                <a:spcPct val="0"/>
              </a:spcAft>
              <a:buClr>
                <a:schemeClr val="tx1"/>
              </a:buClr>
              <a:buSzPct val="60000"/>
              <a:buFont typeface="Wingdings" pitchFamily="2" charset="2"/>
              <a:buChar char="¥"/>
              <a:defRPr sz="2400">
                <a:solidFill>
                  <a:schemeClr val="tx1"/>
                </a:solidFill>
                <a:latin typeface="+mn-lt"/>
              </a:defRPr>
            </a:lvl3pPr>
            <a:lvl4pPr marL="1695450" indent="-228600" algn="l" rtl="0" eaLnBrk="0" fontAlgn="base" hangingPunct="0">
              <a:spcBef>
                <a:spcPct val="0"/>
              </a:spcBef>
              <a:spcAft>
                <a:spcPct val="0"/>
              </a:spcAft>
              <a:buClr>
                <a:schemeClr val="tx1"/>
              </a:buClr>
              <a:buSzPct val="50000"/>
              <a:buFont typeface="Wingdings" pitchFamily="2" charset="2"/>
              <a:buChar char="¡"/>
              <a:defRPr sz="2400">
                <a:solidFill>
                  <a:schemeClr val="tx1"/>
                </a:solidFill>
                <a:latin typeface="+mn-lt"/>
              </a:defRPr>
            </a:lvl4pPr>
            <a:lvl5pPr marL="2114550" indent="-228600" algn="l" rtl="0" eaLnBrk="0" fontAlgn="base" hangingPunct="0">
              <a:spcBef>
                <a:spcPct val="0"/>
              </a:spcBef>
              <a:spcAft>
                <a:spcPct val="0"/>
              </a:spcAft>
              <a:buClr>
                <a:schemeClr val="tx1"/>
              </a:buClr>
              <a:buSzPct val="60000"/>
              <a:buFont typeface="Wingdings" pitchFamily="2" charset="2"/>
              <a:buChar char=""/>
              <a:defRPr sz="2400">
                <a:solidFill>
                  <a:schemeClr val="tx1"/>
                </a:solidFill>
                <a:latin typeface="+mn-lt"/>
              </a:defRPr>
            </a:lvl5pPr>
            <a:lvl6pPr marL="2571750" indent="-228600" algn="l" rtl="0" eaLnBrk="0" fontAlgn="base" hangingPunct="0">
              <a:spcBef>
                <a:spcPct val="0"/>
              </a:spcBef>
              <a:spcAft>
                <a:spcPct val="0"/>
              </a:spcAft>
              <a:buClr>
                <a:schemeClr val="tx1"/>
              </a:buClr>
              <a:buSzPct val="60000"/>
              <a:buFont typeface="Wingdings" pitchFamily="2" charset="2"/>
              <a:buChar char=""/>
              <a:defRPr sz="2400">
                <a:solidFill>
                  <a:schemeClr val="tx1"/>
                </a:solidFill>
                <a:latin typeface="+mn-lt"/>
              </a:defRPr>
            </a:lvl6pPr>
            <a:lvl7pPr marL="3028950" indent="-228600" algn="l" rtl="0" eaLnBrk="0" fontAlgn="base" hangingPunct="0">
              <a:spcBef>
                <a:spcPct val="0"/>
              </a:spcBef>
              <a:spcAft>
                <a:spcPct val="0"/>
              </a:spcAft>
              <a:buClr>
                <a:schemeClr val="tx1"/>
              </a:buClr>
              <a:buSzPct val="60000"/>
              <a:buFont typeface="Wingdings" pitchFamily="2" charset="2"/>
              <a:buChar char=""/>
              <a:defRPr sz="2400">
                <a:solidFill>
                  <a:schemeClr val="tx1"/>
                </a:solidFill>
                <a:latin typeface="+mn-lt"/>
              </a:defRPr>
            </a:lvl7pPr>
            <a:lvl8pPr marL="3486150" indent="-228600" algn="l" rtl="0" eaLnBrk="0" fontAlgn="base" hangingPunct="0">
              <a:spcBef>
                <a:spcPct val="0"/>
              </a:spcBef>
              <a:spcAft>
                <a:spcPct val="0"/>
              </a:spcAft>
              <a:buClr>
                <a:schemeClr val="tx1"/>
              </a:buClr>
              <a:buSzPct val="60000"/>
              <a:buFont typeface="Wingdings" pitchFamily="2" charset="2"/>
              <a:buChar char=""/>
              <a:defRPr sz="2400">
                <a:solidFill>
                  <a:schemeClr val="tx1"/>
                </a:solidFill>
                <a:latin typeface="+mn-lt"/>
              </a:defRPr>
            </a:lvl8pPr>
            <a:lvl9pPr marL="3943350" indent="-228600" algn="l" rtl="0" eaLnBrk="0" fontAlgn="base" hangingPunct="0">
              <a:spcBef>
                <a:spcPct val="0"/>
              </a:spcBef>
              <a:spcAft>
                <a:spcPct val="0"/>
              </a:spcAft>
              <a:buClr>
                <a:schemeClr val="tx1"/>
              </a:buClr>
              <a:buSzPct val="60000"/>
              <a:buFont typeface="Wingdings" pitchFamily="2" charset="2"/>
              <a:buChar char=""/>
              <a:defRPr sz="2400">
                <a:solidFill>
                  <a:schemeClr val="tx1"/>
                </a:solidFill>
                <a:latin typeface="+mn-lt"/>
              </a:defRPr>
            </a:lvl9pPr>
          </a:lstStyle>
          <a:p>
            <a:pPr marL="0" indent="0" defTabSz="457200" eaLnBrk="1" hangingPunct="1">
              <a:buClr>
                <a:srgbClr val="D1161E"/>
              </a:buClr>
              <a:buNone/>
            </a:pPr>
            <a:r>
              <a:rPr lang="en-AU" sz="2200" dirty="0">
                <a:solidFill>
                  <a:srgbClr val="000000"/>
                </a:solidFill>
                <a:latin typeface="Calibri"/>
              </a:rPr>
              <a:t>An organisation has details about Students and Tutors</a:t>
            </a:r>
          </a:p>
          <a:p>
            <a:pPr lvl="1" defTabSz="457200" eaLnBrk="1" hangingPunct="1">
              <a:buClrTx/>
              <a:buSzPct val="100000"/>
              <a:buFont typeface="Arial" panose="020B0604020202020204" pitchFamily="34" charset="0"/>
              <a:buChar char="•"/>
            </a:pPr>
            <a:r>
              <a:rPr lang="en-AU" sz="2200" dirty="0">
                <a:solidFill>
                  <a:srgbClr val="000000"/>
                </a:solidFill>
                <a:latin typeface="Calibri"/>
              </a:rPr>
              <a:t>Some people are in both tables</a:t>
            </a:r>
          </a:p>
          <a:p>
            <a:pPr marL="357188" indent="-357188" defTabSz="457200">
              <a:lnSpc>
                <a:spcPts val="2000"/>
              </a:lnSpc>
              <a:buClr>
                <a:srgbClr val="D1161E"/>
              </a:buClr>
            </a:pPr>
            <a:endParaRPr lang="en-AU" dirty="0">
              <a:solidFill>
                <a:srgbClr val="000000"/>
              </a:solidFill>
              <a:latin typeface="Calibri"/>
            </a:endParaRPr>
          </a:p>
          <a:p>
            <a:pPr marL="822325" lvl="1" indent="-285750" defTabSz="457200">
              <a:buClr>
                <a:srgbClr val="D1161E"/>
              </a:buClr>
              <a:buNone/>
            </a:pPr>
            <a:endParaRPr lang="en-AU" dirty="0">
              <a:solidFill>
                <a:srgbClr val="000000"/>
              </a:solidFill>
              <a:latin typeface="Calibri"/>
            </a:endParaRPr>
          </a:p>
          <a:p>
            <a:pPr marL="357188" indent="-357188" defTabSz="457200">
              <a:buClr>
                <a:srgbClr val="D1161E"/>
              </a:buClr>
              <a:buNone/>
            </a:pPr>
            <a:endParaRPr lang="en-AU" dirty="0">
              <a:solidFill>
                <a:srgbClr val="000000"/>
              </a:solidFill>
              <a:latin typeface="Calibri"/>
            </a:endParaRPr>
          </a:p>
        </p:txBody>
      </p:sp>
      <p:cxnSp>
        <p:nvCxnSpPr>
          <p:cNvPr id="5" name="Straight Arrow Connector 4"/>
          <p:cNvCxnSpPr/>
          <p:nvPr/>
        </p:nvCxnSpPr>
        <p:spPr>
          <a:xfrm flipH="1" flipV="1">
            <a:off x="7010400" y="5307107"/>
            <a:ext cx="889000" cy="242047"/>
          </a:xfrm>
          <a:prstGeom prst="straightConnector1">
            <a:avLst/>
          </a:prstGeom>
          <a:ln w="28575">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9209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p:cNvSpPr>
            <a:spLocks noGrp="1" noChangeArrowheads="1"/>
          </p:cNvSpPr>
          <p:nvPr>
            <p:ph type="title"/>
          </p:nvPr>
        </p:nvSpPr>
        <p:spPr/>
        <p:txBody>
          <a:bodyPr/>
          <a:lstStyle/>
          <a:p>
            <a:r>
              <a:rPr lang="en-AU"/>
              <a:t>SQL: Union ALL</a:t>
            </a:r>
          </a:p>
        </p:txBody>
      </p:sp>
      <p:sp>
        <p:nvSpPr>
          <p:cNvPr id="48131" name="Rectangle 2"/>
          <p:cNvSpPr>
            <a:spLocks noChangeArrowheads="1"/>
          </p:cNvSpPr>
          <p:nvPr/>
        </p:nvSpPr>
        <p:spPr bwMode="auto">
          <a:xfrm>
            <a:off x="1524000" y="5981700"/>
            <a:ext cx="1733550" cy="876300"/>
          </a:xfrm>
          <a:prstGeom prst="rect">
            <a:avLst/>
          </a:prstGeom>
          <a:solidFill>
            <a:schemeClr val="bg1"/>
          </a:solidFill>
          <a:ln>
            <a:noFill/>
          </a:ln>
          <a:effectLst/>
          <a:extLst>
            <a:ext uri="{91240B29-F687-4F45-9708-019B960494DF}">
              <a14:hiddenLine xmlns:a14="http://schemas.microsoft.com/office/drawing/2010/main" w="9525" algn="ctr">
                <a:solidFill>
                  <a:schemeClr val="accent2"/>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defTabSz="457200"/>
            <a:endParaRPr lang="en-US">
              <a:solidFill>
                <a:srgbClr val="D1161E"/>
              </a:solidFill>
              <a:latin typeface="Calibri"/>
            </a:endParaRPr>
          </a:p>
        </p:txBody>
      </p:sp>
      <p:sp>
        <p:nvSpPr>
          <p:cNvPr id="48135" name="Text Box 6"/>
          <p:cNvSpPr txBox="1">
            <a:spLocks noChangeArrowheads="1"/>
          </p:cNvSpPr>
          <p:nvPr/>
        </p:nvSpPr>
        <p:spPr bwMode="auto">
          <a:xfrm>
            <a:off x="1811337" y="702062"/>
            <a:ext cx="876701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marL="0" indent="0" defTabSz="457200" eaLnBrk="1" hangingPunct="1"/>
            <a:r>
              <a:rPr lang="en-AU" b="0" i="0" dirty="0">
                <a:solidFill>
                  <a:srgbClr val="000000"/>
                </a:solidFill>
              </a:rPr>
              <a:t>A </a:t>
            </a:r>
            <a:r>
              <a:rPr lang="en-AU" i="0" dirty="0">
                <a:solidFill>
                  <a:srgbClr val="000000"/>
                </a:solidFill>
              </a:rPr>
              <a:t>Union ALL </a:t>
            </a:r>
            <a:r>
              <a:rPr lang="en-AU" b="0" i="0" dirty="0">
                <a:solidFill>
                  <a:srgbClr val="000000"/>
                </a:solidFill>
              </a:rPr>
              <a:t>operator</a:t>
            </a:r>
            <a:r>
              <a:rPr lang="en-AU" i="0" dirty="0">
                <a:solidFill>
                  <a:srgbClr val="000000"/>
                </a:solidFill>
              </a:rPr>
              <a:t> </a:t>
            </a:r>
            <a:r>
              <a:rPr lang="en-AU" b="0" i="0" dirty="0">
                <a:solidFill>
                  <a:srgbClr val="000000"/>
                </a:solidFill>
              </a:rPr>
              <a:t>causes </a:t>
            </a:r>
            <a:r>
              <a:rPr lang="en-AU" i="0" dirty="0">
                <a:solidFill>
                  <a:srgbClr val="000000"/>
                </a:solidFill>
              </a:rPr>
              <a:t>ALL</a:t>
            </a:r>
            <a:r>
              <a:rPr lang="en-AU" b="0" i="0" dirty="0">
                <a:solidFill>
                  <a:srgbClr val="000000"/>
                </a:solidFill>
              </a:rPr>
              <a:t> rows to be added. Duplicates may occur.</a:t>
            </a:r>
          </a:p>
          <a:p>
            <a:pPr marL="0" indent="0" defTabSz="457200" eaLnBrk="1" hangingPunct="1"/>
            <a:endParaRPr lang="en-AU" sz="2000" b="0" i="0" dirty="0">
              <a:solidFill>
                <a:srgbClr val="000000"/>
              </a:solidFill>
            </a:endParaRPr>
          </a:p>
        </p:txBody>
      </p:sp>
      <p:sp>
        <p:nvSpPr>
          <p:cNvPr id="48139" name="Oval 10"/>
          <p:cNvSpPr>
            <a:spLocks noChangeArrowheads="1"/>
          </p:cNvSpPr>
          <p:nvPr/>
        </p:nvSpPr>
        <p:spPr bwMode="auto">
          <a:xfrm>
            <a:off x="7478714" y="3921126"/>
            <a:ext cx="1862137" cy="944563"/>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a:solidFill>
                  <a:srgbClr val="D1161E"/>
                </a:solidFill>
                <a:latin typeface="Lucida Console" pitchFamily="49" charset="0"/>
              </a:rPr>
              <a:t>STUDENT</a:t>
            </a:r>
            <a:endParaRPr lang="en-US">
              <a:solidFill>
                <a:srgbClr val="D1161E"/>
              </a:solidFill>
              <a:latin typeface="Lucida Console" pitchFamily="49" charset="0"/>
            </a:endParaRPr>
          </a:p>
        </p:txBody>
      </p:sp>
      <p:sp>
        <p:nvSpPr>
          <p:cNvPr id="48140" name="Oval 11"/>
          <p:cNvSpPr>
            <a:spLocks noChangeArrowheads="1"/>
          </p:cNvSpPr>
          <p:nvPr/>
        </p:nvSpPr>
        <p:spPr bwMode="auto">
          <a:xfrm>
            <a:off x="7950201" y="5030788"/>
            <a:ext cx="1414463" cy="944562"/>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a:solidFill>
                  <a:srgbClr val="D1161E"/>
                </a:solidFill>
                <a:latin typeface="Lucida Console" pitchFamily="49" charset="0"/>
              </a:rPr>
              <a:t>TUTOR</a:t>
            </a:r>
            <a:endParaRPr lang="en-US">
              <a:solidFill>
                <a:srgbClr val="D1161E"/>
              </a:solidFill>
              <a:latin typeface="Lucida Console" pitchFamily="49" charset="0"/>
            </a:endParaRPr>
          </a:p>
        </p:txBody>
      </p:sp>
      <p:sp>
        <p:nvSpPr>
          <p:cNvPr id="13" name="TextBox 12"/>
          <p:cNvSpPr txBox="1"/>
          <p:nvPr/>
        </p:nvSpPr>
        <p:spPr>
          <a:xfrm>
            <a:off x="1876425" y="1460942"/>
            <a:ext cx="3886200" cy="1631216"/>
          </a:xfrm>
          <a:prstGeom prst="rect">
            <a:avLst/>
          </a:prstGeom>
          <a:noFill/>
          <a:ln>
            <a:solidFill>
              <a:srgbClr val="0033CC"/>
            </a:solidFill>
          </a:ln>
        </p:spPr>
        <p:txBody>
          <a:bodyPr wrap="square" rtlCol="0">
            <a:spAutoFit/>
          </a:bodyPr>
          <a:lstStyle/>
          <a:p>
            <a:pPr defTabSz="457200"/>
            <a:r>
              <a:rPr lang="en-AU" sz="2000" dirty="0">
                <a:solidFill>
                  <a:srgbClr val="6C008D">
                    <a:lumMod val="50000"/>
                  </a:srgbClr>
                </a:solidFill>
                <a:latin typeface="Calibri"/>
              </a:rPr>
              <a:t>SELECT name FROM STUDENT;</a:t>
            </a:r>
            <a:br>
              <a:rPr lang="en-AU" sz="2000" dirty="0">
                <a:solidFill>
                  <a:srgbClr val="6C008D">
                    <a:lumMod val="50000"/>
                  </a:srgbClr>
                </a:solidFill>
                <a:latin typeface="Calibri"/>
              </a:rPr>
            </a:br>
            <a:r>
              <a:rPr lang="en-AU" sz="2000" dirty="0">
                <a:solidFill>
                  <a:srgbClr val="6C008D">
                    <a:lumMod val="50000"/>
                  </a:srgbClr>
                </a:solidFill>
                <a:latin typeface="Calibri"/>
              </a:rPr>
              <a:t>Amanda Allen </a:t>
            </a:r>
          </a:p>
          <a:p>
            <a:pPr defTabSz="457200"/>
            <a:r>
              <a:rPr lang="en-AU" sz="2000" dirty="0">
                <a:solidFill>
                  <a:srgbClr val="6C008D">
                    <a:lumMod val="50000"/>
                  </a:srgbClr>
                </a:solidFill>
                <a:latin typeface="Calibri"/>
              </a:rPr>
              <a:t>Bob Black </a:t>
            </a:r>
          </a:p>
          <a:p>
            <a:pPr defTabSz="457200"/>
            <a:r>
              <a:rPr lang="en-AU" sz="2000" dirty="0">
                <a:solidFill>
                  <a:srgbClr val="0033CC"/>
                </a:solidFill>
                <a:latin typeface="Calibri"/>
              </a:rPr>
              <a:t>Carol Chen</a:t>
            </a:r>
          </a:p>
          <a:p>
            <a:pPr defTabSz="457200"/>
            <a:r>
              <a:rPr lang="en-AU" sz="2000" dirty="0">
                <a:solidFill>
                  <a:srgbClr val="6C008D">
                    <a:lumMod val="50000"/>
                  </a:srgbClr>
                </a:solidFill>
                <a:latin typeface="Calibri"/>
              </a:rPr>
              <a:t>Dave Dole</a:t>
            </a:r>
          </a:p>
        </p:txBody>
      </p:sp>
      <p:sp>
        <p:nvSpPr>
          <p:cNvPr id="14" name="TextBox 13"/>
          <p:cNvSpPr txBox="1"/>
          <p:nvPr/>
        </p:nvSpPr>
        <p:spPr>
          <a:xfrm>
            <a:off x="6199187" y="1463384"/>
            <a:ext cx="3992563" cy="1323439"/>
          </a:xfrm>
          <a:prstGeom prst="rect">
            <a:avLst/>
          </a:prstGeom>
          <a:noFill/>
          <a:ln>
            <a:solidFill>
              <a:srgbClr val="0033CC"/>
            </a:solidFill>
          </a:ln>
        </p:spPr>
        <p:txBody>
          <a:bodyPr wrap="square" rtlCol="0">
            <a:spAutoFit/>
          </a:bodyPr>
          <a:lstStyle/>
          <a:p>
            <a:pPr defTabSz="457200"/>
            <a:r>
              <a:rPr lang="en-AU" sz="2000" dirty="0">
                <a:solidFill>
                  <a:srgbClr val="6C008D">
                    <a:lumMod val="50000"/>
                  </a:srgbClr>
                </a:solidFill>
                <a:latin typeface="Calibri"/>
              </a:rPr>
              <a:t>SELECT name FROM TUTOR;</a:t>
            </a:r>
            <a:br>
              <a:rPr lang="en-AU" sz="2000" dirty="0">
                <a:solidFill>
                  <a:srgbClr val="D1161E"/>
                </a:solidFill>
                <a:latin typeface="Calibri"/>
              </a:rPr>
            </a:br>
            <a:r>
              <a:rPr lang="en-AU" sz="2000" dirty="0">
                <a:solidFill>
                  <a:srgbClr val="0033CC"/>
                </a:solidFill>
                <a:latin typeface="Calibri"/>
              </a:rPr>
              <a:t>Carol Chen</a:t>
            </a:r>
            <a:r>
              <a:rPr lang="en-AU" sz="2000" dirty="0">
                <a:solidFill>
                  <a:srgbClr val="D1161E"/>
                </a:solidFill>
                <a:latin typeface="Calibri"/>
              </a:rPr>
              <a:t> </a:t>
            </a:r>
          </a:p>
          <a:p>
            <a:pPr defTabSz="457200"/>
            <a:r>
              <a:rPr lang="en-AU" sz="2000" dirty="0">
                <a:solidFill>
                  <a:srgbClr val="6C008D">
                    <a:lumMod val="50000"/>
                  </a:srgbClr>
                </a:solidFill>
                <a:latin typeface="Calibri"/>
              </a:rPr>
              <a:t>Ed Ellis </a:t>
            </a:r>
          </a:p>
          <a:p>
            <a:pPr defTabSz="457200"/>
            <a:r>
              <a:rPr lang="en-AU" sz="2000" dirty="0">
                <a:solidFill>
                  <a:srgbClr val="6C008D">
                    <a:lumMod val="50000"/>
                  </a:srgbClr>
                </a:solidFill>
                <a:latin typeface="Calibri"/>
              </a:rPr>
              <a:t>Fred Foley</a:t>
            </a:r>
          </a:p>
        </p:txBody>
      </p:sp>
      <p:sp>
        <p:nvSpPr>
          <p:cNvPr id="15" name="Text Box 7"/>
          <p:cNvSpPr txBox="1">
            <a:spLocks noChangeArrowheads="1"/>
          </p:cNvSpPr>
          <p:nvPr/>
        </p:nvSpPr>
        <p:spPr bwMode="auto">
          <a:xfrm>
            <a:off x="4367214" y="4813301"/>
            <a:ext cx="2395537" cy="1019175"/>
          </a:xfrm>
          <a:prstGeom prst="rect">
            <a:avLst/>
          </a:prstGeom>
          <a:solidFill>
            <a:schemeClr val="bg1"/>
          </a:solidFill>
          <a:ln w="127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algn="ctr" defTabSz="457200" eaLnBrk="1" hangingPunct="1"/>
            <a:r>
              <a:rPr lang="en-AU" sz="2000" i="0" dirty="0">
                <a:solidFill>
                  <a:srgbClr val="0C64A7"/>
                </a:solidFill>
                <a:latin typeface="Arial" charset="0"/>
              </a:rPr>
              <a:t>Names that are in both tables </a:t>
            </a:r>
            <a:r>
              <a:rPr lang="en-AU" sz="2000" i="0" u="sng" dirty="0">
                <a:solidFill>
                  <a:srgbClr val="0C64A7"/>
                </a:solidFill>
                <a:latin typeface="Arial" charset="0"/>
              </a:rPr>
              <a:t>are</a:t>
            </a:r>
            <a:r>
              <a:rPr lang="en-AU" sz="2000" i="0" dirty="0">
                <a:solidFill>
                  <a:srgbClr val="0C64A7"/>
                </a:solidFill>
                <a:latin typeface="Arial" charset="0"/>
              </a:rPr>
              <a:t> duplicated</a:t>
            </a:r>
            <a:endParaRPr lang="en-US" sz="2000" i="0" dirty="0">
              <a:solidFill>
                <a:srgbClr val="0C64A7"/>
              </a:solidFill>
              <a:latin typeface="Arial" charset="0"/>
            </a:endParaRPr>
          </a:p>
        </p:txBody>
      </p:sp>
      <p:sp>
        <p:nvSpPr>
          <p:cNvPr id="16" name="Text Box 6"/>
          <p:cNvSpPr txBox="1">
            <a:spLocks noChangeArrowheads="1"/>
          </p:cNvSpPr>
          <p:nvPr/>
        </p:nvSpPr>
        <p:spPr bwMode="auto">
          <a:xfrm>
            <a:off x="1876426" y="3169465"/>
            <a:ext cx="5143499" cy="3323987"/>
          </a:xfrm>
          <a:prstGeom prst="rect">
            <a:avLst/>
          </a:prstGeom>
          <a:noFill/>
          <a:ln w="9525">
            <a:solidFill>
              <a:srgbClr val="0033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r>
              <a:rPr lang="en-AU" sz="2000" i="0" dirty="0">
                <a:solidFill>
                  <a:srgbClr val="6C008D">
                    <a:lumMod val="50000"/>
                  </a:srgbClr>
                </a:solidFill>
              </a:rPr>
              <a:t>SELECT name FROM STUDENT</a:t>
            </a:r>
          </a:p>
          <a:p>
            <a:pPr defTabSz="457200" eaLnBrk="1" hangingPunct="1"/>
            <a:r>
              <a:rPr lang="en-AU" sz="2000" i="0" dirty="0">
                <a:solidFill>
                  <a:srgbClr val="0000FF"/>
                </a:solidFill>
              </a:rPr>
              <a:t>UNION ALL</a:t>
            </a:r>
          </a:p>
          <a:p>
            <a:pPr defTabSz="457200" eaLnBrk="1" hangingPunct="1"/>
            <a:r>
              <a:rPr lang="en-AU" sz="2000" i="0" dirty="0">
                <a:solidFill>
                  <a:srgbClr val="6C008D">
                    <a:lumMod val="50000"/>
                  </a:srgbClr>
                </a:solidFill>
              </a:rPr>
              <a:t>SELECT name FROM TUTOR;</a:t>
            </a:r>
          </a:p>
          <a:p>
            <a:pPr defTabSz="457200" eaLnBrk="1" hangingPunct="1"/>
            <a:endParaRPr lang="en-AU" sz="1000" i="0" dirty="0">
              <a:solidFill>
                <a:srgbClr val="6C008D">
                  <a:lumMod val="50000"/>
                </a:srgbClr>
              </a:solidFill>
            </a:endParaRPr>
          </a:p>
          <a:p>
            <a:pPr defTabSz="457200" eaLnBrk="1" hangingPunct="1"/>
            <a:r>
              <a:rPr lang="en-AU" sz="2000" i="0" dirty="0">
                <a:solidFill>
                  <a:srgbClr val="6C008D">
                    <a:lumMod val="50000"/>
                  </a:srgbClr>
                </a:solidFill>
              </a:rPr>
              <a:t>Amanda Allen </a:t>
            </a:r>
          </a:p>
          <a:p>
            <a:pPr defTabSz="457200" eaLnBrk="1" hangingPunct="1"/>
            <a:r>
              <a:rPr lang="en-AU" sz="2000" i="0" dirty="0">
                <a:solidFill>
                  <a:srgbClr val="6C008D">
                    <a:lumMod val="50000"/>
                  </a:srgbClr>
                </a:solidFill>
              </a:rPr>
              <a:t>Bob Black</a:t>
            </a:r>
          </a:p>
          <a:p>
            <a:pPr defTabSz="457200" eaLnBrk="1" hangingPunct="1"/>
            <a:r>
              <a:rPr lang="en-AU" sz="2000" i="0" dirty="0">
                <a:solidFill>
                  <a:srgbClr val="FF0000"/>
                </a:solidFill>
              </a:rPr>
              <a:t>Carol Chen</a:t>
            </a:r>
          </a:p>
          <a:p>
            <a:pPr defTabSz="457200" eaLnBrk="1" hangingPunct="1"/>
            <a:r>
              <a:rPr lang="en-AU" sz="2000" i="0" dirty="0">
                <a:solidFill>
                  <a:srgbClr val="FF0000"/>
                </a:solidFill>
              </a:rPr>
              <a:t>Carol Chen</a:t>
            </a:r>
          </a:p>
          <a:p>
            <a:pPr defTabSz="457200" eaLnBrk="1" hangingPunct="1"/>
            <a:r>
              <a:rPr lang="en-AU" sz="2000" i="0" dirty="0">
                <a:solidFill>
                  <a:srgbClr val="6C008D">
                    <a:lumMod val="50000"/>
                  </a:srgbClr>
                </a:solidFill>
              </a:rPr>
              <a:t>Dave Dole</a:t>
            </a:r>
          </a:p>
          <a:p>
            <a:pPr defTabSz="457200" eaLnBrk="1" hangingPunct="1"/>
            <a:r>
              <a:rPr lang="en-AU" sz="2000" i="0" dirty="0">
                <a:solidFill>
                  <a:srgbClr val="6C008D">
                    <a:lumMod val="50000"/>
                  </a:srgbClr>
                </a:solidFill>
              </a:rPr>
              <a:t>Ed Ellis </a:t>
            </a:r>
          </a:p>
          <a:p>
            <a:pPr defTabSz="457200" eaLnBrk="1" hangingPunct="1"/>
            <a:r>
              <a:rPr lang="en-AU" sz="2000" i="0" dirty="0">
                <a:solidFill>
                  <a:srgbClr val="6C008D">
                    <a:lumMod val="50000"/>
                  </a:srgbClr>
                </a:solidFill>
              </a:rPr>
              <a:t>Fred Foley</a:t>
            </a:r>
          </a:p>
        </p:txBody>
      </p:sp>
      <p:cxnSp>
        <p:nvCxnSpPr>
          <p:cNvPr id="11" name="Straight Arrow Connector 10"/>
          <p:cNvCxnSpPr/>
          <p:nvPr/>
        </p:nvCxnSpPr>
        <p:spPr>
          <a:xfrm flipH="1" flipV="1">
            <a:off x="6596062" y="4527177"/>
            <a:ext cx="889000" cy="242047"/>
          </a:xfrm>
          <a:prstGeom prst="straightConnector1">
            <a:avLst/>
          </a:prstGeom>
          <a:ln w="28575">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8220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en-AU" dirty="0"/>
              <a:t>SQL: Unions: Column types must match</a:t>
            </a:r>
          </a:p>
        </p:txBody>
      </p:sp>
      <p:sp>
        <p:nvSpPr>
          <p:cNvPr id="49156" name="Text Box 3"/>
          <p:cNvSpPr txBox="1">
            <a:spLocks noChangeArrowheads="1"/>
          </p:cNvSpPr>
          <p:nvPr/>
        </p:nvSpPr>
        <p:spPr bwMode="auto">
          <a:xfrm>
            <a:off x="2211389" y="820738"/>
            <a:ext cx="8264525" cy="5115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i="1">
                <a:solidFill>
                  <a:schemeClr val="tx1"/>
                </a:solidFill>
                <a:latin typeface="Arial Narrow" pitchFamily="34" charset="0"/>
              </a:defRPr>
            </a:lvl1pPr>
            <a:lvl2pPr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lnSpc>
                <a:spcPct val="120000"/>
              </a:lnSpc>
            </a:pPr>
            <a:r>
              <a:rPr lang="en-AU" b="0" i="0" dirty="0">
                <a:solidFill>
                  <a:srgbClr val="000000"/>
                </a:solidFill>
              </a:rPr>
              <a:t> The </a:t>
            </a:r>
            <a:r>
              <a:rPr lang="en-AU" i="0" dirty="0">
                <a:solidFill>
                  <a:srgbClr val="000000"/>
                </a:solidFill>
              </a:rPr>
              <a:t>data types</a:t>
            </a:r>
            <a:r>
              <a:rPr lang="en-AU" b="0" i="0" dirty="0">
                <a:solidFill>
                  <a:srgbClr val="000000"/>
                </a:solidFill>
              </a:rPr>
              <a:t> of columns from both select statements </a:t>
            </a:r>
            <a:br>
              <a:rPr lang="en-AU" b="0" i="0" dirty="0">
                <a:solidFill>
                  <a:srgbClr val="000000"/>
                </a:solidFill>
              </a:rPr>
            </a:br>
            <a:r>
              <a:rPr lang="en-AU" b="0" i="0" dirty="0">
                <a:solidFill>
                  <a:srgbClr val="000000"/>
                </a:solidFill>
              </a:rPr>
              <a:t>      in the Union must match</a:t>
            </a:r>
          </a:p>
          <a:p>
            <a:pPr marL="800100" lvl="1" indent="-342900" defTabSz="457200" eaLnBrk="1" hangingPunct="1">
              <a:lnSpc>
                <a:spcPct val="120000"/>
              </a:lnSpc>
              <a:buFont typeface="Arial" pitchFamily="34" charset="0"/>
              <a:buChar char="•"/>
            </a:pPr>
            <a:r>
              <a:rPr lang="en-AU" b="0" i="0" dirty="0">
                <a:solidFill>
                  <a:srgbClr val="000000"/>
                </a:solidFill>
              </a:rPr>
              <a:t> </a:t>
            </a:r>
            <a:r>
              <a:rPr lang="en-AU" i="0" dirty="0">
                <a:solidFill>
                  <a:srgbClr val="000000"/>
                </a:solidFill>
              </a:rPr>
              <a:t>Length</a:t>
            </a:r>
            <a:r>
              <a:rPr lang="en-AU" b="0" i="0" dirty="0">
                <a:solidFill>
                  <a:srgbClr val="000000"/>
                </a:solidFill>
              </a:rPr>
              <a:t> may vary</a:t>
            </a:r>
          </a:p>
          <a:p>
            <a:pPr marL="800100" lvl="1" indent="-342900" defTabSz="457200" eaLnBrk="1" hangingPunct="1">
              <a:lnSpc>
                <a:spcPct val="120000"/>
              </a:lnSpc>
              <a:buFont typeface="Arial" pitchFamily="34" charset="0"/>
              <a:buChar char="•"/>
            </a:pPr>
            <a:r>
              <a:rPr lang="en-AU" b="0" i="0" dirty="0">
                <a:solidFill>
                  <a:srgbClr val="000000"/>
                </a:solidFill>
              </a:rPr>
              <a:t> </a:t>
            </a:r>
            <a:r>
              <a:rPr lang="en-AU" i="0" dirty="0">
                <a:solidFill>
                  <a:srgbClr val="000000"/>
                </a:solidFill>
              </a:rPr>
              <a:t>Precision</a:t>
            </a:r>
            <a:r>
              <a:rPr lang="en-AU" b="0" i="0" dirty="0">
                <a:solidFill>
                  <a:srgbClr val="000000"/>
                </a:solidFill>
              </a:rPr>
              <a:t> may vary</a:t>
            </a:r>
          </a:p>
          <a:p>
            <a:pPr marL="800100" lvl="1" indent="-342900" defTabSz="457200" eaLnBrk="1" hangingPunct="1">
              <a:lnSpc>
                <a:spcPct val="120000"/>
              </a:lnSpc>
              <a:buFont typeface="Arial" pitchFamily="34" charset="0"/>
              <a:buChar char="•"/>
            </a:pPr>
            <a:r>
              <a:rPr lang="en-AU" b="0" i="0" dirty="0">
                <a:solidFill>
                  <a:srgbClr val="000000"/>
                </a:solidFill>
              </a:rPr>
              <a:t> </a:t>
            </a:r>
            <a:r>
              <a:rPr lang="en-AU" i="0" dirty="0">
                <a:solidFill>
                  <a:srgbClr val="000000"/>
                </a:solidFill>
              </a:rPr>
              <a:t>Char</a:t>
            </a:r>
            <a:r>
              <a:rPr lang="en-AU" b="0" i="0" dirty="0">
                <a:solidFill>
                  <a:srgbClr val="000000"/>
                </a:solidFill>
              </a:rPr>
              <a:t> and </a:t>
            </a:r>
            <a:r>
              <a:rPr lang="en-AU" i="0" dirty="0" err="1">
                <a:solidFill>
                  <a:srgbClr val="000000"/>
                </a:solidFill>
              </a:rPr>
              <a:t>Varchar</a:t>
            </a:r>
            <a:r>
              <a:rPr lang="en-AU" b="0" i="0" dirty="0">
                <a:solidFill>
                  <a:srgbClr val="000000"/>
                </a:solidFill>
              </a:rPr>
              <a:t> may be mixed</a:t>
            </a:r>
          </a:p>
          <a:p>
            <a:pPr marL="800100" lvl="1" indent="-342900" defTabSz="457200" eaLnBrk="1" hangingPunct="1">
              <a:lnSpc>
                <a:spcPct val="120000"/>
              </a:lnSpc>
              <a:buFont typeface="Arial" pitchFamily="34" charset="0"/>
              <a:buChar char="•"/>
            </a:pPr>
            <a:r>
              <a:rPr lang="en-AU" b="0" i="0" dirty="0">
                <a:solidFill>
                  <a:srgbClr val="000000"/>
                </a:solidFill>
              </a:rPr>
              <a:t> Queries may require use of a </a:t>
            </a:r>
            <a:r>
              <a:rPr lang="en-AU" i="0" dirty="0">
                <a:solidFill>
                  <a:srgbClr val="000000"/>
                </a:solidFill>
              </a:rPr>
              <a:t>conversion function</a:t>
            </a:r>
            <a:r>
              <a:rPr lang="en-AU" b="0" i="0" dirty="0">
                <a:solidFill>
                  <a:srgbClr val="000000"/>
                </a:solidFill>
              </a:rPr>
              <a:t> such as </a:t>
            </a:r>
            <a:br>
              <a:rPr lang="en-AU" b="0" i="0" dirty="0">
                <a:solidFill>
                  <a:srgbClr val="000000"/>
                </a:solidFill>
              </a:rPr>
            </a:br>
            <a:r>
              <a:rPr lang="en-AU" b="0" i="0" dirty="0">
                <a:solidFill>
                  <a:srgbClr val="000000"/>
                </a:solidFill>
              </a:rPr>
              <a:t>    </a:t>
            </a:r>
            <a:r>
              <a:rPr lang="en-AU" b="0" i="0" dirty="0" err="1">
                <a:solidFill>
                  <a:srgbClr val="000000"/>
                </a:solidFill>
              </a:rPr>
              <a:t>TO_CHAR</a:t>
            </a:r>
            <a:r>
              <a:rPr lang="en-AU" b="0" i="0" dirty="0">
                <a:solidFill>
                  <a:srgbClr val="000000"/>
                </a:solidFill>
              </a:rPr>
              <a:t>()     or     CAST() or     CONVERT () </a:t>
            </a:r>
            <a:r>
              <a:rPr lang="en-AU" sz="1400" b="0" i="0" dirty="0">
                <a:solidFill>
                  <a:srgbClr val="000000"/>
                </a:solidFill>
              </a:rPr>
              <a:t>– non oracle</a:t>
            </a:r>
          </a:p>
          <a:p>
            <a:pPr lvl="1" defTabSz="457200" eaLnBrk="1" hangingPunct="1">
              <a:lnSpc>
                <a:spcPct val="120000"/>
              </a:lnSpc>
              <a:buFont typeface="Wingdings" pitchFamily="2" charset="2"/>
              <a:buChar char="Ø"/>
            </a:pPr>
            <a:endParaRPr lang="en-AU" sz="1400" b="0" i="0" dirty="0">
              <a:solidFill>
                <a:srgbClr val="D1161E"/>
              </a:solidFill>
            </a:endParaRPr>
          </a:p>
          <a:p>
            <a:pPr lvl="3" defTabSz="457200" eaLnBrk="1" hangingPunct="1">
              <a:lnSpc>
                <a:spcPct val="120000"/>
              </a:lnSpc>
            </a:pPr>
            <a:r>
              <a:rPr lang="en-AU" sz="1800" dirty="0" err="1">
                <a:solidFill>
                  <a:srgbClr val="003300"/>
                </a:solidFill>
              </a:rPr>
              <a:t>TO_NUMBER</a:t>
            </a:r>
            <a:r>
              <a:rPr lang="en-AU" sz="1800" dirty="0">
                <a:solidFill>
                  <a:srgbClr val="003300"/>
                </a:solidFill>
              </a:rPr>
              <a:t>( string1, [ </a:t>
            </a:r>
            <a:r>
              <a:rPr lang="en-AU" sz="1800" dirty="0" err="1">
                <a:solidFill>
                  <a:srgbClr val="003300"/>
                </a:solidFill>
              </a:rPr>
              <a:t>format_mask</a:t>
            </a:r>
            <a:r>
              <a:rPr lang="en-AU" sz="1800" dirty="0">
                <a:solidFill>
                  <a:srgbClr val="003300"/>
                </a:solidFill>
              </a:rPr>
              <a:t> ])</a:t>
            </a:r>
          </a:p>
          <a:p>
            <a:pPr lvl="3" defTabSz="457200" eaLnBrk="1" hangingPunct="1">
              <a:lnSpc>
                <a:spcPct val="120000"/>
              </a:lnSpc>
            </a:pPr>
            <a:r>
              <a:rPr lang="en-AU" sz="1800" dirty="0" err="1">
                <a:solidFill>
                  <a:srgbClr val="003300"/>
                </a:solidFill>
              </a:rPr>
              <a:t>TO_NUMBER</a:t>
            </a:r>
            <a:r>
              <a:rPr lang="en-AU" sz="1800" dirty="0">
                <a:solidFill>
                  <a:srgbClr val="003300"/>
                </a:solidFill>
              </a:rPr>
              <a:t>(amt,'999.99')</a:t>
            </a:r>
          </a:p>
          <a:p>
            <a:pPr lvl="3" defTabSz="457200" eaLnBrk="1" hangingPunct="1">
              <a:lnSpc>
                <a:spcPct val="120000"/>
              </a:lnSpc>
            </a:pPr>
            <a:endParaRPr lang="en-AU" sz="1800" b="0" i="0" dirty="0">
              <a:solidFill>
                <a:srgbClr val="003300"/>
              </a:solidFill>
            </a:endParaRPr>
          </a:p>
          <a:p>
            <a:pPr lvl="3" defTabSz="457200" eaLnBrk="1" hangingPunct="1">
              <a:lnSpc>
                <a:spcPct val="120000"/>
              </a:lnSpc>
            </a:pPr>
            <a:r>
              <a:rPr lang="en-AU" sz="1800" dirty="0" err="1">
                <a:solidFill>
                  <a:srgbClr val="003300"/>
                </a:solidFill>
              </a:rPr>
              <a:t>TO_CHAR</a:t>
            </a:r>
            <a:r>
              <a:rPr lang="en-AU" sz="1800" dirty="0">
                <a:solidFill>
                  <a:srgbClr val="003300"/>
                </a:solidFill>
              </a:rPr>
              <a:t>(</a:t>
            </a:r>
            <a:r>
              <a:rPr lang="en-AU" sz="1800" dirty="0" err="1">
                <a:solidFill>
                  <a:srgbClr val="003300"/>
                </a:solidFill>
              </a:rPr>
              <a:t>num-exp</a:t>
            </a:r>
            <a:r>
              <a:rPr lang="en-AU" sz="1800" dirty="0">
                <a:solidFill>
                  <a:srgbClr val="003300"/>
                </a:solidFill>
              </a:rPr>
              <a:t>)</a:t>
            </a:r>
          </a:p>
          <a:p>
            <a:pPr lvl="3" defTabSz="457200" eaLnBrk="1" hangingPunct="1">
              <a:lnSpc>
                <a:spcPct val="120000"/>
              </a:lnSpc>
            </a:pPr>
            <a:r>
              <a:rPr lang="en-AU" sz="1800" dirty="0">
                <a:solidFill>
                  <a:srgbClr val="003300"/>
                </a:solidFill>
              </a:rPr>
              <a:t>TO_CHAR(</a:t>
            </a:r>
            <a:r>
              <a:rPr lang="en-AU" sz="1800" dirty="0" err="1">
                <a:solidFill>
                  <a:srgbClr val="003300"/>
                </a:solidFill>
              </a:rPr>
              <a:t>emp_postcode</a:t>
            </a:r>
            <a:r>
              <a:rPr lang="en-AU" sz="1800" dirty="0">
                <a:solidFill>
                  <a:srgbClr val="003300"/>
                </a:solidFill>
              </a:rPr>
              <a:t>)</a:t>
            </a:r>
            <a:endParaRPr lang="en-AU" b="0" i="0" dirty="0">
              <a:solidFill>
                <a:srgbClr val="D1161E"/>
              </a:solidFill>
            </a:endParaRPr>
          </a:p>
        </p:txBody>
      </p:sp>
    </p:spTree>
    <p:extLst>
      <p:ext uri="{BB962C8B-B14F-4D97-AF65-F5344CB8AC3E}">
        <p14:creationId xmlns:p14="http://schemas.microsoft.com/office/powerpoint/2010/main" val="162910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AU"/>
              <a:t>SQL: INTERSECT &amp; MINUS</a:t>
            </a:r>
          </a:p>
        </p:txBody>
      </p:sp>
      <p:sp>
        <p:nvSpPr>
          <p:cNvPr id="50180" name="Rectangle 3"/>
          <p:cNvSpPr>
            <a:spLocks noGrp="1" noChangeArrowheads="1"/>
          </p:cNvSpPr>
          <p:nvPr>
            <p:ph idx="1"/>
          </p:nvPr>
        </p:nvSpPr>
        <p:spPr>
          <a:xfrm>
            <a:off x="1981200" y="806825"/>
            <a:ext cx="8010626" cy="4198313"/>
          </a:xfrm>
        </p:spPr>
        <p:txBody>
          <a:bodyPr/>
          <a:lstStyle/>
          <a:p>
            <a:pPr marL="0" indent="0">
              <a:buNone/>
            </a:pPr>
            <a:r>
              <a:rPr lang="en-AU" sz="2200" dirty="0"/>
              <a:t>The </a:t>
            </a:r>
            <a:r>
              <a:rPr lang="en-AU" sz="2200" b="1" dirty="0"/>
              <a:t>INTERSECT</a:t>
            </a:r>
            <a:r>
              <a:rPr lang="en-AU" sz="2200" dirty="0"/>
              <a:t> operator causes all </a:t>
            </a:r>
            <a:r>
              <a:rPr lang="en-AU" sz="2200" b="1" dirty="0"/>
              <a:t>unique </a:t>
            </a:r>
            <a:r>
              <a:rPr lang="en-AU" sz="2200" dirty="0"/>
              <a:t>rows selected by both individual queries to be added to the result set.</a:t>
            </a:r>
          </a:p>
          <a:p>
            <a:pPr marL="457200" indent="-457200"/>
            <a:endParaRPr lang="en-AU" sz="2200" dirty="0"/>
          </a:p>
          <a:p>
            <a:pPr marL="457200" indent="-457200"/>
            <a:r>
              <a:rPr lang="en-AU" sz="2200" dirty="0"/>
              <a:t>The result set contains the </a:t>
            </a:r>
            <a:r>
              <a:rPr lang="en-AU" sz="2200" b="1" dirty="0"/>
              <a:t>intersection</a:t>
            </a:r>
            <a:r>
              <a:rPr lang="en-AU" sz="2200" dirty="0"/>
              <a:t> of the two individual queries </a:t>
            </a:r>
          </a:p>
          <a:p>
            <a:pPr marL="457200" indent="-457200"/>
            <a:endParaRPr lang="en-AU" dirty="0"/>
          </a:p>
          <a:p>
            <a:pPr marL="457200" indent="-457200"/>
            <a:endParaRPr lang="en-AU" dirty="0"/>
          </a:p>
          <a:p>
            <a:pPr marL="914400" lvl="1" indent="-457200"/>
            <a:endParaRPr lang="en-AU" dirty="0"/>
          </a:p>
        </p:txBody>
      </p:sp>
      <p:grpSp>
        <p:nvGrpSpPr>
          <p:cNvPr id="50181" name="Group 4"/>
          <p:cNvGrpSpPr>
            <a:grpSpLocks/>
          </p:cNvGrpSpPr>
          <p:nvPr/>
        </p:nvGrpSpPr>
        <p:grpSpPr bwMode="auto">
          <a:xfrm>
            <a:off x="8129690" y="2905981"/>
            <a:ext cx="1862137" cy="1603375"/>
            <a:chOff x="2419" y="2503"/>
            <a:chExt cx="1173" cy="1010"/>
          </a:xfrm>
        </p:grpSpPr>
        <p:sp>
          <p:nvSpPr>
            <p:cNvPr id="50182" name="Oval 5"/>
            <p:cNvSpPr>
              <a:spLocks noChangeArrowheads="1"/>
            </p:cNvSpPr>
            <p:nvPr/>
          </p:nvSpPr>
          <p:spPr bwMode="auto">
            <a:xfrm>
              <a:off x="2419" y="2503"/>
              <a:ext cx="1173" cy="595"/>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a:solidFill>
                    <a:srgbClr val="D1161E"/>
                  </a:solidFill>
                  <a:latin typeface="Lucida Console" pitchFamily="49" charset="0"/>
                </a:rPr>
                <a:t>STUDENT</a:t>
              </a:r>
              <a:endParaRPr lang="en-US">
                <a:solidFill>
                  <a:srgbClr val="D1161E"/>
                </a:solidFill>
                <a:latin typeface="Lucida Console" pitchFamily="49" charset="0"/>
              </a:endParaRPr>
            </a:p>
          </p:txBody>
        </p:sp>
        <p:sp>
          <p:nvSpPr>
            <p:cNvPr id="50183" name="Oval 6"/>
            <p:cNvSpPr>
              <a:spLocks noChangeArrowheads="1"/>
            </p:cNvSpPr>
            <p:nvPr/>
          </p:nvSpPr>
          <p:spPr bwMode="auto">
            <a:xfrm>
              <a:off x="2698" y="2918"/>
              <a:ext cx="891" cy="595"/>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a:solidFill>
                    <a:srgbClr val="D1161E"/>
                  </a:solidFill>
                  <a:latin typeface="Lucida Console" pitchFamily="49" charset="0"/>
                </a:rPr>
                <a:t>TUTOR</a:t>
              </a:r>
              <a:endParaRPr lang="en-US">
                <a:solidFill>
                  <a:srgbClr val="D1161E"/>
                </a:solidFill>
                <a:latin typeface="Lucida Console" pitchFamily="49" charset="0"/>
              </a:endParaRPr>
            </a:p>
          </p:txBody>
        </p:sp>
        <p:sp>
          <p:nvSpPr>
            <p:cNvPr id="50184" name="Freeform 7" descr="Wide upward diagonal"/>
            <p:cNvSpPr>
              <a:spLocks/>
            </p:cNvSpPr>
            <p:nvPr/>
          </p:nvSpPr>
          <p:spPr bwMode="auto">
            <a:xfrm>
              <a:off x="2746" y="2916"/>
              <a:ext cx="697" cy="178"/>
            </a:xfrm>
            <a:custGeom>
              <a:avLst/>
              <a:gdLst>
                <a:gd name="T0" fmla="*/ 8 w 697"/>
                <a:gd name="T1" fmla="*/ 154 h 178"/>
                <a:gd name="T2" fmla="*/ 78 w 697"/>
                <a:gd name="T3" fmla="*/ 83 h 178"/>
                <a:gd name="T4" fmla="*/ 260 w 697"/>
                <a:gd name="T5" fmla="*/ 13 h 178"/>
                <a:gd name="T6" fmla="*/ 415 w 697"/>
                <a:gd name="T7" fmla="*/ 6 h 178"/>
                <a:gd name="T8" fmla="*/ 527 w 697"/>
                <a:gd name="T9" fmla="*/ 13 h 178"/>
                <a:gd name="T10" fmla="*/ 640 w 697"/>
                <a:gd name="T11" fmla="*/ 55 h 178"/>
                <a:gd name="T12" fmla="*/ 689 w 697"/>
                <a:gd name="T13" fmla="*/ 83 h 178"/>
                <a:gd name="T14" fmla="*/ 591 w 697"/>
                <a:gd name="T15" fmla="*/ 126 h 178"/>
                <a:gd name="T16" fmla="*/ 457 w 697"/>
                <a:gd name="T17" fmla="*/ 168 h 178"/>
                <a:gd name="T18" fmla="*/ 267 w 697"/>
                <a:gd name="T19" fmla="*/ 175 h 178"/>
                <a:gd name="T20" fmla="*/ 127 w 697"/>
                <a:gd name="T21" fmla="*/ 175 h 178"/>
                <a:gd name="T22" fmla="*/ 8 w 697"/>
                <a:gd name="T23" fmla="*/ 154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97" h="178">
                  <a:moveTo>
                    <a:pt x="8" y="154"/>
                  </a:moveTo>
                  <a:cubicBezTo>
                    <a:pt x="0" y="139"/>
                    <a:pt x="36" y="106"/>
                    <a:pt x="78" y="83"/>
                  </a:cubicBezTo>
                  <a:cubicBezTo>
                    <a:pt x="120" y="60"/>
                    <a:pt x="204" y="26"/>
                    <a:pt x="260" y="13"/>
                  </a:cubicBezTo>
                  <a:cubicBezTo>
                    <a:pt x="316" y="0"/>
                    <a:pt x="371" y="6"/>
                    <a:pt x="415" y="6"/>
                  </a:cubicBezTo>
                  <a:cubicBezTo>
                    <a:pt x="459" y="6"/>
                    <a:pt x="490" y="5"/>
                    <a:pt x="527" y="13"/>
                  </a:cubicBezTo>
                  <a:cubicBezTo>
                    <a:pt x="564" y="21"/>
                    <a:pt x="613" y="43"/>
                    <a:pt x="640" y="55"/>
                  </a:cubicBezTo>
                  <a:cubicBezTo>
                    <a:pt x="667" y="67"/>
                    <a:pt x="697" y="71"/>
                    <a:pt x="689" y="83"/>
                  </a:cubicBezTo>
                  <a:cubicBezTo>
                    <a:pt x="681" y="95"/>
                    <a:pt x="630" y="112"/>
                    <a:pt x="591" y="126"/>
                  </a:cubicBezTo>
                  <a:cubicBezTo>
                    <a:pt x="552" y="140"/>
                    <a:pt x="511" y="160"/>
                    <a:pt x="457" y="168"/>
                  </a:cubicBezTo>
                  <a:cubicBezTo>
                    <a:pt x="403" y="176"/>
                    <a:pt x="322" y="174"/>
                    <a:pt x="267" y="175"/>
                  </a:cubicBezTo>
                  <a:cubicBezTo>
                    <a:pt x="212" y="176"/>
                    <a:pt x="171" y="178"/>
                    <a:pt x="127" y="175"/>
                  </a:cubicBezTo>
                  <a:cubicBezTo>
                    <a:pt x="83" y="172"/>
                    <a:pt x="16" y="169"/>
                    <a:pt x="8" y="154"/>
                  </a:cubicBezTo>
                  <a:close/>
                </a:path>
              </a:pathLst>
            </a:custGeom>
            <a:pattFill prst="wdUpDiag">
              <a:fgClr>
                <a:schemeClr val="accent1"/>
              </a:fgClr>
              <a:bgClr>
                <a:schemeClr val="bg1"/>
              </a:bgClr>
            </a:pattFill>
            <a:ln>
              <a:noFill/>
            </a:ln>
            <a:effectLst/>
            <a:extLst>
              <a:ext uri="{91240B29-F687-4F45-9708-019B960494DF}">
                <a14:hiddenLine xmlns:a14="http://schemas.microsoft.com/office/drawing/2010/main" w="9525" cap="flat" cmpd="sng">
                  <a:solidFill>
                    <a:schemeClr val="accent2"/>
                  </a:solidFill>
                  <a:prstDash val="solid"/>
                  <a:round/>
                  <a:headEnd type="none" w="sm" len="sm"/>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457200"/>
              <a:endParaRPr lang="en-AU">
                <a:solidFill>
                  <a:srgbClr val="D1161E"/>
                </a:solidFill>
                <a:latin typeface="Calibri"/>
              </a:endParaRPr>
            </a:p>
          </p:txBody>
        </p:sp>
      </p:grpSp>
      <p:sp>
        <p:nvSpPr>
          <p:cNvPr id="9" name="Text Box 5"/>
          <p:cNvSpPr txBox="1">
            <a:spLocks noChangeArrowheads="1"/>
          </p:cNvSpPr>
          <p:nvPr/>
        </p:nvSpPr>
        <p:spPr bwMode="auto">
          <a:xfrm>
            <a:off x="2303557" y="2970473"/>
            <a:ext cx="3960813" cy="30777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r>
              <a:rPr lang="en-AU" sz="2000" i="0" dirty="0">
                <a:solidFill>
                  <a:srgbClr val="009900"/>
                </a:solidFill>
              </a:rPr>
              <a:t>SELECT name FROM </a:t>
            </a:r>
            <a:r>
              <a:rPr lang="en-AU" sz="2200" i="0" dirty="0">
                <a:solidFill>
                  <a:srgbClr val="009900"/>
                </a:solidFill>
              </a:rPr>
              <a:t>STUDENT</a:t>
            </a:r>
            <a:endParaRPr lang="en-AU" sz="2000" i="0" dirty="0">
              <a:solidFill>
                <a:srgbClr val="009900"/>
              </a:solidFill>
            </a:endParaRPr>
          </a:p>
          <a:p>
            <a:pPr defTabSz="457200" eaLnBrk="1" hangingPunct="1"/>
            <a:r>
              <a:rPr lang="en-AU" sz="2000" i="0" dirty="0">
                <a:solidFill>
                  <a:srgbClr val="0033CC"/>
                </a:solidFill>
              </a:rPr>
              <a:t>INTERSECT</a:t>
            </a:r>
          </a:p>
          <a:p>
            <a:pPr defTabSz="457200" eaLnBrk="1" hangingPunct="1"/>
            <a:r>
              <a:rPr lang="en-AU" sz="2000" i="0" dirty="0">
                <a:solidFill>
                  <a:srgbClr val="009900"/>
                </a:solidFill>
              </a:rPr>
              <a:t>SELECT name FROM </a:t>
            </a:r>
            <a:r>
              <a:rPr lang="en-AU" sz="2200" i="0" dirty="0">
                <a:solidFill>
                  <a:srgbClr val="009900"/>
                </a:solidFill>
              </a:rPr>
              <a:t>TUTOR</a:t>
            </a:r>
            <a:r>
              <a:rPr lang="en-AU" sz="2000" i="0" dirty="0">
                <a:solidFill>
                  <a:srgbClr val="009900"/>
                </a:solidFill>
              </a:rPr>
              <a:t>;</a:t>
            </a:r>
          </a:p>
          <a:p>
            <a:pPr defTabSz="457200" eaLnBrk="1" hangingPunct="1"/>
            <a:endParaRPr lang="en-AU" sz="1000" i="0" dirty="0">
              <a:solidFill>
                <a:srgbClr val="D1161E"/>
              </a:solidFill>
            </a:endParaRPr>
          </a:p>
          <a:p>
            <a:pPr defTabSz="457200" eaLnBrk="1" hangingPunct="1"/>
            <a:r>
              <a:rPr lang="en-AU" sz="2000" i="0" dirty="0">
                <a:solidFill>
                  <a:srgbClr val="0033CC"/>
                </a:solidFill>
              </a:rPr>
              <a:t>Carol Chen</a:t>
            </a:r>
          </a:p>
          <a:p>
            <a:pPr defTabSz="457200" eaLnBrk="1" hangingPunct="1"/>
            <a:endParaRPr lang="en-AU" sz="2000" i="0" dirty="0">
              <a:solidFill>
                <a:srgbClr val="0033CC"/>
              </a:solidFill>
            </a:endParaRPr>
          </a:p>
          <a:p>
            <a:pPr defTabSz="457200" eaLnBrk="1" hangingPunct="1"/>
            <a:endParaRPr lang="en-AU" sz="2000" i="0" dirty="0">
              <a:solidFill>
                <a:srgbClr val="0033CC"/>
              </a:solidFill>
            </a:endParaRPr>
          </a:p>
          <a:p>
            <a:pPr defTabSz="457200" eaLnBrk="1" hangingPunct="1"/>
            <a:endParaRPr lang="en-AU" sz="2000" i="0" dirty="0">
              <a:solidFill>
                <a:srgbClr val="0033CC"/>
              </a:solidFill>
            </a:endParaRPr>
          </a:p>
          <a:p>
            <a:pPr defTabSz="457200" eaLnBrk="1" hangingPunct="1"/>
            <a:endParaRPr lang="en-AU" sz="2000" i="0" dirty="0">
              <a:solidFill>
                <a:srgbClr val="0033CC"/>
              </a:solidFill>
            </a:endParaRPr>
          </a:p>
          <a:p>
            <a:pPr defTabSz="457200" eaLnBrk="1" hangingPunct="1"/>
            <a:endParaRPr lang="en-AU" sz="2000" i="0" dirty="0">
              <a:solidFill>
                <a:srgbClr val="0033CC"/>
              </a:solidFill>
            </a:endParaRPr>
          </a:p>
        </p:txBody>
      </p:sp>
      <p:sp>
        <p:nvSpPr>
          <p:cNvPr id="10" name="Text Box 6"/>
          <p:cNvSpPr txBox="1">
            <a:spLocks noChangeArrowheads="1"/>
          </p:cNvSpPr>
          <p:nvPr/>
        </p:nvSpPr>
        <p:spPr bwMode="auto">
          <a:xfrm>
            <a:off x="4067176" y="4625509"/>
            <a:ext cx="2028825" cy="1323975"/>
          </a:xfrm>
          <a:prstGeom prst="rect">
            <a:avLst/>
          </a:prstGeom>
          <a:solidFill>
            <a:schemeClr val="bg1"/>
          </a:solidFill>
          <a:ln w="127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algn="ctr" defTabSz="457200" eaLnBrk="1" hangingPunct="1"/>
            <a:r>
              <a:rPr lang="en-AU" sz="2000" i="0">
                <a:solidFill>
                  <a:srgbClr val="FF0000"/>
                </a:solidFill>
                <a:latin typeface="Arial" charset="0"/>
              </a:rPr>
              <a:t>Result set only includes names found in </a:t>
            </a:r>
            <a:r>
              <a:rPr lang="en-AU" sz="2000" i="0" u="sng">
                <a:solidFill>
                  <a:srgbClr val="FF0000"/>
                </a:solidFill>
                <a:latin typeface="Arial" charset="0"/>
              </a:rPr>
              <a:t>both</a:t>
            </a:r>
            <a:r>
              <a:rPr lang="en-AU" sz="2000" i="0">
                <a:solidFill>
                  <a:srgbClr val="FF0000"/>
                </a:solidFill>
                <a:latin typeface="Arial" charset="0"/>
              </a:rPr>
              <a:t> tables</a:t>
            </a:r>
            <a:endParaRPr lang="en-US" sz="2000" i="0">
              <a:solidFill>
                <a:srgbClr val="FF0000"/>
              </a:solidFill>
              <a:latin typeface="Arial" charset="0"/>
            </a:endParaRPr>
          </a:p>
        </p:txBody>
      </p:sp>
      <p:cxnSp>
        <p:nvCxnSpPr>
          <p:cNvPr id="11" name="Straight Arrow Connector 10"/>
          <p:cNvCxnSpPr/>
          <p:nvPr/>
        </p:nvCxnSpPr>
        <p:spPr>
          <a:xfrm flipH="1" flipV="1">
            <a:off x="5986513" y="3561618"/>
            <a:ext cx="2174128" cy="288926"/>
          </a:xfrm>
          <a:prstGeom prst="straightConnector1">
            <a:avLst/>
          </a:prstGeom>
          <a:ln w="28575">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5521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r>
              <a:rPr lang="en-AU"/>
              <a:t>SQL: INTERSECT &amp; MINUS</a:t>
            </a:r>
          </a:p>
        </p:txBody>
      </p:sp>
      <p:sp>
        <p:nvSpPr>
          <p:cNvPr id="52228" name="Rectangle 3"/>
          <p:cNvSpPr>
            <a:spLocks noGrp="1" noChangeArrowheads="1"/>
          </p:cNvSpPr>
          <p:nvPr>
            <p:ph idx="1"/>
          </p:nvPr>
        </p:nvSpPr>
        <p:spPr/>
        <p:txBody>
          <a:bodyPr/>
          <a:lstStyle/>
          <a:p>
            <a:pPr marL="0" indent="0">
              <a:buNone/>
            </a:pPr>
            <a:r>
              <a:rPr lang="en-AU" sz="2200" dirty="0"/>
              <a:t>The </a:t>
            </a:r>
            <a:r>
              <a:rPr lang="en-AU" sz="2200" b="1" dirty="0"/>
              <a:t>MINUS</a:t>
            </a:r>
            <a:r>
              <a:rPr lang="en-AU" sz="2200" dirty="0"/>
              <a:t> operator selects all unique rows selected by the first query but not the second.</a:t>
            </a:r>
          </a:p>
          <a:p>
            <a:pPr marL="457200" indent="-457200"/>
            <a:endParaRPr lang="en-AU" sz="2200" dirty="0"/>
          </a:p>
          <a:p>
            <a:pPr marL="457200" indent="-457200"/>
            <a:r>
              <a:rPr lang="en-AU" sz="2200" dirty="0"/>
              <a:t>The result set contains the all rows selected by the first queries that are </a:t>
            </a:r>
            <a:r>
              <a:rPr lang="en-AU" sz="2200" b="1" dirty="0"/>
              <a:t>not selected </a:t>
            </a:r>
            <a:r>
              <a:rPr lang="en-AU" sz="2200" dirty="0"/>
              <a:t>by the </a:t>
            </a:r>
            <a:r>
              <a:rPr lang="en-AU" sz="2200" b="1" dirty="0"/>
              <a:t>second</a:t>
            </a:r>
            <a:r>
              <a:rPr lang="en-AU" sz="2200" dirty="0"/>
              <a:t> query</a:t>
            </a:r>
          </a:p>
          <a:p>
            <a:pPr marL="457200" indent="-457200"/>
            <a:endParaRPr lang="en-AU" dirty="0"/>
          </a:p>
          <a:p>
            <a:pPr marL="457200" indent="-457200">
              <a:buNone/>
            </a:pPr>
            <a:r>
              <a:rPr lang="en-AU" dirty="0"/>
              <a:t> </a:t>
            </a:r>
          </a:p>
        </p:txBody>
      </p:sp>
      <p:grpSp>
        <p:nvGrpSpPr>
          <p:cNvPr id="52229" name="Group 4"/>
          <p:cNvGrpSpPr>
            <a:grpSpLocks/>
          </p:cNvGrpSpPr>
          <p:nvPr/>
        </p:nvGrpSpPr>
        <p:grpSpPr bwMode="auto">
          <a:xfrm>
            <a:off x="7917331" y="3331883"/>
            <a:ext cx="1903413" cy="1603375"/>
            <a:chOff x="1520" y="2336"/>
            <a:chExt cx="1199" cy="1010"/>
          </a:xfrm>
        </p:grpSpPr>
        <p:sp>
          <p:nvSpPr>
            <p:cNvPr id="52230" name="Freeform 5" descr="Wide upward diagonal"/>
            <p:cNvSpPr>
              <a:spLocks/>
            </p:cNvSpPr>
            <p:nvPr/>
          </p:nvSpPr>
          <p:spPr bwMode="auto">
            <a:xfrm>
              <a:off x="1520" y="2336"/>
              <a:ext cx="1199" cy="567"/>
            </a:xfrm>
            <a:custGeom>
              <a:avLst/>
              <a:gdLst>
                <a:gd name="T0" fmla="*/ 12 w 1199"/>
                <a:gd name="T1" fmla="*/ 276 h 567"/>
                <a:gd name="T2" fmla="*/ 82 w 1199"/>
                <a:gd name="T3" fmla="*/ 142 h 567"/>
                <a:gd name="T4" fmla="*/ 236 w 1199"/>
                <a:gd name="T5" fmla="*/ 58 h 567"/>
                <a:gd name="T6" fmla="*/ 447 w 1199"/>
                <a:gd name="T7" fmla="*/ 9 h 567"/>
                <a:gd name="T8" fmla="*/ 721 w 1199"/>
                <a:gd name="T9" fmla="*/ 9 h 567"/>
                <a:gd name="T10" fmla="*/ 967 w 1199"/>
                <a:gd name="T11" fmla="*/ 65 h 567"/>
                <a:gd name="T12" fmla="*/ 1100 w 1199"/>
                <a:gd name="T13" fmla="*/ 156 h 567"/>
                <a:gd name="T14" fmla="*/ 1185 w 1199"/>
                <a:gd name="T15" fmla="*/ 261 h 567"/>
                <a:gd name="T16" fmla="*/ 1185 w 1199"/>
                <a:gd name="T17" fmla="*/ 332 h 567"/>
                <a:gd name="T18" fmla="*/ 1142 w 1199"/>
                <a:gd name="T19" fmla="*/ 423 h 567"/>
                <a:gd name="T20" fmla="*/ 1030 w 1199"/>
                <a:gd name="T21" fmla="*/ 493 h 567"/>
                <a:gd name="T22" fmla="*/ 974 w 1199"/>
                <a:gd name="T23" fmla="*/ 465 h 567"/>
                <a:gd name="T24" fmla="*/ 854 w 1199"/>
                <a:gd name="T25" fmla="*/ 430 h 567"/>
                <a:gd name="T26" fmla="*/ 721 w 1199"/>
                <a:gd name="T27" fmla="*/ 423 h 567"/>
                <a:gd name="T28" fmla="*/ 623 w 1199"/>
                <a:gd name="T29" fmla="*/ 430 h 567"/>
                <a:gd name="T30" fmla="*/ 489 w 1199"/>
                <a:gd name="T31" fmla="*/ 465 h 567"/>
                <a:gd name="T32" fmla="*/ 433 w 1199"/>
                <a:gd name="T33" fmla="*/ 507 h 567"/>
                <a:gd name="T34" fmla="*/ 349 w 1199"/>
                <a:gd name="T35" fmla="*/ 564 h 567"/>
                <a:gd name="T36" fmla="*/ 250 w 1199"/>
                <a:gd name="T37" fmla="*/ 528 h 567"/>
                <a:gd name="T38" fmla="*/ 145 w 1199"/>
                <a:gd name="T39" fmla="*/ 486 h 567"/>
                <a:gd name="T40" fmla="*/ 54 w 1199"/>
                <a:gd name="T41" fmla="*/ 416 h 567"/>
                <a:gd name="T42" fmla="*/ 12 w 1199"/>
                <a:gd name="T43" fmla="*/ 346 h 567"/>
                <a:gd name="T44" fmla="*/ 12 w 1199"/>
                <a:gd name="T45" fmla="*/ 276 h 5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199" h="567">
                  <a:moveTo>
                    <a:pt x="12" y="276"/>
                  </a:moveTo>
                  <a:cubicBezTo>
                    <a:pt x="24" y="242"/>
                    <a:pt x="45" y="178"/>
                    <a:pt x="82" y="142"/>
                  </a:cubicBezTo>
                  <a:cubicBezTo>
                    <a:pt x="119" y="106"/>
                    <a:pt x="175" y="80"/>
                    <a:pt x="236" y="58"/>
                  </a:cubicBezTo>
                  <a:cubicBezTo>
                    <a:pt x="297" y="36"/>
                    <a:pt x="366" y="17"/>
                    <a:pt x="447" y="9"/>
                  </a:cubicBezTo>
                  <a:cubicBezTo>
                    <a:pt x="528" y="1"/>
                    <a:pt x="634" y="0"/>
                    <a:pt x="721" y="9"/>
                  </a:cubicBezTo>
                  <a:cubicBezTo>
                    <a:pt x="808" y="18"/>
                    <a:pt x="904" y="40"/>
                    <a:pt x="967" y="65"/>
                  </a:cubicBezTo>
                  <a:cubicBezTo>
                    <a:pt x="1030" y="90"/>
                    <a:pt x="1064" y="123"/>
                    <a:pt x="1100" y="156"/>
                  </a:cubicBezTo>
                  <a:cubicBezTo>
                    <a:pt x="1136" y="189"/>
                    <a:pt x="1171" y="232"/>
                    <a:pt x="1185" y="261"/>
                  </a:cubicBezTo>
                  <a:cubicBezTo>
                    <a:pt x="1199" y="290"/>
                    <a:pt x="1192" y="305"/>
                    <a:pt x="1185" y="332"/>
                  </a:cubicBezTo>
                  <a:cubicBezTo>
                    <a:pt x="1178" y="359"/>
                    <a:pt x="1168" y="396"/>
                    <a:pt x="1142" y="423"/>
                  </a:cubicBezTo>
                  <a:cubicBezTo>
                    <a:pt x="1116" y="450"/>
                    <a:pt x="1058" y="486"/>
                    <a:pt x="1030" y="493"/>
                  </a:cubicBezTo>
                  <a:cubicBezTo>
                    <a:pt x="1002" y="500"/>
                    <a:pt x="1003" y="475"/>
                    <a:pt x="974" y="465"/>
                  </a:cubicBezTo>
                  <a:cubicBezTo>
                    <a:pt x="945" y="455"/>
                    <a:pt x="896" y="437"/>
                    <a:pt x="854" y="430"/>
                  </a:cubicBezTo>
                  <a:cubicBezTo>
                    <a:pt x="812" y="423"/>
                    <a:pt x="759" y="423"/>
                    <a:pt x="721" y="423"/>
                  </a:cubicBezTo>
                  <a:cubicBezTo>
                    <a:pt x="683" y="423"/>
                    <a:pt x="662" y="423"/>
                    <a:pt x="623" y="430"/>
                  </a:cubicBezTo>
                  <a:cubicBezTo>
                    <a:pt x="584" y="437"/>
                    <a:pt x="521" y="452"/>
                    <a:pt x="489" y="465"/>
                  </a:cubicBezTo>
                  <a:cubicBezTo>
                    <a:pt x="457" y="478"/>
                    <a:pt x="456" y="491"/>
                    <a:pt x="433" y="507"/>
                  </a:cubicBezTo>
                  <a:cubicBezTo>
                    <a:pt x="410" y="523"/>
                    <a:pt x="379" y="561"/>
                    <a:pt x="349" y="564"/>
                  </a:cubicBezTo>
                  <a:cubicBezTo>
                    <a:pt x="319" y="567"/>
                    <a:pt x="284" y="541"/>
                    <a:pt x="250" y="528"/>
                  </a:cubicBezTo>
                  <a:cubicBezTo>
                    <a:pt x="216" y="515"/>
                    <a:pt x="178" y="505"/>
                    <a:pt x="145" y="486"/>
                  </a:cubicBezTo>
                  <a:cubicBezTo>
                    <a:pt x="112" y="467"/>
                    <a:pt x="76" y="439"/>
                    <a:pt x="54" y="416"/>
                  </a:cubicBezTo>
                  <a:cubicBezTo>
                    <a:pt x="32" y="393"/>
                    <a:pt x="18" y="373"/>
                    <a:pt x="12" y="346"/>
                  </a:cubicBezTo>
                  <a:cubicBezTo>
                    <a:pt x="6" y="319"/>
                    <a:pt x="0" y="310"/>
                    <a:pt x="12" y="276"/>
                  </a:cubicBezTo>
                  <a:close/>
                </a:path>
              </a:pathLst>
            </a:custGeom>
            <a:pattFill prst="wdUpDiag">
              <a:fgClr>
                <a:schemeClr val="accent1"/>
              </a:fgClr>
              <a:bgClr>
                <a:schemeClr val="bg1"/>
              </a:bgClr>
            </a:pattFill>
            <a:ln>
              <a:noFill/>
            </a:ln>
            <a:effectLst/>
            <a:extLst>
              <a:ext uri="{91240B29-F687-4F45-9708-019B960494DF}">
                <a14:hiddenLine xmlns:a14="http://schemas.microsoft.com/office/drawing/2010/main" w="9525" cap="flat" cmpd="sng">
                  <a:solidFill>
                    <a:schemeClr val="accent2"/>
                  </a:solidFill>
                  <a:prstDash val="solid"/>
                  <a:round/>
                  <a:headEnd type="none" w="sm" len="sm"/>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457200"/>
              <a:endParaRPr lang="en-AU">
                <a:solidFill>
                  <a:srgbClr val="D1161E"/>
                </a:solidFill>
                <a:latin typeface="Calibri"/>
              </a:endParaRPr>
            </a:p>
          </p:txBody>
        </p:sp>
        <p:grpSp>
          <p:nvGrpSpPr>
            <p:cNvPr id="52231" name="Group 6"/>
            <p:cNvGrpSpPr>
              <a:grpSpLocks/>
            </p:cNvGrpSpPr>
            <p:nvPr/>
          </p:nvGrpSpPr>
          <p:grpSpPr bwMode="auto">
            <a:xfrm>
              <a:off x="1533" y="2336"/>
              <a:ext cx="1177" cy="1010"/>
              <a:chOff x="1302" y="2181"/>
              <a:chExt cx="1177" cy="1010"/>
            </a:xfrm>
          </p:grpSpPr>
          <p:sp>
            <p:nvSpPr>
              <p:cNvPr id="52232" name="Oval 7"/>
              <p:cNvSpPr>
                <a:spLocks noChangeArrowheads="1"/>
              </p:cNvSpPr>
              <p:nvPr/>
            </p:nvSpPr>
            <p:spPr bwMode="auto">
              <a:xfrm>
                <a:off x="1588" y="2596"/>
                <a:ext cx="891" cy="595"/>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dirty="0">
                    <a:solidFill>
                      <a:srgbClr val="D1161E"/>
                    </a:solidFill>
                    <a:latin typeface="Lucida Console" pitchFamily="49" charset="0"/>
                  </a:rPr>
                  <a:t>TUTOR</a:t>
                </a:r>
                <a:endParaRPr lang="en-US" dirty="0">
                  <a:solidFill>
                    <a:srgbClr val="D1161E"/>
                  </a:solidFill>
                  <a:latin typeface="Lucida Console" pitchFamily="49" charset="0"/>
                </a:endParaRPr>
              </a:p>
            </p:txBody>
          </p:sp>
          <p:sp>
            <p:nvSpPr>
              <p:cNvPr id="52234" name="Oval 9"/>
              <p:cNvSpPr>
                <a:spLocks noChangeArrowheads="1"/>
              </p:cNvSpPr>
              <p:nvPr/>
            </p:nvSpPr>
            <p:spPr bwMode="auto">
              <a:xfrm>
                <a:off x="1302" y="2181"/>
                <a:ext cx="1173" cy="595"/>
              </a:xfrm>
              <a:prstGeom prst="ellipse">
                <a:avLst/>
              </a:prstGeom>
              <a:gradFill rotWithShape="0">
                <a:gsLst>
                  <a:gs pos="0">
                    <a:srgbClr val="FFFFCC">
                      <a:alpha val="35001"/>
                    </a:srgbClr>
                  </a:gs>
                  <a:gs pos="100000">
                    <a:srgbClr val="FFFFCC">
                      <a:alpha val="37000"/>
                    </a:srgbClr>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defTabSz="457200"/>
                <a:r>
                  <a:rPr lang="en-AU">
                    <a:solidFill>
                      <a:srgbClr val="D1161E"/>
                    </a:solidFill>
                    <a:latin typeface="Lucida Console" pitchFamily="49" charset="0"/>
                  </a:rPr>
                  <a:t>STUDENT</a:t>
                </a:r>
                <a:endParaRPr lang="en-US">
                  <a:solidFill>
                    <a:srgbClr val="D1161E"/>
                  </a:solidFill>
                  <a:latin typeface="Lucida Console" pitchFamily="49" charset="0"/>
                </a:endParaRPr>
              </a:p>
            </p:txBody>
          </p:sp>
        </p:grpSp>
      </p:grpSp>
      <p:sp>
        <p:nvSpPr>
          <p:cNvPr id="10" name="Text Box 5"/>
          <p:cNvSpPr txBox="1">
            <a:spLocks noChangeArrowheads="1"/>
          </p:cNvSpPr>
          <p:nvPr/>
        </p:nvSpPr>
        <p:spPr bwMode="auto">
          <a:xfrm>
            <a:off x="2621618" y="3044078"/>
            <a:ext cx="3960813" cy="338554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r>
              <a:rPr lang="en-AU" sz="2000" i="0" dirty="0">
                <a:solidFill>
                  <a:srgbClr val="00B050"/>
                </a:solidFill>
              </a:rPr>
              <a:t>SELECT name FROM </a:t>
            </a:r>
            <a:r>
              <a:rPr lang="en-AU" sz="2200" i="0" dirty="0">
                <a:solidFill>
                  <a:srgbClr val="00B050"/>
                </a:solidFill>
              </a:rPr>
              <a:t>STUDENT</a:t>
            </a:r>
            <a:endParaRPr lang="en-AU" sz="2000" i="0" dirty="0">
              <a:solidFill>
                <a:srgbClr val="00B050"/>
              </a:solidFill>
            </a:endParaRPr>
          </a:p>
          <a:p>
            <a:pPr defTabSz="457200" eaLnBrk="1" hangingPunct="1"/>
            <a:r>
              <a:rPr lang="en-AU" sz="2000" i="0" dirty="0">
                <a:solidFill>
                  <a:srgbClr val="0000FF"/>
                </a:solidFill>
              </a:rPr>
              <a:t>MINUS</a:t>
            </a:r>
          </a:p>
          <a:p>
            <a:pPr defTabSz="457200" eaLnBrk="1" hangingPunct="1"/>
            <a:r>
              <a:rPr lang="en-AU" sz="2000" i="0" dirty="0">
                <a:solidFill>
                  <a:srgbClr val="00B050"/>
                </a:solidFill>
              </a:rPr>
              <a:t>SELECT name FROM </a:t>
            </a:r>
            <a:r>
              <a:rPr lang="en-AU" sz="2200" i="0" dirty="0">
                <a:solidFill>
                  <a:srgbClr val="00B050"/>
                </a:solidFill>
              </a:rPr>
              <a:t>TUTOR</a:t>
            </a:r>
            <a:r>
              <a:rPr lang="en-AU" sz="2000" i="0" dirty="0">
                <a:solidFill>
                  <a:srgbClr val="00B050"/>
                </a:solidFill>
              </a:rPr>
              <a:t>;</a:t>
            </a:r>
          </a:p>
          <a:p>
            <a:pPr defTabSz="457200" eaLnBrk="1" hangingPunct="1"/>
            <a:endParaRPr lang="en-AU" sz="1000" i="0" dirty="0">
              <a:solidFill>
                <a:srgbClr val="00B050"/>
              </a:solidFill>
            </a:endParaRPr>
          </a:p>
          <a:p>
            <a:pPr defTabSz="457200" eaLnBrk="1" hangingPunct="1"/>
            <a:r>
              <a:rPr lang="en-AU" sz="2000" i="0" dirty="0">
                <a:solidFill>
                  <a:srgbClr val="0000FF"/>
                </a:solidFill>
              </a:rPr>
              <a:t>Amanda Allen </a:t>
            </a:r>
          </a:p>
          <a:p>
            <a:pPr defTabSz="457200" eaLnBrk="1" hangingPunct="1"/>
            <a:r>
              <a:rPr lang="en-AU" sz="2000" i="0" dirty="0">
                <a:solidFill>
                  <a:srgbClr val="0000FF"/>
                </a:solidFill>
              </a:rPr>
              <a:t>Bob Black </a:t>
            </a:r>
          </a:p>
          <a:p>
            <a:pPr defTabSz="457200" eaLnBrk="1" hangingPunct="1"/>
            <a:r>
              <a:rPr lang="en-AU" sz="2000" i="0" dirty="0">
                <a:solidFill>
                  <a:srgbClr val="0000FF"/>
                </a:solidFill>
              </a:rPr>
              <a:t>Dave Dole</a:t>
            </a:r>
          </a:p>
          <a:p>
            <a:pPr defTabSz="457200" eaLnBrk="1" hangingPunct="1"/>
            <a:endParaRPr lang="en-AU" sz="2000" i="0" dirty="0">
              <a:solidFill>
                <a:srgbClr val="D1161E"/>
              </a:solidFill>
            </a:endParaRPr>
          </a:p>
          <a:p>
            <a:pPr defTabSz="457200" eaLnBrk="1" hangingPunct="1"/>
            <a:endParaRPr lang="en-AU" sz="2000" i="0" dirty="0">
              <a:solidFill>
                <a:srgbClr val="D1161E"/>
              </a:solidFill>
            </a:endParaRPr>
          </a:p>
          <a:p>
            <a:pPr defTabSz="457200" eaLnBrk="1" hangingPunct="1"/>
            <a:endParaRPr lang="en-AU" sz="2000" i="0" dirty="0">
              <a:solidFill>
                <a:srgbClr val="D1161E"/>
              </a:solidFill>
            </a:endParaRPr>
          </a:p>
          <a:p>
            <a:pPr defTabSz="457200" eaLnBrk="1" hangingPunct="1"/>
            <a:endParaRPr lang="en-AU" sz="2000" i="0" dirty="0">
              <a:solidFill>
                <a:srgbClr val="D1161E"/>
              </a:solidFill>
            </a:endParaRPr>
          </a:p>
        </p:txBody>
      </p:sp>
      <p:sp>
        <p:nvSpPr>
          <p:cNvPr id="11" name="Text Box 6"/>
          <p:cNvSpPr txBox="1">
            <a:spLocks noChangeArrowheads="1"/>
          </p:cNvSpPr>
          <p:nvPr/>
        </p:nvSpPr>
        <p:spPr bwMode="auto">
          <a:xfrm>
            <a:off x="4059893" y="4647453"/>
            <a:ext cx="2368550" cy="1729704"/>
          </a:xfrm>
          <a:prstGeom prst="rect">
            <a:avLst/>
          </a:prstGeom>
          <a:solidFill>
            <a:schemeClr val="bg1"/>
          </a:solidFill>
          <a:ln w="127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889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algn="ctr" defTabSz="457200" eaLnBrk="1" hangingPunct="1">
              <a:lnSpc>
                <a:spcPct val="95000"/>
              </a:lnSpc>
            </a:pPr>
            <a:r>
              <a:rPr lang="en-AU" sz="2000" i="0" dirty="0">
                <a:solidFill>
                  <a:srgbClr val="FF0000"/>
                </a:solidFill>
                <a:latin typeface="Arial" charset="0"/>
              </a:rPr>
              <a:t>Result</a:t>
            </a:r>
            <a:r>
              <a:rPr lang="en-AU" i="0" dirty="0">
                <a:solidFill>
                  <a:srgbClr val="FF0000"/>
                </a:solidFill>
              </a:rPr>
              <a:t> set only includes names</a:t>
            </a:r>
            <a:r>
              <a:rPr lang="en-AU" sz="2000" i="0" dirty="0">
                <a:solidFill>
                  <a:srgbClr val="FF0000"/>
                </a:solidFill>
                <a:latin typeface="Arial" charset="0"/>
              </a:rPr>
              <a:t> found in query1 that are </a:t>
            </a:r>
            <a:r>
              <a:rPr lang="en-AU" sz="2000" i="0" u="sng" dirty="0">
                <a:solidFill>
                  <a:srgbClr val="FF0000"/>
                </a:solidFill>
                <a:latin typeface="Arial" charset="0"/>
              </a:rPr>
              <a:t>not</a:t>
            </a:r>
            <a:r>
              <a:rPr lang="en-AU" sz="2000" i="0" dirty="0">
                <a:solidFill>
                  <a:srgbClr val="FF0000"/>
                </a:solidFill>
                <a:latin typeface="Arial" charset="0"/>
              </a:rPr>
              <a:t> in </a:t>
            </a:r>
            <a:r>
              <a:rPr lang="en-AU" i="0" dirty="0">
                <a:solidFill>
                  <a:srgbClr val="FF0000"/>
                </a:solidFill>
              </a:rPr>
              <a:t>query2</a:t>
            </a:r>
            <a:endParaRPr lang="en-US" i="0" dirty="0">
              <a:solidFill>
                <a:srgbClr val="FF0000"/>
              </a:solidFill>
            </a:endParaRPr>
          </a:p>
        </p:txBody>
      </p:sp>
      <p:cxnSp>
        <p:nvCxnSpPr>
          <p:cNvPr id="12" name="Straight Arrow Connector 11"/>
          <p:cNvCxnSpPr/>
          <p:nvPr/>
        </p:nvCxnSpPr>
        <p:spPr>
          <a:xfrm flipH="1" flipV="1">
            <a:off x="5878938" y="3701303"/>
            <a:ext cx="1974145" cy="408454"/>
          </a:xfrm>
          <a:prstGeom prst="straightConnector1">
            <a:avLst/>
          </a:prstGeom>
          <a:ln w="28575">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6769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AU"/>
              <a:t>SQL: Minus</a:t>
            </a:r>
          </a:p>
        </p:txBody>
      </p:sp>
      <p:sp>
        <p:nvSpPr>
          <p:cNvPr id="54278" name="Text Box 5"/>
          <p:cNvSpPr txBox="1">
            <a:spLocks noChangeArrowheads="1"/>
          </p:cNvSpPr>
          <p:nvPr/>
        </p:nvSpPr>
        <p:spPr bwMode="auto">
          <a:xfrm>
            <a:off x="1911351" y="2975354"/>
            <a:ext cx="4132263" cy="34778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r>
              <a:rPr lang="en-AU" sz="2000" i="0" dirty="0">
                <a:solidFill>
                  <a:srgbClr val="009900"/>
                </a:solidFill>
              </a:rPr>
              <a:t>SELECT name FROM </a:t>
            </a:r>
            <a:r>
              <a:rPr lang="en-AU" sz="2000" i="0" dirty="0">
                <a:solidFill>
                  <a:srgbClr val="0000FF"/>
                </a:solidFill>
              </a:rPr>
              <a:t>TUTOR</a:t>
            </a:r>
          </a:p>
          <a:p>
            <a:pPr defTabSz="457200" eaLnBrk="1" hangingPunct="1"/>
            <a:r>
              <a:rPr lang="en-AU" sz="2000" i="0" dirty="0">
                <a:solidFill>
                  <a:srgbClr val="009900"/>
                </a:solidFill>
              </a:rPr>
              <a:t>MINUS</a:t>
            </a:r>
          </a:p>
          <a:p>
            <a:pPr defTabSz="457200" eaLnBrk="1" hangingPunct="1"/>
            <a:r>
              <a:rPr lang="en-AU" sz="2000" i="0" dirty="0">
                <a:solidFill>
                  <a:srgbClr val="009900"/>
                </a:solidFill>
              </a:rPr>
              <a:t>SELECT name FROM </a:t>
            </a:r>
            <a:r>
              <a:rPr lang="en-AU" sz="2000" i="0" dirty="0">
                <a:solidFill>
                  <a:srgbClr val="0000FF"/>
                </a:solidFill>
              </a:rPr>
              <a:t>STUDENT</a:t>
            </a:r>
            <a:r>
              <a:rPr lang="en-AU" sz="2000" i="0" dirty="0">
                <a:solidFill>
                  <a:srgbClr val="009900"/>
                </a:solidFill>
              </a:rPr>
              <a:t>;</a:t>
            </a:r>
          </a:p>
          <a:p>
            <a:pPr defTabSz="457200" eaLnBrk="1" hangingPunct="1"/>
            <a:endParaRPr lang="en-AU" sz="2000" i="0" dirty="0">
              <a:solidFill>
                <a:srgbClr val="0C64A7"/>
              </a:solidFill>
            </a:endParaRPr>
          </a:p>
          <a:p>
            <a:pPr defTabSz="457200" eaLnBrk="1" hangingPunct="1"/>
            <a:r>
              <a:rPr lang="en-AU" sz="2000" i="0" dirty="0">
                <a:solidFill>
                  <a:srgbClr val="0033CC"/>
                </a:solidFill>
              </a:rPr>
              <a:t>Ed Ellis </a:t>
            </a:r>
          </a:p>
          <a:p>
            <a:pPr defTabSz="457200" eaLnBrk="1" hangingPunct="1"/>
            <a:r>
              <a:rPr lang="en-AU" sz="2000" i="0" dirty="0">
                <a:solidFill>
                  <a:srgbClr val="0033CC"/>
                </a:solidFill>
              </a:rPr>
              <a:t>Fred Foley</a:t>
            </a:r>
          </a:p>
          <a:p>
            <a:pPr defTabSz="457200" eaLnBrk="1" hangingPunct="1"/>
            <a:endParaRPr lang="en-AU" sz="2000" i="0" dirty="0">
              <a:solidFill>
                <a:srgbClr val="0C64A7"/>
              </a:solidFill>
            </a:endParaRPr>
          </a:p>
          <a:p>
            <a:pPr defTabSz="457200" eaLnBrk="1" hangingPunct="1"/>
            <a:endParaRPr lang="en-AU" sz="2000" i="0" dirty="0">
              <a:solidFill>
                <a:srgbClr val="D1161E"/>
              </a:solidFill>
            </a:endParaRPr>
          </a:p>
          <a:p>
            <a:pPr defTabSz="457200" eaLnBrk="1" hangingPunct="1"/>
            <a:endParaRPr lang="en-AU" sz="2000" i="0" dirty="0">
              <a:solidFill>
                <a:srgbClr val="D1161E"/>
              </a:solidFill>
            </a:endParaRPr>
          </a:p>
          <a:p>
            <a:pPr defTabSz="457200" eaLnBrk="1" hangingPunct="1"/>
            <a:endParaRPr lang="en-AU" sz="2000" i="0" dirty="0">
              <a:solidFill>
                <a:srgbClr val="D1161E"/>
              </a:solidFill>
            </a:endParaRPr>
          </a:p>
          <a:p>
            <a:pPr defTabSz="457200" eaLnBrk="1" hangingPunct="1"/>
            <a:endParaRPr lang="en-AU" sz="2000" i="0" dirty="0">
              <a:solidFill>
                <a:srgbClr val="D1161E"/>
              </a:solidFill>
            </a:endParaRPr>
          </a:p>
        </p:txBody>
      </p:sp>
      <p:sp>
        <p:nvSpPr>
          <p:cNvPr id="54281" name="Text Box 8"/>
          <p:cNvSpPr txBox="1">
            <a:spLocks noChangeArrowheads="1"/>
          </p:cNvSpPr>
          <p:nvPr/>
        </p:nvSpPr>
        <p:spPr bwMode="auto">
          <a:xfrm>
            <a:off x="1911350" y="942976"/>
            <a:ext cx="762158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r>
              <a:rPr lang="en-AU" sz="2200" i="0" dirty="0">
                <a:solidFill>
                  <a:srgbClr val="000000"/>
                </a:solidFill>
              </a:rPr>
              <a:t>Swapping</a:t>
            </a:r>
            <a:r>
              <a:rPr lang="en-AU" sz="2200" b="0" i="0" dirty="0">
                <a:solidFill>
                  <a:srgbClr val="000000"/>
                </a:solidFill>
              </a:rPr>
              <a:t> the table names will alter which rows are selected</a:t>
            </a:r>
            <a:endParaRPr lang="en-AU" sz="2000" b="0" i="0" dirty="0">
              <a:solidFill>
                <a:srgbClr val="000000"/>
              </a:solidFill>
            </a:endParaRPr>
          </a:p>
        </p:txBody>
      </p:sp>
      <p:sp>
        <p:nvSpPr>
          <p:cNvPr id="14" name="Text Box 6"/>
          <p:cNvSpPr txBox="1">
            <a:spLocks noChangeArrowheads="1"/>
          </p:cNvSpPr>
          <p:nvPr/>
        </p:nvSpPr>
        <p:spPr bwMode="auto">
          <a:xfrm>
            <a:off x="3510387" y="4602629"/>
            <a:ext cx="2368550" cy="1729704"/>
          </a:xfrm>
          <a:prstGeom prst="rect">
            <a:avLst/>
          </a:prstGeom>
          <a:solidFill>
            <a:schemeClr val="bg1"/>
          </a:solidFill>
          <a:ln w="12700">
            <a:solidFill>
              <a:srgbClr val="00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889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algn="ctr" defTabSz="457200" eaLnBrk="1" hangingPunct="1">
              <a:lnSpc>
                <a:spcPct val="95000"/>
              </a:lnSpc>
            </a:pPr>
            <a:r>
              <a:rPr lang="en-AU" sz="2000" i="0" dirty="0">
                <a:solidFill>
                  <a:srgbClr val="FF0000"/>
                </a:solidFill>
                <a:latin typeface="Arial" charset="0"/>
              </a:rPr>
              <a:t>Result</a:t>
            </a:r>
            <a:r>
              <a:rPr lang="en-AU" i="0" dirty="0">
                <a:solidFill>
                  <a:srgbClr val="FF0000"/>
                </a:solidFill>
              </a:rPr>
              <a:t> set only includes names</a:t>
            </a:r>
            <a:r>
              <a:rPr lang="en-AU" sz="2000" i="0" dirty="0">
                <a:solidFill>
                  <a:srgbClr val="FF0000"/>
                </a:solidFill>
                <a:latin typeface="Arial" charset="0"/>
              </a:rPr>
              <a:t> found in query1 that are </a:t>
            </a:r>
            <a:r>
              <a:rPr lang="en-AU" sz="2000" i="0" u="sng" dirty="0">
                <a:solidFill>
                  <a:srgbClr val="FF0000"/>
                </a:solidFill>
                <a:latin typeface="Arial" charset="0"/>
              </a:rPr>
              <a:t>not</a:t>
            </a:r>
            <a:r>
              <a:rPr lang="en-AU" sz="2000" i="0" dirty="0">
                <a:solidFill>
                  <a:srgbClr val="FF0000"/>
                </a:solidFill>
                <a:latin typeface="Arial" charset="0"/>
              </a:rPr>
              <a:t> in </a:t>
            </a:r>
            <a:r>
              <a:rPr lang="en-AU" i="0" dirty="0">
                <a:solidFill>
                  <a:srgbClr val="FF0000"/>
                </a:solidFill>
              </a:rPr>
              <a:t>query2</a:t>
            </a:r>
            <a:endParaRPr lang="en-US" i="0" dirty="0">
              <a:solidFill>
                <a:srgbClr val="FF0000"/>
              </a:solidFill>
            </a:endParaRPr>
          </a:p>
        </p:txBody>
      </p:sp>
      <p:sp>
        <p:nvSpPr>
          <p:cNvPr id="9" name="Freeform 5" descr="Wide upward diagonal"/>
          <p:cNvSpPr>
            <a:spLocks/>
          </p:cNvSpPr>
          <p:nvPr/>
        </p:nvSpPr>
        <p:spPr bwMode="auto">
          <a:xfrm>
            <a:off x="7917331" y="3331883"/>
            <a:ext cx="1903413" cy="900113"/>
          </a:xfrm>
          <a:custGeom>
            <a:avLst/>
            <a:gdLst>
              <a:gd name="T0" fmla="*/ 12 w 1199"/>
              <a:gd name="T1" fmla="*/ 276 h 567"/>
              <a:gd name="T2" fmla="*/ 82 w 1199"/>
              <a:gd name="T3" fmla="*/ 142 h 567"/>
              <a:gd name="T4" fmla="*/ 236 w 1199"/>
              <a:gd name="T5" fmla="*/ 58 h 567"/>
              <a:gd name="T6" fmla="*/ 447 w 1199"/>
              <a:gd name="T7" fmla="*/ 9 h 567"/>
              <a:gd name="T8" fmla="*/ 721 w 1199"/>
              <a:gd name="T9" fmla="*/ 9 h 567"/>
              <a:gd name="T10" fmla="*/ 967 w 1199"/>
              <a:gd name="T11" fmla="*/ 65 h 567"/>
              <a:gd name="T12" fmla="*/ 1100 w 1199"/>
              <a:gd name="T13" fmla="*/ 156 h 567"/>
              <a:gd name="T14" fmla="*/ 1185 w 1199"/>
              <a:gd name="T15" fmla="*/ 261 h 567"/>
              <a:gd name="T16" fmla="*/ 1185 w 1199"/>
              <a:gd name="T17" fmla="*/ 332 h 567"/>
              <a:gd name="T18" fmla="*/ 1142 w 1199"/>
              <a:gd name="T19" fmla="*/ 423 h 567"/>
              <a:gd name="T20" fmla="*/ 1030 w 1199"/>
              <a:gd name="T21" fmla="*/ 493 h 567"/>
              <a:gd name="T22" fmla="*/ 974 w 1199"/>
              <a:gd name="T23" fmla="*/ 465 h 567"/>
              <a:gd name="T24" fmla="*/ 854 w 1199"/>
              <a:gd name="T25" fmla="*/ 430 h 567"/>
              <a:gd name="T26" fmla="*/ 721 w 1199"/>
              <a:gd name="T27" fmla="*/ 423 h 567"/>
              <a:gd name="T28" fmla="*/ 623 w 1199"/>
              <a:gd name="T29" fmla="*/ 430 h 567"/>
              <a:gd name="T30" fmla="*/ 489 w 1199"/>
              <a:gd name="T31" fmla="*/ 465 h 567"/>
              <a:gd name="T32" fmla="*/ 433 w 1199"/>
              <a:gd name="T33" fmla="*/ 507 h 567"/>
              <a:gd name="T34" fmla="*/ 349 w 1199"/>
              <a:gd name="T35" fmla="*/ 564 h 567"/>
              <a:gd name="T36" fmla="*/ 250 w 1199"/>
              <a:gd name="T37" fmla="*/ 528 h 567"/>
              <a:gd name="T38" fmla="*/ 145 w 1199"/>
              <a:gd name="T39" fmla="*/ 486 h 567"/>
              <a:gd name="T40" fmla="*/ 54 w 1199"/>
              <a:gd name="T41" fmla="*/ 416 h 567"/>
              <a:gd name="T42" fmla="*/ 12 w 1199"/>
              <a:gd name="T43" fmla="*/ 346 h 567"/>
              <a:gd name="T44" fmla="*/ 12 w 1199"/>
              <a:gd name="T45" fmla="*/ 276 h 5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199" h="567">
                <a:moveTo>
                  <a:pt x="12" y="276"/>
                </a:moveTo>
                <a:cubicBezTo>
                  <a:pt x="24" y="242"/>
                  <a:pt x="45" y="178"/>
                  <a:pt x="82" y="142"/>
                </a:cubicBezTo>
                <a:cubicBezTo>
                  <a:pt x="119" y="106"/>
                  <a:pt x="175" y="80"/>
                  <a:pt x="236" y="58"/>
                </a:cubicBezTo>
                <a:cubicBezTo>
                  <a:pt x="297" y="36"/>
                  <a:pt x="366" y="17"/>
                  <a:pt x="447" y="9"/>
                </a:cubicBezTo>
                <a:cubicBezTo>
                  <a:pt x="528" y="1"/>
                  <a:pt x="634" y="0"/>
                  <a:pt x="721" y="9"/>
                </a:cubicBezTo>
                <a:cubicBezTo>
                  <a:pt x="808" y="18"/>
                  <a:pt x="904" y="40"/>
                  <a:pt x="967" y="65"/>
                </a:cubicBezTo>
                <a:cubicBezTo>
                  <a:pt x="1030" y="90"/>
                  <a:pt x="1064" y="123"/>
                  <a:pt x="1100" y="156"/>
                </a:cubicBezTo>
                <a:cubicBezTo>
                  <a:pt x="1136" y="189"/>
                  <a:pt x="1171" y="232"/>
                  <a:pt x="1185" y="261"/>
                </a:cubicBezTo>
                <a:cubicBezTo>
                  <a:pt x="1199" y="290"/>
                  <a:pt x="1192" y="305"/>
                  <a:pt x="1185" y="332"/>
                </a:cubicBezTo>
                <a:cubicBezTo>
                  <a:pt x="1178" y="359"/>
                  <a:pt x="1168" y="396"/>
                  <a:pt x="1142" y="423"/>
                </a:cubicBezTo>
                <a:cubicBezTo>
                  <a:pt x="1116" y="450"/>
                  <a:pt x="1058" y="486"/>
                  <a:pt x="1030" y="493"/>
                </a:cubicBezTo>
                <a:cubicBezTo>
                  <a:pt x="1002" y="500"/>
                  <a:pt x="1003" y="475"/>
                  <a:pt x="974" y="465"/>
                </a:cubicBezTo>
                <a:cubicBezTo>
                  <a:pt x="945" y="455"/>
                  <a:pt x="896" y="437"/>
                  <a:pt x="854" y="430"/>
                </a:cubicBezTo>
                <a:cubicBezTo>
                  <a:pt x="812" y="423"/>
                  <a:pt x="759" y="423"/>
                  <a:pt x="721" y="423"/>
                </a:cubicBezTo>
                <a:cubicBezTo>
                  <a:pt x="683" y="423"/>
                  <a:pt x="662" y="423"/>
                  <a:pt x="623" y="430"/>
                </a:cubicBezTo>
                <a:cubicBezTo>
                  <a:pt x="584" y="437"/>
                  <a:pt x="521" y="452"/>
                  <a:pt x="489" y="465"/>
                </a:cubicBezTo>
                <a:cubicBezTo>
                  <a:pt x="457" y="478"/>
                  <a:pt x="456" y="491"/>
                  <a:pt x="433" y="507"/>
                </a:cubicBezTo>
                <a:cubicBezTo>
                  <a:pt x="410" y="523"/>
                  <a:pt x="379" y="561"/>
                  <a:pt x="349" y="564"/>
                </a:cubicBezTo>
                <a:cubicBezTo>
                  <a:pt x="319" y="567"/>
                  <a:pt x="284" y="541"/>
                  <a:pt x="250" y="528"/>
                </a:cubicBezTo>
                <a:cubicBezTo>
                  <a:pt x="216" y="515"/>
                  <a:pt x="178" y="505"/>
                  <a:pt x="145" y="486"/>
                </a:cubicBezTo>
                <a:cubicBezTo>
                  <a:pt x="112" y="467"/>
                  <a:pt x="76" y="439"/>
                  <a:pt x="54" y="416"/>
                </a:cubicBezTo>
                <a:cubicBezTo>
                  <a:pt x="32" y="393"/>
                  <a:pt x="18" y="373"/>
                  <a:pt x="12" y="346"/>
                </a:cubicBezTo>
                <a:cubicBezTo>
                  <a:pt x="6" y="319"/>
                  <a:pt x="0" y="310"/>
                  <a:pt x="12" y="276"/>
                </a:cubicBezTo>
                <a:close/>
              </a:path>
            </a:pathLst>
          </a:custGeom>
          <a:pattFill prst="wdUpDiag">
            <a:fgClr>
              <a:schemeClr val="accent1"/>
            </a:fgClr>
            <a:bgClr>
              <a:schemeClr val="bg1"/>
            </a:bgClr>
          </a:pattFill>
          <a:ln>
            <a:noFill/>
          </a:ln>
          <a:effectLst/>
          <a:extLst>
            <a:ext uri="{91240B29-F687-4F45-9708-019B960494DF}">
              <a14:hiddenLine xmlns:a14="http://schemas.microsoft.com/office/drawing/2010/main" w="9525" cap="flat" cmpd="sng">
                <a:solidFill>
                  <a:schemeClr val="accent2"/>
                </a:solidFill>
                <a:prstDash val="solid"/>
                <a:round/>
                <a:headEnd type="none" w="sm" len="sm"/>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457200"/>
            <a:endParaRPr lang="en-AU">
              <a:solidFill>
                <a:srgbClr val="D1161E"/>
              </a:solidFill>
              <a:latin typeface="Calibri"/>
            </a:endParaRPr>
          </a:p>
        </p:txBody>
      </p:sp>
      <p:sp>
        <p:nvSpPr>
          <p:cNvPr id="15" name="Oval 9"/>
          <p:cNvSpPr>
            <a:spLocks noChangeArrowheads="1"/>
          </p:cNvSpPr>
          <p:nvPr/>
        </p:nvSpPr>
        <p:spPr bwMode="auto">
          <a:xfrm>
            <a:off x="7937968" y="3331883"/>
            <a:ext cx="1862138" cy="944563"/>
          </a:xfrm>
          <a:prstGeom prst="ellipse">
            <a:avLst/>
          </a:prstGeom>
          <a:solidFill>
            <a:schemeClr val="bg2"/>
          </a:solidFill>
          <a:ln w="12700">
            <a:solidFill>
              <a:schemeClr val="tx1"/>
            </a:solidFill>
            <a:round/>
            <a:headEnd/>
            <a:tailEnd/>
          </a:ln>
          <a:effectLst/>
        </p:spPr>
        <p:txBody>
          <a:bodyPr anchor="ctr"/>
          <a:lstStyle/>
          <a:p>
            <a:pPr algn="ctr" defTabSz="457200"/>
            <a:r>
              <a:rPr lang="en-AU">
                <a:solidFill>
                  <a:srgbClr val="D1161E"/>
                </a:solidFill>
                <a:latin typeface="Lucida Console" pitchFamily="49" charset="0"/>
              </a:rPr>
              <a:t>STUDENT</a:t>
            </a:r>
            <a:endParaRPr lang="en-US">
              <a:solidFill>
                <a:srgbClr val="D1161E"/>
              </a:solidFill>
              <a:latin typeface="Lucida Console" pitchFamily="49" charset="0"/>
            </a:endParaRPr>
          </a:p>
        </p:txBody>
      </p:sp>
      <p:cxnSp>
        <p:nvCxnSpPr>
          <p:cNvPr id="16" name="Straight Arrow Connector 15"/>
          <p:cNvCxnSpPr/>
          <p:nvPr/>
        </p:nvCxnSpPr>
        <p:spPr>
          <a:xfrm flipH="1" flipV="1">
            <a:off x="5531225" y="3597657"/>
            <a:ext cx="2321859" cy="512100"/>
          </a:xfrm>
          <a:prstGeom prst="straightConnector1">
            <a:avLst/>
          </a:prstGeom>
          <a:ln w="28575">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sp>
        <p:nvSpPr>
          <p:cNvPr id="13" name="Oval 7"/>
          <p:cNvSpPr>
            <a:spLocks noChangeArrowheads="1"/>
          </p:cNvSpPr>
          <p:nvPr/>
        </p:nvSpPr>
        <p:spPr bwMode="auto">
          <a:xfrm>
            <a:off x="8391994" y="3990696"/>
            <a:ext cx="1414463" cy="944563"/>
          </a:xfrm>
          <a:prstGeom prst="ellipse">
            <a:avLst/>
          </a:prstGeom>
          <a:pattFill prst="wdUpDiag">
            <a:fgClr>
              <a:schemeClr val="accent1"/>
            </a:fgClr>
            <a:bgClr>
              <a:schemeClr val="bg1"/>
            </a:bgClr>
          </a:pattFill>
          <a:ln w="12700">
            <a:solidFill>
              <a:schemeClr val="tx1"/>
            </a:solidFill>
            <a:round/>
            <a:headEnd/>
            <a:tailEnd/>
          </a:ln>
          <a:effectLst/>
        </p:spPr>
        <p:txBody>
          <a:bodyPr anchor="ctr"/>
          <a:lstStyle/>
          <a:p>
            <a:pPr algn="ctr" defTabSz="457200"/>
            <a:r>
              <a:rPr lang="en-AU" dirty="0">
                <a:solidFill>
                  <a:srgbClr val="D1161E"/>
                </a:solidFill>
                <a:latin typeface="Lucida Console" pitchFamily="49" charset="0"/>
              </a:rPr>
              <a:t>TUTOR</a:t>
            </a:r>
            <a:endParaRPr lang="en-US" dirty="0">
              <a:solidFill>
                <a:srgbClr val="D1161E"/>
              </a:solidFill>
              <a:latin typeface="Lucida Console" pitchFamily="49" charset="0"/>
            </a:endParaRPr>
          </a:p>
        </p:txBody>
      </p:sp>
    </p:spTree>
    <p:extLst>
      <p:ext uri="{BB962C8B-B14F-4D97-AF65-F5344CB8AC3E}">
        <p14:creationId xmlns:p14="http://schemas.microsoft.com/office/powerpoint/2010/main" val="127883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r>
              <a:rPr lang="en-AU"/>
              <a:t>SQL: Selecting Literals</a:t>
            </a:r>
          </a:p>
        </p:txBody>
      </p:sp>
      <p:sp>
        <p:nvSpPr>
          <p:cNvPr id="55300" name="Rectangle 3"/>
          <p:cNvSpPr>
            <a:spLocks noGrp="1" noChangeArrowheads="1"/>
          </p:cNvSpPr>
          <p:nvPr>
            <p:ph idx="1"/>
          </p:nvPr>
        </p:nvSpPr>
        <p:spPr>
          <a:xfrm>
            <a:off x="1981200" y="806825"/>
            <a:ext cx="8010626" cy="4198313"/>
          </a:xfrm>
        </p:spPr>
        <p:txBody>
          <a:bodyPr/>
          <a:lstStyle/>
          <a:p>
            <a:pPr marL="268288" indent="-268288"/>
            <a:r>
              <a:rPr lang="en-AU" sz="2200" dirty="0"/>
              <a:t>When dealing with non matching columns between the tables, </a:t>
            </a:r>
            <a:br>
              <a:rPr lang="en-AU" sz="2200" dirty="0"/>
            </a:br>
            <a:r>
              <a:rPr lang="en-AU" sz="2200" dirty="0"/>
              <a:t>you may need to utilise </a:t>
            </a:r>
            <a:r>
              <a:rPr lang="en-AU" sz="2200" b="1" dirty="0"/>
              <a:t>literal</a:t>
            </a:r>
            <a:r>
              <a:rPr lang="en-AU" sz="2200" dirty="0"/>
              <a:t> values </a:t>
            </a:r>
          </a:p>
          <a:p>
            <a:pPr marL="268288" indent="-268288"/>
            <a:r>
              <a:rPr lang="en-AU" sz="2200" dirty="0"/>
              <a:t>What is a </a:t>
            </a:r>
            <a:r>
              <a:rPr lang="en-AU" sz="2200" b="1" dirty="0"/>
              <a:t>literal</a:t>
            </a:r>
            <a:r>
              <a:rPr lang="en-AU" sz="2200" dirty="0"/>
              <a:t> value?  A literal value is a value 'hardcoded' into the query; the value is not generated by a value in the table.</a:t>
            </a:r>
          </a:p>
          <a:p>
            <a:pPr marL="268288" indent="-268288"/>
            <a:endParaRPr lang="en-AU" dirty="0"/>
          </a:p>
        </p:txBody>
      </p:sp>
      <p:sp>
        <p:nvSpPr>
          <p:cNvPr id="6" name="TextBox 5"/>
          <p:cNvSpPr txBox="1"/>
          <p:nvPr/>
        </p:nvSpPr>
        <p:spPr>
          <a:xfrm>
            <a:off x="2369982" y="3207545"/>
            <a:ext cx="2429995" cy="1323439"/>
          </a:xfrm>
          <a:prstGeom prst="rect">
            <a:avLst/>
          </a:prstGeom>
          <a:noFill/>
          <a:ln>
            <a:solidFill>
              <a:srgbClr val="0033CC"/>
            </a:solidFill>
          </a:ln>
        </p:spPr>
        <p:txBody>
          <a:bodyPr wrap="square" rtlCol="0">
            <a:spAutoFit/>
          </a:bodyPr>
          <a:lstStyle/>
          <a:p>
            <a:pPr defTabSz="457200"/>
            <a:r>
              <a:rPr lang="en-AU" sz="2000" dirty="0">
                <a:solidFill>
                  <a:srgbClr val="0000FF"/>
                </a:solidFill>
                <a:latin typeface="Calibri"/>
              </a:rPr>
              <a:t>Celeste	</a:t>
            </a:r>
            <a:r>
              <a:rPr lang="en-AU" sz="2000" dirty="0">
                <a:solidFill>
                  <a:srgbClr val="0C64A7"/>
                </a:solidFill>
                <a:latin typeface="Calibri"/>
              </a:rPr>
              <a:t>F </a:t>
            </a:r>
          </a:p>
          <a:p>
            <a:pPr defTabSz="457200"/>
            <a:r>
              <a:rPr lang="en-AU" sz="2000" dirty="0">
                <a:solidFill>
                  <a:srgbClr val="0000FF"/>
                </a:solidFill>
                <a:latin typeface="Calibri"/>
              </a:rPr>
              <a:t>Fred</a:t>
            </a:r>
            <a:r>
              <a:rPr lang="en-AU" sz="2000" dirty="0">
                <a:solidFill>
                  <a:srgbClr val="D1161E"/>
                </a:solidFill>
                <a:latin typeface="Calibri"/>
              </a:rPr>
              <a:t>	</a:t>
            </a:r>
            <a:r>
              <a:rPr lang="en-AU" sz="2000" dirty="0">
                <a:solidFill>
                  <a:srgbClr val="0C64A7"/>
                </a:solidFill>
                <a:latin typeface="Calibri"/>
              </a:rPr>
              <a:t>M</a:t>
            </a:r>
            <a:r>
              <a:rPr lang="en-AU" sz="2000" dirty="0">
                <a:solidFill>
                  <a:srgbClr val="D1161E"/>
                </a:solidFill>
                <a:latin typeface="Calibri"/>
              </a:rPr>
              <a:t> </a:t>
            </a:r>
          </a:p>
          <a:p>
            <a:pPr defTabSz="457200"/>
            <a:r>
              <a:rPr lang="en-AU" sz="2000" dirty="0" err="1">
                <a:solidFill>
                  <a:srgbClr val="0000FF"/>
                </a:solidFill>
                <a:latin typeface="Calibri"/>
              </a:rPr>
              <a:t>Jeni</a:t>
            </a:r>
            <a:r>
              <a:rPr lang="en-AU" sz="2000" dirty="0">
                <a:solidFill>
                  <a:srgbClr val="D1161E"/>
                </a:solidFill>
                <a:latin typeface="Calibri"/>
              </a:rPr>
              <a:t>		</a:t>
            </a:r>
            <a:r>
              <a:rPr lang="en-AU" sz="2000" dirty="0">
                <a:solidFill>
                  <a:srgbClr val="0C64A7"/>
                </a:solidFill>
                <a:latin typeface="Calibri"/>
              </a:rPr>
              <a:t>F</a:t>
            </a:r>
          </a:p>
          <a:p>
            <a:pPr defTabSz="457200"/>
            <a:r>
              <a:rPr lang="en-AU" sz="2000" dirty="0">
                <a:solidFill>
                  <a:srgbClr val="0000FF"/>
                </a:solidFill>
                <a:latin typeface="Calibri"/>
              </a:rPr>
              <a:t>Louis</a:t>
            </a:r>
            <a:r>
              <a:rPr lang="en-AU" sz="2000" dirty="0">
                <a:solidFill>
                  <a:srgbClr val="0C64A7"/>
                </a:solidFill>
                <a:latin typeface="Calibri"/>
              </a:rPr>
              <a:t>	M</a:t>
            </a:r>
          </a:p>
        </p:txBody>
      </p:sp>
      <p:sp>
        <p:nvSpPr>
          <p:cNvPr id="2" name="TextBox 1"/>
          <p:cNvSpPr txBox="1"/>
          <p:nvPr/>
        </p:nvSpPr>
        <p:spPr>
          <a:xfrm>
            <a:off x="1762227" y="2293747"/>
            <a:ext cx="3645507" cy="1200329"/>
          </a:xfrm>
          <a:prstGeom prst="rect">
            <a:avLst/>
          </a:prstGeom>
          <a:noFill/>
        </p:spPr>
        <p:txBody>
          <a:bodyPr wrap="square" rtlCol="0">
            <a:spAutoFit/>
          </a:bodyPr>
          <a:lstStyle/>
          <a:p>
            <a:pPr marL="742950" lvl="1" indent="-285750" defTabSz="457200"/>
            <a:r>
              <a:rPr lang="en-AU" dirty="0">
                <a:solidFill>
                  <a:srgbClr val="0033CC"/>
                </a:solidFill>
                <a:latin typeface="Calibri"/>
              </a:rPr>
              <a:t>SELECT   name,   gender</a:t>
            </a:r>
          </a:p>
          <a:p>
            <a:pPr marL="742950" lvl="1" indent="-285750" defTabSz="457200"/>
            <a:r>
              <a:rPr lang="en-AU" dirty="0">
                <a:solidFill>
                  <a:srgbClr val="0033CC"/>
                </a:solidFill>
                <a:latin typeface="Calibri"/>
              </a:rPr>
              <a:t>FROM    customer</a:t>
            </a:r>
          </a:p>
          <a:p>
            <a:pPr marL="742950" lvl="1" indent="-285750" defTabSz="457200"/>
            <a:r>
              <a:rPr lang="en-AU" dirty="0">
                <a:solidFill>
                  <a:srgbClr val="0033CC"/>
                </a:solidFill>
                <a:latin typeface="Calibri"/>
              </a:rPr>
              <a:t>WHERE  gender is NOT NULL;</a:t>
            </a:r>
          </a:p>
          <a:p>
            <a:pPr defTabSz="457200"/>
            <a:endParaRPr lang="en-AU" dirty="0">
              <a:solidFill>
                <a:srgbClr val="D1161E"/>
              </a:solidFill>
              <a:latin typeface="Calibri"/>
            </a:endParaRPr>
          </a:p>
        </p:txBody>
      </p:sp>
      <p:sp>
        <p:nvSpPr>
          <p:cNvPr id="8" name="TextBox 7"/>
          <p:cNvSpPr txBox="1"/>
          <p:nvPr/>
        </p:nvSpPr>
        <p:spPr>
          <a:xfrm>
            <a:off x="6323846" y="2293747"/>
            <a:ext cx="3142976" cy="1200329"/>
          </a:xfrm>
          <a:prstGeom prst="rect">
            <a:avLst/>
          </a:prstGeom>
          <a:noFill/>
        </p:spPr>
        <p:txBody>
          <a:bodyPr wrap="none" rtlCol="0">
            <a:spAutoFit/>
          </a:bodyPr>
          <a:lstStyle/>
          <a:p>
            <a:pPr marL="742950" lvl="1" indent="-285750" defTabSz="457200"/>
            <a:r>
              <a:rPr lang="en-AU" dirty="0">
                <a:solidFill>
                  <a:srgbClr val="0033CC"/>
                </a:solidFill>
                <a:latin typeface="Calibri"/>
              </a:rPr>
              <a:t>SELECT   name, 'Unknown' </a:t>
            </a:r>
          </a:p>
          <a:p>
            <a:pPr marL="742950" lvl="1" indent="-285750" defTabSz="457200"/>
            <a:r>
              <a:rPr lang="en-AU" dirty="0">
                <a:solidFill>
                  <a:srgbClr val="0033CC"/>
                </a:solidFill>
                <a:latin typeface="Calibri"/>
              </a:rPr>
              <a:t>FROM    customer</a:t>
            </a:r>
          </a:p>
          <a:p>
            <a:pPr marL="742950" lvl="1" indent="-285750" defTabSz="457200"/>
            <a:r>
              <a:rPr lang="en-AU" dirty="0">
                <a:solidFill>
                  <a:srgbClr val="0033CC"/>
                </a:solidFill>
                <a:latin typeface="Calibri"/>
              </a:rPr>
              <a:t>WHERE  gender is NULL</a:t>
            </a:r>
          </a:p>
          <a:p>
            <a:pPr defTabSz="457200"/>
            <a:endParaRPr lang="en-AU" dirty="0">
              <a:solidFill>
                <a:srgbClr val="D1161E"/>
              </a:solidFill>
              <a:latin typeface="Calibri"/>
            </a:endParaRPr>
          </a:p>
        </p:txBody>
      </p:sp>
      <p:sp>
        <p:nvSpPr>
          <p:cNvPr id="9" name="TextBox 8"/>
          <p:cNvSpPr txBox="1"/>
          <p:nvPr/>
        </p:nvSpPr>
        <p:spPr>
          <a:xfrm>
            <a:off x="6893299" y="3171652"/>
            <a:ext cx="2429995" cy="1015663"/>
          </a:xfrm>
          <a:prstGeom prst="rect">
            <a:avLst/>
          </a:prstGeom>
          <a:noFill/>
          <a:ln>
            <a:solidFill>
              <a:srgbClr val="0033CC"/>
            </a:solidFill>
          </a:ln>
        </p:spPr>
        <p:txBody>
          <a:bodyPr wrap="square" rtlCol="0">
            <a:spAutoFit/>
          </a:bodyPr>
          <a:lstStyle/>
          <a:p>
            <a:pPr defTabSz="457200"/>
            <a:r>
              <a:rPr lang="en-AU" sz="2000" dirty="0">
                <a:solidFill>
                  <a:srgbClr val="0000FF"/>
                </a:solidFill>
                <a:latin typeface="Calibri"/>
              </a:rPr>
              <a:t>Chris</a:t>
            </a:r>
            <a:r>
              <a:rPr lang="en-AU" sz="2000" dirty="0">
                <a:solidFill>
                  <a:srgbClr val="D1161E"/>
                </a:solidFill>
                <a:latin typeface="Calibri"/>
              </a:rPr>
              <a:t>	</a:t>
            </a:r>
            <a:r>
              <a:rPr lang="en-AU" sz="2000" dirty="0">
                <a:solidFill>
                  <a:srgbClr val="0C64A7"/>
                </a:solidFill>
                <a:latin typeface="Calibri"/>
              </a:rPr>
              <a:t>Unknown</a:t>
            </a:r>
            <a:r>
              <a:rPr lang="en-AU" sz="2000" dirty="0">
                <a:solidFill>
                  <a:srgbClr val="D1161E"/>
                </a:solidFill>
                <a:latin typeface="Calibri"/>
              </a:rPr>
              <a:t> </a:t>
            </a:r>
          </a:p>
          <a:p>
            <a:pPr defTabSz="457200"/>
            <a:r>
              <a:rPr lang="en-AU" sz="2000" dirty="0">
                <a:solidFill>
                  <a:srgbClr val="0000FF"/>
                </a:solidFill>
                <a:latin typeface="Calibri"/>
              </a:rPr>
              <a:t>Lee</a:t>
            </a:r>
            <a:r>
              <a:rPr lang="en-AU" sz="2000" dirty="0">
                <a:solidFill>
                  <a:srgbClr val="D1161E"/>
                </a:solidFill>
                <a:latin typeface="Calibri"/>
              </a:rPr>
              <a:t>		</a:t>
            </a:r>
            <a:r>
              <a:rPr lang="en-AU" sz="2000" dirty="0">
                <a:solidFill>
                  <a:srgbClr val="0C64A7"/>
                </a:solidFill>
                <a:latin typeface="Calibri"/>
              </a:rPr>
              <a:t>Unknown</a:t>
            </a:r>
          </a:p>
          <a:p>
            <a:pPr defTabSz="457200"/>
            <a:r>
              <a:rPr lang="en-AU" sz="2000" dirty="0">
                <a:solidFill>
                  <a:srgbClr val="0000FF"/>
                </a:solidFill>
                <a:latin typeface="Calibri"/>
              </a:rPr>
              <a:t>Taylor	</a:t>
            </a:r>
            <a:r>
              <a:rPr lang="en-AU" sz="2000" dirty="0">
                <a:solidFill>
                  <a:srgbClr val="0C64A7"/>
                </a:solidFill>
                <a:latin typeface="Calibri"/>
              </a:rPr>
              <a:t>Unknown</a:t>
            </a:r>
          </a:p>
        </p:txBody>
      </p:sp>
      <p:sp>
        <p:nvSpPr>
          <p:cNvPr id="10" name="TextBox 9"/>
          <p:cNvSpPr txBox="1"/>
          <p:nvPr/>
        </p:nvSpPr>
        <p:spPr>
          <a:xfrm>
            <a:off x="1762226" y="4706117"/>
            <a:ext cx="8229600" cy="1477328"/>
          </a:xfrm>
          <a:prstGeom prst="rect">
            <a:avLst/>
          </a:prstGeom>
          <a:noFill/>
        </p:spPr>
        <p:txBody>
          <a:bodyPr wrap="square" rtlCol="0">
            <a:spAutoFit/>
          </a:bodyPr>
          <a:lstStyle/>
          <a:p>
            <a:pPr marL="742950" lvl="1" indent="-285750" defTabSz="457200"/>
            <a:r>
              <a:rPr lang="en-AU" dirty="0">
                <a:solidFill>
                  <a:srgbClr val="0033CC"/>
                </a:solidFill>
                <a:latin typeface="Calibri"/>
              </a:rPr>
              <a:t>SELECT   name, 'Unknown' FROM    customer WHERE  gender is NULL</a:t>
            </a:r>
          </a:p>
          <a:p>
            <a:pPr marL="742950" lvl="1" indent="-285750" defTabSz="457200"/>
            <a:r>
              <a:rPr lang="en-AU" dirty="0">
                <a:solidFill>
                  <a:srgbClr val="0033CC"/>
                </a:solidFill>
                <a:latin typeface="Calibri"/>
              </a:rPr>
              <a:t>UNION</a:t>
            </a:r>
          </a:p>
          <a:p>
            <a:pPr marL="742950" lvl="1" indent="-285750" defTabSz="457200"/>
            <a:r>
              <a:rPr lang="en-AU" dirty="0">
                <a:solidFill>
                  <a:srgbClr val="0033CC"/>
                </a:solidFill>
                <a:latin typeface="Calibri"/>
              </a:rPr>
              <a:t>SELECT   name, 'Unknown' FROM    customer WHERE  gender is NOT NULL</a:t>
            </a:r>
          </a:p>
          <a:p>
            <a:pPr marL="742950" lvl="1" indent="-285750" defTabSz="457200"/>
            <a:endParaRPr lang="en-AU" dirty="0">
              <a:solidFill>
                <a:srgbClr val="0033CC"/>
              </a:solidFill>
              <a:latin typeface="Calibri"/>
            </a:endParaRPr>
          </a:p>
          <a:p>
            <a:pPr defTabSz="457200"/>
            <a:endParaRPr lang="en-AU" dirty="0">
              <a:solidFill>
                <a:srgbClr val="D1161E"/>
              </a:solidFill>
              <a:latin typeface="Calibri"/>
            </a:endParaRPr>
          </a:p>
        </p:txBody>
      </p:sp>
      <p:sp>
        <p:nvSpPr>
          <p:cNvPr id="11" name="TextBox 10"/>
          <p:cNvSpPr txBox="1"/>
          <p:nvPr/>
        </p:nvSpPr>
        <p:spPr>
          <a:xfrm>
            <a:off x="4662029" y="5650304"/>
            <a:ext cx="2429995" cy="1015663"/>
          </a:xfrm>
          <a:prstGeom prst="rect">
            <a:avLst/>
          </a:prstGeom>
          <a:noFill/>
          <a:ln>
            <a:solidFill>
              <a:srgbClr val="0033CC"/>
            </a:solidFill>
          </a:ln>
        </p:spPr>
        <p:txBody>
          <a:bodyPr wrap="square" rtlCol="0">
            <a:spAutoFit/>
          </a:bodyPr>
          <a:lstStyle/>
          <a:p>
            <a:pPr defTabSz="457200"/>
            <a:r>
              <a:rPr lang="en-AU" sz="2000" dirty="0">
                <a:solidFill>
                  <a:srgbClr val="0000FF"/>
                </a:solidFill>
                <a:latin typeface="Calibri"/>
              </a:rPr>
              <a:t>Celeste	</a:t>
            </a:r>
            <a:r>
              <a:rPr lang="en-AU" sz="2000" dirty="0">
                <a:solidFill>
                  <a:srgbClr val="0C64A7"/>
                </a:solidFill>
                <a:latin typeface="Calibri"/>
              </a:rPr>
              <a:t>F </a:t>
            </a:r>
          </a:p>
          <a:p>
            <a:pPr defTabSz="457200"/>
            <a:r>
              <a:rPr lang="en-AU" sz="2000" dirty="0">
                <a:solidFill>
                  <a:srgbClr val="0000FF"/>
                </a:solidFill>
                <a:latin typeface="Calibri"/>
              </a:rPr>
              <a:t>Chris</a:t>
            </a:r>
            <a:r>
              <a:rPr lang="en-AU" sz="2000" dirty="0">
                <a:solidFill>
                  <a:srgbClr val="D1161E"/>
                </a:solidFill>
                <a:latin typeface="Calibri"/>
              </a:rPr>
              <a:t>	</a:t>
            </a:r>
            <a:r>
              <a:rPr lang="en-AU" sz="2000" dirty="0">
                <a:solidFill>
                  <a:srgbClr val="0C64A7"/>
                </a:solidFill>
                <a:latin typeface="Calibri"/>
              </a:rPr>
              <a:t>Unknown</a:t>
            </a:r>
          </a:p>
          <a:p>
            <a:pPr defTabSz="457200"/>
            <a:r>
              <a:rPr lang="en-AU" sz="2000" dirty="0">
                <a:solidFill>
                  <a:srgbClr val="0000FF"/>
                </a:solidFill>
                <a:latin typeface="Calibri"/>
              </a:rPr>
              <a:t>Fred</a:t>
            </a:r>
            <a:r>
              <a:rPr lang="en-AU" sz="2000" dirty="0">
                <a:solidFill>
                  <a:srgbClr val="D1161E"/>
                </a:solidFill>
                <a:latin typeface="Calibri"/>
              </a:rPr>
              <a:t>	</a:t>
            </a:r>
            <a:r>
              <a:rPr lang="en-AU" sz="2000" dirty="0">
                <a:solidFill>
                  <a:srgbClr val="0C64A7"/>
                </a:solidFill>
                <a:latin typeface="Calibri"/>
              </a:rPr>
              <a:t>M …</a:t>
            </a:r>
          </a:p>
        </p:txBody>
      </p:sp>
    </p:spTree>
    <p:extLst>
      <p:ext uri="{BB962C8B-B14F-4D97-AF65-F5344CB8AC3E}">
        <p14:creationId xmlns:p14="http://schemas.microsoft.com/office/powerpoint/2010/main" val="214727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529482" y="5665694"/>
            <a:ext cx="1138518" cy="119230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AU">
              <a:solidFill>
                <a:srgbClr val="FFFFFF"/>
              </a:solidFill>
              <a:latin typeface="Calibri"/>
            </a:endParaRPr>
          </a:p>
        </p:txBody>
      </p:sp>
      <p:sp>
        <p:nvSpPr>
          <p:cNvPr id="57347" name="Rectangle 2"/>
          <p:cNvSpPr>
            <a:spLocks noGrp="1" noChangeArrowheads="1"/>
          </p:cNvSpPr>
          <p:nvPr>
            <p:ph type="title"/>
          </p:nvPr>
        </p:nvSpPr>
        <p:spPr/>
        <p:txBody>
          <a:bodyPr/>
          <a:lstStyle/>
          <a:p>
            <a:pPr marL="685800" indent="-685800"/>
            <a:r>
              <a:rPr lang="en-AU"/>
              <a:t>SQL: Unions &amp; Literals</a:t>
            </a:r>
          </a:p>
        </p:txBody>
      </p:sp>
      <p:sp>
        <p:nvSpPr>
          <p:cNvPr id="57348" name="Text Box 3"/>
          <p:cNvSpPr txBox="1">
            <a:spLocks noChangeArrowheads="1"/>
          </p:cNvSpPr>
          <p:nvPr/>
        </p:nvSpPr>
        <p:spPr bwMode="auto">
          <a:xfrm>
            <a:off x="1949450" y="836613"/>
            <a:ext cx="856297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57188" indent="-268288" eaLnBrk="0" hangingPunct="0">
              <a:tabLst>
                <a:tab pos="1160463" algn="l"/>
              </a:tabLst>
              <a:defRPr sz="2400" b="1" i="1">
                <a:solidFill>
                  <a:schemeClr val="tx1"/>
                </a:solidFill>
                <a:latin typeface="Arial Narrow" pitchFamily="34" charset="0"/>
              </a:defRPr>
            </a:lvl1pPr>
            <a:lvl2pPr marL="742950" indent="-285750" eaLnBrk="0" hangingPunct="0">
              <a:tabLst>
                <a:tab pos="1160463" algn="l"/>
              </a:tabLst>
              <a:defRPr sz="2400" b="1" i="1">
                <a:solidFill>
                  <a:schemeClr val="tx1"/>
                </a:solidFill>
                <a:latin typeface="Arial Narrow" pitchFamily="34" charset="0"/>
              </a:defRPr>
            </a:lvl2pPr>
            <a:lvl3pPr marL="1143000" indent="-228600" eaLnBrk="0" hangingPunct="0">
              <a:tabLst>
                <a:tab pos="1160463" algn="l"/>
              </a:tabLst>
              <a:defRPr sz="2400" b="1" i="1">
                <a:solidFill>
                  <a:schemeClr val="tx1"/>
                </a:solidFill>
                <a:latin typeface="Arial Narrow" pitchFamily="34" charset="0"/>
              </a:defRPr>
            </a:lvl3pPr>
            <a:lvl4pPr marL="1600200" indent="-228600" eaLnBrk="0" hangingPunct="0">
              <a:tabLst>
                <a:tab pos="1160463" algn="l"/>
              </a:tabLst>
              <a:defRPr sz="2400" b="1" i="1">
                <a:solidFill>
                  <a:schemeClr val="tx1"/>
                </a:solidFill>
                <a:latin typeface="Arial Narrow" pitchFamily="34" charset="0"/>
              </a:defRPr>
            </a:lvl4pPr>
            <a:lvl5pPr marL="2057400" indent="-228600" eaLnBrk="0" hangingPunct="0">
              <a:tabLst>
                <a:tab pos="1160463" algn="l"/>
              </a:tabLst>
              <a:defRPr sz="2400" b="1" i="1">
                <a:solidFill>
                  <a:schemeClr val="tx1"/>
                </a:solidFill>
                <a:latin typeface="Arial Narrow" pitchFamily="34" charset="0"/>
              </a:defRPr>
            </a:lvl5pPr>
            <a:lvl6pPr marL="2514600" indent="-228600" eaLnBrk="0" fontAlgn="base" hangingPunct="0">
              <a:spcBef>
                <a:spcPct val="0"/>
              </a:spcBef>
              <a:spcAft>
                <a:spcPct val="0"/>
              </a:spcAft>
              <a:tabLst>
                <a:tab pos="1160463" algn="l"/>
              </a:tabLst>
              <a:defRPr sz="2400" b="1" i="1">
                <a:solidFill>
                  <a:schemeClr val="tx1"/>
                </a:solidFill>
                <a:latin typeface="Arial Narrow" pitchFamily="34" charset="0"/>
              </a:defRPr>
            </a:lvl6pPr>
            <a:lvl7pPr marL="2971800" indent="-228600" eaLnBrk="0" fontAlgn="base" hangingPunct="0">
              <a:spcBef>
                <a:spcPct val="0"/>
              </a:spcBef>
              <a:spcAft>
                <a:spcPct val="0"/>
              </a:spcAft>
              <a:tabLst>
                <a:tab pos="1160463" algn="l"/>
              </a:tabLst>
              <a:defRPr sz="2400" b="1" i="1">
                <a:solidFill>
                  <a:schemeClr val="tx1"/>
                </a:solidFill>
                <a:latin typeface="Arial Narrow" pitchFamily="34" charset="0"/>
              </a:defRPr>
            </a:lvl7pPr>
            <a:lvl8pPr marL="3429000" indent="-228600" eaLnBrk="0" fontAlgn="base" hangingPunct="0">
              <a:spcBef>
                <a:spcPct val="0"/>
              </a:spcBef>
              <a:spcAft>
                <a:spcPct val="0"/>
              </a:spcAft>
              <a:tabLst>
                <a:tab pos="1160463" algn="l"/>
              </a:tabLst>
              <a:defRPr sz="2400" b="1" i="1">
                <a:solidFill>
                  <a:schemeClr val="tx1"/>
                </a:solidFill>
                <a:latin typeface="Arial Narrow" pitchFamily="34" charset="0"/>
              </a:defRPr>
            </a:lvl8pPr>
            <a:lvl9pPr marL="3886200" indent="-228600" eaLnBrk="0" fontAlgn="base" hangingPunct="0">
              <a:spcBef>
                <a:spcPct val="0"/>
              </a:spcBef>
              <a:spcAft>
                <a:spcPct val="0"/>
              </a:spcAft>
              <a:tabLst>
                <a:tab pos="1160463" algn="l"/>
              </a:tabLst>
              <a:defRPr sz="2400" b="1" i="1">
                <a:solidFill>
                  <a:schemeClr val="tx1"/>
                </a:solidFill>
                <a:latin typeface="Arial Narrow" pitchFamily="34" charset="0"/>
              </a:defRPr>
            </a:lvl9pPr>
          </a:lstStyle>
          <a:p>
            <a:pPr marL="88900" indent="0" defTabSz="457200" eaLnBrk="1" hangingPunct="1"/>
            <a:r>
              <a:rPr lang="en-US" b="0" i="0" dirty="0">
                <a:solidFill>
                  <a:srgbClr val="000000"/>
                </a:solidFill>
              </a:rPr>
              <a:t>Business Requirement: </a:t>
            </a:r>
            <a:br>
              <a:rPr lang="en-US" b="0" i="0" dirty="0">
                <a:solidFill>
                  <a:srgbClr val="000000"/>
                </a:solidFill>
              </a:rPr>
            </a:br>
            <a:r>
              <a:rPr lang="en-US" b="0" i="0" dirty="0">
                <a:solidFill>
                  <a:srgbClr val="000000"/>
                </a:solidFill>
              </a:rPr>
              <a:t>List all customers. If the customer has a exceeded their credit limit, then show "</a:t>
            </a:r>
            <a:r>
              <a:rPr lang="en-US" i="0" dirty="0">
                <a:solidFill>
                  <a:srgbClr val="000000"/>
                </a:solidFill>
              </a:rPr>
              <a:t>Bad Customer</a:t>
            </a:r>
            <a:r>
              <a:rPr lang="en-US" b="0" i="0" dirty="0">
                <a:solidFill>
                  <a:srgbClr val="000000"/>
                </a:solidFill>
              </a:rPr>
              <a:t>". Otherwise show "</a:t>
            </a:r>
            <a:r>
              <a:rPr lang="en-US" i="0" dirty="0">
                <a:solidFill>
                  <a:srgbClr val="000000"/>
                </a:solidFill>
              </a:rPr>
              <a:t>Good Customer</a:t>
            </a:r>
            <a:r>
              <a:rPr lang="en-US" b="0" i="0" dirty="0">
                <a:solidFill>
                  <a:srgbClr val="000000"/>
                </a:solidFill>
              </a:rPr>
              <a:t>".</a:t>
            </a:r>
          </a:p>
          <a:p>
            <a:pPr defTabSz="457200" eaLnBrk="1" hangingPunct="1"/>
            <a:endParaRPr lang="en-US" b="0" i="0" dirty="0">
              <a:solidFill>
                <a:srgbClr val="D1161E"/>
              </a:solidFill>
            </a:endParaRPr>
          </a:p>
          <a:p>
            <a:pPr defTabSz="457200" eaLnBrk="1" hangingPunct="1"/>
            <a:r>
              <a:rPr lang="en-US" sz="2000" b="0" i="0" dirty="0">
                <a:solidFill>
                  <a:srgbClr val="0033CC"/>
                </a:solidFill>
                <a:latin typeface="Calibri"/>
              </a:rPr>
              <a:t>SELECT	</a:t>
            </a:r>
            <a:r>
              <a:rPr lang="en-US" sz="2000" b="0" i="0" dirty="0" err="1">
                <a:solidFill>
                  <a:srgbClr val="0033CC"/>
                </a:solidFill>
                <a:latin typeface="Calibri"/>
              </a:rPr>
              <a:t>custnumb</a:t>
            </a:r>
            <a:r>
              <a:rPr lang="en-US" sz="2000" b="0" i="0" dirty="0">
                <a:solidFill>
                  <a:srgbClr val="0033CC"/>
                </a:solidFill>
                <a:latin typeface="Calibri"/>
              </a:rPr>
              <a:t>,   '</a:t>
            </a:r>
            <a:r>
              <a:rPr lang="en-US" sz="2000" b="0" i="0" dirty="0">
                <a:solidFill>
                  <a:srgbClr val="FF0000"/>
                </a:solidFill>
                <a:latin typeface="Calibri"/>
              </a:rPr>
              <a:t>Good Customer</a:t>
            </a:r>
            <a:r>
              <a:rPr lang="en-US" sz="2000" b="0" i="0" dirty="0">
                <a:solidFill>
                  <a:srgbClr val="0033CC"/>
                </a:solidFill>
                <a:latin typeface="Calibri"/>
              </a:rPr>
              <a:t> '  As Rating</a:t>
            </a:r>
          </a:p>
          <a:p>
            <a:pPr defTabSz="457200" eaLnBrk="1" hangingPunct="1"/>
            <a:r>
              <a:rPr lang="en-US" sz="2000" b="0" i="0" dirty="0">
                <a:solidFill>
                  <a:srgbClr val="0033CC"/>
                </a:solidFill>
                <a:latin typeface="Calibri"/>
              </a:rPr>
              <a:t>FROM	customer</a:t>
            </a:r>
          </a:p>
          <a:p>
            <a:pPr defTabSz="457200" eaLnBrk="1" hangingPunct="1"/>
            <a:r>
              <a:rPr lang="en-US" sz="2000" b="0" i="0" dirty="0">
                <a:solidFill>
                  <a:srgbClr val="0033CC"/>
                </a:solidFill>
                <a:latin typeface="Calibri"/>
              </a:rPr>
              <a:t>WHERE	balance &lt;= </a:t>
            </a:r>
            <a:r>
              <a:rPr lang="en-US" sz="2000" b="0" i="0" dirty="0" err="1">
                <a:solidFill>
                  <a:srgbClr val="0033CC"/>
                </a:solidFill>
                <a:latin typeface="Calibri"/>
              </a:rPr>
              <a:t>credlim</a:t>
            </a:r>
            <a:endParaRPr lang="en-US" sz="2000" b="0" i="0" dirty="0">
              <a:solidFill>
                <a:srgbClr val="0033CC"/>
              </a:solidFill>
              <a:latin typeface="Calibri"/>
            </a:endParaRPr>
          </a:p>
          <a:p>
            <a:pPr defTabSz="457200" eaLnBrk="1" hangingPunct="1"/>
            <a:r>
              <a:rPr lang="en-US" sz="2000" b="0" i="0" dirty="0">
                <a:solidFill>
                  <a:srgbClr val="0033CC"/>
                </a:solidFill>
                <a:latin typeface="Calibri"/>
              </a:rPr>
              <a:t>UNION</a:t>
            </a:r>
          </a:p>
          <a:p>
            <a:pPr defTabSz="457200" eaLnBrk="1" hangingPunct="1"/>
            <a:r>
              <a:rPr lang="en-US" sz="2000" b="0" i="0" dirty="0">
                <a:solidFill>
                  <a:srgbClr val="0033CC"/>
                </a:solidFill>
                <a:latin typeface="Calibri"/>
              </a:rPr>
              <a:t>SELECT	</a:t>
            </a:r>
            <a:r>
              <a:rPr lang="en-US" sz="2000" b="0" i="0" dirty="0" err="1">
                <a:solidFill>
                  <a:srgbClr val="0033CC"/>
                </a:solidFill>
                <a:latin typeface="Calibri"/>
              </a:rPr>
              <a:t>custnumb</a:t>
            </a:r>
            <a:r>
              <a:rPr lang="en-US" sz="2000" b="0" i="0" dirty="0">
                <a:solidFill>
                  <a:srgbClr val="0033CC"/>
                </a:solidFill>
                <a:latin typeface="Calibri"/>
              </a:rPr>
              <a:t>, '</a:t>
            </a:r>
            <a:r>
              <a:rPr lang="en-US" sz="2000" b="0" i="0" dirty="0">
                <a:solidFill>
                  <a:srgbClr val="FF0000"/>
                </a:solidFill>
                <a:latin typeface="Calibri"/>
              </a:rPr>
              <a:t>Bad Customer</a:t>
            </a:r>
            <a:r>
              <a:rPr lang="en-US" sz="2000" b="0" i="0" dirty="0">
                <a:solidFill>
                  <a:srgbClr val="0033CC"/>
                </a:solidFill>
                <a:latin typeface="Calibri"/>
              </a:rPr>
              <a:t>'  </a:t>
            </a:r>
            <a:r>
              <a:rPr lang="en-US" sz="2000" dirty="0">
                <a:solidFill>
                  <a:srgbClr val="0033CC"/>
                </a:solidFill>
                <a:latin typeface="Calibri"/>
              </a:rPr>
              <a:t>  </a:t>
            </a:r>
            <a:r>
              <a:rPr lang="en-US" sz="2000" b="0" i="0" dirty="0">
                <a:solidFill>
                  <a:srgbClr val="0033CC"/>
                </a:solidFill>
                <a:latin typeface="Calibri"/>
              </a:rPr>
              <a:t>As Rating</a:t>
            </a:r>
          </a:p>
          <a:p>
            <a:pPr defTabSz="457200" eaLnBrk="1" hangingPunct="1"/>
            <a:r>
              <a:rPr lang="en-US" sz="2000" b="0" i="0" dirty="0">
                <a:solidFill>
                  <a:srgbClr val="0033CC"/>
                </a:solidFill>
                <a:latin typeface="Calibri"/>
              </a:rPr>
              <a:t>FROM	customer</a:t>
            </a:r>
          </a:p>
          <a:p>
            <a:pPr defTabSz="457200" eaLnBrk="1" hangingPunct="1"/>
            <a:r>
              <a:rPr lang="en-US" sz="2000" b="0" i="0" dirty="0">
                <a:solidFill>
                  <a:srgbClr val="0033CC"/>
                </a:solidFill>
                <a:latin typeface="Calibri"/>
              </a:rPr>
              <a:t>WHERE	balance &gt; </a:t>
            </a:r>
            <a:r>
              <a:rPr lang="en-US" sz="2000" b="0" i="0" dirty="0" err="1">
                <a:solidFill>
                  <a:srgbClr val="0033CC"/>
                </a:solidFill>
                <a:latin typeface="Calibri"/>
              </a:rPr>
              <a:t>credlim</a:t>
            </a:r>
            <a:endParaRPr lang="en-US" sz="2000" b="0" i="0" dirty="0">
              <a:solidFill>
                <a:srgbClr val="0033CC"/>
              </a:solidFill>
              <a:latin typeface="Calibri"/>
            </a:endParaRPr>
          </a:p>
          <a:p>
            <a:pPr defTabSz="457200" eaLnBrk="1" hangingPunct="1"/>
            <a:r>
              <a:rPr lang="en-US" sz="2000" b="0" i="0" dirty="0">
                <a:solidFill>
                  <a:srgbClr val="0033CC"/>
                </a:solidFill>
                <a:latin typeface="Calibri"/>
              </a:rPr>
              <a:t>ORDER BY </a:t>
            </a:r>
            <a:r>
              <a:rPr lang="en-US" sz="2000" b="0" i="0" dirty="0" err="1">
                <a:solidFill>
                  <a:srgbClr val="0033CC"/>
                </a:solidFill>
                <a:latin typeface="Calibri"/>
              </a:rPr>
              <a:t>custnumb</a:t>
            </a:r>
            <a:r>
              <a:rPr lang="en-US" sz="2000" b="0" i="0" dirty="0">
                <a:solidFill>
                  <a:srgbClr val="0033CC"/>
                </a:solidFill>
                <a:latin typeface="Calibri"/>
              </a:rPr>
              <a:t>;</a:t>
            </a:r>
            <a:endParaRPr lang="en-AU" sz="2000" b="0" i="0" dirty="0">
              <a:solidFill>
                <a:srgbClr val="0033CC"/>
              </a:solidFill>
              <a:latin typeface="Calibri"/>
            </a:endParaRPr>
          </a:p>
        </p:txBody>
      </p:sp>
      <p:graphicFrame>
        <p:nvGraphicFramePr>
          <p:cNvPr id="898052" name="Group 4"/>
          <p:cNvGraphicFramePr>
            <a:graphicFrameLocks noGrp="1"/>
          </p:cNvGraphicFramePr>
          <p:nvPr/>
        </p:nvGraphicFramePr>
        <p:xfrm>
          <a:off x="7575551" y="3000375"/>
          <a:ext cx="2936875" cy="3419746"/>
        </p:xfrm>
        <a:graphic>
          <a:graphicData uri="http://schemas.openxmlformats.org/drawingml/2006/table">
            <a:tbl>
              <a:tblPr/>
              <a:tblGrid>
                <a:gridCol w="1385888">
                  <a:extLst>
                    <a:ext uri="{9D8B030D-6E8A-4147-A177-3AD203B41FA5}">
                      <a16:colId xmlns:a16="http://schemas.microsoft.com/office/drawing/2014/main" val="20000"/>
                    </a:ext>
                  </a:extLst>
                </a:gridCol>
                <a:gridCol w="1550987">
                  <a:extLst>
                    <a:ext uri="{9D8B030D-6E8A-4147-A177-3AD203B41FA5}">
                      <a16:colId xmlns:a16="http://schemas.microsoft.com/office/drawing/2014/main" val="20001"/>
                    </a:ext>
                  </a:extLst>
                </a:gridCol>
              </a:tblGrid>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600" b="0" i="0" u="none" strike="noStrike" cap="none" normalizeH="0" baseline="0">
                          <a:ln>
                            <a:noFill/>
                          </a:ln>
                          <a:solidFill>
                            <a:srgbClr val="008000"/>
                          </a:solidFill>
                          <a:effectLst/>
                          <a:latin typeface="Arial" charset="0"/>
                          <a:cs typeface="Arial" charset="0"/>
                        </a:rPr>
                        <a:t>CUSTNUMB</a:t>
                      </a:r>
                      <a:r>
                        <a:rPr kumimoji="0" lang="en-US" sz="1800" b="0" i="0" u="none" strike="noStrike" cap="none" normalizeH="0" baseline="0">
                          <a:ln>
                            <a:noFill/>
                          </a:ln>
                          <a:solidFill>
                            <a:srgbClr val="008000"/>
                          </a:solidFill>
                          <a:effectLst/>
                          <a:latin typeface="Arial" charset="0"/>
                          <a:cs typeface="Arial" charset="0"/>
                        </a:rPr>
                        <a:t> </a:t>
                      </a:r>
                    </a:p>
                  </a:txBody>
                  <a:tcPr marT="45715" marB="45715"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Rating</a:t>
                      </a:r>
                    </a:p>
                  </a:txBody>
                  <a:tcPr marT="45715" marB="45715"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124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381000" marR="0" lvl="0" indent="-381000" algn="l" defTabSz="914400" rtl="0" eaLnBrk="0" fontAlgn="base" latinLnBrk="0" hangingPunct="0">
                        <a:lnSpc>
                          <a:spcPct val="80000"/>
                        </a:lnSpc>
                        <a:spcBef>
                          <a:spcPct val="0"/>
                        </a:spcBef>
                        <a:spcAft>
                          <a:spcPct val="0"/>
                        </a:spcAft>
                        <a:buClr>
                          <a:schemeClr val="bg1"/>
                        </a:buClr>
                        <a:buSzTx/>
                        <a:buFontTx/>
                        <a:buNone/>
                        <a:tabLst/>
                      </a:pPr>
                      <a:r>
                        <a:rPr kumimoji="0" lang="en-US" sz="1400" b="1" i="0" u="none" strike="noStrike" cap="none" normalizeH="0" baseline="0">
                          <a:ln>
                            <a:noFill/>
                          </a:ln>
                          <a:solidFill>
                            <a:srgbClr val="008000"/>
                          </a:solidFill>
                          <a:effectLst/>
                          <a:latin typeface="Arial" charset="0"/>
                          <a:cs typeface="Arial" charset="0"/>
                        </a:rPr>
                        <a:t>Good Customer </a:t>
                      </a: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256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5000"/>
                        <a:buFont typeface="Wingdings" pitchFamily="2" charset="2"/>
                        <a:buNone/>
                        <a:tabLst/>
                      </a:pPr>
                      <a:r>
                        <a:rPr kumimoji="0" lang="en-US" sz="1400" b="1" i="0" u="none" strike="noStrike" cap="none" normalizeH="0" baseline="0">
                          <a:ln>
                            <a:noFill/>
                          </a:ln>
                          <a:solidFill>
                            <a:srgbClr val="008000"/>
                          </a:solidFill>
                          <a:effectLst/>
                          <a:latin typeface="Arial" charset="0"/>
                          <a:cs typeface="Arial" charset="0"/>
                        </a:rPr>
                        <a:t>Good Customer</a:t>
                      </a:r>
                      <a:endParaRPr kumimoji="0" lang="en-AU" sz="1400" b="1" i="0" u="none" strike="noStrike" cap="none" normalizeH="0" baseline="0">
                        <a:ln>
                          <a:noFill/>
                        </a:ln>
                        <a:solidFill>
                          <a:srgbClr val="008000"/>
                        </a:solidFill>
                        <a:effectLst/>
                        <a:latin typeface="Arial" charset="0"/>
                        <a:cs typeface="Arial"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311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5000"/>
                        <a:buFont typeface="Wingdings" pitchFamily="2" charset="2"/>
                        <a:buNone/>
                        <a:tabLst/>
                      </a:pPr>
                      <a:r>
                        <a:rPr kumimoji="0" lang="en-US" sz="1400" b="1" i="0" u="none" strike="noStrike" cap="none" normalizeH="0" baseline="0">
                          <a:ln>
                            <a:noFill/>
                          </a:ln>
                          <a:solidFill>
                            <a:srgbClr val="008000"/>
                          </a:solidFill>
                          <a:effectLst/>
                          <a:latin typeface="Arial" charset="0"/>
                          <a:cs typeface="Arial" charset="0"/>
                        </a:rPr>
                        <a:t>Good Customer</a:t>
                      </a:r>
                      <a:endParaRPr kumimoji="0" lang="en-AU" sz="1400" b="1" i="0" u="none" strike="noStrike" cap="none" normalizeH="0" baseline="0">
                        <a:ln>
                          <a:noFill/>
                        </a:ln>
                        <a:solidFill>
                          <a:srgbClr val="008000"/>
                        </a:solidFill>
                        <a:effectLst/>
                        <a:latin typeface="Arial" charset="0"/>
                        <a:cs typeface="Arial"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315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400" b="1" i="0" u="none" strike="noStrike" cap="none" normalizeH="0" baseline="0">
                          <a:ln>
                            <a:noFill/>
                          </a:ln>
                          <a:solidFill>
                            <a:srgbClr val="008000"/>
                          </a:solidFill>
                          <a:effectLst/>
                          <a:latin typeface="Arial" charset="0"/>
                          <a:cs typeface="Arial" charset="0"/>
                        </a:rPr>
                        <a:t>Bad Customer </a:t>
                      </a:r>
                      <a:endParaRPr kumimoji="0" lang="en-US" sz="1400" b="1" i="0" u="none" strike="noStrike" cap="none" normalizeH="0" baseline="0">
                        <a:ln>
                          <a:noFill/>
                        </a:ln>
                        <a:solidFill>
                          <a:srgbClr val="008000"/>
                        </a:solidFill>
                        <a:effectLst/>
                        <a:latin typeface="Times New Roman" pitchFamily="18"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405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5000"/>
                        <a:buFont typeface="Wingdings" pitchFamily="2" charset="2"/>
                        <a:buNone/>
                        <a:tabLst/>
                      </a:pPr>
                      <a:r>
                        <a:rPr kumimoji="0" lang="en-US" sz="1400" b="1" i="0" u="none" strike="noStrike" cap="none" normalizeH="0" baseline="0">
                          <a:ln>
                            <a:noFill/>
                          </a:ln>
                          <a:solidFill>
                            <a:srgbClr val="008000"/>
                          </a:solidFill>
                          <a:effectLst/>
                          <a:latin typeface="Arial" charset="0"/>
                          <a:cs typeface="Arial" charset="0"/>
                        </a:rPr>
                        <a:t>Good Customer</a:t>
                      </a:r>
                      <a:endParaRPr kumimoji="0" lang="en-AU" sz="1400" b="1" i="0" u="none" strike="noStrike" cap="none" normalizeH="0" baseline="0">
                        <a:ln>
                          <a:noFill/>
                        </a:ln>
                        <a:solidFill>
                          <a:srgbClr val="008000"/>
                        </a:solidFill>
                        <a:effectLst/>
                        <a:latin typeface="Arial" charset="0"/>
                        <a:cs typeface="Arial"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412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5000"/>
                        <a:buFont typeface="Wingdings" pitchFamily="2" charset="2"/>
                        <a:buNone/>
                        <a:tabLst/>
                      </a:pPr>
                      <a:r>
                        <a:rPr kumimoji="0" lang="en-US" sz="1400" b="1" i="0" u="none" strike="noStrike" cap="none" normalizeH="0" baseline="0">
                          <a:ln>
                            <a:noFill/>
                          </a:ln>
                          <a:solidFill>
                            <a:srgbClr val="008000"/>
                          </a:solidFill>
                          <a:effectLst/>
                          <a:latin typeface="Arial" charset="0"/>
                          <a:cs typeface="Arial" charset="0"/>
                        </a:rPr>
                        <a:t>Good Customer</a:t>
                      </a:r>
                      <a:endParaRPr kumimoji="0" lang="en-AU" sz="1400" b="1" i="0" u="none" strike="noStrike" cap="none" normalizeH="0" baseline="0">
                        <a:ln>
                          <a:noFill/>
                        </a:ln>
                        <a:solidFill>
                          <a:srgbClr val="008000"/>
                        </a:solidFill>
                        <a:effectLst/>
                        <a:latin typeface="Arial" charset="0"/>
                        <a:cs typeface="Arial"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522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5000"/>
                        <a:buFont typeface="Wingdings" pitchFamily="2" charset="2"/>
                        <a:buNone/>
                        <a:tabLst/>
                      </a:pPr>
                      <a:r>
                        <a:rPr kumimoji="0" lang="en-US" sz="1400" b="1" i="0" u="none" strike="noStrike" cap="none" normalizeH="0" baseline="0">
                          <a:ln>
                            <a:noFill/>
                          </a:ln>
                          <a:solidFill>
                            <a:srgbClr val="008000"/>
                          </a:solidFill>
                          <a:effectLst/>
                          <a:latin typeface="Arial" charset="0"/>
                          <a:cs typeface="Arial" charset="0"/>
                        </a:rPr>
                        <a:t>Good Customer</a:t>
                      </a:r>
                      <a:endParaRPr kumimoji="0" lang="en-AU" sz="1400" b="1" i="0" u="none" strike="noStrike" cap="none" normalizeH="0" baseline="0">
                        <a:ln>
                          <a:noFill/>
                        </a:ln>
                        <a:solidFill>
                          <a:srgbClr val="008000"/>
                        </a:solidFill>
                        <a:effectLst/>
                        <a:latin typeface="Arial" charset="0"/>
                        <a:cs typeface="Arial"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567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5000"/>
                        <a:buFont typeface="Wingdings" pitchFamily="2" charset="2"/>
                        <a:buNone/>
                        <a:tabLst/>
                      </a:pPr>
                      <a:r>
                        <a:rPr kumimoji="0" lang="en-US" sz="1400" b="1" i="0" u="none" strike="noStrike" cap="none" normalizeH="0" baseline="0">
                          <a:ln>
                            <a:noFill/>
                          </a:ln>
                          <a:solidFill>
                            <a:srgbClr val="008000"/>
                          </a:solidFill>
                          <a:effectLst/>
                          <a:latin typeface="Arial" charset="0"/>
                          <a:cs typeface="Arial" charset="0"/>
                        </a:rPr>
                        <a:t>Good Customer</a:t>
                      </a:r>
                      <a:endParaRPr kumimoji="0" lang="en-AU" sz="1400" b="1" i="0" u="none" strike="noStrike" cap="none" normalizeH="0" baseline="0">
                        <a:ln>
                          <a:noFill/>
                        </a:ln>
                        <a:solidFill>
                          <a:srgbClr val="008000"/>
                        </a:solidFill>
                        <a:effectLst/>
                        <a:latin typeface="Arial" charset="0"/>
                        <a:cs typeface="Arial"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587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5000"/>
                        <a:buFont typeface="Wingdings" pitchFamily="2" charset="2"/>
                        <a:buNone/>
                        <a:tabLst/>
                      </a:pPr>
                      <a:r>
                        <a:rPr kumimoji="0" lang="en-US" sz="1400" b="1" i="0" u="none" strike="noStrike" cap="none" normalizeH="0" baseline="0">
                          <a:ln>
                            <a:noFill/>
                          </a:ln>
                          <a:solidFill>
                            <a:srgbClr val="008000"/>
                          </a:solidFill>
                          <a:effectLst/>
                          <a:latin typeface="Arial" charset="0"/>
                          <a:cs typeface="Arial" charset="0"/>
                        </a:rPr>
                        <a:t>Good Customer</a:t>
                      </a:r>
                      <a:endParaRPr kumimoji="0" lang="en-AU" sz="1400" b="1" i="0" u="none" strike="noStrike" cap="none" normalizeH="0" baseline="0">
                        <a:ln>
                          <a:noFill/>
                        </a:ln>
                        <a:solidFill>
                          <a:srgbClr val="008000"/>
                        </a:solidFill>
                        <a:effectLst/>
                        <a:latin typeface="Arial" charset="0"/>
                        <a:cs typeface="Arial"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310861">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800" b="0" i="0" u="none" strike="noStrike" cap="none" normalizeH="0" baseline="0">
                          <a:ln>
                            <a:noFill/>
                          </a:ln>
                          <a:solidFill>
                            <a:srgbClr val="008000"/>
                          </a:solidFill>
                          <a:effectLst/>
                          <a:latin typeface="Arial" charset="0"/>
                          <a:cs typeface="Arial" charset="0"/>
                        </a:rPr>
                        <a:t>622 </a:t>
                      </a:r>
                      <a:endParaRPr kumimoji="0" lang="en-US" sz="1800" b="0" i="0" u="none" strike="noStrike" cap="none" normalizeH="0" baseline="0">
                        <a:ln>
                          <a:noFill/>
                        </a:ln>
                        <a:solidFill>
                          <a:srgbClr val="008000"/>
                        </a:solidFill>
                        <a:effectLst/>
                        <a:latin typeface="Times New Roman" pitchFamily="18" charset="0"/>
                      </a:endParaRPr>
                    </a:p>
                  </a:txBody>
                  <a:tcPr marT="45715" marB="45715"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Tx/>
                        <a:buFontTx/>
                        <a:buNone/>
                        <a:tabLst/>
                      </a:pPr>
                      <a:r>
                        <a:rPr kumimoji="0" lang="en-US" sz="1400" b="1" i="0" u="none" strike="noStrike" cap="none" normalizeH="0" baseline="0">
                          <a:ln>
                            <a:noFill/>
                          </a:ln>
                          <a:solidFill>
                            <a:srgbClr val="008000"/>
                          </a:solidFill>
                          <a:effectLst/>
                          <a:latin typeface="Arial" charset="0"/>
                          <a:cs typeface="Arial" charset="0"/>
                        </a:rPr>
                        <a:t>Bad Customer </a:t>
                      </a:r>
                      <a:endParaRPr kumimoji="0" lang="en-US" sz="1400" b="1" i="0" u="none" strike="noStrike" cap="none" normalizeH="0" baseline="0">
                        <a:ln>
                          <a:noFill/>
                        </a:ln>
                        <a:solidFill>
                          <a:srgbClr val="008000"/>
                        </a:solidFill>
                        <a:effectLst/>
                        <a:latin typeface="Times New Roman" pitchFamily="18" charset="0"/>
                      </a:endParaRPr>
                    </a:p>
                  </a:txBody>
                  <a:tcPr marT="45715" marB="45715"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57376" name="Text Box 31"/>
          <p:cNvSpPr txBox="1">
            <a:spLocks noChangeArrowheads="1"/>
          </p:cNvSpPr>
          <p:nvPr/>
        </p:nvSpPr>
        <p:spPr bwMode="auto">
          <a:xfrm>
            <a:off x="6230937" y="2929218"/>
            <a:ext cx="7582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457200" indent="-4572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eaLnBrk="1" hangingPunct="1"/>
            <a:r>
              <a:rPr lang="en-AU" dirty="0">
                <a:solidFill>
                  <a:srgbClr val="FF0000"/>
                </a:solidFill>
              </a:rPr>
              <a:t>Literal</a:t>
            </a:r>
          </a:p>
        </p:txBody>
      </p:sp>
      <p:sp>
        <p:nvSpPr>
          <p:cNvPr id="57377" name="Line 32"/>
          <p:cNvSpPr>
            <a:spLocks noChangeShapeType="1"/>
          </p:cNvSpPr>
          <p:nvPr/>
        </p:nvSpPr>
        <p:spPr bwMode="auto">
          <a:xfrm flipH="1" flipV="1">
            <a:off x="5414963" y="2752725"/>
            <a:ext cx="627249" cy="313204"/>
          </a:xfrm>
          <a:prstGeom prst="line">
            <a:avLst/>
          </a:prstGeom>
          <a:noFill/>
          <a:ln w="9525">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457200"/>
            <a:endParaRPr lang="en-AU">
              <a:solidFill>
                <a:srgbClr val="D1161E"/>
              </a:solidFill>
              <a:latin typeface="Calibri"/>
            </a:endParaRPr>
          </a:p>
        </p:txBody>
      </p:sp>
      <p:sp>
        <p:nvSpPr>
          <p:cNvPr id="57378" name="Line 33"/>
          <p:cNvSpPr>
            <a:spLocks noChangeShapeType="1"/>
          </p:cNvSpPr>
          <p:nvPr/>
        </p:nvSpPr>
        <p:spPr bwMode="auto">
          <a:xfrm flipH="1">
            <a:off x="5513294" y="3146612"/>
            <a:ext cx="600635" cy="376518"/>
          </a:xfrm>
          <a:prstGeom prst="line">
            <a:avLst/>
          </a:prstGeom>
          <a:noFill/>
          <a:ln w="9525">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457200"/>
            <a:endParaRPr lang="en-AU">
              <a:solidFill>
                <a:srgbClr val="D1161E"/>
              </a:solidFill>
              <a:latin typeface="Calibri"/>
            </a:endParaRPr>
          </a:p>
        </p:txBody>
      </p:sp>
      <p:sp>
        <p:nvSpPr>
          <p:cNvPr id="9" name="Text Box 13"/>
          <p:cNvSpPr txBox="1">
            <a:spLocks noChangeArrowheads="1"/>
          </p:cNvSpPr>
          <p:nvPr/>
        </p:nvSpPr>
        <p:spPr bwMode="auto">
          <a:xfrm>
            <a:off x="3584320" y="5722332"/>
            <a:ext cx="369803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889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algn="ctr" defTabSz="457200" eaLnBrk="1" hangingPunct="1"/>
            <a:r>
              <a:rPr lang="en-AU" sz="2000" b="0" dirty="0">
                <a:solidFill>
                  <a:srgbClr val="0C64A7"/>
                </a:solidFill>
              </a:rPr>
              <a:t>Result Set contains values that are </a:t>
            </a:r>
            <a:r>
              <a:rPr lang="en-AU" sz="2000" dirty="0">
                <a:solidFill>
                  <a:srgbClr val="0C64A7"/>
                </a:solidFill>
              </a:rPr>
              <a:t>not</a:t>
            </a:r>
            <a:r>
              <a:rPr lang="en-AU" sz="2000" b="0" dirty="0">
                <a:solidFill>
                  <a:srgbClr val="0C64A7"/>
                </a:solidFill>
              </a:rPr>
              <a:t> obtained from the database tables</a:t>
            </a:r>
            <a:endParaRPr lang="en-AU" sz="2000" dirty="0">
              <a:solidFill>
                <a:srgbClr val="0C64A7"/>
              </a:solidFill>
            </a:endParaRPr>
          </a:p>
        </p:txBody>
      </p:sp>
    </p:spTree>
    <p:extLst>
      <p:ext uri="{BB962C8B-B14F-4D97-AF65-F5344CB8AC3E}">
        <p14:creationId xmlns:p14="http://schemas.microsoft.com/office/powerpoint/2010/main" val="1183769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marL="685800" indent="-685800"/>
            <a:r>
              <a:rPr lang="en-AU" dirty="0">
                <a:solidFill>
                  <a:srgbClr val="009900"/>
                </a:solidFill>
              </a:rPr>
              <a:t>SQL: Unique Constraints</a:t>
            </a:r>
          </a:p>
        </p:txBody>
      </p:sp>
      <p:sp>
        <p:nvSpPr>
          <p:cNvPr id="48132" name="Rectangle 3"/>
          <p:cNvSpPr>
            <a:spLocks noGrp="1" noChangeArrowheads="1"/>
          </p:cNvSpPr>
          <p:nvPr>
            <p:ph idx="1"/>
          </p:nvPr>
        </p:nvSpPr>
        <p:spPr/>
        <p:txBody>
          <a:bodyPr>
            <a:noAutofit/>
          </a:bodyPr>
          <a:lstStyle/>
          <a:p>
            <a:pPr marL="0" indent="0">
              <a:spcBef>
                <a:spcPts val="0"/>
              </a:spcBef>
              <a:buNone/>
              <a:tabLst>
                <a:tab pos="1706563" algn="l"/>
                <a:tab pos="4129088" algn="l"/>
              </a:tabLst>
            </a:pPr>
            <a:r>
              <a:rPr lang="en-AU" sz="2200" dirty="0"/>
              <a:t>We have already used 3 types of </a:t>
            </a:r>
            <a:r>
              <a:rPr lang="en-AU" sz="2200" b="1" dirty="0"/>
              <a:t>constraint</a:t>
            </a:r>
            <a:r>
              <a:rPr lang="en-AU" sz="2200" dirty="0"/>
              <a:t> when creating tables:</a:t>
            </a:r>
          </a:p>
          <a:p>
            <a:pPr marL="0" indent="0">
              <a:spcBef>
                <a:spcPts val="0"/>
              </a:spcBef>
              <a:buNone/>
              <a:tabLst>
                <a:tab pos="1706563" algn="l"/>
                <a:tab pos="4129088" algn="l"/>
              </a:tabLst>
            </a:pPr>
            <a:r>
              <a:rPr lang="en-AU" sz="2200" dirty="0"/>
              <a:t>Primary Key, Foreign Key, Not Null</a:t>
            </a:r>
          </a:p>
          <a:p>
            <a:pPr marL="0" indent="0">
              <a:spcBef>
                <a:spcPts val="0"/>
              </a:spcBef>
              <a:buNone/>
              <a:tabLst>
                <a:tab pos="1706563" algn="l"/>
                <a:tab pos="4129088" algn="l"/>
              </a:tabLst>
            </a:pPr>
            <a:endParaRPr lang="en-AU" sz="2200" dirty="0"/>
          </a:p>
          <a:p>
            <a:pPr marL="0" indent="0">
              <a:spcBef>
                <a:spcPts val="0"/>
              </a:spcBef>
              <a:buNone/>
              <a:tabLst>
                <a:tab pos="1706563" algn="l"/>
                <a:tab pos="4129088" algn="l"/>
              </a:tabLst>
            </a:pPr>
            <a:r>
              <a:rPr lang="en-AU" sz="2200" dirty="0"/>
              <a:t>A </a:t>
            </a:r>
            <a:r>
              <a:rPr lang="en-AU" sz="2200" b="1" dirty="0"/>
              <a:t>unique</a:t>
            </a:r>
            <a:r>
              <a:rPr lang="en-AU" sz="2200" dirty="0"/>
              <a:t> constraint ensures that a column value</a:t>
            </a:r>
            <a:br>
              <a:rPr lang="en-AU" sz="2200" dirty="0"/>
            </a:br>
            <a:r>
              <a:rPr lang="en-AU" sz="2200" dirty="0"/>
              <a:t>is </a:t>
            </a:r>
            <a:r>
              <a:rPr lang="en-AU" sz="2200" b="1" dirty="0"/>
              <a:t>never</a:t>
            </a:r>
            <a:r>
              <a:rPr lang="en-AU" sz="2200" dirty="0"/>
              <a:t> duplicated throughout all column values</a:t>
            </a:r>
          </a:p>
          <a:p>
            <a:pPr marL="342900" indent="-342900">
              <a:spcBef>
                <a:spcPts val="0"/>
              </a:spcBef>
              <a:buFont typeface="Wingdings" pitchFamily="2" charset="2"/>
              <a:buChar char="§"/>
              <a:tabLst>
                <a:tab pos="1970088" algn="l"/>
              </a:tabLst>
            </a:pPr>
            <a:endParaRPr lang="en-AU" sz="2200" dirty="0"/>
          </a:p>
          <a:p>
            <a:pPr marL="457200" indent="-457200">
              <a:spcBef>
                <a:spcPts val="0"/>
              </a:spcBef>
              <a:buNone/>
              <a:tabLst>
                <a:tab pos="628650" algn="l"/>
                <a:tab pos="1793875" algn="l"/>
              </a:tabLst>
            </a:pPr>
            <a:r>
              <a:rPr lang="en-AU" sz="2200" dirty="0">
                <a:solidFill>
                  <a:srgbClr val="0033CC"/>
                </a:solidFill>
              </a:rPr>
              <a:t>	CREATE TABLE  MOVIE ( </a:t>
            </a:r>
          </a:p>
          <a:p>
            <a:pPr marL="457200" indent="-457200">
              <a:spcBef>
                <a:spcPts val="0"/>
              </a:spcBef>
              <a:buNone/>
              <a:tabLst>
                <a:tab pos="628650" algn="l"/>
                <a:tab pos="1793875" algn="l"/>
              </a:tabLst>
            </a:pPr>
            <a:r>
              <a:rPr lang="en-AU" sz="2200" dirty="0">
                <a:solidFill>
                  <a:srgbClr val="0033CC"/>
                </a:solidFill>
              </a:rPr>
              <a:t>	  </a:t>
            </a:r>
            <a:r>
              <a:rPr lang="en-AU" sz="2200" dirty="0" err="1">
                <a:solidFill>
                  <a:srgbClr val="0033CC"/>
                </a:solidFill>
              </a:rPr>
              <a:t>movieno</a:t>
            </a:r>
            <a:r>
              <a:rPr lang="en-AU" sz="2200" dirty="0">
                <a:solidFill>
                  <a:srgbClr val="0033CC"/>
                </a:solidFill>
              </a:rPr>
              <a:t>   	NUMBER</a:t>
            </a:r>
          </a:p>
          <a:p>
            <a:pPr marL="457200" indent="-457200">
              <a:spcBef>
                <a:spcPts val="0"/>
              </a:spcBef>
              <a:buNone/>
              <a:tabLst>
                <a:tab pos="628650" algn="l"/>
                <a:tab pos="1793875" algn="l"/>
              </a:tabLst>
            </a:pPr>
            <a:r>
              <a:rPr lang="en-AU" sz="2200" dirty="0">
                <a:solidFill>
                  <a:srgbClr val="0033CC"/>
                </a:solidFill>
              </a:rPr>
              <a:t>	, title	VARCHAR(30)</a:t>
            </a:r>
          </a:p>
          <a:p>
            <a:pPr marL="457200" indent="-457200">
              <a:spcBef>
                <a:spcPts val="0"/>
              </a:spcBef>
              <a:buNone/>
              <a:tabLst>
                <a:tab pos="628650" algn="l"/>
                <a:tab pos="1793875" algn="l"/>
              </a:tabLst>
            </a:pPr>
            <a:endParaRPr lang="en-AU" sz="2200" dirty="0">
              <a:solidFill>
                <a:srgbClr val="0033CC"/>
              </a:solidFill>
            </a:endParaRPr>
          </a:p>
          <a:p>
            <a:pPr marL="457200" indent="-457200">
              <a:spcBef>
                <a:spcPts val="0"/>
              </a:spcBef>
              <a:buNone/>
              <a:tabLst>
                <a:tab pos="628650" algn="l"/>
                <a:tab pos="1793875" algn="l"/>
              </a:tabLst>
            </a:pPr>
            <a:r>
              <a:rPr lang="en-AU" sz="2200" dirty="0"/>
              <a:t>… becomes …</a:t>
            </a:r>
          </a:p>
          <a:p>
            <a:pPr marL="457200" indent="-457200">
              <a:spcBef>
                <a:spcPts val="0"/>
              </a:spcBef>
              <a:buNone/>
              <a:tabLst>
                <a:tab pos="628650" algn="l"/>
                <a:tab pos="1793875" algn="l"/>
              </a:tabLst>
            </a:pPr>
            <a:endParaRPr lang="en-AU" sz="2200" dirty="0"/>
          </a:p>
          <a:p>
            <a:pPr marL="457200" indent="-457200">
              <a:spcBef>
                <a:spcPts val="0"/>
              </a:spcBef>
              <a:buNone/>
              <a:tabLst>
                <a:tab pos="628650" algn="l"/>
                <a:tab pos="1793875" algn="l"/>
              </a:tabLst>
            </a:pPr>
            <a:r>
              <a:rPr lang="en-AU" sz="2200" dirty="0">
                <a:solidFill>
                  <a:srgbClr val="0033CC"/>
                </a:solidFill>
              </a:rPr>
              <a:t>	CREATE TABLE  MOVIE ( </a:t>
            </a:r>
          </a:p>
          <a:p>
            <a:pPr marL="457200" indent="-457200">
              <a:spcBef>
                <a:spcPts val="0"/>
              </a:spcBef>
              <a:buNone/>
              <a:tabLst>
                <a:tab pos="628650" algn="l"/>
                <a:tab pos="1793875" algn="l"/>
              </a:tabLst>
            </a:pPr>
            <a:r>
              <a:rPr lang="en-AU" sz="2200" dirty="0">
                <a:solidFill>
                  <a:srgbClr val="0033CC"/>
                </a:solidFill>
              </a:rPr>
              <a:t>	  </a:t>
            </a:r>
            <a:r>
              <a:rPr lang="en-AU" sz="2200" dirty="0" err="1">
                <a:solidFill>
                  <a:srgbClr val="0033CC"/>
                </a:solidFill>
              </a:rPr>
              <a:t>movieno</a:t>
            </a:r>
            <a:r>
              <a:rPr lang="en-AU" sz="2200" dirty="0">
                <a:solidFill>
                  <a:srgbClr val="0033CC"/>
                </a:solidFill>
              </a:rPr>
              <a:t>   	NUMBER</a:t>
            </a:r>
          </a:p>
          <a:p>
            <a:pPr marL="457200" indent="-457200">
              <a:spcBef>
                <a:spcPts val="0"/>
              </a:spcBef>
              <a:buNone/>
              <a:tabLst>
                <a:tab pos="628650" algn="l"/>
                <a:tab pos="1793875" algn="l"/>
              </a:tabLst>
            </a:pPr>
            <a:r>
              <a:rPr lang="en-AU" sz="2200" dirty="0">
                <a:solidFill>
                  <a:srgbClr val="0033CC"/>
                </a:solidFill>
              </a:rPr>
              <a:t>	, title	VARCHAR(30) </a:t>
            </a:r>
            <a:r>
              <a:rPr lang="en-AU" sz="2200" b="1" dirty="0">
                <a:solidFill>
                  <a:srgbClr val="0033CC"/>
                </a:solidFill>
              </a:rPr>
              <a:t>UNIQUE</a:t>
            </a:r>
            <a:endParaRPr lang="en-AU" sz="2200" dirty="0">
              <a:solidFill>
                <a:srgbClr val="0033CC"/>
              </a:solidFill>
            </a:endParaRPr>
          </a:p>
          <a:p>
            <a:pPr marL="457200" indent="-457200">
              <a:spcBef>
                <a:spcPts val="0"/>
              </a:spcBef>
              <a:buNone/>
              <a:tabLst>
                <a:tab pos="628650" algn="l"/>
                <a:tab pos="1793875" algn="l"/>
              </a:tabLst>
            </a:pPr>
            <a:endParaRPr lang="en-AU" sz="2200" dirty="0">
              <a:solidFill>
                <a:srgbClr val="0033CC"/>
              </a:solidFill>
            </a:endParaRPr>
          </a:p>
        </p:txBody>
      </p:sp>
    </p:spTree>
    <p:extLst>
      <p:ext uri="{BB962C8B-B14F-4D97-AF65-F5344CB8AC3E}">
        <p14:creationId xmlns:p14="http://schemas.microsoft.com/office/powerpoint/2010/main" val="2925478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p:cNvSpPr>
            <a:spLocks noGrp="1" noChangeArrowheads="1"/>
          </p:cNvSpPr>
          <p:nvPr>
            <p:ph type="title"/>
          </p:nvPr>
        </p:nvSpPr>
        <p:spPr/>
        <p:txBody>
          <a:bodyPr/>
          <a:lstStyle/>
          <a:p>
            <a:r>
              <a:rPr lang="en-AU" dirty="0">
                <a:solidFill>
                  <a:srgbClr val="009900"/>
                </a:solidFill>
              </a:rPr>
              <a:t>Unique Constraint with multiple columns</a:t>
            </a:r>
          </a:p>
        </p:txBody>
      </p:sp>
      <p:sp>
        <p:nvSpPr>
          <p:cNvPr id="50181" name="Rectangle 4"/>
          <p:cNvSpPr>
            <a:spLocks noGrp="1" noChangeArrowheads="1"/>
          </p:cNvSpPr>
          <p:nvPr>
            <p:ph idx="1"/>
          </p:nvPr>
        </p:nvSpPr>
        <p:spPr/>
        <p:txBody>
          <a:bodyPr>
            <a:normAutofit lnSpcReduction="10000"/>
          </a:bodyPr>
          <a:lstStyle/>
          <a:p>
            <a:pPr marL="457200" indent="-457200">
              <a:tabLst>
                <a:tab pos="2605088" algn="l"/>
                <a:tab pos="4129088" algn="l"/>
              </a:tabLst>
            </a:pPr>
            <a:endParaRPr lang="en-AU" sz="900" dirty="0"/>
          </a:p>
          <a:p>
            <a:pPr marL="0" indent="0">
              <a:spcBef>
                <a:spcPts val="0"/>
              </a:spcBef>
              <a:buNone/>
              <a:tabLst>
                <a:tab pos="2605088" algn="l"/>
                <a:tab pos="4129088" algn="l"/>
              </a:tabLst>
            </a:pPr>
            <a:r>
              <a:rPr lang="en-AU" dirty="0"/>
              <a:t>A unique constraint can include </a:t>
            </a:r>
            <a:r>
              <a:rPr lang="en-AU" b="1" dirty="0"/>
              <a:t>more than one column</a:t>
            </a:r>
          </a:p>
          <a:p>
            <a:pPr lvl="1">
              <a:spcBef>
                <a:spcPts val="0"/>
              </a:spcBef>
              <a:buFont typeface="Arial" panose="020B0604020202020204" pitchFamily="34" charset="0"/>
              <a:buChar char="•"/>
              <a:tabLst>
                <a:tab pos="2605088" algn="l"/>
                <a:tab pos="4129088" algn="l"/>
              </a:tabLst>
            </a:pPr>
            <a:r>
              <a:rPr lang="en-AU" dirty="0"/>
              <a:t>Therefore it must be created as a </a:t>
            </a:r>
            <a:r>
              <a:rPr lang="en-AU" b="1" dirty="0"/>
              <a:t>table</a:t>
            </a:r>
            <a:r>
              <a:rPr lang="en-AU" dirty="0"/>
              <a:t> constraint.</a:t>
            </a:r>
            <a:br>
              <a:rPr lang="en-AU" b="1" dirty="0"/>
            </a:br>
            <a:endParaRPr lang="en-AU" b="1" dirty="0"/>
          </a:p>
          <a:p>
            <a:pPr marL="447675" lvl="1" indent="0">
              <a:spcBef>
                <a:spcPts val="0"/>
              </a:spcBef>
              <a:buNone/>
              <a:tabLst>
                <a:tab pos="2605088" algn="l"/>
                <a:tab pos="4129088" algn="l"/>
              </a:tabLst>
            </a:pPr>
            <a:r>
              <a:rPr lang="en-AU" sz="2200" dirty="0"/>
              <a:t>E.g. Business Rule: An actor name </a:t>
            </a:r>
            <a:r>
              <a:rPr lang="en-AU" sz="2200" b="1" dirty="0"/>
              <a:t>must never</a:t>
            </a:r>
            <a:r>
              <a:rPr lang="en-AU" sz="2200" dirty="0"/>
              <a:t> be repeated. </a:t>
            </a:r>
          </a:p>
          <a:p>
            <a:pPr marL="1460500" lvl="2" indent="-457200">
              <a:spcBef>
                <a:spcPts val="0"/>
              </a:spcBef>
              <a:tabLst>
                <a:tab pos="2605088" algn="l"/>
                <a:tab pos="4129088" algn="l"/>
              </a:tabLst>
            </a:pPr>
            <a:r>
              <a:rPr lang="en-AU" sz="2200" dirty="0"/>
              <a:t>An </a:t>
            </a:r>
            <a:r>
              <a:rPr lang="en-AU" sz="2200" b="1" dirty="0"/>
              <a:t>actor’s name</a:t>
            </a:r>
            <a:r>
              <a:rPr lang="en-AU" sz="2200" dirty="0"/>
              <a:t> consists of values in </a:t>
            </a:r>
            <a:r>
              <a:rPr lang="en-AU" sz="2200" b="1" dirty="0"/>
              <a:t>two attributes</a:t>
            </a:r>
            <a:r>
              <a:rPr lang="en-AU" sz="2200" dirty="0"/>
              <a:t>:</a:t>
            </a:r>
          </a:p>
          <a:p>
            <a:pPr marL="904875" lvl="1" indent="-457200">
              <a:spcBef>
                <a:spcPts val="0"/>
              </a:spcBef>
              <a:tabLst>
                <a:tab pos="2605088" algn="l"/>
                <a:tab pos="4129088" algn="l"/>
              </a:tabLst>
            </a:pPr>
            <a:endParaRPr lang="en-AU" dirty="0"/>
          </a:p>
          <a:p>
            <a:pPr marL="457200" indent="-457200">
              <a:spcBef>
                <a:spcPts val="0"/>
              </a:spcBef>
              <a:buNone/>
              <a:tabLst>
                <a:tab pos="2605088" algn="l"/>
                <a:tab pos="4129088" algn="l"/>
              </a:tabLst>
            </a:pPr>
            <a:endParaRPr lang="en-AU" sz="1200" dirty="0"/>
          </a:p>
          <a:p>
            <a:pPr marL="904875" lvl="1" indent="-457200">
              <a:spcBef>
                <a:spcPts val="0"/>
              </a:spcBef>
              <a:buNone/>
              <a:tabLst>
                <a:tab pos="2605088" algn="l"/>
                <a:tab pos="4129088" algn="l"/>
              </a:tabLst>
            </a:pPr>
            <a:r>
              <a:rPr lang="en-AU" sz="2200" dirty="0">
                <a:solidFill>
                  <a:srgbClr val="0033CC"/>
                </a:solidFill>
              </a:rPr>
              <a:t>CREATE TABLE ACTOR  (</a:t>
            </a:r>
          </a:p>
          <a:p>
            <a:pPr marL="904875" lvl="1" indent="-457200">
              <a:spcBef>
                <a:spcPts val="0"/>
              </a:spcBef>
              <a:buNone/>
              <a:tabLst>
                <a:tab pos="2605088" algn="l"/>
                <a:tab pos="4129088" algn="l"/>
              </a:tabLst>
            </a:pPr>
            <a:r>
              <a:rPr lang="en-AU" sz="2200" dirty="0">
                <a:solidFill>
                  <a:srgbClr val="0033CC"/>
                </a:solidFill>
              </a:rPr>
              <a:t>  </a:t>
            </a:r>
            <a:r>
              <a:rPr lang="en-AU" sz="2200" dirty="0" err="1">
                <a:solidFill>
                  <a:srgbClr val="0033CC"/>
                </a:solidFill>
              </a:rPr>
              <a:t>actorno</a:t>
            </a:r>
            <a:r>
              <a:rPr lang="en-AU" sz="2200" dirty="0">
                <a:solidFill>
                  <a:srgbClr val="0033CC"/>
                </a:solidFill>
              </a:rPr>
              <a:t>	NUMBER            	   PRIMARY KEY</a:t>
            </a:r>
          </a:p>
          <a:p>
            <a:pPr marL="904875" lvl="1" indent="-457200">
              <a:spcBef>
                <a:spcPts val="0"/>
              </a:spcBef>
              <a:buNone/>
              <a:tabLst>
                <a:tab pos="2605088" algn="l"/>
                <a:tab pos="4129088" algn="l"/>
              </a:tabLst>
            </a:pPr>
            <a:r>
              <a:rPr lang="en-AU" sz="2200" dirty="0">
                <a:solidFill>
                  <a:srgbClr val="0033CC"/>
                </a:solidFill>
              </a:rPr>
              <a:t>, surname	VARCHAR(30)        NOT NULL</a:t>
            </a:r>
          </a:p>
          <a:p>
            <a:pPr marL="904875" lvl="1" indent="-457200">
              <a:spcBef>
                <a:spcPts val="0"/>
              </a:spcBef>
              <a:buNone/>
              <a:tabLst>
                <a:tab pos="2605088" algn="l"/>
                <a:tab pos="4129088" algn="l"/>
              </a:tabLst>
            </a:pPr>
            <a:r>
              <a:rPr lang="en-AU" sz="2200" dirty="0">
                <a:solidFill>
                  <a:srgbClr val="0033CC"/>
                </a:solidFill>
              </a:rPr>
              <a:t>, </a:t>
            </a:r>
            <a:r>
              <a:rPr lang="en-AU" sz="2200" dirty="0" err="1">
                <a:solidFill>
                  <a:srgbClr val="0033CC"/>
                </a:solidFill>
              </a:rPr>
              <a:t>firstname</a:t>
            </a:r>
            <a:r>
              <a:rPr lang="en-AU" sz="2200" dirty="0">
                <a:solidFill>
                  <a:srgbClr val="0033CC"/>
                </a:solidFill>
              </a:rPr>
              <a:t>	VARCHAR(30)        NOT NULL</a:t>
            </a:r>
          </a:p>
          <a:p>
            <a:pPr marL="904875" lvl="1" indent="-457200">
              <a:spcBef>
                <a:spcPts val="0"/>
              </a:spcBef>
              <a:buNone/>
              <a:tabLst>
                <a:tab pos="2605088" algn="l"/>
                <a:tab pos="4129088" algn="l"/>
              </a:tabLst>
            </a:pPr>
            <a:r>
              <a:rPr lang="en-AU" sz="2200" dirty="0">
                <a:solidFill>
                  <a:srgbClr val="0033CC"/>
                </a:solidFill>
              </a:rPr>
              <a:t>, birthdate	DATE</a:t>
            </a:r>
          </a:p>
          <a:p>
            <a:pPr marL="457200" indent="-457200">
              <a:spcBef>
                <a:spcPts val="0"/>
              </a:spcBef>
              <a:buSzPct val="65000"/>
              <a:buNone/>
              <a:tabLst>
                <a:tab pos="2605088" algn="l"/>
                <a:tab pos="4129088" algn="l"/>
              </a:tabLst>
            </a:pPr>
            <a:r>
              <a:rPr lang="en-AU" sz="2200" b="1" dirty="0">
                <a:solidFill>
                  <a:srgbClr val="0033CC"/>
                </a:solidFill>
              </a:rPr>
              <a:t>       </a:t>
            </a:r>
            <a:r>
              <a:rPr lang="en-AU" sz="2200" dirty="0">
                <a:solidFill>
                  <a:srgbClr val="0033CC"/>
                </a:solidFill>
              </a:rPr>
              <a:t>,</a:t>
            </a:r>
            <a:r>
              <a:rPr lang="en-AU" sz="2200" b="1" dirty="0">
                <a:solidFill>
                  <a:srgbClr val="0033CC"/>
                </a:solidFill>
              </a:rPr>
              <a:t> UNIQUE(surname, </a:t>
            </a:r>
            <a:r>
              <a:rPr lang="en-AU" sz="2200" b="1" dirty="0" err="1">
                <a:solidFill>
                  <a:srgbClr val="0033CC"/>
                </a:solidFill>
              </a:rPr>
              <a:t>firstname</a:t>
            </a:r>
            <a:r>
              <a:rPr lang="en-AU" sz="2200" b="1" dirty="0">
                <a:solidFill>
                  <a:srgbClr val="0033CC"/>
                </a:solidFill>
              </a:rPr>
              <a:t>)  </a:t>
            </a:r>
          </a:p>
          <a:p>
            <a:pPr marL="457200" indent="-457200">
              <a:spcBef>
                <a:spcPts val="0"/>
              </a:spcBef>
              <a:buSzPct val="65000"/>
              <a:buNone/>
              <a:tabLst>
                <a:tab pos="2605088" algn="l"/>
                <a:tab pos="4129088" algn="l"/>
              </a:tabLst>
            </a:pPr>
            <a:r>
              <a:rPr lang="en-AU" sz="2200" b="1" dirty="0">
                <a:solidFill>
                  <a:srgbClr val="0033CC"/>
                </a:solidFill>
              </a:rPr>
              <a:t>       …</a:t>
            </a:r>
            <a:endParaRPr lang="en-AU" sz="2200" dirty="0">
              <a:solidFill>
                <a:srgbClr val="0033CC"/>
              </a:solidFill>
            </a:endParaRPr>
          </a:p>
          <a:p>
            <a:pPr marL="457200" indent="-457200">
              <a:spcBef>
                <a:spcPts val="0"/>
              </a:spcBef>
              <a:buSzPct val="65000"/>
              <a:buNone/>
              <a:tabLst>
                <a:tab pos="2605088" algn="l"/>
                <a:tab pos="4129088" algn="l"/>
              </a:tabLst>
            </a:pPr>
            <a:endParaRPr lang="en-AU" dirty="0">
              <a:solidFill>
                <a:srgbClr val="0033CC"/>
              </a:solidFill>
            </a:endParaRPr>
          </a:p>
          <a:p>
            <a:pPr marL="457200" indent="-457200">
              <a:spcBef>
                <a:spcPts val="0"/>
              </a:spcBef>
              <a:buSzPct val="65000"/>
              <a:buNone/>
              <a:tabLst>
                <a:tab pos="2605088" algn="l"/>
                <a:tab pos="4129088" algn="l"/>
              </a:tabLst>
            </a:pPr>
            <a:endParaRPr lang="en-AU" b="1" dirty="0"/>
          </a:p>
        </p:txBody>
      </p:sp>
      <p:sp>
        <p:nvSpPr>
          <p:cNvPr id="50179" name="Rectangle 2"/>
          <p:cNvSpPr>
            <a:spLocks noChangeArrowheads="1"/>
          </p:cNvSpPr>
          <p:nvPr/>
        </p:nvSpPr>
        <p:spPr bwMode="auto">
          <a:xfrm>
            <a:off x="1524000" y="5981700"/>
            <a:ext cx="1733550" cy="8763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type="none" w="sm" len="sm"/>
                <a:tailEnd/>
              </a14:hiddenLine>
            </a:ext>
          </a:extLst>
        </p:spPr>
        <p:txBody>
          <a:bodyPr wrap="none" lIns="0" tIns="0" rIns="0" bIns="0" anchor="ctr"/>
          <a:lstStyle/>
          <a:p>
            <a:pPr defTabSz="457200" eaLnBrk="0" hangingPunct="0">
              <a:lnSpc>
                <a:spcPct val="80000"/>
              </a:lnSpc>
              <a:buClr>
                <a:srgbClr val="D1161E"/>
              </a:buClr>
              <a:buSzPct val="85000"/>
            </a:pPr>
            <a:endParaRPr lang="en-AU">
              <a:solidFill>
                <a:srgbClr val="D1161E"/>
              </a:solidFill>
              <a:latin typeface="Calibri"/>
            </a:endParaRPr>
          </a:p>
        </p:txBody>
      </p:sp>
    </p:spTree>
    <p:extLst>
      <p:ext uri="{BB962C8B-B14F-4D97-AF65-F5344CB8AC3E}">
        <p14:creationId xmlns:p14="http://schemas.microsoft.com/office/powerpoint/2010/main" val="568689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529482" y="5665694"/>
            <a:ext cx="1138518" cy="119230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AU">
              <a:solidFill>
                <a:srgbClr val="FFFFFF"/>
              </a:solidFill>
              <a:latin typeface="Calibri"/>
            </a:endParaRPr>
          </a:p>
        </p:txBody>
      </p:sp>
      <p:sp>
        <p:nvSpPr>
          <p:cNvPr id="51204" name="Rectangle 3"/>
          <p:cNvSpPr>
            <a:spLocks noGrp="1" noChangeArrowheads="1"/>
          </p:cNvSpPr>
          <p:nvPr>
            <p:ph type="title"/>
          </p:nvPr>
        </p:nvSpPr>
        <p:spPr/>
        <p:txBody>
          <a:bodyPr/>
          <a:lstStyle/>
          <a:p>
            <a:pPr marL="685800" indent="-685800"/>
            <a:r>
              <a:rPr lang="en-AU" dirty="0">
                <a:solidFill>
                  <a:srgbClr val="009900"/>
                </a:solidFill>
              </a:rPr>
              <a:t>SQL: Check Constraints</a:t>
            </a:r>
          </a:p>
        </p:txBody>
      </p:sp>
      <p:sp>
        <p:nvSpPr>
          <p:cNvPr id="51205" name="Rectangle 4"/>
          <p:cNvSpPr>
            <a:spLocks noGrp="1" noChangeArrowheads="1"/>
          </p:cNvSpPr>
          <p:nvPr>
            <p:ph idx="1"/>
          </p:nvPr>
        </p:nvSpPr>
        <p:spPr>
          <a:xfrm>
            <a:off x="1981200" y="829491"/>
            <a:ext cx="8010626" cy="5546371"/>
          </a:xfrm>
        </p:spPr>
        <p:txBody>
          <a:bodyPr>
            <a:normAutofit lnSpcReduction="10000"/>
          </a:bodyPr>
          <a:lstStyle/>
          <a:p>
            <a:pPr marL="0" indent="0" defTabSz="1165225">
              <a:spcBef>
                <a:spcPts val="0"/>
              </a:spcBef>
              <a:buNone/>
              <a:tabLst>
                <a:tab pos="1160463" algn="l"/>
                <a:tab pos="3322638" algn="l"/>
              </a:tabLst>
            </a:pPr>
            <a:r>
              <a:rPr lang="en-AU" dirty="0"/>
              <a:t>A</a:t>
            </a:r>
            <a:r>
              <a:rPr lang="en-AU" b="1" dirty="0"/>
              <a:t> Check Constraint </a:t>
            </a:r>
            <a:r>
              <a:rPr lang="en-AU" dirty="0"/>
              <a:t>performs </a:t>
            </a:r>
            <a:r>
              <a:rPr lang="en-AU" b="1" dirty="0"/>
              <a:t>fixed validation</a:t>
            </a:r>
            <a:r>
              <a:rPr lang="en-AU" dirty="0"/>
              <a:t> on data values</a:t>
            </a:r>
          </a:p>
          <a:p>
            <a:pPr marL="457200" indent="-457200" defTabSz="1165225">
              <a:spcBef>
                <a:spcPts val="0"/>
              </a:spcBef>
              <a:buNone/>
              <a:tabLst>
                <a:tab pos="1160463" algn="l"/>
                <a:tab pos="3322638" algn="l"/>
              </a:tabLst>
            </a:pPr>
            <a:endParaRPr lang="en-AU" sz="800" dirty="0"/>
          </a:p>
          <a:p>
            <a:pPr marL="457200" indent="-457200" defTabSz="1165225">
              <a:spcBef>
                <a:spcPts val="0"/>
              </a:spcBef>
              <a:buNone/>
              <a:tabLst>
                <a:tab pos="1160463" algn="l"/>
                <a:tab pos="3322638" algn="l"/>
              </a:tabLst>
            </a:pPr>
            <a:r>
              <a:rPr lang="en-AU" sz="2200" dirty="0">
                <a:solidFill>
                  <a:srgbClr val="0033CC"/>
                </a:solidFill>
              </a:rPr>
              <a:t>CREATE   STUDENT (</a:t>
            </a:r>
          </a:p>
          <a:p>
            <a:pPr marL="457200" indent="-457200" defTabSz="1165225">
              <a:spcBef>
                <a:spcPts val="0"/>
              </a:spcBef>
              <a:buNone/>
              <a:tabLst>
                <a:tab pos="1160463" algn="l"/>
                <a:tab pos="3322638" algn="l"/>
              </a:tabLst>
            </a:pPr>
            <a:r>
              <a:rPr lang="en-AU" sz="2200" dirty="0">
                <a:solidFill>
                  <a:srgbClr val="0033CC"/>
                </a:solidFill>
              </a:rPr>
              <a:t>  </a:t>
            </a:r>
            <a:r>
              <a:rPr lang="en-AU" sz="2200" dirty="0" err="1">
                <a:solidFill>
                  <a:srgbClr val="0033CC"/>
                </a:solidFill>
              </a:rPr>
              <a:t>stuid</a:t>
            </a:r>
            <a:r>
              <a:rPr lang="en-AU" sz="2200" dirty="0">
                <a:solidFill>
                  <a:srgbClr val="0033CC"/>
                </a:solidFill>
              </a:rPr>
              <a:t>	NUMBER</a:t>
            </a:r>
          </a:p>
          <a:p>
            <a:pPr marL="457200" indent="-457200" defTabSz="1165225">
              <a:spcBef>
                <a:spcPts val="0"/>
              </a:spcBef>
              <a:buNone/>
              <a:tabLst>
                <a:tab pos="1160463" algn="l"/>
                <a:tab pos="3322638" algn="l"/>
              </a:tabLst>
            </a:pPr>
            <a:r>
              <a:rPr lang="en-AU" sz="2200" dirty="0">
                <a:solidFill>
                  <a:srgbClr val="0033CC"/>
                </a:solidFill>
              </a:rPr>
              <a:t>, name	VARCHAR(30)	</a:t>
            </a:r>
          </a:p>
          <a:p>
            <a:pPr marL="457200" indent="-457200" defTabSz="1165225">
              <a:spcBef>
                <a:spcPts val="0"/>
              </a:spcBef>
              <a:buNone/>
              <a:tabLst>
                <a:tab pos="1160463" algn="l"/>
                <a:tab pos="3322638" algn="l"/>
              </a:tabLst>
            </a:pPr>
            <a:r>
              <a:rPr lang="en-AU" sz="2200" dirty="0">
                <a:solidFill>
                  <a:srgbClr val="0033CC"/>
                </a:solidFill>
              </a:rPr>
              <a:t>, gender	VARCHAR (1)  </a:t>
            </a:r>
          </a:p>
          <a:p>
            <a:pPr marL="457200" indent="-457200" defTabSz="1165225">
              <a:spcBef>
                <a:spcPts val="0"/>
              </a:spcBef>
              <a:buNone/>
              <a:tabLst>
                <a:tab pos="1160463" algn="l"/>
                <a:tab pos="3322638" algn="l"/>
              </a:tabLst>
            </a:pPr>
            <a:r>
              <a:rPr lang="en-AU" sz="2200" b="1" dirty="0">
                <a:solidFill>
                  <a:srgbClr val="0033CC"/>
                </a:solidFill>
              </a:rPr>
              <a:t>  CHECK (gender  IN  ('M', 'F', 'I')  )</a:t>
            </a:r>
          </a:p>
          <a:p>
            <a:pPr marL="457200" indent="-457200" defTabSz="1165225">
              <a:spcBef>
                <a:spcPts val="0"/>
              </a:spcBef>
              <a:buNone/>
              <a:tabLst>
                <a:tab pos="1160463" algn="l"/>
                <a:tab pos="3322638" algn="l"/>
              </a:tabLst>
            </a:pPr>
            <a:r>
              <a:rPr lang="en-AU" sz="2200" b="1" dirty="0">
                <a:solidFill>
                  <a:srgbClr val="0033CC"/>
                </a:solidFill>
              </a:rPr>
              <a:t>…</a:t>
            </a:r>
          </a:p>
          <a:p>
            <a:pPr marL="457200" indent="-457200" defTabSz="1165225">
              <a:spcBef>
                <a:spcPts val="0"/>
              </a:spcBef>
              <a:buNone/>
              <a:tabLst>
                <a:tab pos="1160463" algn="l"/>
                <a:tab pos="3322638" algn="l"/>
              </a:tabLst>
            </a:pPr>
            <a:endParaRPr lang="en-AU" sz="1200" b="1" dirty="0">
              <a:solidFill>
                <a:srgbClr val="0033CC"/>
              </a:solidFill>
            </a:endParaRPr>
          </a:p>
          <a:p>
            <a:pPr marL="457200" indent="-457200" defTabSz="1165225">
              <a:spcBef>
                <a:spcPts val="0"/>
              </a:spcBef>
              <a:buNone/>
              <a:tabLst>
                <a:tab pos="1160463" algn="l"/>
                <a:tab pos="3322638" algn="l"/>
              </a:tabLst>
            </a:pPr>
            <a:r>
              <a:rPr lang="en-AU" sz="2200" b="1" dirty="0">
                <a:solidFill>
                  <a:srgbClr val="0033CC"/>
                </a:solidFill>
              </a:rPr>
              <a:t>       This check constraint limits the gender value to </a:t>
            </a:r>
            <a:br>
              <a:rPr lang="en-AU" sz="2200" b="1" dirty="0">
                <a:solidFill>
                  <a:srgbClr val="0033CC"/>
                </a:solidFill>
              </a:rPr>
            </a:br>
            <a:r>
              <a:rPr lang="en-AU" sz="2200" b="1" dirty="0">
                <a:solidFill>
                  <a:srgbClr val="0033CC"/>
                </a:solidFill>
              </a:rPr>
              <a:t>Male, Female or Intersex</a:t>
            </a:r>
          </a:p>
          <a:p>
            <a:pPr marL="85725" indent="-6350" defTabSz="1165225">
              <a:lnSpc>
                <a:spcPct val="90000"/>
              </a:lnSpc>
              <a:buNone/>
              <a:tabLst>
                <a:tab pos="1160463" algn="l"/>
                <a:tab pos="3322638" algn="l"/>
              </a:tabLst>
            </a:pPr>
            <a:r>
              <a:rPr lang="en-US" sz="1800" dirty="0"/>
              <a:t>"This recommended approach complies with the Australian Standard (AS) 4590:2006 </a:t>
            </a:r>
            <a:r>
              <a:rPr lang="en-US" sz="1800" b="1" dirty="0"/>
              <a:t>'Interchange of client information'</a:t>
            </a:r>
            <a:r>
              <a:rPr lang="en-US" sz="1800" dirty="0"/>
              <a:t> (a standard for making data easier to share between parties). The Australian government has </a:t>
            </a:r>
            <a:r>
              <a:rPr lang="en-US" sz="1800" dirty="0" err="1"/>
              <a:t>recognised</a:t>
            </a:r>
            <a:r>
              <a:rPr lang="en-US" sz="1800" dirty="0"/>
              <a:t> that </a:t>
            </a:r>
            <a:r>
              <a:rPr lang="en-US" sz="1800" b="1" dirty="0"/>
              <a:t>intersex</a:t>
            </a:r>
            <a:r>
              <a:rPr lang="en-US" sz="1800" dirty="0"/>
              <a:t> is a response option that needs to be provided whenever gender data is being collected. This means that increasingly, Australian government agencies must include this option in their forms and allow for it in their databases. Finally, discrimination on the basis of sexual orientation, gender identity or intersex status has also recently been </a:t>
            </a:r>
            <a:r>
              <a:rPr lang="en-US" sz="1800" dirty="0">
                <a:hlinkClick r:id="rId2"/>
              </a:rPr>
              <a:t>declared illegal in Australia</a:t>
            </a:r>
            <a:r>
              <a:rPr lang="en-US" sz="1800" dirty="0"/>
              <a:t>."</a:t>
            </a:r>
          </a:p>
          <a:p>
            <a:pPr marL="85725" lvl="1" indent="-6350" defTabSz="1165225">
              <a:lnSpc>
                <a:spcPct val="90000"/>
              </a:lnSpc>
              <a:buSzPct val="75000"/>
              <a:buNone/>
              <a:tabLst>
                <a:tab pos="1160463" algn="l"/>
                <a:tab pos="3322638" algn="l"/>
              </a:tabLst>
            </a:pPr>
            <a:r>
              <a:rPr lang="en-AU" sz="2200" b="1" dirty="0">
                <a:solidFill>
                  <a:srgbClr val="0033CC"/>
                </a:solidFill>
                <a:hlinkClick r:id="rId3"/>
              </a:rPr>
              <a:t>http://www.formulate.com.au/blog/sex-and-gender</a:t>
            </a:r>
            <a:endParaRPr lang="en-AU" sz="2200" b="1" dirty="0">
              <a:solidFill>
                <a:srgbClr val="0033CC"/>
              </a:solidFill>
            </a:endParaRPr>
          </a:p>
          <a:p>
            <a:pPr marL="85725" indent="-6350" defTabSz="1165225">
              <a:lnSpc>
                <a:spcPct val="90000"/>
              </a:lnSpc>
              <a:buNone/>
              <a:tabLst>
                <a:tab pos="1160463" algn="l"/>
                <a:tab pos="3322638" algn="l"/>
              </a:tabLst>
            </a:pPr>
            <a:endParaRPr lang="en-AU" sz="2000" b="1" dirty="0">
              <a:solidFill>
                <a:srgbClr val="0033CC"/>
              </a:solidFill>
            </a:endParaRPr>
          </a:p>
          <a:p>
            <a:pPr marL="457200" indent="-457200" defTabSz="1165225">
              <a:buSzPct val="65000"/>
              <a:buNone/>
              <a:tabLst>
                <a:tab pos="1160463" algn="l"/>
                <a:tab pos="3322638" algn="l"/>
              </a:tabLst>
            </a:pPr>
            <a:endParaRPr lang="en-AU" b="1" dirty="0">
              <a:solidFill>
                <a:srgbClr val="0033CC"/>
              </a:solidFill>
            </a:endParaRPr>
          </a:p>
        </p:txBody>
      </p:sp>
    </p:spTree>
    <p:extLst>
      <p:ext uri="{BB962C8B-B14F-4D97-AF65-F5344CB8AC3E}">
        <p14:creationId xmlns:p14="http://schemas.microsoft.com/office/powerpoint/2010/main" val="2071585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type="title"/>
          </p:nvPr>
        </p:nvSpPr>
        <p:spPr/>
        <p:txBody>
          <a:bodyPr/>
          <a:lstStyle/>
          <a:p>
            <a:pPr marL="685800" indent="-685800"/>
            <a:r>
              <a:rPr lang="en-AU" dirty="0">
                <a:solidFill>
                  <a:srgbClr val="009900"/>
                </a:solidFill>
              </a:rPr>
              <a:t>SQL: Check Constraints</a:t>
            </a:r>
          </a:p>
        </p:txBody>
      </p:sp>
      <p:sp>
        <p:nvSpPr>
          <p:cNvPr id="51205" name="Rectangle 4"/>
          <p:cNvSpPr>
            <a:spLocks noGrp="1" noChangeArrowheads="1"/>
          </p:cNvSpPr>
          <p:nvPr>
            <p:ph idx="1"/>
          </p:nvPr>
        </p:nvSpPr>
        <p:spPr/>
        <p:txBody>
          <a:bodyPr/>
          <a:lstStyle/>
          <a:p>
            <a:pPr marL="0" indent="0" defTabSz="1165225">
              <a:lnSpc>
                <a:spcPct val="85000"/>
              </a:lnSpc>
              <a:buNone/>
              <a:tabLst>
                <a:tab pos="1160463" algn="l"/>
                <a:tab pos="3322638" algn="l"/>
              </a:tabLst>
            </a:pPr>
            <a:endParaRPr lang="en-AU" b="1" dirty="0"/>
          </a:p>
          <a:p>
            <a:pPr marL="0" indent="0" defTabSz="1165225">
              <a:spcBef>
                <a:spcPts val="0"/>
              </a:spcBef>
              <a:buNone/>
              <a:tabLst>
                <a:tab pos="1160463" algn="l"/>
                <a:tab pos="3322638" algn="l"/>
              </a:tabLst>
            </a:pPr>
            <a:r>
              <a:rPr lang="en-AU" b="1" dirty="0"/>
              <a:t>Check Constraints </a:t>
            </a:r>
            <a:r>
              <a:rPr lang="en-AU" dirty="0"/>
              <a:t>perform </a:t>
            </a:r>
            <a:r>
              <a:rPr lang="en-AU" b="1" dirty="0"/>
              <a:t>fixed validation</a:t>
            </a:r>
            <a:r>
              <a:rPr lang="en-AU" dirty="0"/>
              <a:t> on data values</a:t>
            </a:r>
          </a:p>
          <a:p>
            <a:pPr defTabSz="1165225">
              <a:spcBef>
                <a:spcPts val="0"/>
              </a:spcBef>
              <a:buFont typeface="Wingdings" pitchFamily="2" charset="2"/>
              <a:buChar char="§"/>
              <a:tabLst>
                <a:tab pos="1160463" algn="l"/>
                <a:tab pos="3322638" algn="l"/>
              </a:tabLst>
            </a:pPr>
            <a:endParaRPr lang="en-AU" dirty="0"/>
          </a:p>
          <a:p>
            <a:pPr marL="457200" indent="-457200" defTabSz="1165225">
              <a:spcBef>
                <a:spcPts val="0"/>
              </a:spcBef>
              <a:buNone/>
              <a:tabLst>
                <a:tab pos="1160463" algn="l"/>
                <a:tab pos="3322638" algn="l"/>
              </a:tabLst>
            </a:pPr>
            <a:endParaRPr lang="en-AU" sz="800" dirty="0"/>
          </a:p>
          <a:p>
            <a:pPr marL="457200" indent="-457200" defTabSz="1165225">
              <a:spcBef>
                <a:spcPts val="0"/>
              </a:spcBef>
              <a:buNone/>
              <a:tabLst>
                <a:tab pos="1160463" algn="l"/>
                <a:tab pos="3322638" algn="l"/>
              </a:tabLst>
            </a:pPr>
            <a:r>
              <a:rPr lang="en-AU" sz="2200" dirty="0">
                <a:solidFill>
                  <a:srgbClr val="0033CC"/>
                </a:solidFill>
              </a:rPr>
              <a:t>CREATE   STUDENT (</a:t>
            </a:r>
          </a:p>
          <a:p>
            <a:pPr marL="457200" indent="-457200" defTabSz="1165225">
              <a:spcBef>
                <a:spcPts val="0"/>
              </a:spcBef>
              <a:buNone/>
              <a:tabLst>
                <a:tab pos="1160463" algn="l"/>
                <a:tab pos="3322638" algn="l"/>
              </a:tabLst>
            </a:pPr>
            <a:r>
              <a:rPr lang="en-AU" sz="2200" dirty="0">
                <a:solidFill>
                  <a:srgbClr val="0033CC"/>
                </a:solidFill>
              </a:rPr>
              <a:t>  </a:t>
            </a:r>
            <a:r>
              <a:rPr lang="en-AU" sz="2200" dirty="0" err="1">
                <a:solidFill>
                  <a:srgbClr val="0033CC"/>
                </a:solidFill>
              </a:rPr>
              <a:t>stuid</a:t>
            </a:r>
            <a:r>
              <a:rPr lang="en-AU" sz="2200" dirty="0">
                <a:solidFill>
                  <a:srgbClr val="0033CC"/>
                </a:solidFill>
              </a:rPr>
              <a:t>    NUMBER</a:t>
            </a:r>
          </a:p>
          <a:p>
            <a:pPr marL="457200" indent="-457200" defTabSz="1165225">
              <a:spcBef>
                <a:spcPts val="0"/>
              </a:spcBef>
              <a:buNone/>
              <a:tabLst>
                <a:tab pos="1160463" algn="l"/>
                <a:tab pos="3322638" algn="l"/>
              </a:tabLst>
            </a:pPr>
            <a:r>
              <a:rPr lang="en-AU" sz="2200" dirty="0">
                <a:solidFill>
                  <a:srgbClr val="0033CC"/>
                </a:solidFill>
              </a:rPr>
              <a:t>, name  VARCHAR(30)	</a:t>
            </a:r>
          </a:p>
          <a:p>
            <a:pPr marL="457200" indent="-457200" defTabSz="1165225">
              <a:spcBef>
                <a:spcPts val="0"/>
              </a:spcBef>
              <a:buNone/>
              <a:tabLst>
                <a:tab pos="1160463" algn="l"/>
                <a:tab pos="3322638" algn="l"/>
              </a:tabLst>
            </a:pPr>
            <a:r>
              <a:rPr lang="en-AU" sz="2200" dirty="0">
                <a:solidFill>
                  <a:srgbClr val="0033CC"/>
                </a:solidFill>
              </a:rPr>
              <a:t>, test1   NUMBER  </a:t>
            </a:r>
            <a:r>
              <a:rPr lang="en-AU" sz="2200" b="1" dirty="0">
                <a:solidFill>
                  <a:srgbClr val="FF0000"/>
                </a:solidFill>
              </a:rPr>
              <a:t>CHECK (test1 &gt;= 0) </a:t>
            </a:r>
          </a:p>
          <a:p>
            <a:pPr marL="457200" indent="-457200" defTabSz="1165225">
              <a:spcBef>
                <a:spcPts val="0"/>
              </a:spcBef>
              <a:buNone/>
              <a:tabLst>
                <a:tab pos="1160463" algn="l"/>
                <a:tab pos="3322638" algn="l"/>
              </a:tabLst>
            </a:pPr>
            <a:r>
              <a:rPr lang="en-AU" sz="2200" dirty="0">
                <a:solidFill>
                  <a:srgbClr val="0033CC"/>
                </a:solidFill>
              </a:rPr>
              <a:t>, test2  NUMBER  </a:t>
            </a:r>
            <a:r>
              <a:rPr lang="en-AU" sz="2200" b="1" dirty="0">
                <a:solidFill>
                  <a:srgbClr val="FF0000"/>
                </a:solidFill>
              </a:rPr>
              <a:t>CHECK (test2 BETWEEN 0 and 50)</a:t>
            </a:r>
            <a:r>
              <a:rPr lang="en-AU" sz="2200" dirty="0">
                <a:solidFill>
                  <a:srgbClr val="FF0000"/>
                </a:solidFill>
              </a:rPr>
              <a:t>  </a:t>
            </a:r>
            <a:endParaRPr lang="en-AU" sz="2200" dirty="0">
              <a:solidFill>
                <a:srgbClr val="0033CC"/>
              </a:solidFill>
            </a:endParaRPr>
          </a:p>
          <a:p>
            <a:pPr marL="457200" indent="-457200" defTabSz="1165225">
              <a:spcBef>
                <a:spcPts val="0"/>
              </a:spcBef>
              <a:buNone/>
              <a:tabLst>
                <a:tab pos="1160463" algn="l"/>
                <a:tab pos="3322638" algn="l"/>
              </a:tabLst>
            </a:pPr>
            <a:r>
              <a:rPr lang="en-AU" sz="2200" dirty="0">
                <a:solidFill>
                  <a:srgbClr val="0033CC"/>
                </a:solidFill>
              </a:rPr>
              <a:t>, </a:t>
            </a:r>
            <a:r>
              <a:rPr lang="en-AU" sz="2200" b="1" dirty="0">
                <a:solidFill>
                  <a:srgbClr val="FF0000"/>
                </a:solidFill>
              </a:rPr>
              <a:t>CHECK (test1 + test2 &lt;= 100)</a:t>
            </a:r>
          </a:p>
          <a:p>
            <a:pPr marL="457200" indent="-457200" defTabSz="1165225">
              <a:spcBef>
                <a:spcPts val="0"/>
              </a:spcBef>
              <a:buNone/>
              <a:tabLst>
                <a:tab pos="1160463" algn="l"/>
                <a:tab pos="3322638" algn="l"/>
              </a:tabLst>
            </a:pPr>
            <a:r>
              <a:rPr lang="en-AU" sz="2200" b="1" dirty="0">
                <a:solidFill>
                  <a:srgbClr val="0033CC"/>
                </a:solidFill>
              </a:rPr>
              <a:t>…</a:t>
            </a:r>
          </a:p>
          <a:p>
            <a:pPr marL="457200" indent="-457200" defTabSz="1165225">
              <a:spcBef>
                <a:spcPts val="0"/>
              </a:spcBef>
              <a:buNone/>
              <a:tabLst>
                <a:tab pos="1160463" algn="l"/>
                <a:tab pos="3322638" algn="l"/>
              </a:tabLst>
            </a:pPr>
            <a:endParaRPr lang="en-AU" sz="2200" b="1" dirty="0">
              <a:solidFill>
                <a:srgbClr val="0033CC"/>
              </a:solidFill>
            </a:endParaRPr>
          </a:p>
          <a:p>
            <a:pPr marL="457200" indent="-457200" defTabSz="1165225">
              <a:spcBef>
                <a:spcPts val="0"/>
              </a:spcBef>
              <a:buNone/>
              <a:tabLst>
                <a:tab pos="1160463" algn="l"/>
                <a:tab pos="3322638" algn="l"/>
              </a:tabLst>
            </a:pPr>
            <a:endParaRPr lang="en-AU" sz="2200" b="1" dirty="0">
              <a:solidFill>
                <a:srgbClr val="0033CC"/>
              </a:solidFill>
            </a:endParaRPr>
          </a:p>
          <a:p>
            <a:pPr marL="457200" indent="-457200" defTabSz="1165225">
              <a:spcBef>
                <a:spcPts val="0"/>
              </a:spcBef>
              <a:buSzPct val="65000"/>
              <a:buNone/>
              <a:tabLst>
                <a:tab pos="1160463" algn="l"/>
                <a:tab pos="3322638" algn="l"/>
              </a:tabLst>
            </a:pPr>
            <a:endParaRPr lang="en-AU" b="1" dirty="0">
              <a:solidFill>
                <a:srgbClr val="0033CC"/>
              </a:solidFill>
            </a:endParaRPr>
          </a:p>
        </p:txBody>
      </p:sp>
      <p:sp>
        <p:nvSpPr>
          <p:cNvPr id="51203" name="Rectangle 2"/>
          <p:cNvSpPr>
            <a:spLocks noChangeArrowheads="1"/>
          </p:cNvSpPr>
          <p:nvPr/>
        </p:nvSpPr>
        <p:spPr bwMode="auto">
          <a:xfrm>
            <a:off x="1524000" y="5981700"/>
            <a:ext cx="1733550" cy="8763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type="none" w="sm" len="sm"/>
                <a:tailEnd/>
              </a14:hiddenLine>
            </a:ext>
          </a:extLst>
        </p:spPr>
        <p:txBody>
          <a:bodyPr wrap="none" lIns="0" tIns="0" rIns="0" bIns="0" anchor="ctr"/>
          <a:lstStyle/>
          <a:p>
            <a:pPr defTabSz="457200" eaLnBrk="0" hangingPunct="0">
              <a:lnSpc>
                <a:spcPct val="80000"/>
              </a:lnSpc>
              <a:buClr>
                <a:srgbClr val="D1161E"/>
              </a:buClr>
              <a:buSzPct val="85000"/>
            </a:pPr>
            <a:endParaRPr lang="en-AU">
              <a:solidFill>
                <a:srgbClr val="D1161E"/>
              </a:solidFill>
              <a:latin typeface="Calibri"/>
            </a:endParaRPr>
          </a:p>
        </p:txBody>
      </p:sp>
    </p:spTree>
    <p:extLst>
      <p:ext uri="{BB962C8B-B14F-4D97-AF65-F5344CB8AC3E}">
        <p14:creationId xmlns:p14="http://schemas.microsoft.com/office/powerpoint/2010/main" val="3377677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type="title"/>
          </p:nvPr>
        </p:nvSpPr>
        <p:spPr/>
        <p:txBody>
          <a:bodyPr/>
          <a:lstStyle/>
          <a:p>
            <a:pPr marL="685800" indent="-685800"/>
            <a:r>
              <a:rPr lang="en-AU" dirty="0">
                <a:solidFill>
                  <a:srgbClr val="009900"/>
                </a:solidFill>
              </a:rPr>
              <a:t>SQL: Check Constraints</a:t>
            </a:r>
          </a:p>
        </p:txBody>
      </p:sp>
      <p:sp>
        <p:nvSpPr>
          <p:cNvPr id="52229" name="Rectangle 4"/>
          <p:cNvSpPr>
            <a:spLocks noGrp="1" noChangeArrowheads="1"/>
          </p:cNvSpPr>
          <p:nvPr>
            <p:ph idx="1"/>
          </p:nvPr>
        </p:nvSpPr>
        <p:spPr/>
        <p:txBody>
          <a:bodyPr>
            <a:normAutofit/>
          </a:bodyPr>
          <a:lstStyle/>
          <a:p>
            <a:pPr marL="0" indent="0" defTabSz="1165225">
              <a:spcBef>
                <a:spcPts val="0"/>
              </a:spcBef>
              <a:buNone/>
              <a:tabLst>
                <a:tab pos="1160463" algn="l"/>
                <a:tab pos="3322638" algn="l"/>
              </a:tabLst>
            </a:pPr>
            <a:r>
              <a:rPr lang="en-AU" b="1" dirty="0"/>
              <a:t>Check Constraints </a:t>
            </a:r>
            <a:r>
              <a:rPr lang="en-AU" dirty="0"/>
              <a:t>should only be used to validate </a:t>
            </a:r>
            <a:r>
              <a:rPr lang="en-AU" b="1" dirty="0"/>
              <a:t>specific</a:t>
            </a:r>
            <a:r>
              <a:rPr lang="en-AU" dirty="0"/>
              <a:t> values </a:t>
            </a:r>
          </a:p>
          <a:p>
            <a:pPr marL="993775" lvl="1" indent="-457200" defTabSz="1165225">
              <a:spcBef>
                <a:spcPts val="0"/>
              </a:spcBef>
              <a:tabLst>
                <a:tab pos="1160463" algn="l"/>
                <a:tab pos="3322638" algn="l"/>
              </a:tabLst>
            </a:pPr>
            <a:r>
              <a:rPr lang="en-AU" dirty="0"/>
              <a:t>When the values are </a:t>
            </a:r>
            <a:r>
              <a:rPr lang="en-AU" b="1" dirty="0"/>
              <a:t>fixed</a:t>
            </a:r>
          </a:p>
          <a:p>
            <a:pPr marL="993775" lvl="1" indent="-457200" defTabSz="1165225">
              <a:spcBef>
                <a:spcPts val="0"/>
              </a:spcBef>
              <a:tabLst>
                <a:tab pos="1160463" algn="l"/>
                <a:tab pos="3322638" algn="l"/>
              </a:tabLst>
            </a:pPr>
            <a:r>
              <a:rPr lang="en-AU" dirty="0"/>
              <a:t>Will </a:t>
            </a:r>
            <a:r>
              <a:rPr lang="en-AU" b="1" dirty="0"/>
              <a:t>never</a:t>
            </a:r>
            <a:r>
              <a:rPr lang="en-AU" dirty="0"/>
              <a:t> change</a:t>
            </a:r>
          </a:p>
          <a:p>
            <a:pPr marL="993775" lvl="1" indent="-457200" defTabSz="1165225">
              <a:spcBef>
                <a:spcPts val="0"/>
              </a:spcBef>
              <a:buNone/>
              <a:tabLst>
                <a:tab pos="1160463" algn="l"/>
                <a:tab pos="3322638" algn="l"/>
              </a:tabLst>
            </a:pPr>
            <a:r>
              <a:rPr lang="en-AU" b="1" dirty="0">
                <a:solidFill>
                  <a:srgbClr val="0033CC"/>
                </a:solidFill>
              </a:rPr>
              <a:t>	</a:t>
            </a:r>
          </a:p>
          <a:p>
            <a:pPr marL="993775" lvl="1" indent="-457200" defTabSz="1165225">
              <a:spcBef>
                <a:spcPts val="0"/>
              </a:spcBef>
              <a:buNone/>
              <a:tabLst>
                <a:tab pos="1160463" algn="l"/>
                <a:tab pos="3322638" algn="l"/>
              </a:tabLst>
            </a:pPr>
            <a:r>
              <a:rPr lang="en-AU" b="1" dirty="0">
                <a:solidFill>
                  <a:srgbClr val="0033CC"/>
                </a:solidFill>
              </a:rPr>
              <a:t>CHECK (</a:t>
            </a:r>
            <a:r>
              <a:rPr lang="en-AU" b="1" dirty="0" err="1">
                <a:solidFill>
                  <a:srgbClr val="0033CC"/>
                </a:solidFill>
              </a:rPr>
              <a:t>dayname</a:t>
            </a:r>
            <a:r>
              <a:rPr lang="en-AU" b="1" dirty="0">
                <a:solidFill>
                  <a:srgbClr val="0033CC"/>
                </a:solidFill>
              </a:rPr>
              <a:t> IN ('</a:t>
            </a:r>
            <a:r>
              <a:rPr lang="en-AU" b="1" dirty="0" err="1">
                <a:solidFill>
                  <a:srgbClr val="0033CC"/>
                </a:solidFill>
              </a:rPr>
              <a:t>Mon','Tue','Wed','Thu','Fri','Sat','Sun</a:t>
            </a:r>
            <a:r>
              <a:rPr lang="en-AU" b="1" dirty="0">
                <a:solidFill>
                  <a:srgbClr val="0033CC"/>
                </a:solidFill>
              </a:rPr>
              <a:t>'))  </a:t>
            </a:r>
            <a:endParaRPr lang="en-AU" dirty="0"/>
          </a:p>
          <a:p>
            <a:pPr marL="457200" indent="-457200" defTabSz="1165225">
              <a:spcBef>
                <a:spcPts val="0"/>
              </a:spcBef>
              <a:buNone/>
              <a:tabLst>
                <a:tab pos="1160463" algn="l"/>
                <a:tab pos="3322638" algn="l"/>
              </a:tabLst>
            </a:pPr>
            <a:endParaRPr lang="en-AU" sz="800" dirty="0"/>
          </a:p>
          <a:p>
            <a:pPr marL="457200" indent="-457200" defTabSz="1165225">
              <a:spcBef>
                <a:spcPts val="0"/>
              </a:spcBef>
              <a:tabLst>
                <a:tab pos="1160463" algn="l"/>
                <a:tab pos="3322638" algn="l"/>
              </a:tabLst>
            </a:pPr>
            <a:endParaRPr lang="en-AU" dirty="0"/>
          </a:p>
          <a:p>
            <a:pPr marL="0" indent="0" defTabSz="1165225">
              <a:spcBef>
                <a:spcPts val="0"/>
              </a:spcBef>
              <a:buNone/>
              <a:tabLst>
                <a:tab pos="1160463" algn="l"/>
                <a:tab pos="3322638" algn="l"/>
              </a:tabLst>
            </a:pPr>
            <a:r>
              <a:rPr lang="en-AU" dirty="0"/>
              <a:t>Do </a:t>
            </a:r>
            <a:r>
              <a:rPr lang="en-AU" b="1" dirty="0"/>
              <a:t>not</a:t>
            </a:r>
            <a:r>
              <a:rPr lang="en-AU" dirty="0"/>
              <a:t> use check constraints when the values </a:t>
            </a:r>
            <a:r>
              <a:rPr lang="en-AU" b="1" dirty="0"/>
              <a:t>may change</a:t>
            </a:r>
          </a:p>
          <a:p>
            <a:pPr lvl="1" defTabSz="1165225">
              <a:spcBef>
                <a:spcPts val="0"/>
              </a:spcBef>
              <a:buFont typeface="Wingdings" pitchFamily="2" charset="2"/>
              <a:buChar char="§"/>
              <a:tabLst>
                <a:tab pos="1160463" algn="l"/>
                <a:tab pos="3322638" algn="l"/>
              </a:tabLst>
            </a:pPr>
            <a:r>
              <a:rPr lang="en-AU" sz="2200" dirty="0"/>
              <a:t>Adding/deleting values will require a </a:t>
            </a:r>
            <a:r>
              <a:rPr lang="en-AU" sz="2200" b="1" dirty="0"/>
              <a:t>modification</a:t>
            </a:r>
            <a:r>
              <a:rPr lang="en-AU" sz="2200" dirty="0"/>
              <a:t> to a table that may contain many of rows of data</a:t>
            </a:r>
          </a:p>
          <a:p>
            <a:pPr marL="457200" indent="-457200" defTabSz="1165225">
              <a:spcBef>
                <a:spcPts val="0"/>
              </a:spcBef>
              <a:tabLst>
                <a:tab pos="1160463" algn="l"/>
                <a:tab pos="3322638" algn="l"/>
              </a:tabLst>
            </a:pPr>
            <a:endParaRPr lang="en-AU" dirty="0"/>
          </a:p>
          <a:p>
            <a:pPr marL="993775" lvl="1" indent="-457200" defTabSz="1165225">
              <a:spcBef>
                <a:spcPts val="0"/>
              </a:spcBef>
              <a:buNone/>
              <a:tabLst>
                <a:tab pos="1160463" algn="l"/>
                <a:tab pos="3322638" algn="l"/>
              </a:tabLst>
            </a:pPr>
            <a:r>
              <a:rPr lang="en-AU" b="1" dirty="0">
                <a:solidFill>
                  <a:srgbClr val="0033CC"/>
                </a:solidFill>
              </a:rPr>
              <a:t>CHECK (</a:t>
            </a:r>
            <a:r>
              <a:rPr lang="en-AU" b="1" dirty="0" err="1">
                <a:solidFill>
                  <a:srgbClr val="0033CC"/>
                </a:solidFill>
              </a:rPr>
              <a:t>managername</a:t>
            </a:r>
            <a:r>
              <a:rPr lang="en-AU" b="1" dirty="0">
                <a:solidFill>
                  <a:srgbClr val="0033CC"/>
                </a:solidFill>
              </a:rPr>
              <a:t> IN ('Dave', 'Sue', 'Henry')  )</a:t>
            </a:r>
            <a:endParaRPr lang="en-AU" dirty="0"/>
          </a:p>
          <a:p>
            <a:pPr marL="993775" lvl="1" indent="-457200" defTabSz="1165225">
              <a:spcBef>
                <a:spcPts val="0"/>
              </a:spcBef>
              <a:buNone/>
              <a:tabLst>
                <a:tab pos="1160463" algn="l"/>
                <a:tab pos="3322638" algn="l"/>
              </a:tabLst>
            </a:pPr>
            <a:r>
              <a:rPr lang="en-AU" b="1" dirty="0">
                <a:solidFill>
                  <a:srgbClr val="0033CC"/>
                </a:solidFill>
              </a:rPr>
              <a:t>CHECK (grade IN ('Good', 'Excellent', 'Poor')  )</a:t>
            </a:r>
            <a:endParaRPr lang="en-AU" dirty="0"/>
          </a:p>
          <a:p>
            <a:pPr marL="457200" indent="-457200" defTabSz="1165225">
              <a:spcBef>
                <a:spcPts val="0"/>
              </a:spcBef>
              <a:buNone/>
              <a:tabLst>
                <a:tab pos="1160463" algn="l"/>
                <a:tab pos="3322638" algn="l"/>
              </a:tabLst>
            </a:pPr>
            <a:endParaRPr lang="en-AU" dirty="0">
              <a:solidFill>
                <a:srgbClr val="0033CC"/>
              </a:solidFill>
            </a:endParaRPr>
          </a:p>
          <a:p>
            <a:pPr marL="0" indent="0" defTabSz="1165225">
              <a:spcBef>
                <a:spcPts val="0"/>
              </a:spcBef>
              <a:buNone/>
              <a:tabLst>
                <a:tab pos="1160463" algn="l"/>
                <a:tab pos="3322638" algn="l"/>
              </a:tabLst>
            </a:pPr>
            <a:r>
              <a:rPr lang="en-AU" dirty="0">
                <a:solidFill>
                  <a:schemeClr val="tx2"/>
                </a:solidFill>
              </a:rPr>
              <a:t>It is </a:t>
            </a:r>
            <a:r>
              <a:rPr lang="en-AU" b="1" dirty="0">
                <a:solidFill>
                  <a:schemeClr val="tx2"/>
                </a:solidFill>
              </a:rPr>
              <a:t>better</a:t>
            </a:r>
            <a:r>
              <a:rPr lang="en-AU" dirty="0">
                <a:solidFill>
                  <a:schemeClr val="tx2"/>
                </a:solidFill>
              </a:rPr>
              <a:t> to create a </a:t>
            </a:r>
            <a:r>
              <a:rPr lang="en-AU" b="1" dirty="0">
                <a:solidFill>
                  <a:schemeClr val="tx2"/>
                </a:solidFill>
              </a:rPr>
              <a:t>separate table</a:t>
            </a:r>
            <a:r>
              <a:rPr lang="en-AU" dirty="0">
                <a:solidFill>
                  <a:schemeClr val="tx2"/>
                </a:solidFill>
              </a:rPr>
              <a:t> of </a:t>
            </a:r>
            <a:br>
              <a:rPr lang="en-AU" dirty="0">
                <a:solidFill>
                  <a:schemeClr val="tx2"/>
                </a:solidFill>
              </a:rPr>
            </a:br>
            <a:r>
              <a:rPr lang="en-AU" dirty="0">
                <a:solidFill>
                  <a:schemeClr val="tx2"/>
                </a:solidFill>
              </a:rPr>
              <a:t>managers or grades that the </a:t>
            </a:r>
            <a:r>
              <a:rPr lang="en-AU" b="1" dirty="0">
                <a:solidFill>
                  <a:schemeClr val="tx2"/>
                </a:solidFill>
              </a:rPr>
              <a:t>end-user can maintain</a:t>
            </a:r>
          </a:p>
        </p:txBody>
      </p:sp>
      <p:sp>
        <p:nvSpPr>
          <p:cNvPr id="52227" name="Rectangle 2"/>
          <p:cNvSpPr>
            <a:spLocks noChangeArrowheads="1"/>
          </p:cNvSpPr>
          <p:nvPr/>
        </p:nvSpPr>
        <p:spPr bwMode="auto">
          <a:xfrm>
            <a:off x="1524000" y="5981700"/>
            <a:ext cx="1733550" cy="8763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type="none" w="sm" len="sm"/>
                <a:tailEnd/>
              </a14:hiddenLine>
            </a:ext>
          </a:extLst>
        </p:spPr>
        <p:txBody>
          <a:bodyPr wrap="none" lIns="0" tIns="0" rIns="0" bIns="0" anchor="ctr"/>
          <a:lstStyle/>
          <a:p>
            <a:pPr defTabSz="457200" eaLnBrk="0" hangingPunct="0">
              <a:lnSpc>
                <a:spcPct val="80000"/>
              </a:lnSpc>
              <a:buClr>
                <a:srgbClr val="D1161E"/>
              </a:buClr>
              <a:buSzPct val="85000"/>
            </a:pPr>
            <a:endParaRPr lang="en-AU">
              <a:solidFill>
                <a:srgbClr val="D1161E"/>
              </a:solidFill>
              <a:latin typeface="Calibri"/>
            </a:endParaRPr>
          </a:p>
        </p:txBody>
      </p:sp>
      <p:sp>
        <p:nvSpPr>
          <p:cNvPr id="52230" name="Text Box 5"/>
          <p:cNvSpPr txBox="1">
            <a:spLocks noChangeArrowheads="1"/>
          </p:cNvSpPr>
          <p:nvPr/>
        </p:nvSpPr>
        <p:spPr bwMode="auto">
          <a:xfrm>
            <a:off x="8514569" y="4323705"/>
            <a:ext cx="604465" cy="118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type="none" w="sm" len="sm"/>
                <a:tailEnd/>
              </a14:hiddenLine>
            </a:ext>
          </a:extLst>
        </p:spPr>
        <p:txBody>
          <a:bodyPr wrap="square" lIns="0" tIns="0" rIns="0" bIns="0">
            <a:spAutoFit/>
          </a:bodyPr>
          <a:lstStyle>
            <a:lvl1pPr marL="457200" indent="-457200" eaLnBrk="0" hangingPunct="0">
              <a:defRPr sz="2400" b="1" i="1">
                <a:solidFill>
                  <a:schemeClr val="tx1"/>
                </a:solidFill>
                <a:latin typeface="Arial Narrow" pitchFamily="34" charset="0"/>
              </a:defRPr>
            </a:lvl1pPr>
            <a:lvl2pPr marL="742950" indent="-285750" eaLnBrk="0" hangingPunct="0">
              <a:defRPr sz="2400" b="1" i="1">
                <a:solidFill>
                  <a:schemeClr val="tx1"/>
                </a:solidFill>
                <a:latin typeface="Arial Narrow" pitchFamily="34" charset="0"/>
              </a:defRPr>
            </a:lvl2pPr>
            <a:lvl3pPr marL="1143000" indent="-228600" eaLnBrk="0" hangingPunct="0">
              <a:defRPr sz="2400" b="1" i="1">
                <a:solidFill>
                  <a:schemeClr val="tx1"/>
                </a:solidFill>
                <a:latin typeface="Arial Narrow" pitchFamily="34" charset="0"/>
              </a:defRPr>
            </a:lvl3pPr>
            <a:lvl4pPr marL="1600200" indent="-228600" eaLnBrk="0" hangingPunct="0">
              <a:defRPr sz="2400" b="1" i="1">
                <a:solidFill>
                  <a:schemeClr val="tx1"/>
                </a:solidFill>
                <a:latin typeface="Arial Narrow" pitchFamily="34" charset="0"/>
              </a:defRPr>
            </a:lvl4pPr>
            <a:lvl5pPr marL="2057400" indent="-228600" eaLnBrk="0" hangingPunct="0">
              <a:defRPr sz="2400" b="1" i="1">
                <a:solidFill>
                  <a:schemeClr val="tx1"/>
                </a:solidFill>
                <a:latin typeface="Arial Narrow" pitchFamily="34" charset="0"/>
              </a:defRPr>
            </a:lvl5pPr>
            <a:lvl6pPr marL="2514600" indent="-228600" eaLnBrk="0" fontAlgn="base" hangingPunct="0">
              <a:spcBef>
                <a:spcPct val="0"/>
              </a:spcBef>
              <a:spcAft>
                <a:spcPct val="0"/>
              </a:spcAft>
              <a:defRPr sz="2400" b="1" i="1">
                <a:solidFill>
                  <a:schemeClr val="tx1"/>
                </a:solidFill>
                <a:latin typeface="Arial Narrow" pitchFamily="34" charset="0"/>
              </a:defRPr>
            </a:lvl6pPr>
            <a:lvl7pPr marL="2971800" indent="-228600" eaLnBrk="0" fontAlgn="base" hangingPunct="0">
              <a:spcBef>
                <a:spcPct val="0"/>
              </a:spcBef>
              <a:spcAft>
                <a:spcPct val="0"/>
              </a:spcAft>
              <a:defRPr sz="2400" b="1" i="1">
                <a:solidFill>
                  <a:schemeClr val="tx1"/>
                </a:solidFill>
                <a:latin typeface="Arial Narrow" pitchFamily="34" charset="0"/>
              </a:defRPr>
            </a:lvl7pPr>
            <a:lvl8pPr marL="3429000" indent="-228600" eaLnBrk="0" fontAlgn="base" hangingPunct="0">
              <a:spcBef>
                <a:spcPct val="0"/>
              </a:spcBef>
              <a:spcAft>
                <a:spcPct val="0"/>
              </a:spcAft>
              <a:defRPr sz="2400" b="1" i="1">
                <a:solidFill>
                  <a:schemeClr val="tx1"/>
                </a:solidFill>
                <a:latin typeface="Arial Narrow" pitchFamily="34" charset="0"/>
              </a:defRPr>
            </a:lvl8pPr>
            <a:lvl9pPr marL="3886200" indent="-228600" eaLnBrk="0" fontAlgn="base" hangingPunct="0">
              <a:spcBef>
                <a:spcPct val="0"/>
              </a:spcBef>
              <a:spcAft>
                <a:spcPct val="0"/>
              </a:spcAft>
              <a:defRPr sz="2400" b="1" i="1">
                <a:solidFill>
                  <a:schemeClr val="tx1"/>
                </a:solidFill>
                <a:latin typeface="Arial Narrow" pitchFamily="34" charset="0"/>
              </a:defRPr>
            </a:lvl9pPr>
          </a:lstStyle>
          <a:p>
            <a:pPr defTabSz="457200">
              <a:lnSpc>
                <a:spcPct val="80000"/>
              </a:lnSpc>
              <a:buClr>
                <a:srgbClr val="D1161E"/>
              </a:buClr>
              <a:buSzPct val="85000"/>
            </a:pPr>
            <a:r>
              <a:rPr lang="en-US" sz="9600" dirty="0">
                <a:solidFill>
                  <a:srgbClr val="FF0000"/>
                </a:solidFill>
                <a:sym typeface="Wingdings" pitchFamily="2" charset="2"/>
              </a:rPr>
              <a:t></a:t>
            </a:r>
          </a:p>
        </p:txBody>
      </p:sp>
    </p:spTree>
    <p:extLst>
      <p:ext uri="{BB962C8B-B14F-4D97-AF65-F5344CB8AC3E}">
        <p14:creationId xmlns:p14="http://schemas.microsoft.com/office/powerpoint/2010/main" val="2798541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marL="685800" indent="-685800"/>
            <a:r>
              <a:rPr lang="en-AU" dirty="0">
                <a:solidFill>
                  <a:srgbClr val="009900"/>
                </a:solidFill>
              </a:rPr>
              <a:t>SQL: Check Constraint rules</a:t>
            </a:r>
          </a:p>
        </p:txBody>
      </p:sp>
      <p:sp>
        <p:nvSpPr>
          <p:cNvPr id="53252" name="Rectangle 3"/>
          <p:cNvSpPr>
            <a:spLocks noGrp="1" noChangeArrowheads="1"/>
          </p:cNvSpPr>
          <p:nvPr>
            <p:ph idx="1"/>
          </p:nvPr>
        </p:nvSpPr>
        <p:spPr/>
        <p:txBody>
          <a:bodyPr>
            <a:normAutofit/>
          </a:bodyPr>
          <a:lstStyle/>
          <a:p>
            <a:pPr marL="0" indent="0" defTabSz="1165225">
              <a:spcBef>
                <a:spcPts val="0"/>
              </a:spcBef>
              <a:buNone/>
              <a:tabLst>
                <a:tab pos="1081088" algn="l"/>
              </a:tabLst>
            </a:pPr>
            <a:r>
              <a:rPr lang="en-AU" sz="2200" dirty="0"/>
              <a:t>Check constraint rules:</a:t>
            </a:r>
          </a:p>
          <a:p>
            <a:pPr defTabSz="1165225">
              <a:spcBef>
                <a:spcPts val="0"/>
              </a:spcBef>
              <a:buNone/>
              <a:tabLst>
                <a:tab pos="1081088" algn="l"/>
              </a:tabLst>
            </a:pPr>
            <a:endParaRPr lang="en-AU" sz="2200" dirty="0"/>
          </a:p>
          <a:p>
            <a:pPr marL="450850" lvl="1" indent="-271463" defTabSz="1165225">
              <a:spcBef>
                <a:spcPts val="0"/>
              </a:spcBef>
              <a:tabLst>
                <a:tab pos="1081088" algn="l"/>
              </a:tabLst>
            </a:pPr>
            <a:r>
              <a:rPr lang="en-AU" sz="2200" dirty="0"/>
              <a:t>A row </a:t>
            </a:r>
            <a:r>
              <a:rPr lang="en-AU" sz="2200" b="1" dirty="0"/>
              <a:t>passes</a:t>
            </a:r>
            <a:r>
              <a:rPr lang="en-AU" sz="2200" dirty="0"/>
              <a:t> the Check Constraint rule if the result of condition is:</a:t>
            </a:r>
          </a:p>
          <a:p>
            <a:pPr marL="1120775" lvl="2" indent="-342900" defTabSz="1165225">
              <a:spcBef>
                <a:spcPts val="0"/>
              </a:spcBef>
              <a:buSzPct val="135000"/>
              <a:buFont typeface="Arial" pitchFamily="34" charset="0"/>
              <a:buChar char="•"/>
              <a:tabLst>
                <a:tab pos="1081088" algn="l"/>
              </a:tabLst>
            </a:pPr>
            <a:r>
              <a:rPr lang="en-AU" sz="2200" dirty="0"/>
              <a:t> TRUE   or </a:t>
            </a:r>
          </a:p>
          <a:p>
            <a:pPr marL="1120775" lvl="2" indent="-342900" defTabSz="1165225">
              <a:spcBef>
                <a:spcPts val="0"/>
              </a:spcBef>
              <a:buSzPct val="135000"/>
              <a:buFont typeface="Arial" pitchFamily="34" charset="0"/>
              <a:buChar char="•"/>
              <a:tabLst>
                <a:tab pos="1081088" algn="l"/>
              </a:tabLst>
            </a:pPr>
            <a:r>
              <a:rPr lang="en-AU" sz="2200" dirty="0"/>
              <a:t> NULL   (unknown)</a:t>
            </a:r>
          </a:p>
          <a:p>
            <a:pPr marL="898525" lvl="2" indent="-120650" defTabSz="1165225">
              <a:spcBef>
                <a:spcPts val="0"/>
              </a:spcBef>
              <a:buSzPct val="135000"/>
              <a:tabLst>
                <a:tab pos="1081088" algn="l"/>
              </a:tabLst>
            </a:pPr>
            <a:endParaRPr lang="en-AU" sz="2200" dirty="0"/>
          </a:p>
          <a:p>
            <a:pPr marL="450850" lvl="1" indent="-271463" defTabSz="1165225">
              <a:spcBef>
                <a:spcPts val="0"/>
              </a:spcBef>
              <a:tabLst>
                <a:tab pos="1081088" algn="l"/>
              </a:tabLst>
            </a:pPr>
            <a:r>
              <a:rPr lang="en-AU" sz="2200" dirty="0"/>
              <a:t>The Check syntax is the same as the </a:t>
            </a:r>
            <a:r>
              <a:rPr lang="en-AU" sz="2200" b="1" dirty="0"/>
              <a:t>WHERE</a:t>
            </a:r>
            <a:r>
              <a:rPr lang="en-AU" sz="2200" dirty="0"/>
              <a:t> clause, except</a:t>
            </a:r>
          </a:p>
          <a:p>
            <a:pPr marL="1120775" lvl="2" indent="-342900" defTabSz="1165225">
              <a:spcBef>
                <a:spcPts val="0"/>
              </a:spcBef>
              <a:buSzPct val="135000"/>
              <a:buFont typeface="Arial" pitchFamily="34" charset="0"/>
              <a:buChar char="•"/>
              <a:tabLst>
                <a:tab pos="1081088" algn="l"/>
              </a:tabLst>
            </a:pPr>
            <a:r>
              <a:rPr lang="en-AU" sz="2200" dirty="0"/>
              <a:t>Check Constraints </a:t>
            </a:r>
            <a:r>
              <a:rPr lang="en-AU" sz="2200" b="1" dirty="0"/>
              <a:t>cannot</a:t>
            </a:r>
            <a:r>
              <a:rPr lang="en-AU" sz="2200" dirty="0"/>
              <a:t> contain: </a:t>
            </a:r>
          </a:p>
          <a:p>
            <a:pPr marL="1603375" lvl="3" indent="-342900" defTabSz="1165225">
              <a:spcBef>
                <a:spcPts val="0"/>
              </a:spcBef>
              <a:buSzPct val="135000"/>
              <a:buFont typeface="Arial" pitchFamily="34" charset="0"/>
              <a:buChar char="•"/>
              <a:tabLst>
                <a:tab pos="1081088" algn="l"/>
              </a:tabLst>
            </a:pPr>
            <a:r>
              <a:rPr lang="en-AU" sz="2200" dirty="0"/>
              <a:t>conditions that refer to values in </a:t>
            </a:r>
            <a:r>
              <a:rPr lang="en-AU" sz="2200" b="1" dirty="0"/>
              <a:t>other</a:t>
            </a:r>
            <a:r>
              <a:rPr lang="en-AU" sz="2200" dirty="0"/>
              <a:t> rows or </a:t>
            </a:r>
            <a:r>
              <a:rPr lang="en-AU" sz="2200" b="1" dirty="0"/>
              <a:t>other</a:t>
            </a:r>
            <a:r>
              <a:rPr lang="en-AU" sz="2200" dirty="0"/>
              <a:t> tables</a:t>
            </a:r>
          </a:p>
          <a:p>
            <a:pPr marL="1603375" lvl="3" indent="-342900" defTabSz="1165225">
              <a:spcBef>
                <a:spcPts val="0"/>
              </a:spcBef>
              <a:buSzPct val="135000"/>
              <a:buFont typeface="Arial" pitchFamily="34" charset="0"/>
              <a:buChar char="•"/>
              <a:tabLst>
                <a:tab pos="1081088" algn="l"/>
              </a:tabLst>
            </a:pPr>
            <a:r>
              <a:rPr lang="en-AU" sz="2200" b="1" dirty="0"/>
              <a:t>subqueries</a:t>
            </a:r>
          </a:p>
          <a:p>
            <a:pPr marL="1603375" lvl="3" indent="-342900" defTabSz="1165225">
              <a:spcBef>
                <a:spcPts val="0"/>
              </a:spcBef>
              <a:buSzPct val="135000"/>
              <a:buFont typeface="Arial" pitchFamily="34" charset="0"/>
              <a:buChar char="•"/>
              <a:tabLst>
                <a:tab pos="1081088" algn="l"/>
              </a:tabLst>
            </a:pPr>
            <a:r>
              <a:rPr lang="en-AU" sz="2200" dirty="0"/>
              <a:t>calls to SQL functions like</a:t>
            </a:r>
            <a:r>
              <a:rPr lang="en-AU" sz="2200" b="1" dirty="0"/>
              <a:t> SYSDATE</a:t>
            </a:r>
            <a:endParaRPr lang="en-AU" sz="2200" dirty="0"/>
          </a:p>
        </p:txBody>
      </p:sp>
    </p:spTree>
    <p:extLst>
      <p:ext uri="{BB962C8B-B14F-4D97-AF65-F5344CB8AC3E}">
        <p14:creationId xmlns:p14="http://schemas.microsoft.com/office/powerpoint/2010/main" val="2372641709"/>
      </p:ext>
    </p:extLst>
  </p:cSld>
  <p:clrMapOvr>
    <a:masterClrMapping/>
  </p:clrMapOvr>
</p:sld>
</file>

<file path=ppt/theme/theme1.xml><?xml version="1.0" encoding="utf-8"?>
<a:theme xmlns:a="http://schemas.openxmlformats.org/drawingml/2006/main" name="1_Swinburne_Tiles">
  <a:themeElements>
    <a:clrScheme name="Swinburne">
      <a:dk1>
        <a:srgbClr val="D1161E"/>
      </a:dk1>
      <a:lt1>
        <a:srgbClr val="FFFFFF"/>
      </a:lt1>
      <a:dk2>
        <a:srgbClr val="000000"/>
      </a:dk2>
      <a:lt2>
        <a:srgbClr val="FFFFFF"/>
      </a:lt2>
      <a:accent1>
        <a:srgbClr val="4A8E10"/>
      </a:accent1>
      <a:accent2>
        <a:srgbClr val="0C64A7"/>
      </a:accent2>
      <a:accent3>
        <a:srgbClr val="16B1CF"/>
      </a:accent3>
      <a:accent4>
        <a:srgbClr val="FEAE35"/>
      </a:accent4>
      <a:accent5>
        <a:srgbClr val="6C008D"/>
      </a:accent5>
      <a:accent6>
        <a:srgbClr val="6D6F72"/>
      </a:accent6>
      <a:hlink>
        <a:srgbClr val="6D6F72"/>
      </a:hlink>
      <a:folHlink>
        <a:srgbClr val="D116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9363</TotalTime>
  <Words>1382</Words>
  <Application>Microsoft Office PowerPoint</Application>
  <PresentationFormat>Widescreen</PresentationFormat>
  <Paragraphs>263</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 Narrow</vt:lpstr>
      <vt:lpstr>Calibri</vt:lpstr>
      <vt:lpstr>Lucida Console</vt:lpstr>
      <vt:lpstr>Open Sans</vt:lpstr>
      <vt:lpstr>Times New Roman</vt:lpstr>
      <vt:lpstr>Wingdings</vt:lpstr>
      <vt:lpstr>1_Swinburne_Tiles</vt:lpstr>
      <vt:lpstr>INF10025 Data Management and Analytics Lecture 8 – Part 3</vt:lpstr>
      <vt:lpstr>SQL: UNION &amp; UNION ALL</vt:lpstr>
      <vt:lpstr>SQL: Union</vt:lpstr>
      <vt:lpstr>SQL: Union ALL</vt:lpstr>
      <vt:lpstr>SQL: Unions: Column types must match</vt:lpstr>
      <vt:lpstr>SQL: INTERSECT &amp; MINUS</vt:lpstr>
      <vt:lpstr>SQL: INTERSECT &amp; MINUS</vt:lpstr>
      <vt:lpstr>SQL: Minus</vt:lpstr>
      <vt:lpstr>SQL: Selecting Literals</vt:lpstr>
      <vt:lpstr>SQL: Unions &amp; Literals</vt:lpstr>
      <vt:lpstr>SQL: Unique Constraints</vt:lpstr>
      <vt:lpstr>Unique Constraint with multiple columns</vt:lpstr>
      <vt:lpstr>SQL: Check Constraints</vt:lpstr>
      <vt:lpstr>SQL: Check Constraints</vt:lpstr>
      <vt:lpstr>SQL: Check Constraints</vt:lpstr>
      <vt:lpstr>SQL: Check Constraint rules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INF10025 Data Management and Analytics Lecture 8 – Part 3</dc:title>
  <dc:creator>Robert Tipping</dc:creator>
  <cp:lastModifiedBy>Robert Tipping</cp:lastModifiedBy>
  <cp:revision>2</cp:revision>
  <dcterms:created xsi:type="dcterms:W3CDTF">2023-04-21T01:06:37Z</dcterms:created>
  <dcterms:modified xsi:type="dcterms:W3CDTF">2023-04-27T13:09:49Z</dcterms:modified>
</cp:coreProperties>
</file>