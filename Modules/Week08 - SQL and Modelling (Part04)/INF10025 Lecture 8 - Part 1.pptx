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358" r:id="rId3"/>
    <p:sldId id="359" r:id="rId4"/>
    <p:sldId id="360" r:id="rId5"/>
    <p:sldId id="361" r:id="rId6"/>
    <p:sldId id="362" r:id="rId7"/>
    <p:sldId id="363" r:id="rId8"/>
    <p:sldId id="364" r:id="rId9"/>
    <p:sldId id="365" r:id="rId10"/>
    <p:sldId id="366" r:id="rId11"/>
    <p:sldId id="367" r:id="rId12"/>
    <p:sldId id="328" r:id="rId13"/>
    <p:sldId id="329" r:id="rId14"/>
    <p:sldId id="330" r:id="rId15"/>
    <p:sldId id="331" r:id="rId16"/>
    <p:sldId id="332" r:id="rId17"/>
    <p:sldId id="333" r:id="rId18"/>
    <p:sldId id="334" r:id="rId19"/>
    <p:sldId id="335" r:id="rId20"/>
    <p:sldId id="336" r:id="rId21"/>
    <p:sldId id="337" r:id="rId22"/>
    <p:sldId id="338" r:id="rId23"/>
    <p:sldId id="339" r:id="rId24"/>
    <p:sldId id="340" r:id="rId25"/>
    <p:sldId id="341" r:id="rId26"/>
    <p:sldId id="342" r:id="rId27"/>
    <p:sldId id="343" r:id="rId28"/>
    <p:sldId id="344" r:id="rId29"/>
    <p:sldId id="345" r:id="rId30"/>
    <p:sldId id="346" r:id="rId31"/>
    <p:sldId id="347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54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012850"/>
            <a:ext cx="10363200" cy="1470025"/>
          </a:xfrm>
        </p:spPr>
        <p:txBody>
          <a:bodyPr anchor="b" anchorCtr="0">
            <a:normAutofit/>
          </a:bodyPr>
          <a:lstStyle>
            <a:lvl1pPr algn="ctr">
              <a:defRPr sz="2700" b="0">
                <a:latin typeface="Open Sans"/>
                <a:cs typeface="Open Sans"/>
              </a:defRPr>
            </a:lvl1pPr>
          </a:lstStyle>
          <a:p>
            <a:r>
              <a:rPr lang="en-AU" dirty="0"/>
              <a:t>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3604008"/>
            <a:ext cx="8534400" cy="1752600"/>
          </a:xfrm>
          <a:noFill/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Open Sans"/>
                <a:cs typeface="Open Sans"/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dirty="0"/>
              <a:t>Subtitle</a:t>
            </a:r>
            <a:endParaRPr lang="en-US" dirty="0"/>
          </a:p>
        </p:txBody>
      </p:sp>
      <p:pic>
        <p:nvPicPr>
          <p:cNvPr id="5" name="Picture 7" descr="corpV_3 300_lzw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80784" cy="431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2A1D595-1EAF-B3CA-096B-6E72AE9C4578}"/>
              </a:ext>
            </a:extLst>
          </p:cNvPr>
          <p:cNvSpPr/>
          <p:nvPr userDrawn="1"/>
        </p:nvSpPr>
        <p:spPr>
          <a:xfrm rot="18000966">
            <a:off x="11208031" y="-5226"/>
            <a:ext cx="681371" cy="960987"/>
          </a:xfrm>
          <a:prstGeom prst="rect">
            <a:avLst/>
          </a:prstGeom>
          <a:noFill/>
        </p:spPr>
        <p:txBody>
          <a:bodyPr spcFirstLastPara="1" wrap="none" lIns="51435" tIns="25718" rIns="51435" bIns="25718" numCol="1">
            <a:prstTxWarp prst="textCircle">
              <a:avLst/>
            </a:prstTxWarp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38" b="0" i="0" u="none" strike="noStrike" kern="1200" cap="none" spc="0" normalizeH="0" baseline="0" noProof="0" dirty="0">
                <a:ln w="0"/>
                <a:solidFill>
                  <a:srgbClr val="D1161E"/>
                </a:solidFill>
                <a:effectLst>
                  <a:outerShdw blurRad="38100" dist="19050" dir="2700000" algn="tl" rotWithShape="0">
                    <a:srgbClr val="D1161E">
                      <a:alpha val="40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Data Management &amp; Analytics   </a:t>
            </a:r>
          </a:p>
        </p:txBody>
      </p:sp>
      <p:pic>
        <p:nvPicPr>
          <p:cNvPr id="6" name="Picture 5" descr="KNOWING Logo RGB.png">
            <a:extLst>
              <a:ext uri="{FF2B5EF4-FFF2-40B4-BE49-F238E27FC236}">
                <a16:creationId xmlns:a16="http://schemas.microsoft.com/office/drawing/2014/main" id="{D562B274-86C5-1054-ACF2-497295C868E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3516" y="5573716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450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05882"/>
            <a:ext cx="10972800" cy="1058779"/>
          </a:xfrm>
        </p:spPr>
        <p:txBody>
          <a:bodyPr anchor="t">
            <a:normAutofit/>
          </a:bodyPr>
          <a:lstStyle>
            <a:lvl1pPr>
              <a:defRPr sz="2475" b="0">
                <a:latin typeface="+mn-lt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087655"/>
            <a:ext cx="10680835" cy="3917482"/>
          </a:xfrm>
          <a:noFill/>
        </p:spPr>
        <p:txBody>
          <a:bodyPr/>
          <a:lstStyle>
            <a:lvl1pPr>
              <a:defRPr sz="1350">
                <a:solidFill>
                  <a:srgbClr val="000000"/>
                </a:solidFill>
                <a:latin typeface="+mn-lt"/>
                <a:cs typeface="Open Sans"/>
              </a:defRPr>
            </a:lvl1pPr>
            <a:lvl2pPr>
              <a:defRPr sz="1350">
                <a:solidFill>
                  <a:srgbClr val="000000"/>
                </a:solidFill>
                <a:latin typeface="+mn-lt"/>
                <a:cs typeface="Open Sans"/>
              </a:defRPr>
            </a:lvl2pPr>
            <a:lvl3pPr>
              <a:defRPr sz="1350">
                <a:solidFill>
                  <a:srgbClr val="000000"/>
                </a:solidFill>
                <a:latin typeface="+mn-lt"/>
                <a:cs typeface="Open Sans"/>
              </a:defRPr>
            </a:lvl3pPr>
            <a:lvl4pPr>
              <a:defRPr sz="1350">
                <a:solidFill>
                  <a:srgbClr val="000000"/>
                </a:solidFill>
                <a:latin typeface="+mn-lt"/>
                <a:cs typeface="Open Sans"/>
              </a:defRPr>
            </a:lvl4pPr>
            <a:lvl5pPr>
              <a:defRPr sz="1350">
                <a:solidFill>
                  <a:srgbClr val="000000"/>
                </a:solidFill>
                <a:latin typeface="+mn-lt"/>
                <a:cs typeface="Open San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 rot="18000966">
            <a:off x="11208031" y="-5226"/>
            <a:ext cx="681371" cy="960987"/>
          </a:xfrm>
          <a:prstGeom prst="rect">
            <a:avLst/>
          </a:prstGeom>
          <a:noFill/>
        </p:spPr>
        <p:txBody>
          <a:bodyPr spcFirstLastPara="1" wrap="none" lIns="51435" tIns="25718" rIns="51435" bIns="25718" numCol="1">
            <a:prstTxWarp prst="textCircle">
              <a:avLst/>
            </a:prstTxWarp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38" b="0" i="0" u="none" strike="noStrike" kern="1200" cap="none" spc="0" normalizeH="0" baseline="0" noProof="0" dirty="0">
                <a:ln w="0"/>
                <a:solidFill>
                  <a:srgbClr val="D1161E"/>
                </a:solidFill>
                <a:effectLst>
                  <a:outerShdw blurRad="38100" dist="19050" dir="2700000" algn="tl" rotWithShape="0">
                    <a:srgbClr val="D1161E">
                      <a:alpha val="40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Database Analysis and Design   </a:t>
            </a:r>
          </a:p>
        </p:txBody>
      </p:sp>
      <p:sp>
        <p:nvSpPr>
          <p:cNvPr id="7" name="Line 22"/>
          <p:cNvSpPr>
            <a:spLocks noChangeShapeType="1"/>
          </p:cNvSpPr>
          <p:nvPr userDrawn="1"/>
        </p:nvSpPr>
        <p:spPr bwMode="auto">
          <a:xfrm flipV="1">
            <a:off x="283635" y="85725"/>
            <a:ext cx="575733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35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Line 23"/>
          <p:cNvSpPr>
            <a:spLocks noChangeShapeType="1"/>
          </p:cNvSpPr>
          <p:nvPr userDrawn="1"/>
        </p:nvSpPr>
        <p:spPr bwMode="auto">
          <a:xfrm flipV="1">
            <a:off x="334435" y="98425"/>
            <a:ext cx="575733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35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 userDrawn="1"/>
        </p:nvSpPr>
        <p:spPr bwMode="auto">
          <a:xfrm>
            <a:off x="2" y="85725"/>
            <a:ext cx="622300" cy="25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marR="0" lvl="0" indent="0" algn="r" defTabSz="342900" rtl="0" eaLnBrk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85000"/>
              <a:buFont typeface="Wingdings" pitchFamily="2" charset="2"/>
              <a:buNone/>
              <a:tabLst/>
              <a:defRPr/>
            </a:pPr>
            <a:fld id="{A0B7F734-0547-4653-B8DE-E21D4CE8AB45}" type="slidenum">
              <a:rPr kumimoji="0" lang="en-AU" sz="1350" b="1" i="0" u="none" strike="noStrike" kern="1200" cap="none" spc="0" normalizeH="0" baseline="0" noProof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pPr marL="0" marR="0" lvl="0" indent="0" algn="r" defTabSz="342900" rtl="0" eaLnBrk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1161E"/>
                </a:buClr>
                <a:buSzPct val="85000"/>
                <a:buFont typeface="Wingdings" pitchFamily="2" charset="2"/>
                <a:buNone/>
                <a:tabLst/>
                <a:defRPr/>
              </a:pPr>
              <a:t>‹#›</a:t>
            </a:fld>
            <a:endParaRPr kumimoji="0" lang="en-AU" sz="1350" b="1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6321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1143000"/>
          </a:xfrm>
        </p:spPr>
        <p:txBody>
          <a:bodyPr>
            <a:normAutofit/>
          </a:bodyPr>
          <a:lstStyle>
            <a:lvl1pPr>
              <a:defRPr sz="2475" b="0">
                <a:latin typeface="Open Sans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5"/>
            <a:ext cx="5384800" cy="3844703"/>
          </a:xfrm>
        </p:spPr>
        <p:txBody>
          <a:bodyPr/>
          <a:lstStyle>
            <a:lvl1pPr>
              <a:defRPr sz="1575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135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1125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013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013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5"/>
            <a:ext cx="5384800" cy="3844703"/>
          </a:xfrm>
        </p:spPr>
        <p:txBody>
          <a:bodyPr/>
          <a:lstStyle>
            <a:lvl1pPr>
              <a:defRPr sz="1575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135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1125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013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013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Picture 5" descr="KNOWING Logo RGB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743478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3" y="1344619"/>
            <a:ext cx="9487359" cy="1465609"/>
          </a:xfrm>
        </p:spPr>
        <p:txBody>
          <a:bodyPr anchor="b" anchorCtr="0">
            <a:normAutofit/>
          </a:bodyPr>
          <a:lstStyle>
            <a:lvl1pPr>
              <a:defRPr sz="2250" b="0">
                <a:latin typeface="Open Sans"/>
                <a:cs typeface="Open Sans"/>
              </a:defRPr>
            </a:lvl1pPr>
          </a:lstStyle>
          <a:p>
            <a:r>
              <a:rPr lang="en-AU" dirty="0"/>
              <a:t>Heading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3" y="2927805"/>
            <a:ext cx="9487359" cy="2563256"/>
          </a:xfrm>
          <a:noFill/>
        </p:spPr>
        <p:txBody>
          <a:bodyPr>
            <a:normAutofit/>
          </a:bodyPr>
          <a:lstStyle>
            <a:lvl1pPr marL="0" indent="0">
              <a:buNone/>
              <a:defRPr sz="1125">
                <a:solidFill>
                  <a:srgbClr val="000000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Sub-heading</a:t>
            </a:r>
          </a:p>
        </p:txBody>
      </p:sp>
      <p:pic>
        <p:nvPicPr>
          <p:cNvPr id="6" name="Picture 5" descr="Swinburne Logo RGB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0"/>
            <a:ext cx="1219200" cy="1828800"/>
          </a:xfrm>
          <a:prstGeom prst="rect">
            <a:avLst/>
          </a:prstGeom>
        </p:spPr>
      </p:pic>
      <p:pic>
        <p:nvPicPr>
          <p:cNvPr id="7" name="Picture 6" descr="KNOWING Logo RGB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9047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KNOWING Logo RGB.png">
            <a:extLst>
              <a:ext uri="{FF2B5EF4-FFF2-40B4-BE49-F238E27FC236}">
                <a16:creationId xmlns:a16="http://schemas.microsoft.com/office/drawing/2014/main" id="{76A2C585-110A-9CEF-DC80-A478B0B3BE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898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alphaModFix amt="9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/>
              <a:t>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17643"/>
            <a:ext cx="10972800" cy="3991833"/>
          </a:xfrm>
          <a:prstGeom prst="rect">
            <a:avLst/>
          </a:prstGeom>
          <a:solidFill>
            <a:srgbClr val="F6F6F6"/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 descr="KNOWING Logo RGB.png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215" y="5866083"/>
            <a:ext cx="1219200" cy="91440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1206368" y="6710785"/>
            <a:ext cx="95497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Line 22"/>
          <p:cNvSpPr>
            <a:spLocks noChangeShapeType="1"/>
          </p:cNvSpPr>
          <p:nvPr userDrawn="1"/>
        </p:nvSpPr>
        <p:spPr bwMode="auto">
          <a:xfrm flipV="1">
            <a:off x="283635" y="85725"/>
            <a:ext cx="575733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35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Line 23"/>
          <p:cNvSpPr>
            <a:spLocks noChangeShapeType="1"/>
          </p:cNvSpPr>
          <p:nvPr userDrawn="1"/>
        </p:nvSpPr>
        <p:spPr bwMode="auto">
          <a:xfrm flipV="1">
            <a:off x="334435" y="98425"/>
            <a:ext cx="575733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35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 userDrawn="1"/>
        </p:nvSpPr>
        <p:spPr bwMode="auto">
          <a:xfrm>
            <a:off x="2" y="85725"/>
            <a:ext cx="622300" cy="25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marR="0" lvl="0" indent="0" algn="r" defTabSz="342900" rtl="0" eaLnBrk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85000"/>
              <a:buFont typeface="Wingdings" pitchFamily="2" charset="2"/>
              <a:buNone/>
              <a:tabLst/>
              <a:defRPr/>
            </a:pPr>
            <a:fld id="{A0B7F734-0547-4653-B8DE-E21D4CE8AB45}" type="slidenum">
              <a:rPr kumimoji="0" lang="en-AU" sz="1350" b="1" i="0" u="none" strike="noStrike" kern="1200" cap="none" spc="0" normalizeH="0" baseline="0" noProof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pPr marL="0" marR="0" lvl="0" indent="0" algn="r" defTabSz="342900" rtl="0" eaLnBrk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1161E"/>
                </a:buClr>
                <a:buSzPct val="85000"/>
                <a:buFont typeface="Wingdings" pitchFamily="2" charset="2"/>
                <a:buNone/>
                <a:tabLst/>
                <a:defRPr/>
              </a:pPr>
              <a:t>‹#›</a:t>
            </a:fld>
            <a:endParaRPr kumimoji="0" lang="en-AU" sz="1350" b="1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 userDrawn="1"/>
        </p:nvSpPr>
        <p:spPr>
          <a:xfrm rot="18000966">
            <a:off x="11299701" y="-55435"/>
            <a:ext cx="565401" cy="960987"/>
          </a:xfrm>
          <a:prstGeom prst="rect">
            <a:avLst/>
          </a:prstGeom>
          <a:noFill/>
        </p:spPr>
        <p:txBody>
          <a:bodyPr spcFirstLastPara="1" wrap="none" lIns="51435" tIns="25718" rIns="51435" bIns="25718" numCol="1">
            <a:prstTxWarp prst="textCircle">
              <a:avLst/>
            </a:prstTxWarp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38" b="0" i="0" u="none" strike="noStrike" kern="1200" cap="none" spc="0" normalizeH="0" baseline="0" noProof="0" dirty="0">
                <a:ln w="0"/>
                <a:solidFill>
                  <a:srgbClr val="D1161E"/>
                </a:solidFill>
                <a:effectLst>
                  <a:outerShdw blurRad="38100" dist="19050" dir="2700000" algn="tl" rotWithShape="0">
                    <a:srgbClr val="D1161E">
                      <a:alpha val="40000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Database Analysis and Design   </a:t>
            </a:r>
          </a:p>
        </p:txBody>
      </p:sp>
    </p:spTree>
    <p:extLst>
      <p:ext uri="{BB962C8B-B14F-4D97-AF65-F5344CB8AC3E}">
        <p14:creationId xmlns:p14="http://schemas.microsoft.com/office/powerpoint/2010/main" val="1185364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 algn="l" defTabSz="257175" rtl="0" eaLnBrk="1" latinLnBrk="0" hangingPunct="1">
        <a:spcBef>
          <a:spcPct val="0"/>
        </a:spcBef>
        <a:buNone/>
        <a:defRPr sz="2475" b="0" kern="1200">
          <a:solidFill>
            <a:schemeClr val="tx1"/>
          </a:solidFill>
          <a:latin typeface="Open Sans"/>
          <a:ea typeface="+mj-ea"/>
          <a:cs typeface="Open Sans"/>
        </a:defRPr>
      </a:lvl1pPr>
    </p:titleStyle>
    <p:bodyStyle>
      <a:lvl1pPr marL="192881" indent="-192881" algn="l" defTabSz="257175" rtl="0" eaLnBrk="1" latinLnBrk="0" hangingPunct="1">
        <a:spcBef>
          <a:spcPct val="20000"/>
        </a:spcBef>
        <a:buFont typeface="Arial"/>
        <a:buChar char="•"/>
        <a:defRPr sz="1800" kern="1200">
          <a:solidFill>
            <a:srgbClr val="000000"/>
          </a:solidFill>
          <a:latin typeface="+mn-lt"/>
          <a:ea typeface="+mn-ea"/>
          <a:cs typeface="+mn-cs"/>
        </a:defRPr>
      </a:lvl1pPr>
      <a:lvl2pPr marL="417910" indent="-160735" algn="l" defTabSz="257175" rtl="0" eaLnBrk="1" latinLnBrk="0" hangingPunct="1">
        <a:spcBef>
          <a:spcPct val="20000"/>
        </a:spcBef>
        <a:buFont typeface="Arial"/>
        <a:buChar char="–"/>
        <a:defRPr sz="1575" kern="1200">
          <a:solidFill>
            <a:srgbClr val="000000"/>
          </a:solidFill>
          <a:latin typeface="+mn-lt"/>
          <a:ea typeface="+mn-ea"/>
          <a:cs typeface="+mn-cs"/>
        </a:defRPr>
      </a:lvl2pPr>
      <a:lvl3pPr marL="642938" indent="-128588" algn="l" defTabSz="257175" rtl="0" eaLnBrk="1" latinLnBrk="0" hangingPunct="1">
        <a:spcBef>
          <a:spcPct val="20000"/>
        </a:spcBef>
        <a:buFont typeface="Arial"/>
        <a:buChar char="•"/>
        <a:defRPr sz="1350" kern="1200">
          <a:solidFill>
            <a:srgbClr val="000000"/>
          </a:solidFill>
          <a:latin typeface="+mn-lt"/>
          <a:ea typeface="+mn-ea"/>
          <a:cs typeface="+mn-cs"/>
        </a:defRPr>
      </a:lvl3pPr>
      <a:lvl4pPr marL="900113" indent="-128588" algn="l" defTabSz="257175" rtl="0" eaLnBrk="1" latinLnBrk="0" hangingPunct="1">
        <a:spcBef>
          <a:spcPct val="20000"/>
        </a:spcBef>
        <a:buFont typeface="Arial"/>
        <a:buChar char="–"/>
        <a:defRPr sz="1125" kern="1200">
          <a:solidFill>
            <a:srgbClr val="000000"/>
          </a:solidFill>
          <a:latin typeface="+mn-lt"/>
          <a:ea typeface="+mn-ea"/>
          <a:cs typeface="+mn-cs"/>
        </a:defRPr>
      </a:lvl4pPr>
      <a:lvl5pPr marL="1157288" indent="-128588" algn="l" defTabSz="257175" rtl="0" eaLnBrk="1" latinLnBrk="0" hangingPunct="1">
        <a:spcBef>
          <a:spcPct val="20000"/>
        </a:spcBef>
        <a:buFont typeface="Arial"/>
        <a:buChar char="»"/>
        <a:defRPr sz="1125" kern="1200">
          <a:solidFill>
            <a:srgbClr val="000000"/>
          </a:solidFill>
          <a:latin typeface="+mn-lt"/>
          <a:ea typeface="+mn-ea"/>
          <a:cs typeface="+mn-cs"/>
        </a:defRPr>
      </a:lvl5pPr>
      <a:lvl6pPr marL="1414463" indent="-128588" algn="l" defTabSz="257175" rtl="0" eaLnBrk="1" latinLnBrk="0" hangingPunct="1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257175" rtl="0" eaLnBrk="1" latinLnBrk="0" hangingPunct="1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257175" rtl="0" eaLnBrk="1" latinLnBrk="0" hangingPunct="1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257175" rtl="0" eaLnBrk="1" latinLnBrk="0" hangingPunct="1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Grp="1" noChangeArrowheads="1"/>
          </p:cNvSpPr>
          <p:nvPr>
            <p:ph type="ctrTitle"/>
          </p:nvPr>
        </p:nvSpPr>
        <p:spPr>
          <a:xfrm>
            <a:off x="3836988" y="2406503"/>
            <a:ext cx="6021388" cy="1143000"/>
          </a:xfrm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chemeClr val="tx1"/>
                </a:solidFill>
              </a:rPr>
              <a:t>INF10025</a:t>
            </a:r>
            <a:br>
              <a:rPr lang="en-AU" dirty="0">
                <a:solidFill>
                  <a:schemeClr val="tx1"/>
                </a:solidFill>
              </a:rPr>
            </a:br>
            <a:r>
              <a:rPr lang="en-AU" sz="3200" dirty="0"/>
              <a:t>Data Management and Analytics</a:t>
            </a:r>
            <a:br>
              <a:rPr lang="en-AU" dirty="0">
                <a:solidFill>
                  <a:schemeClr val="tx1"/>
                </a:solidFill>
              </a:rPr>
            </a:br>
            <a:r>
              <a:rPr lang="en-AU" dirty="0">
                <a:solidFill>
                  <a:schemeClr val="tx1"/>
                </a:solidFill>
              </a:rPr>
              <a:t>Lecture 8 – Part 1</a:t>
            </a:r>
          </a:p>
        </p:txBody>
      </p:sp>
      <p:sp>
        <p:nvSpPr>
          <p:cNvPr id="5122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3836988" y="3636335"/>
            <a:ext cx="5726112" cy="1719890"/>
          </a:xfrm>
        </p:spPr>
        <p:txBody>
          <a:bodyPr vert="horz" lIns="0" tIns="0" rIns="0" bIns="0" rtlCol="0">
            <a:normAutofit/>
          </a:bodyPr>
          <a:lstStyle/>
          <a:p>
            <a:r>
              <a:rPr lang="en-AU" b="1" dirty="0"/>
              <a:t>Modelling </a:t>
            </a:r>
          </a:p>
          <a:p>
            <a:r>
              <a:rPr lang="en-AU" b="1" dirty="0"/>
              <a:t>M:M relationships</a:t>
            </a:r>
          </a:p>
          <a:p>
            <a:r>
              <a:rPr lang="en-AU" b="1" dirty="0"/>
              <a:t>SQL: Outer Joins, </a:t>
            </a:r>
            <a:r>
              <a:rPr lang="en-AU" b="1" dirty="0" err="1"/>
              <a:t>SubQueries</a:t>
            </a:r>
            <a:r>
              <a:rPr lang="en-AU" b="1" dirty="0"/>
              <a:t>,</a:t>
            </a:r>
          </a:p>
          <a:p>
            <a:r>
              <a:rPr lang="en-AU" b="1" dirty="0"/>
              <a:t>Unions, Views</a:t>
            </a:r>
          </a:p>
          <a:p>
            <a:endParaRPr lang="en-AU" b="1" dirty="0"/>
          </a:p>
          <a:p>
            <a:endParaRPr lang="en-AU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Many to Many relationships</a:t>
            </a:r>
          </a:p>
        </p:txBody>
      </p:sp>
      <p:sp>
        <p:nvSpPr>
          <p:cNvPr id="8196" name="Rectangle 3"/>
          <p:cNvSpPr>
            <a:spLocks noChangeArrowheads="1"/>
          </p:cNvSpPr>
          <p:nvPr/>
        </p:nvSpPr>
        <p:spPr bwMode="auto">
          <a:xfrm>
            <a:off x="2244726" y="847726"/>
            <a:ext cx="8010525" cy="534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457200">
              <a:tabLst>
                <a:tab pos="1970088" algn="l"/>
              </a:tabLst>
            </a:pPr>
            <a:r>
              <a:rPr lang="en-AU" sz="2200" dirty="0">
                <a:solidFill>
                  <a:srgbClr val="000000"/>
                </a:solidFill>
                <a:latin typeface="Calibri"/>
              </a:rPr>
              <a:t>Consider a M:M relationship</a:t>
            </a:r>
          </a:p>
          <a:p>
            <a:pPr marL="381000" indent="-381000" defTabSz="457200">
              <a:buSzPct val="75000"/>
              <a:buFont typeface="Wingdings" pitchFamily="2" charset="2"/>
              <a:buChar char="Ø"/>
              <a:tabLst>
                <a:tab pos="1970088" algn="l"/>
              </a:tabLst>
            </a:pPr>
            <a:endParaRPr lang="en-AU" sz="2200" dirty="0">
              <a:solidFill>
                <a:srgbClr val="000000"/>
              </a:solidFill>
              <a:latin typeface="Calibri"/>
            </a:endParaRPr>
          </a:p>
          <a:p>
            <a:pPr marL="381000" indent="-381000" defTabSz="457200">
              <a:buSzPct val="75000"/>
              <a:buFont typeface="Wingdings" pitchFamily="2" charset="2"/>
              <a:buChar char="Ø"/>
              <a:tabLst>
                <a:tab pos="1970088" algn="l"/>
              </a:tabLst>
            </a:pPr>
            <a:endParaRPr lang="en-AU" sz="2200" dirty="0">
              <a:solidFill>
                <a:srgbClr val="000000"/>
              </a:solidFill>
              <a:latin typeface="Calibri"/>
            </a:endParaRPr>
          </a:p>
          <a:p>
            <a:pPr marL="381000" indent="-381000" defTabSz="457200">
              <a:buSzPct val="75000"/>
              <a:buFont typeface="Wingdings" pitchFamily="2" charset="2"/>
              <a:buChar char="Ø"/>
              <a:tabLst>
                <a:tab pos="1970088" algn="l"/>
              </a:tabLst>
            </a:pPr>
            <a:endParaRPr lang="en-AU" sz="2200" dirty="0">
              <a:solidFill>
                <a:srgbClr val="000000"/>
              </a:solidFill>
              <a:latin typeface="Calibri"/>
            </a:endParaRPr>
          </a:p>
          <a:p>
            <a:pPr marL="381000" indent="-381000" defTabSz="457200">
              <a:buSzPct val="75000"/>
              <a:buFont typeface="Wingdings" pitchFamily="2" charset="2"/>
              <a:buChar char="Ø"/>
              <a:tabLst>
                <a:tab pos="1970088" algn="l"/>
              </a:tabLst>
            </a:pPr>
            <a:endParaRPr lang="en-AU" sz="2200" dirty="0">
              <a:solidFill>
                <a:srgbClr val="000000"/>
              </a:solidFill>
              <a:latin typeface="Calibri"/>
            </a:endParaRPr>
          </a:p>
          <a:p>
            <a:pPr marL="381000" indent="-381000" defTabSz="457200">
              <a:buSzPct val="75000"/>
              <a:buFont typeface="Wingdings" pitchFamily="2" charset="2"/>
              <a:buChar char="Ø"/>
              <a:tabLst>
                <a:tab pos="1970088" algn="l"/>
              </a:tabLst>
            </a:pPr>
            <a:endParaRPr lang="en-AU" sz="2200" dirty="0">
              <a:solidFill>
                <a:srgbClr val="000000"/>
              </a:solidFill>
              <a:latin typeface="Calibri"/>
            </a:endParaRPr>
          </a:p>
          <a:p>
            <a:pPr marL="381000" indent="-381000" defTabSz="457200">
              <a:buSzPct val="75000"/>
              <a:buFont typeface="Wingdings" pitchFamily="2" charset="2"/>
              <a:buChar char="Ø"/>
              <a:tabLst>
                <a:tab pos="1970088" algn="l"/>
              </a:tabLst>
            </a:pPr>
            <a:endParaRPr lang="en-AU" sz="2200" dirty="0">
              <a:solidFill>
                <a:srgbClr val="000000"/>
              </a:solidFill>
              <a:latin typeface="Calibri"/>
            </a:endParaRPr>
          </a:p>
          <a:p>
            <a:pPr marL="381000" indent="-381000" defTabSz="457200">
              <a:buSzPct val="75000"/>
              <a:buFont typeface="Wingdings" pitchFamily="2" charset="2"/>
              <a:buChar char="Ø"/>
              <a:tabLst>
                <a:tab pos="1970088" algn="l"/>
              </a:tabLst>
            </a:pPr>
            <a:endParaRPr lang="en-AU" sz="2200" dirty="0">
              <a:solidFill>
                <a:srgbClr val="000000"/>
              </a:solidFill>
              <a:latin typeface="Calibri"/>
            </a:endParaRPr>
          </a:p>
          <a:p>
            <a:pPr marL="381000" indent="-381000" defTabSz="457200">
              <a:buSzPct val="75000"/>
              <a:buFont typeface="Wingdings" pitchFamily="2" charset="2"/>
              <a:buChar char="Ø"/>
              <a:tabLst>
                <a:tab pos="1970088" algn="l"/>
              </a:tabLst>
            </a:pPr>
            <a:endParaRPr lang="en-AU" sz="2200" dirty="0">
              <a:solidFill>
                <a:srgbClr val="000000"/>
              </a:solidFill>
              <a:latin typeface="Calibri"/>
            </a:endParaRPr>
          </a:p>
          <a:p>
            <a:pPr indent="-157162" defTabSz="457200">
              <a:tabLst>
                <a:tab pos="1970088" algn="l"/>
              </a:tabLst>
            </a:pPr>
            <a:r>
              <a:rPr lang="en-AU" sz="2200" dirty="0">
                <a:solidFill>
                  <a:srgbClr val="000000"/>
                </a:solidFill>
                <a:latin typeface="Calibri"/>
              </a:rPr>
              <a:t>This M:M is perfectly valid in an ERD.</a:t>
            </a:r>
          </a:p>
          <a:p>
            <a:pPr marL="1138238" lvl="2" indent="-381000" defTabSz="457200">
              <a:buFont typeface="Wingdings" pitchFamily="2" charset="2"/>
              <a:buChar char=""/>
              <a:tabLst>
                <a:tab pos="1970088" algn="l"/>
              </a:tabLst>
            </a:pPr>
            <a:endParaRPr lang="en-AU" sz="2200" dirty="0">
              <a:solidFill>
                <a:srgbClr val="000000"/>
              </a:solidFill>
              <a:latin typeface="Calibri"/>
            </a:endParaRPr>
          </a:p>
          <a:p>
            <a:pPr defTabSz="457200">
              <a:buSzPct val="75000"/>
              <a:tabLst>
                <a:tab pos="1970088" algn="l"/>
              </a:tabLst>
            </a:pPr>
            <a:r>
              <a:rPr lang="en-AU" sz="2200" dirty="0">
                <a:solidFill>
                  <a:srgbClr val="000000"/>
                </a:solidFill>
                <a:latin typeface="Calibri"/>
              </a:rPr>
              <a:t>The relational model problem:</a:t>
            </a:r>
          </a:p>
          <a:p>
            <a:pPr marL="342900" indent="-342900" defTabSz="457200">
              <a:buSzPct val="75000"/>
              <a:buFont typeface="Arial" panose="020B0604020202020204" pitchFamily="34" charset="0"/>
              <a:buChar char="•"/>
              <a:tabLst>
                <a:tab pos="1970088" algn="l"/>
              </a:tabLst>
            </a:pPr>
            <a:r>
              <a:rPr lang="en-AU" sz="2200" dirty="0">
                <a:solidFill>
                  <a:srgbClr val="000000"/>
                </a:solidFill>
                <a:latin typeface="Calibri"/>
              </a:rPr>
              <a:t>The Relational Model </a:t>
            </a:r>
            <a:r>
              <a:rPr lang="en-AU" sz="2200" u="sng" dirty="0">
                <a:solidFill>
                  <a:srgbClr val="000000"/>
                </a:solidFill>
                <a:latin typeface="Calibri"/>
              </a:rPr>
              <a:t>cannot</a:t>
            </a:r>
            <a:r>
              <a:rPr lang="en-AU" sz="2200" dirty="0">
                <a:solidFill>
                  <a:srgbClr val="000000"/>
                </a:solidFill>
                <a:latin typeface="Calibri"/>
              </a:rPr>
              <a:t> directly represent a Many to Many (M:M) relationship</a:t>
            </a:r>
          </a:p>
          <a:p>
            <a:pPr marL="342900" indent="-342900" defTabSz="457200">
              <a:buSzPct val="75000"/>
              <a:buFont typeface="Arial" panose="020B0604020202020204" pitchFamily="34" charset="0"/>
              <a:buChar char="•"/>
              <a:tabLst>
                <a:tab pos="1970088" algn="l"/>
              </a:tabLst>
            </a:pPr>
            <a:r>
              <a:rPr lang="en-AU" sz="2200" dirty="0">
                <a:solidFill>
                  <a:srgbClr val="000000"/>
                </a:solidFill>
                <a:latin typeface="Calibri"/>
              </a:rPr>
              <a:t>Instead this M:M must be converted to two M:1 relationships</a:t>
            </a:r>
          </a:p>
          <a:p>
            <a:pPr marL="1138238" lvl="2" indent="-381000" defTabSz="457200">
              <a:buFont typeface="Wingdings" pitchFamily="2" charset="2"/>
              <a:buChar char=""/>
              <a:tabLst>
                <a:tab pos="1970088" algn="l"/>
              </a:tabLst>
            </a:pPr>
            <a:endParaRPr lang="en-AU" sz="2800" dirty="0">
              <a:solidFill>
                <a:srgbClr val="D1161E"/>
              </a:solidFill>
              <a:latin typeface="Calibri"/>
            </a:endParaRPr>
          </a:p>
          <a:p>
            <a:pPr marL="655638" lvl="1" indent="-381000" defTabSz="457200">
              <a:buSzPct val="80000"/>
              <a:buFont typeface="Arial Narrow" pitchFamily="34" charset="0"/>
              <a:buChar char="●"/>
              <a:tabLst>
                <a:tab pos="1970088" algn="l"/>
              </a:tabLst>
            </a:pPr>
            <a:endParaRPr lang="en-US" sz="2200" dirty="0">
              <a:solidFill>
                <a:srgbClr val="D1161E"/>
              </a:solidFill>
              <a:latin typeface="Calibri"/>
            </a:endParaRPr>
          </a:p>
        </p:txBody>
      </p:sp>
      <p:graphicFrame>
        <p:nvGraphicFramePr>
          <p:cNvPr id="8197" name="Object 4"/>
          <p:cNvGraphicFramePr>
            <a:graphicFrameLocks noChangeAspect="1"/>
          </p:cNvGraphicFramePr>
          <p:nvPr/>
        </p:nvGraphicFramePr>
        <p:xfrm>
          <a:off x="3388659" y="1430058"/>
          <a:ext cx="4844210" cy="2012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747397" imgH="1968505" progId="Visio.Drawing.11">
                  <p:embed/>
                </p:oleObj>
              </mc:Choice>
              <mc:Fallback>
                <p:oleObj name="Visio" r:id="rId2" imgW="6747397" imgH="1968505" progId="Visio.Drawing.11">
                  <p:embed/>
                  <p:pic>
                    <p:nvPicPr>
                      <p:cNvPr id="819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29787"/>
                      <a:stretch>
                        <a:fillRect/>
                      </a:stretch>
                    </p:blipFill>
                    <p:spPr bwMode="auto">
                      <a:xfrm>
                        <a:off x="3388659" y="1430058"/>
                        <a:ext cx="4844210" cy="20121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45592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1" y="5992814"/>
            <a:ext cx="1730375" cy="8651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US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Convert    M:M   to   2 * M:1</a:t>
            </a:r>
          </a:p>
        </p:txBody>
      </p:sp>
      <p:graphicFrame>
        <p:nvGraphicFramePr>
          <p:cNvPr id="13317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1981200" y="1778001"/>
          <a:ext cx="4446588" cy="185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834146" imgH="2439686" progId="">
                  <p:embed/>
                </p:oleObj>
              </mc:Choice>
              <mc:Fallback>
                <p:oleObj r:id="rId2" imgW="5834146" imgH="2439686" progId="">
                  <p:embed/>
                  <p:pic>
                    <p:nvPicPr>
                      <p:cNvPr id="13317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778001"/>
                        <a:ext cx="4446588" cy="185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6" name="Rectangle 3"/>
          <p:cNvSpPr>
            <a:spLocks noChangeArrowheads="1"/>
          </p:cNvSpPr>
          <p:nvPr/>
        </p:nvSpPr>
        <p:spPr bwMode="auto">
          <a:xfrm>
            <a:off x="2197101" y="663389"/>
            <a:ext cx="5797643" cy="5447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457200">
              <a:buSzPct val="75000"/>
              <a:tabLst>
                <a:tab pos="1970088" algn="l"/>
              </a:tabLst>
            </a:pPr>
            <a:r>
              <a:rPr lang="en-AU" sz="2200" dirty="0">
                <a:solidFill>
                  <a:srgbClr val="000000"/>
                </a:solidFill>
                <a:latin typeface="Calibri"/>
              </a:rPr>
              <a:t>The </a:t>
            </a:r>
            <a:r>
              <a:rPr lang="en-AU" sz="2200" b="1" dirty="0">
                <a:solidFill>
                  <a:srgbClr val="000000"/>
                </a:solidFill>
                <a:latin typeface="Calibri"/>
              </a:rPr>
              <a:t>solution</a:t>
            </a:r>
            <a:r>
              <a:rPr lang="en-AU" sz="2200" dirty="0">
                <a:solidFill>
                  <a:srgbClr val="000000"/>
                </a:solidFill>
                <a:latin typeface="Calibri"/>
              </a:rPr>
              <a:t> is to convert the </a:t>
            </a:r>
            <a:r>
              <a:rPr lang="en-AU" sz="2200" b="1" dirty="0">
                <a:solidFill>
                  <a:srgbClr val="000000"/>
                </a:solidFill>
                <a:latin typeface="Calibri"/>
              </a:rPr>
              <a:t>single</a:t>
            </a:r>
            <a:r>
              <a:rPr lang="en-AU" sz="2200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AU" sz="2200" b="1" dirty="0">
                <a:solidFill>
                  <a:srgbClr val="000000"/>
                </a:solidFill>
                <a:latin typeface="Calibri"/>
              </a:rPr>
              <a:t>M:M</a:t>
            </a:r>
            <a:r>
              <a:rPr lang="en-AU" sz="2200" dirty="0">
                <a:solidFill>
                  <a:srgbClr val="000000"/>
                </a:solidFill>
                <a:latin typeface="Calibri"/>
              </a:rPr>
              <a:t> relationship into </a:t>
            </a:r>
            <a:r>
              <a:rPr lang="en-AU" sz="2200" b="1" dirty="0">
                <a:solidFill>
                  <a:srgbClr val="000000"/>
                </a:solidFill>
                <a:latin typeface="Calibri"/>
              </a:rPr>
              <a:t>two many-to-one</a:t>
            </a:r>
            <a:r>
              <a:rPr lang="en-AU" sz="2200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200" dirty="0">
                <a:solidFill>
                  <a:srgbClr val="000000"/>
                </a:solidFill>
                <a:latin typeface="Calibri"/>
              </a:rPr>
              <a:t>relationships</a:t>
            </a:r>
            <a:r>
              <a:rPr lang="en-AU" sz="700" dirty="0">
                <a:solidFill>
                  <a:srgbClr val="000000"/>
                </a:solidFill>
                <a:latin typeface="Calibri"/>
              </a:rPr>
              <a:t>.</a:t>
            </a:r>
            <a:endParaRPr lang="en-AU" sz="2800" dirty="0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13318" name="Object 5"/>
          <p:cNvGraphicFramePr>
            <a:graphicFrameLocks noChangeAspect="1"/>
          </p:cNvGraphicFramePr>
          <p:nvPr/>
        </p:nvGraphicFramePr>
        <p:xfrm>
          <a:off x="1813391" y="4585920"/>
          <a:ext cx="7115456" cy="2038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6747586" imgH="1968589" progId="Visio.Drawing.11">
                  <p:embed/>
                </p:oleObj>
              </mc:Choice>
              <mc:Fallback>
                <p:oleObj name="Visio" r:id="rId4" imgW="6747586" imgH="1968589" progId="Visio.Drawing.11">
                  <p:embed/>
                  <p:pic>
                    <p:nvPicPr>
                      <p:cNvPr id="1331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3391" y="4585920"/>
                        <a:ext cx="7115456" cy="20380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6730721" y="1404351"/>
            <a:ext cx="3779931" cy="3524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defTabSz="457200">
              <a:spcAft>
                <a:spcPts val="600"/>
              </a:spcAft>
              <a:buFontTx/>
              <a:buAutoNum type="arabicPeriod"/>
            </a:pPr>
            <a:r>
              <a:rPr lang="en-AU" sz="2000" b="1" dirty="0">
                <a:solidFill>
                  <a:srgbClr val="0033CC"/>
                </a:solidFill>
                <a:latin typeface="Calibri"/>
              </a:rPr>
              <a:t>Erase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 the </a:t>
            </a:r>
            <a:r>
              <a:rPr lang="en-AU" sz="2000" b="1" dirty="0">
                <a:solidFill>
                  <a:srgbClr val="0033CC"/>
                </a:solidFill>
                <a:latin typeface="Calibri"/>
              </a:rPr>
              <a:t>M:M</a:t>
            </a:r>
          </a:p>
          <a:p>
            <a:pPr marL="457200" indent="-457200" defTabSz="457200">
              <a:spcAft>
                <a:spcPts val="600"/>
              </a:spcAft>
              <a:buFontTx/>
              <a:buAutoNum type="arabicPeriod"/>
            </a:pPr>
            <a:r>
              <a:rPr lang="en-AU" sz="2000" dirty="0">
                <a:solidFill>
                  <a:srgbClr val="0033CC"/>
                </a:solidFill>
                <a:latin typeface="Calibri"/>
              </a:rPr>
              <a:t>Draw a </a:t>
            </a:r>
            <a:r>
              <a:rPr lang="en-AU" sz="2000" b="1" dirty="0">
                <a:solidFill>
                  <a:srgbClr val="0033CC"/>
                </a:solidFill>
                <a:latin typeface="Calibri"/>
              </a:rPr>
              <a:t>weak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 entity in its place with appropriate </a:t>
            </a:r>
            <a:r>
              <a:rPr lang="en-AU" sz="2000" b="1" dirty="0">
                <a:solidFill>
                  <a:srgbClr val="0033CC"/>
                </a:solidFill>
                <a:latin typeface="Calibri"/>
              </a:rPr>
              <a:t>name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.</a:t>
            </a:r>
          </a:p>
          <a:p>
            <a:pPr marL="457200" indent="-457200" defTabSz="457200">
              <a:spcAft>
                <a:spcPts val="600"/>
              </a:spcAft>
              <a:buFontTx/>
              <a:buAutoNum type="arabicPeriod"/>
            </a:pPr>
            <a:r>
              <a:rPr lang="en-AU" sz="2000" dirty="0">
                <a:solidFill>
                  <a:srgbClr val="0033CC"/>
                </a:solidFill>
                <a:latin typeface="Calibri"/>
              </a:rPr>
              <a:t>Draw </a:t>
            </a:r>
            <a:r>
              <a:rPr lang="en-AU" sz="2000" b="1" dirty="0">
                <a:solidFill>
                  <a:srgbClr val="0033CC"/>
                </a:solidFill>
                <a:latin typeface="Calibri"/>
              </a:rPr>
              <a:t>two M:1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 relationships.</a:t>
            </a:r>
          </a:p>
          <a:p>
            <a:pPr lvl="1" defTabSz="457200">
              <a:spcAft>
                <a:spcPts val="600"/>
              </a:spcAft>
            </a:pPr>
            <a:r>
              <a:rPr lang="en-AU" sz="2000" dirty="0">
                <a:solidFill>
                  <a:srgbClr val="0033CC"/>
                </a:solidFill>
                <a:latin typeface="Calibri"/>
              </a:rPr>
              <a:t>The </a:t>
            </a:r>
            <a:r>
              <a:rPr lang="en-AU" sz="2000" b="1" dirty="0">
                <a:solidFill>
                  <a:srgbClr val="0033CC"/>
                </a:solidFill>
                <a:latin typeface="Calibri"/>
              </a:rPr>
              <a:t>Many end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 of each relationship </a:t>
            </a:r>
            <a:r>
              <a:rPr lang="en-AU" sz="2000" b="1" dirty="0">
                <a:solidFill>
                  <a:srgbClr val="0033CC"/>
                </a:solidFill>
                <a:latin typeface="Calibri"/>
              </a:rPr>
              <a:t>attaches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 to the </a:t>
            </a:r>
            <a:r>
              <a:rPr lang="en-AU" sz="2000" b="1" dirty="0">
                <a:solidFill>
                  <a:srgbClr val="0033CC"/>
                </a:solidFill>
                <a:latin typeface="Calibri"/>
              </a:rPr>
              <a:t>weak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 entity</a:t>
            </a:r>
          </a:p>
          <a:p>
            <a:pPr marL="457200" indent="-457200" defTabSz="457200">
              <a:spcAft>
                <a:spcPts val="600"/>
              </a:spcAft>
              <a:buFontTx/>
              <a:buAutoNum type="arabicPeriod"/>
            </a:pPr>
            <a:r>
              <a:rPr lang="en-AU" sz="2000" b="1" dirty="0">
                <a:solidFill>
                  <a:srgbClr val="0033CC"/>
                </a:solidFill>
                <a:latin typeface="Calibri"/>
              </a:rPr>
              <a:t>Underline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 the relationship </a:t>
            </a:r>
            <a:r>
              <a:rPr lang="en-AU" sz="2000" b="1" dirty="0">
                <a:solidFill>
                  <a:srgbClr val="0033CC"/>
                </a:solidFill>
                <a:latin typeface="Calibri"/>
              </a:rPr>
              <a:t>names</a:t>
            </a:r>
          </a:p>
          <a:p>
            <a:pPr defTabSz="457200"/>
            <a:endParaRPr lang="en-AU" dirty="0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3" name="Left Brace 2"/>
          <p:cNvSpPr/>
          <p:nvPr/>
        </p:nvSpPr>
        <p:spPr>
          <a:xfrm rot="16200000">
            <a:off x="4078943" y="2689970"/>
            <a:ext cx="277906" cy="1497108"/>
          </a:xfrm>
          <a:prstGeom prst="leftBrace">
            <a:avLst>
              <a:gd name="adj1" fmla="val 103672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9" name="Left Brace 8"/>
          <p:cNvSpPr/>
          <p:nvPr/>
        </p:nvSpPr>
        <p:spPr>
          <a:xfrm rot="5400000">
            <a:off x="5047130" y="3463103"/>
            <a:ext cx="277906" cy="3720352"/>
          </a:xfrm>
          <a:prstGeom prst="leftBrace">
            <a:avLst>
              <a:gd name="adj1" fmla="val 134678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4267201" y="3711389"/>
            <a:ext cx="896471" cy="13267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0157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1524000" y="5800726"/>
            <a:ext cx="1981200" cy="105727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457200" indent="-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D1161E"/>
              </a:buClr>
              <a:buSzPct val="85000"/>
            </a:pPr>
            <a:endParaRPr lang="en-AU" sz="2400" b="1" i="1">
              <a:solidFill>
                <a:srgbClr val="D1161E"/>
              </a:solidFill>
              <a:latin typeface="Arial Narrow" pitchFamily="34" charset="0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Many to Many expansion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860613"/>
            <a:ext cx="8570259" cy="4144525"/>
          </a:xfrm>
        </p:spPr>
        <p:txBody>
          <a:bodyPr/>
          <a:lstStyle/>
          <a:p>
            <a:pPr marL="0" indent="0">
              <a:buNone/>
            </a:pPr>
            <a:r>
              <a:rPr lang="en-AU" sz="2000" b="1" dirty="0"/>
              <a:t> </a:t>
            </a:r>
            <a:r>
              <a:rPr lang="en-US" sz="2200" dirty="0"/>
              <a:t>What is the identifier of the </a:t>
            </a:r>
            <a:r>
              <a:rPr lang="en-US" sz="2200" b="1" dirty="0"/>
              <a:t>Enrolment</a:t>
            </a:r>
            <a:r>
              <a:rPr lang="en-US" sz="2200" dirty="0"/>
              <a:t> entity?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200" dirty="0"/>
              <a:t>Enrolment has </a:t>
            </a:r>
            <a:r>
              <a:rPr lang="en-AU" sz="2200" b="1" dirty="0"/>
              <a:t>no attributes</a:t>
            </a:r>
            <a:r>
              <a:rPr lang="en-AU" sz="2200" dirty="0"/>
              <a:t> of its own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200" dirty="0"/>
              <a:t>Enrolment is a </a:t>
            </a:r>
            <a:r>
              <a:rPr lang="en-AU" sz="2200" b="1" dirty="0"/>
              <a:t>weak</a:t>
            </a:r>
            <a:r>
              <a:rPr lang="en-AU" sz="2200" dirty="0"/>
              <a:t> entity so at least part of it's identifier is </a:t>
            </a:r>
            <a:r>
              <a:rPr lang="en-AU" sz="2200" b="1" dirty="0"/>
              <a:t>borrowed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200" dirty="0"/>
              <a:t>The relationship </a:t>
            </a:r>
            <a:r>
              <a:rPr lang="en-AU" sz="2200" b="1" dirty="0"/>
              <a:t>'makes</a:t>
            </a:r>
            <a:r>
              <a:rPr lang="en-AU" sz="2200" dirty="0"/>
              <a:t>' is </a:t>
            </a:r>
            <a:r>
              <a:rPr lang="en-AU" sz="2200" b="1" dirty="0"/>
              <a:t>underlined</a:t>
            </a:r>
            <a:r>
              <a:rPr lang="en-AU" sz="2200" dirty="0"/>
              <a:t>.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sz="2200" dirty="0"/>
              <a:t>So borrow the identifier of Student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200" dirty="0"/>
              <a:t>The relationship </a:t>
            </a:r>
            <a:r>
              <a:rPr lang="en-AU" sz="2200" b="1" dirty="0"/>
              <a:t>'for a'</a:t>
            </a:r>
            <a:r>
              <a:rPr lang="en-AU" sz="2200" dirty="0"/>
              <a:t> is </a:t>
            </a:r>
            <a:r>
              <a:rPr lang="en-AU" sz="2200" b="1" dirty="0"/>
              <a:t>underlined</a:t>
            </a:r>
            <a:r>
              <a:rPr lang="en-AU" sz="2200" dirty="0"/>
              <a:t>.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sz="2200" dirty="0"/>
              <a:t>So borrow the identifier of Subject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200" dirty="0"/>
              <a:t>The </a:t>
            </a:r>
            <a:r>
              <a:rPr lang="en-US" sz="2200" dirty="0"/>
              <a:t>identifier of the </a:t>
            </a:r>
            <a:r>
              <a:rPr lang="en-US" sz="2200" b="1" dirty="0"/>
              <a:t>Enrolment</a:t>
            </a:r>
            <a:r>
              <a:rPr lang="en-US" sz="2200" dirty="0"/>
              <a:t> is </a:t>
            </a:r>
            <a:r>
              <a:rPr lang="en-US" sz="2200" dirty="0" err="1"/>
              <a:t>StuNo</a:t>
            </a:r>
            <a:r>
              <a:rPr lang="en-US" sz="2200" dirty="0"/>
              <a:t> + </a:t>
            </a:r>
            <a:r>
              <a:rPr lang="en-US" sz="2200" dirty="0" err="1"/>
              <a:t>SubCode</a:t>
            </a:r>
            <a:endParaRPr lang="en-AU" sz="2200" dirty="0"/>
          </a:p>
          <a:p>
            <a:pPr marL="0" lvl="1" indent="0">
              <a:buNone/>
            </a:pPr>
            <a:endParaRPr lang="en-US" sz="2200" dirty="0"/>
          </a:p>
        </p:txBody>
      </p:sp>
      <p:graphicFrame>
        <p:nvGraphicFramePr>
          <p:cNvPr id="16389" name="Object 4"/>
          <p:cNvGraphicFramePr>
            <a:graphicFrameLocks noChangeAspect="1"/>
          </p:cNvGraphicFramePr>
          <p:nvPr/>
        </p:nvGraphicFramePr>
        <p:xfrm>
          <a:off x="2608729" y="4593512"/>
          <a:ext cx="7153835" cy="2086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746748" imgH="1970532" progId="Visio.Drawing.6">
                  <p:embed/>
                </p:oleObj>
              </mc:Choice>
              <mc:Fallback>
                <p:oleObj name="VISIO" r:id="rId2" imgW="6746748" imgH="1970532" progId="Visio.Drawing.6">
                  <p:embed/>
                  <p:pic>
                    <p:nvPicPr>
                      <p:cNvPr id="1638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8729" y="4593512"/>
                        <a:ext cx="7153835" cy="20868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7111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9529482" y="5665694"/>
            <a:ext cx="1138518" cy="11923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AU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/>
              <a:t>Many to Many expansion</a:t>
            </a:r>
          </a:p>
        </p:txBody>
      </p:sp>
      <p:sp>
        <p:nvSpPr>
          <p:cNvPr id="19459" name="Rectangle 2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US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9461" name="Rectangle 4"/>
          <p:cNvSpPr>
            <a:spLocks noChangeArrowheads="1"/>
          </p:cNvSpPr>
          <p:nvPr/>
        </p:nvSpPr>
        <p:spPr bwMode="auto">
          <a:xfrm>
            <a:off x="1524000" y="4332288"/>
            <a:ext cx="2884488" cy="2525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274638" lvl="1" defTabSz="457200">
              <a:buSzPct val="80000"/>
              <a:tabLst>
                <a:tab pos="1970088" algn="l"/>
              </a:tabLst>
            </a:pPr>
            <a:r>
              <a:rPr lang="en-AU" sz="2200" dirty="0">
                <a:solidFill>
                  <a:srgbClr val="0C64A7"/>
                </a:solidFill>
                <a:latin typeface="Calibri"/>
              </a:rPr>
              <a:t>NOTICE:</a:t>
            </a:r>
          </a:p>
          <a:p>
            <a:pPr marL="474663" lvl="1" indent="-200025" defTabSz="457200">
              <a:buSzPct val="80000"/>
              <a:buFont typeface="Arial Narrow" pitchFamily="34" charset="0"/>
              <a:buChar char="●"/>
              <a:tabLst>
                <a:tab pos="1970088" algn="l"/>
              </a:tabLst>
            </a:pPr>
            <a:r>
              <a:rPr lang="en-AU" sz="2000" dirty="0">
                <a:solidFill>
                  <a:srgbClr val="0C64A7"/>
                </a:solidFill>
                <a:latin typeface="Calibri"/>
              </a:rPr>
              <a:t>No restrictions on</a:t>
            </a:r>
            <a:br>
              <a:rPr lang="en-AU" sz="2000" dirty="0">
                <a:solidFill>
                  <a:srgbClr val="0C64A7"/>
                </a:solidFill>
                <a:latin typeface="Calibri"/>
              </a:rPr>
            </a:br>
            <a:r>
              <a:rPr lang="en-AU" sz="2000" dirty="0">
                <a:solidFill>
                  <a:srgbClr val="0C64A7"/>
                </a:solidFill>
                <a:latin typeface="Calibri"/>
              </a:rPr>
              <a:t>subjects-per-student</a:t>
            </a:r>
          </a:p>
          <a:p>
            <a:pPr marL="474663" lvl="1" indent="-200025" defTabSz="457200">
              <a:buSzPct val="80000"/>
              <a:buFont typeface="Arial Narrow" pitchFamily="34" charset="0"/>
              <a:buChar char="●"/>
              <a:tabLst>
                <a:tab pos="1970088" algn="l"/>
              </a:tabLst>
            </a:pPr>
            <a:r>
              <a:rPr lang="en-AU" sz="2000" dirty="0">
                <a:solidFill>
                  <a:srgbClr val="0C64A7"/>
                </a:solidFill>
                <a:latin typeface="Calibri"/>
              </a:rPr>
              <a:t>If we add more subjects, then there in no change to the table designs</a:t>
            </a:r>
          </a:p>
          <a:p>
            <a:pPr marL="474663" lvl="1" indent="-200025" defTabSz="457200">
              <a:buSzPct val="80000"/>
              <a:buFont typeface="Arial Narrow" pitchFamily="34" charset="0"/>
              <a:buChar char="●"/>
              <a:tabLst>
                <a:tab pos="1970088" algn="l"/>
              </a:tabLst>
            </a:pPr>
            <a:endParaRPr lang="en-AU" sz="2200" dirty="0">
              <a:solidFill>
                <a:srgbClr val="0C64A7"/>
              </a:solidFill>
              <a:latin typeface="Calibri"/>
            </a:endParaRPr>
          </a:p>
          <a:p>
            <a:pPr marL="474663" lvl="1" indent="-200025" defTabSz="457200">
              <a:buSzPct val="80000"/>
              <a:buFont typeface="Arial Narrow" pitchFamily="34" charset="0"/>
              <a:buChar char="●"/>
              <a:tabLst>
                <a:tab pos="1970088" algn="l"/>
              </a:tabLst>
            </a:pPr>
            <a:endParaRPr lang="en-AU" sz="2200" dirty="0">
              <a:solidFill>
                <a:srgbClr val="D1161E"/>
              </a:solidFill>
              <a:latin typeface="Calibri"/>
            </a:endParaRPr>
          </a:p>
        </p:txBody>
      </p:sp>
      <p:graphicFrame>
        <p:nvGraphicFramePr>
          <p:cNvPr id="19462" name="Object 5"/>
          <p:cNvGraphicFramePr>
            <a:graphicFrameLocks noChangeAspect="1"/>
          </p:cNvGraphicFramePr>
          <p:nvPr/>
        </p:nvGraphicFramePr>
        <p:xfrm>
          <a:off x="3182939" y="777876"/>
          <a:ext cx="6175375" cy="180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747397" imgH="1968505" progId="Visio.Drawing.11">
                  <p:embed/>
                </p:oleObj>
              </mc:Choice>
              <mc:Fallback>
                <p:oleObj name="Visio" r:id="rId2" imgW="6747397" imgH="1968505" progId="Visio.Drawing.11">
                  <p:embed/>
                  <p:pic>
                    <p:nvPicPr>
                      <p:cNvPr id="1946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2939" y="777876"/>
                        <a:ext cx="6175375" cy="180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7638" name="Group 6"/>
          <p:cNvGraphicFramePr>
            <a:graphicFrameLocks noGrp="1"/>
          </p:cNvGraphicFramePr>
          <p:nvPr/>
        </p:nvGraphicFramePr>
        <p:xfrm>
          <a:off x="6973889" y="2638425"/>
          <a:ext cx="3494087" cy="1463676"/>
        </p:xfrm>
        <a:graphic>
          <a:graphicData uri="http://schemas.openxmlformats.org/drawingml/2006/table">
            <a:tbl>
              <a:tblPr/>
              <a:tblGrid>
                <a:gridCol w="133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3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subcode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40" marB="4574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subname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40" marB="4574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INF10002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DataBase Analysis…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INF20014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Database Systems 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INF30004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Business Intelligence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37655" name="Group 23"/>
          <p:cNvGraphicFramePr>
            <a:graphicFrameLocks noGrp="1"/>
          </p:cNvGraphicFramePr>
          <p:nvPr/>
        </p:nvGraphicFramePr>
        <p:xfrm>
          <a:off x="4506914" y="4159251"/>
          <a:ext cx="3254375" cy="2560635"/>
        </p:xfrm>
        <a:graphic>
          <a:graphicData uri="http://schemas.openxmlformats.org/drawingml/2006/table">
            <a:tbl>
              <a:tblPr/>
              <a:tblGrid>
                <a:gridCol w="1627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7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805"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subcode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stuId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INF10002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1122334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INF20014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1122334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INF10002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4444555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INF30004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4444555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INF10002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7777700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INF20014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    4444555 …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37681" name="Group 49"/>
          <p:cNvGraphicFramePr>
            <a:graphicFrameLocks noGrp="1"/>
          </p:cNvGraphicFramePr>
          <p:nvPr/>
        </p:nvGraphicFramePr>
        <p:xfrm>
          <a:off x="1789113" y="2560638"/>
          <a:ext cx="3162300" cy="1463676"/>
        </p:xfrm>
        <a:graphic>
          <a:graphicData uri="http://schemas.openxmlformats.org/drawingml/2006/table">
            <a:tbl>
              <a:tblPr/>
              <a:tblGrid>
                <a:gridCol w="957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4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91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stuId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40" marB="4574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firstname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40" marB="4574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surname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40" marB="4574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1122334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Jane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Taylor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4444555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Jobe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McKay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7777700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Helen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Freeman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7783512" y="4311651"/>
            <a:ext cx="2884488" cy="2525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274638" lvl="1" defTabSz="457200">
              <a:buSzPct val="80000"/>
              <a:tabLst>
                <a:tab pos="1970088" algn="l"/>
              </a:tabLst>
            </a:pPr>
            <a:r>
              <a:rPr lang="en-AU" sz="2200" dirty="0">
                <a:solidFill>
                  <a:srgbClr val="0C64A7"/>
                </a:solidFill>
                <a:latin typeface="Calibri"/>
              </a:rPr>
              <a:t>NOTICE:</a:t>
            </a:r>
          </a:p>
          <a:p>
            <a:pPr marL="474663" lvl="1" indent="-200025" defTabSz="457200">
              <a:buSzPct val="80000"/>
              <a:buFont typeface="Arial Narrow" pitchFamily="34" charset="0"/>
              <a:buChar char="●"/>
              <a:tabLst>
                <a:tab pos="1970088" algn="l"/>
              </a:tabLst>
            </a:pPr>
            <a:r>
              <a:rPr lang="en-AU" sz="2000" dirty="0">
                <a:solidFill>
                  <a:srgbClr val="0C64A7"/>
                </a:solidFill>
                <a:latin typeface="Calibri"/>
              </a:rPr>
              <a:t>No restrictions on</a:t>
            </a:r>
            <a:br>
              <a:rPr lang="en-AU" sz="2000" dirty="0">
                <a:solidFill>
                  <a:srgbClr val="0C64A7"/>
                </a:solidFill>
                <a:latin typeface="Calibri"/>
              </a:rPr>
            </a:br>
            <a:r>
              <a:rPr lang="en-AU" sz="2000" dirty="0">
                <a:solidFill>
                  <a:srgbClr val="0C64A7"/>
                </a:solidFill>
                <a:latin typeface="Calibri"/>
              </a:rPr>
              <a:t>students-per-subject</a:t>
            </a:r>
          </a:p>
          <a:p>
            <a:pPr marL="474663" lvl="1" indent="-200025" defTabSz="457200">
              <a:buSzPct val="80000"/>
              <a:buFont typeface="Arial Narrow" pitchFamily="34" charset="0"/>
              <a:buChar char="●"/>
              <a:tabLst>
                <a:tab pos="1970088" algn="l"/>
              </a:tabLst>
            </a:pPr>
            <a:r>
              <a:rPr lang="en-AU" sz="2000" dirty="0">
                <a:solidFill>
                  <a:srgbClr val="0C64A7"/>
                </a:solidFill>
                <a:latin typeface="Calibri"/>
              </a:rPr>
              <a:t>If we add more students, then there in no change to the table designs</a:t>
            </a:r>
          </a:p>
          <a:p>
            <a:pPr marL="474663" lvl="1" indent="-200025" defTabSz="457200">
              <a:buSzPct val="80000"/>
              <a:buFont typeface="Arial Narrow" pitchFamily="34" charset="0"/>
              <a:buChar char="●"/>
              <a:tabLst>
                <a:tab pos="1970088" algn="l"/>
              </a:tabLst>
            </a:pPr>
            <a:endParaRPr lang="en-AU" sz="2200" dirty="0">
              <a:solidFill>
                <a:srgbClr val="0C64A7"/>
              </a:solidFill>
              <a:latin typeface="Calibri"/>
            </a:endParaRPr>
          </a:p>
          <a:p>
            <a:pPr marL="474663" lvl="1" indent="-200025" defTabSz="457200">
              <a:buSzPct val="80000"/>
              <a:buFont typeface="Arial Narrow" pitchFamily="34" charset="0"/>
              <a:buChar char="●"/>
              <a:tabLst>
                <a:tab pos="1970088" algn="l"/>
              </a:tabLst>
            </a:pPr>
            <a:endParaRPr lang="en-AU" sz="2200" dirty="0">
              <a:solidFill>
                <a:srgbClr val="D1161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4542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09600" indent="-609600"/>
            <a:r>
              <a:rPr lang="en-AU" sz="3200"/>
              <a:t>Intersection Entity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sz="2200" dirty="0"/>
              <a:t>When a M:M is </a:t>
            </a:r>
            <a:r>
              <a:rPr lang="en-AU" sz="2200" b="1" dirty="0"/>
              <a:t>expanded</a:t>
            </a:r>
            <a:r>
              <a:rPr lang="en-AU" sz="2200" dirty="0"/>
              <a:t>, the new weak entity is </a:t>
            </a:r>
            <a:br>
              <a:rPr lang="en-AU" sz="2200" dirty="0"/>
            </a:br>
            <a:r>
              <a:rPr lang="en-AU" sz="2200" dirty="0"/>
              <a:t>known as an </a:t>
            </a:r>
            <a:r>
              <a:rPr lang="en-AU" sz="2200" b="1" dirty="0"/>
              <a:t>Intersection Entity</a:t>
            </a:r>
          </a:p>
          <a:p>
            <a:pPr marL="474663" lvl="1" indent="-200025"/>
            <a:r>
              <a:rPr lang="en-AU" sz="2200" dirty="0"/>
              <a:t>An Intersection Entity </a:t>
            </a:r>
          </a:p>
          <a:p>
            <a:pPr marL="952500" lvl="2" indent="-195263"/>
            <a:r>
              <a:rPr lang="en-AU" sz="2200" dirty="0"/>
              <a:t>Has </a:t>
            </a:r>
            <a:r>
              <a:rPr lang="en-AU" sz="2200" b="1" dirty="0"/>
              <a:t>no</a:t>
            </a:r>
            <a:r>
              <a:rPr lang="en-AU" sz="2200" dirty="0"/>
              <a:t> additional attributes</a:t>
            </a:r>
          </a:p>
          <a:p>
            <a:pPr marL="952500" lvl="2" indent="-195263"/>
            <a:r>
              <a:rPr lang="en-AU" sz="2200" dirty="0"/>
              <a:t>Is the result of expanding a M:M relationship (or Multi valued attribute)</a:t>
            </a:r>
          </a:p>
          <a:p>
            <a:pPr marL="474663" lvl="1" indent="-200025"/>
            <a:endParaRPr lang="en-AU" sz="2200" dirty="0"/>
          </a:p>
          <a:p>
            <a:pPr marL="474663" lvl="1" indent="-200025"/>
            <a:endParaRPr lang="en-AU" sz="2200" dirty="0"/>
          </a:p>
          <a:p>
            <a:pPr marL="474663" lvl="1" indent="-200025"/>
            <a:endParaRPr lang="en-AU" sz="2200" dirty="0"/>
          </a:p>
          <a:p>
            <a:pPr marL="0" indent="0"/>
            <a:endParaRPr lang="en-AU" b="1" dirty="0"/>
          </a:p>
          <a:p>
            <a:pPr marL="474663" lvl="1" indent="-200025"/>
            <a:endParaRPr lang="en-AU" sz="2800" dirty="0"/>
          </a:p>
          <a:p>
            <a:pPr marL="0" indent="0"/>
            <a:endParaRPr lang="en-US" sz="2800" dirty="0"/>
          </a:p>
          <a:p>
            <a:pPr marL="0" indent="0"/>
            <a:endParaRPr lang="en-AU" sz="2800" dirty="0"/>
          </a:p>
          <a:p>
            <a:pPr marL="0" indent="0"/>
            <a:endParaRPr lang="en-AU" sz="2000" b="1" dirty="0"/>
          </a:p>
          <a:p>
            <a:pPr marL="0" indent="0"/>
            <a:endParaRPr lang="en-AU" sz="2000" b="1" dirty="0"/>
          </a:p>
        </p:txBody>
      </p:sp>
      <p:sp>
        <p:nvSpPr>
          <p:cNvPr id="20485" name="Text Box 4"/>
          <p:cNvSpPr txBox="1">
            <a:spLocks noChangeArrowheads="1"/>
          </p:cNvSpPr>
          <p:nvPr/>
        </p:nvSpPr>
        <p:spPr bwMode="auto">
          <a:xfrm>
            <a:off x="4980827" y="3952223"/>
            <a:ext cx="281305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defTabSz="457200" eaLnBrk="1" hangingPunct="1"/>
            <a:r>
              <a:rPr lang="en-AU" sz="2600" b="0" i="0">
                <a:solidFill>
                  <a:srgbClr val="0033CC"/>
                </a:solidFill>
                <a:latin typeface="Arial" charset="0"/>
              </a:rPr>
              <a:t>Intersection Entity</a:t>
            </a:r>
            <a:endParaRPr lang="en-US" sz="2600" b="0" i="0">
              <a:solidFill>
                <a:srgbClr val="0033CC"/>
              </a:solidFill>
              <a:latin typeface="Arial" charset="0"/>
            </a:endParaRPr>
          </a:p>
        </p:txBody>
      </p:sp>
      <p:sp>
        <p:nvSpPr>
          <p:cNvPr id="20486" name="Line 5"/>
          <p:cNvSpPr>
            <a:spLocks noChangeShapeType="1"/>
          </p:cNvSpPr>
          <p:nvPr/>
        </p:nvSpPr>
        <p:spPr bwMode="auto">
          <a:xfrm flipH="1">
            <a:off x="5961528" y="4377673"/>
            <a:ext cx="98798" cy="777033"/>
          </a:xfrm>
          <a:prstGeom prst="line">
            <a:avLst/>
          </a:prstGeom>
          <a:noFill/>
          <a:ln w="12700">
            <a:solidFill>
              <a:srgbClr val="00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graphicFrame>
        <p:nvGraphicFramePr>
          <p:cNvPr id="20487" name="Object 6"/>
          <p:cNvGraphicFramePr>
            <a:graphicFrameLocks noChangeAspect="1"/>
          </p:cNvGraphicFramePr>
          <p:nvPr/>
        </p:nvGraphicFramePr>
        <p:xfrm>
          <a:off x="2196353" y="4297137"/>
          <a:ext cx="7281769" cy="20256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747586" imgH="1968589" progId="Visio.Drawing.11">
                  <p:embed/>
                </p:oleObj>
              </mc:Choice>
              <mc:Fallback>
                <p:oleObj name="Visio" r:id="rId2" imgW="6747586" imgH="1968589" progId="Visio.Drawing.11">
                  <p:embed/>
                  <p:pic>
                    <p:nvPicPr>
                      <p:cNvPr id="2048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4834"/>
                      <a:stretch>
                        <a:fillRect/>
                      </a:stretch>
                    </p:blipFill>
                    <p:spPr bwMode="auto">
                      <a:xfrm>
                        <a:off x="2196353" y="4297137"/>
                        <a:ext cx="7281769" cy="20256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51384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/>
              <a:t>Many to Many expansion</a:t>
            </a:r>
          </a:p>
        </p:txBody>
      </p:sp>
      <p:sp>
        <p:nvSpPr>
          <p:cNvPr id="19459" name="Rectangle 2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US">
              <a:solidFill>
                <a:srgbClr val="D1161E"/>
              </a:solidFill>
              <a:latin typeface="Calibri"/>
            </a:endParaRPr>
          </a:p>
        </p:txBody>
      </p:sp>
      <p:graphicFrame>
        <p:nvGraphicFramePr>
          <p:cNvPr id="19462" name="Object 5"/>
          <p:cNvGraphicFramePr>
            <a:graphicFrameLocks noChangeAspect="1"/>
          </p:cNvGraphicFramePr>
          <p:nvPr/>
        </p:nvGraphicFramePr>
        <p:xfrm>
          <a:off x="3173414" y="815976"/>
          <a:ext cx="6175375" cy="180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747381" imgH="1968570" progId="Visio.Drawing.11">
                  <p:embed/>
                </p:oleObj>
              </mc:Choice>
              <mc:Fallback>
                <p:oleObj name="Visio" r:id="rId2" imgW="6747381" imgH="1968570" progId="Visio.Drawing.11">
                  <p:embed/>
                  <p:pic>
                    <p:nvPicPr>
                      <p:cNvPr id="1946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3414" y="815976"/>
                        <a:ext cx="6175375" cy="180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7638" name="Group 6"/>
          <p:cNvGraphicFramePr>
            <a:graphicFrameLocks noGrp="1"/>
          </p:cNvGraphicFramePr>
          <p:nvPr/>
        </p:nvGraphicFramePr>
        <p:xfrm>
          <a:off x="6914356" y="2638425"/>
          <a:ext cx="3525044" cy="1463676"/>
        </p:xfrm>
        <a:graphic>
          <a:graphicData uri="http://schemas.openxmlformats.org/drawingml/2006/table">
            <a:tbl>
              <a:tblPr/>
              <a:tblGrid>
                <a:gridCol w="13427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23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subcode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40" marB="4574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subname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40" marB="4574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INF10002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DataBase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 Analysis…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INF20014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Database Systems 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INF30004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Business Intelligence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37655" name="Group 23"/>
          <p:cNvGraphicFramePr>
            <a:graphicFrameLocks noGrp="1"/>
          </p:cNvGraphicFramePr>
          <p:nvPr/>
        </p:nvGraphicFramePr>
        <p:xfrm>
          <a:off x="3573462" y="4264025"/>
          <a:ext cx="5522912" cy="2505540"/>
        </p:xfrm>
        <a:graphic>
          <a:graphicData uri="http://schemas.openxmlformats.org/drawingml/2006/table">
            <a:tbl>
              <a:tblPr/>
              <a:tblGrid>
                <a:gridCol w="1380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0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0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07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3595"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subcode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stuId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enroldate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finalgrade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287"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INF10002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1122334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28 Feb 2014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HD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287"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INF20014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7777700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28 Feb 2014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P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287"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INF10002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4444555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28 Feb 2014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C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287"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INF30004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4444555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15 Jul 2014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P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287"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INF10002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7777700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15 Jul 2014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HD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287"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A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INF20014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Arial Narrow" pitchFamily="34" charset="0"/>
                        <a:cs typeface="Arial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1122334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27 Feb 2015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D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37681" name="Group 49"/>
          <p:cNvGraphicFramePr>
            <a:graphicFrameLocks noGrp="1"/>
          </p:cNvGraphicFramePr>
          <p:nvPr/>
        </p:nvGraphicFramePr>
        <p:xfrm>
          <a:off x="1798638" y="2636838"/>
          <a:ext cx="3162300" cy="1463676"/>
        </p:xfrm>
        <a:graphic>
          <a:graphicData uri="http://schemas.openxmlformats.org/drawingml/2006/table">
            <a:tbl>
              <a:tblPr/>
              <a:tblGrid>
                <a:gridCol w="957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4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91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stuId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40" marB="4574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firstname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40" marB="4574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surname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40" marB="4574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1122334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Jane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Taylor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4444555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Jobe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McKay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7777700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Helen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Arial Narrow" pitchFamily="34" charset="0"/>
                          <a:cs typeface="Arial" charset="0"/>
                        </a:rPr>
                        <a:t>Freeman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7799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74625" indent="-200025"/>
            <a:r>
              <a:rPr lang="en-AU" sz="3600" dirty="0"/>
              <a:t>Unexpanded M:M relationships. </a:t>
            </a:r>
          </a:p>
        </p:txBody>
      </p:sp>
      <p:graphicFrame>
        <p:nvGraphicFramePr>
          <p:cNvPr id="22533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3080812"/>
              </p:ext>
            </p:extLst>
          </p:nvPr>
        </p:nvGraphicFramePr>
        <p:xfrm>
          <a:off x="6049962" y="4410556"/>
          <a:ext cx="5532438" cy="234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531707" imgH="2342098" progId="">
                  <p:embed/>
                </p:oleObj>
              </mc:Choice>
              <mc:Fallback>
                <p:oleObj r:id="rId2" imgW="5531707" imgH="2342098" progId="">
                  <p:embed/>
                  <p:pic>
                    <p:nvPicPr>
                      <p:cNvPr id="22533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9962" y="4410556"/>
                        <a:ext cx="5532438" cy="2341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2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09600" y="1017902"/>
            <a:ext cx="8686800" cy="2525713"/>
          </a:xfrm>
        </p:spPr>
        <p:txBody>
          <a:bodyPr>
            <a:noAutofit/>
          </a:bodyPr>
          <a:lstStyle/>
          <a:p>
            <a:pPr marL="174625" indent="-200025">
              <a:buNone/>
            </a:pPr>
            <a:r>
              <a:rPr lang="en-AU" sz="2200" b="1" dirty="0"/>
              <a:t>Unexpanded</a:t>
            </a:r>
            <a:r>
              <a:rPr lang="en-AU" sz="2200" dirty="0"/>
              <a:t> M:M relationships. </a:t>
            </a:r>
          </a:p>
          <a:p>
            <a:pPr marL="0" indent="-25400">
              <a:buNone/>
            </a:pPr>
            <a:r>
              <a:rPr lang="en-AU" sz="2200" b="1" dirty="0"/>
              <a:t>Advantages: </a:t>
            </a:r>
          </a:p>
          <a:p>
            <a:pPr marL="500062" indent="-342900">
              <a:buFont typeface="Arial" panose="020B0604020202020204" pitchFamily="34" charset="0"/>
              <a:buChar char="•"/>
            </a:pPr>
            <a:r>
              <a:rPr lang="en-AU" sz="2500" dirty="0"/>
              <a:t>The weak</a:t>
            </a:r>
            <a:r>
              <a:rPr lang="en-AU" sz="2200" dirty="0"/>
              <a:t> intersection entity is hidden, therefore </a:t>
            </a:r>
            <a:r>
              <a:rPr lang="en-AU" sz="2200" b="1" dirty="0"/>
              <a:t>few</a:t>
            </a:r>
            <a:r>
              <a:rPr lang="en-US" sz="2200" b="1" dirty="0" err="1"/>
              <a:t>er</a:t>
            </a:r>
            <a:r>
              <a:rPr lang="en-US" sz="2200" b="1" dirty="0"/>
              <a:t> </a:t>
            </a:r>
            <a:r>
              <a:rPr lang="en-AU" sz="2200" b="1" dirty="0"/>
              <a:t>entities.</a:t>
            </a:r>
          </a:p>
          <a:p>
            <a:pPr marL="500062" indent="-342900">
              <a:buFont typeface="Arial" panose="020B0604020202020204" pitchFamily="34" charset="0"/>
              <a:buChar char="•"/>
            </a:pPr>
            <a:r>
              <a:rPr lang="en-AU" sz="2200" dirty="0"/>
              <a:t>Fewer entities means </a:t>
            </a:r>
            <a:r>
              <a:rPr lang="en-AU" sz="2200" b="1" dirty="0"/>
              <a:t>fewer relationships</a:t>
            </a:r>
            <a:r>
              <a:rPr lang="en-AU" sz="2200" dirty="0"/>
              <a:t>. </a:t>
            </a:r>
          </a:p>
          <a:p>
            <a:pPr marL="500062" indent="-342900">
              <a:buFont typeface="Arial" panose="020B0604020202020204" pitchFamily="34" charset="0"/>
              <a:buChar char="•"/>
            </a:pPr>
            <a:r>
              <a:rPr lang="en-AU" sz="2200" dirty="0"/>
              <a:t>Results is a </a:t>
            </a:r>
            <a:r>
              <a:rPr lang="en-AU" sz="2200" b="1" dirty="0"/>
              <a:t>less cluttered diagram</a:t>
            </a:r>
            <a:r>
              <a:rPr lang="en-AU" sz="2200" dirty="0"/>
              <a:t> which is easier to read.</a:t>
            </a:r>
          </a:p>
          <a:p>
            <a:pPr marL="500062" indent="-342900">
              <a:buFont typeface="Arial" panose="020B0604020202020204" pitchFamily="34" charset="0"/>
              <a:buChar char="•"/>
            </a:pPr>
            <a:r>
              <a:rPr lang="en-AU" sz="2200" dirty="0"/>
              <a:t>Relationship names have more </a:t>
            </a:r>
            <a:r>
              <a:rPr lang="en-AU" sz="2200" b="1" dirty="0"/>
              <a:t>useful descriptions</a:t>
            </a:r>
          </a:p>
          <a:p>
            <a:pPr marL="500062" indent="-342900">
              <a:buFont typeface="Arial" panose="020B0604020202020204" pitchFamily="34" charset="0"/>
              <a:buChar char="•"/>
            </a:pPr>
            <a:endParaRPr lang="en-AU" sz="1050" b="1" dirty="0"/>
          </a:p>
          <a:p>
            <a:pPr marL="0" indent="-25400">
              <a:buNone/>
            </a:pPr>
            <a:r>
              <a:rPr lang="en-AU" sz="2200" b="1" dirty="0"/>
              <a:t>Disadvantages: </a:t>
            </a:r>
          </a:p>
          <a:p>
            <a:pPr marL="538163" indent="-381000"/>
            <a:r>
              <a:rPr lang="en-AU" sz="2200" dirty="0"/>
              <a:t>More difficult to determine how many tables will be generated</a:t>
            </a:r>
            <a:br>
              <a:rPr lang="en-AU" sz="2200" dirty="0"/>
            </a:br>
            <a:r>
              <a:rPr lang="en-AU" sz="2200" dirty="0"/>
              <a:t>via schema conversion.</a:t>
            </a:r>
            <a:r>
              <a:rPr lang="en-US" sz="2200" dirty="0"/>
              <a:t> </a:t>
            </a:r>
          </a:p>
          <a:p>
            <a:pPr marL="538163" indent="-381000"/>
            <a:r>
              <a:rPr lang="en-US" sz="2200" dirty="0"/>
              <a:t>Weak entity is </a:t>
            </a:r>
            <a:r>
              <a:rPr lang="en-AU" sz="2200" dirty="0"/>
              <a:t>hidden</a:t>
            </a:r>
            <a:r>
              <a:rPr lang="en-US" sz="2200" dirty="0"/>
              <a:t>, </a:t>
            </a:r>
            <a:br>
              <a:rPr lang="en-US" sz="2200" dirty="0"/>
            </a:br>
            <a:r>
              <a:rPr lang="en-US" sz="2200" dirty="0"/>
              <a:t>so detail is lost.</a:t>
            </a:r>
            <a:endParaRPr lang="en-AU" sz="2200" dirty="0"/>
          </a:p>
          <a:p>
            <a:pPr marL="500062" indent="-342900">
              <a:buFont typeface="Arial" panose="020B0604020202020204" pitchFamily="34" charset="0"/>
              <a:buChar char="•"/>
            </a:pP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2533132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Many to Many – not expanded</a:t>
            </a:r>
          </a:p>
        </p:txBody>
      </p:sp>
      <p:sp>
        <p:nvSpPr>
          <p:cNvPr id="25603" name="Rectangle 2"/>
          <p:cNvSpPr>
            <a:spLocks noChangeArrowheads="1"/>
          </p:cNvSpPr>
          <p:nvPr/>
        </p:nvSpPr>
        <p:spPr bwMode="auto">
          <a:xfrm>
            <a:off x="1524001" y="5992814"/>
            <a:ext cx="1730375" cy="8651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defTabSz="457200"/>
            <a:endParaRPr lang="en-US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25605" name="Rectangle 4"/>
          <p:cNvSpPr>
            <a:spLocks noChangeArrowheads="1"/>
          </p:cNvSpPr>
          <p:nvPr/>
        </p:nvSpPr>
        <p:spPr bwMode="auto">
          <a:xfrm>
            <a:off x="1903414" y="1041401"/>
            <a:ext cx="8416925" cy="2525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indent="-182562" defTabSz="457200">
              <a:buSzPct val="80000"/>
              <a:tabLst>
                <a:tab pos="1970088" algn="l"/>
              </a:tabLst>
            </a:pPr>
            <a:r>
              <a:rPr lang="en-AU" sz="2200" dirty="0">
                <a:solidFill>
                  <a:srgbClr val="000000"/>
                </a:solidFill>
                <a:latin typeface="Calibri"/>
              </a:rPr>
              <a:t>Sometimes ERDs are drawn as a form of documentation rather than as an aid to database design.</a:t>
            </a:r>
          </a:p>
          <a:p>
            <a:pPr marL="681038" lvl="1" indent="-381000" defTabSz="457200">
              <a:buFont typeface="Wingdings" pitchFamily="2" charset="2"/>
              <a:buChar char=""/>
              <a:tabLst>
                <a:tab pos="1970088" algn="l"/>
              </a:tabLst>
            </a:pPr>
            <a:r>
              <a:rPr lang="en-AU" sz="2200" dirty="0">
                <a:solidFill>
                  <a:srgbClr val="000000"/>
                </a:solidFill>
                <a:latin typeface="Calibri"/>
              </a:rPr>
              <a:t>Read / used by non database/IT people</a:t>
            </a:r>
          </a:p>
          <a:p>
            <a:pPr marL="681038" lvl="1" indent="-381000" defTabSz="457200">
              <a:buFont typeface="Wingdings" pitchFamily="2" charset="2"/>
              <a:buChar char=""/>
              <a:tabLst>
                <a:tab pos="1970088" algn="l"/>
              </a:tabLst>
            </a:pPr>
            <a:endParaRPr lang="en-AU" sz="2200" dirty="0">
              <a:solidFill>
                <a:srgbClr val="000000"/>
              </a:solidFill>
              <a:latin typeface="Calibri"/>
            </a:endParaRPr>
          </a:p>
          <a:p>
            <a:pPr marL="681038" lvl="1" indent="-381000" defTabSz="457200">
              <a:buFont typeface="Wingdings" pitchFamily="2" charset="2"/>
              <a:buChar char=""/>
              <a:tabLst>
                <a:tab pos="1970088" algn="l"/>
              </a:tabLst>
            </a:pPr>
            <a:endParaRPr lang="en-AU" sz="2200" dirty="0">
              <a:solidFill>
                <a:srgbClr val="000000"/>
              </a:solidFill>
              <a:latin typeface="Calibri"/>
            </a:endParaRPr>
          </a:p>
          <a:p>
            <a:pPr marL="655638" lvl="1" indent="-381000" defTabSz="457200">
              <a:buSzPct val="80000"/>
              <a:buFont typeface="Arial Narrow" pitchFamily="34" charset="0"/>
              <a:buChar char="●"/>
              <a:tabLst>
                <a:tab pos="1970088" algn="l"/>
              </a:tabLst>
            </a:pPr>
            <a:r>
              <a:rPr lang="en-US" sz="2200" b="1" dirty="0">
                <a:solidFill>
                  <a:srgbClr val="000000"/>
                </a:solidFill>
                <a:latin typeface="Calibri"/>
              </a:rPr>
              <a:t>Both</a:t>
            </a:r>
            <a:r>
              <a:rPr lang="en-US" sz="2200" dirty="0">
                <a:solidFill>
                  <a:srgbClr val="000000"/>
                </a:solidFill>
                <a:latin typeface="Calibri"/>
              </a:rPr>
              <a:t> of the following ERDs are identical in the information that they provide</a:t>
            </a:r>
            <a:endParaRPr lang="en-AU" sz="2200" dirty="0">
              <a:solidFill>
                <a:srgbClr val="000000"/>
              </a:solidFill>
              <a:latin typeface="Calibri"/>
            </a:endParaRPr>
          </a:p>
          <a:p>
            <a:pPr marL="655638" lvl="1" indent="-381000" defTabSz="457200">
              <a:buSzPct val="80000"/>
              <a:buFont typeface="Arial Narrow" pitchFamily="34" charset="0"/>
              <a:buChar char="●"/>
              <a:tabLst>
                <a:tab pos="1970088" algn="l"/>
              </a:tabLst>
            </a:pPr>
            <a:r>
              <a:rPr lang="en-US" sz="2200" dirty="0">
                <a:solidFill>
                  <a:srgbClr val="000000"/>
                </a:solidFill>
                <a:latin typeface="Calibri"/>
              </a:rPr>
              <a:t>Which of the following two ERDs is easier to:</a:t>
            </a:r>
          </a:p>
          <a:p>
            <a:pPr marL="1138238" lvl="2" indent="-381000" defTabSz="457200">
              <a:buFont typeface="Wingdings" pitchFamily="2" charset="2"/>
              <a:buChar char=""/>
              <a:tabLst>
                <a:tab pos="1970088" algn="l"/>
              </a:tabLst>
            </a:pPr>
            <a:r>
              <a:rPr lang="en-US" sz="2200" dirty="0">
                <a:solidFill>
                  <a:srgbClr val="000000"/>
                </a:solidFill>
                <a:latin typeface="Calibri"/>
              </a:rPr>
              <a:t>Read?</a:t>
            </a:r>
          </a:p>
          <a:p>
            <a:pPr marL="1138238" lvl="2" indent="-381000" defTabSz="457200">
              <a:buFont typeface="Wingdings" pitchFamily="2" charset="2"/>
              <a:buChar char=""/>
              <a:tabLst>
                <a:tab pos="1970088" algn="l"/>
              </a:tabLst>
            </a:pPr>
            <a:r>
              <a:rPr lang="en-US" sz="2200" dirty="0">
                <a:solidFill>
                  <a:srgbClr val="000000"/>
                </a:solidFill>
                <a:latin typeface="Calibri"/>
              </a:rPr>
              <a:t>Understand?</a:t>
            </a:r>
          </a:p>
          <a:p>
            <a:pPr marL="1138238" lvl="2" indent="-381000" defTabSz="457200">
              <a:buFont typeface="Wingdings" pitchFamily="2" charset="2"/>
              <a:buChar char=""/>
              <a:tabLst>
                <a:tab pos="1970088" algn="l"/>
              </a:tabLst>
            </a:pPr>
            <a:r>
              <a:rPr lang="en-US" sz="2200" dirty="0">
                <a:solidFill>
                  <a:srgbClr val="000000"/>
                </a:solidFill>
                <a:latin typeface="Calibri"/>
              </a:rPr>
              <a:t>Convert to Relational Schema?</a:t>
            </a:r>
          </a:p>
          <a:p>
            <a:pPr marL="1138238" lvl="2" indent="-381000" defTabSz="457200">
              <a:buFont typeface="Wingdings" pitchFamily="2" charset="2"/>
              <a:buChar char=""/>
              <a:tabLst>
                <a:tab pos="1970088" algn="l"/>
              </a:tabLst>
            </a:pPr>
            <a:endParaRPr lang="en-US" sz="2200" dirty="0">
              <a:solidFill>
                <a:srgbClr val="000000"/>
              </a:solidFill>
              <a:latin typeface="Calibri"/>
            </a:endParaRPr>
          </a:p>
          <a:p>
            <a:pPr marL="655638" lvl="1" indent="-381000" defTabSz="457200">
              <a:buSzPct val="80000"/>
              <a:buFont typeface="Arial Narrow" pitchFamily="34" charset="0"/>
              <a:buChar char="●"/>
              <a:tabLst>
                <a:tab pos="1970088" algn="l"/>
              </a:tabLst>
            </a:pPr>
            <a:r>
              <a:rPr lang="en-US" sz="2200" dirty="0">
                <a:solidFill>
                  <a:srgbClr val="000000"/>
                </a:solidFill>
                <a:latin typeface="Calibri"/>
              </a:rPr>
              <a:t>How many tables are generated by the 2</a:t>
            </a:r>
            <a:r>
              <a:rPr lang="en-US" sz="2200" baseline="30000" dirty="0">
                <a:solidFill>
                  <a:srgbClr val="000000"/>
                </a:solidFill>
                <a:latin typeface="Calibri"/>
              </a:rPr>
              <a:t>nd</a:t>
            </a:r>
            <a:r>
              <a:rPr lang="en-US" sz="2200" dirty="0">
                <a:solidFill>
                  <a:srgbClr val="000000"/>
                </a:solidFill>
                <a:latin typeface="Calibri"/>
              </a:rPr>
              <a:t> ER Diagram?</a:t>
            </a:r>
          </a:p>
          <a:p>
            <a:pPr marL="1138238" lvl="2" indent="-381000" defTabSz="457200">
              <a:buFont typeface="Wingdings" pitchFamily="2" charset="2"/>
              <a:buChar char=""/>
              <a:tabLst>
                <a:tab pos="1970088" algn="l"/>
              </a:tabLst>
            </a:pPr>
            <a:endParaRPr lang="en-US" sz="2000" dirty="0">
              <a:solidFill>
                <a:srgbClr val="D1161E"/>
              </a:solidFill>
              <a:latin typeface="Calibri"/>
            </a:endParaRPr>
          </a:p>
          <a:p>
            <a:pPr marL="1138238" lvl="2" indent="-381000" defTabSz="457200">
              <a:buFont typeface="Wingdings" pitchFamily="2" charset="2"/>
              <a:buChar char=""/>
              <a:tabLst>
                <a:tab pos="1970088" algn="l"/>
              </a:tabLst>
            </a:pPr>
            <a:endParaRPr lang="en-US" sz="2000" dirty="0">
              <a:solidFill>
                <a:srgbClr val="D1161E"/>
              </a:solidFill>
              <a:latin typeface="Calibri"/>
            </a:endParaRPr>
          </a:p>
          <a:p>
            <a:pPr marL="1138238" lvl="2" indent="-381000" defTabSz="457200">
              <a:buFont typeface="Wingdings" pitchFamily="2" charset="2"/>
              <a:buChar char=""/>
              <a:tabLst>
                <a:tab pos="1970088" algn="l"/>
              </a:tabLst>
            </a:pPr>
            <a:endParaRPr lang="en-US" sz="2000" dirty="0">
              <a:solidFill>
                <a:srgbClr val="D1161E"/>
              </a:solidFill>
              <a:latin typeface="Calibri"/>
            </a:endParaRPr>
          </a:p>
          <a:p>
            <a:pPr marL="655638" lvl="1" indent="-381000" defTabSz="457200">
              <a:buSzPct val="80000"/>
              <a:buFontTx/>
              <a:buChar char="-"/>
              <a:tabLst>
                <a:tab pos="1970088" algn="l"/>
              </a:tabLst>
            </a:pPr>
            <a:endParaRPr lang="en-AU" sz="2000" dirty="0">
              <a:solidFill>
                <a:srgbClr val="D1161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39503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Many to Many – not expanded</a:t>
            </a:r>
          </a:p>
        </p:txBody>
      </p:sp>
      <p:graphicFrame>
        <p:nvGraphicFramePr>
          <p:cNvPr id="26627" name="Object 2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7993000"/>
              </p:ext>
            </p:extLst>
          </p:nvPr>
        </p:nvGraphicFramePr>
        <p:xfrm>
          <a:off x="5248693" y="1514559"/>
          <a:ext cx="3917950" cy="391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697561" imgH="5697561" progId="">
                  <p:embed/>
                </p:oleObj>
              </mc:Choice>
              <mc:Fallback>
                <p:oleObj r:id="rId2" imgW="5697561" imgH="5697561" progId="">
                  <p:embed/>
                  <p:pic>
                    <p:nvPicPr>
                      <p:cNvPr id="26627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8693" y="1514559"/>
                        <a:ext cx="3917950" cy="3917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9" name="Rectangle 4"/>
          <p:cNvSpPr>
            <a:spLocks noChangeArrowheads="1"/>
          </p:cNvSpPr>
          <p:nvPr/>
        </p:nvSpPr>
        <p:spPr bwMode="auto">
          <a:xfrm>
            <a:off x="1767914" y="855943"/>
            <a:ext cx="873872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indent="-182562" defTabSz="457200">
              <a:buSzPct val="80000"/>
              <a:tabLst>
                <a:tab pos="1970088" algn="l"/>
              </a:tabLst>
            </a:pPr>
            <a:r>
              <a:rPr lang="en-US" sz="2200" dirty="0">
                <a:solidFill>
                  <a:srgbClr val="000000"/>
                </a:solidFill>
                <a:latin typeface="Calibri"/>
              </a:rPr>
              <a:t>Consider this ERD. Is it easy to  Read?   Understand?   Convert to Schema?</a:t>
            </a:r>
          </a:p>
          <a:p>
            <a:pPr indent="-182562" defTabSz="457200">
              <a:buSzPct val="80000"/>
              <a:tabLst>
                <a:tab pos="1970088" algn="l"/>
              </a:tabLst>
            </a:pPr>
            <a:endParaRPr lang="en-US" sz="2200" dirty="0">
              <a:solidFill>
                <a:srgbClr val="000000"/>
              </a:solidFill>
              <a:latin typeface="Calibri"/>
            </a:endParaRPr>
          </a:p>
          <a:p>
            <a:pPr indent="-182562" defTabSz="457200">
              <a:buSzPct val="80000"/>
              <a:tabLst>
                <a:tab pos="1970088" algn="l"/>
              </a:tabLst>
            </a:pPr>
            <a:r>
              <a:rPr lang="en-US" sz="2200" dirty="0">
                <a:solidFill>
                  <a:srgbClr val="000000"/>
                </a:solidFill>
                <a:latin typeface="Calibri"/>
              </a:rPr>
              <a:t>Most non-database people</a:t>
            </a:r>
            <a:br>
              <a:rPr lang="en-US" sz="2200" dirty="0">
                <a:solidFill>
                  <a:srgbClr val="000000"/>
                </a:solidFill>
                <a:latin typeface="Calibri"/>
              </a:rPr>
            </a:br>
            <a:r>
              <a:rPr lang="en-US" sz="2200" dirty="0">
                <a:solidFill>
                  <a:srgbClr val="000000"/>
                </a:solidFill>
                <a:latin typeface="Calibri"/>
              </a:rPr>
              <a:t>can easily understand this</a:t>
            </a:r>
            <a:br>
              <a:rPr lang="en-US" sz="2200" dirty="0">
                <a:solidFill>
                  <a:srgbClr val="000000"/>
                </a:solidFill>
                <a:latin typeface="Calibri"/>
              </a:rPr>
            </a:br>
            <a:r>
              <a:rPr lang="en-US" sz="2200" dirty="0">
                <a:solidFill>
                  <a:srgbClr val="000000"/>
                </a:solidFill>
                <a:latin typeface="Calibri"/>
              </a:rPr>
              <a:t>ERD, after 30-60 seconds of</a:t>
            </a:r>
            <a:br>
              <a:rPr lang="en-US" sz="2200" dirty="0">
                <a:solidFill>
                  <a:srgbClr val="000000"/>
                </a:solidFill>
                <a:latin typeface="Calibri"/>
              </a:rPr>
            </a:br>
            <a:r>
              <a:rPr lang="en-US" sz="2200" dirty="0">
                <a:solidFill>
                  <a:srgbClr val="000000"/>
                </a:solidFill>
                <a:latin typeface="Calibri"/>
              </a:rPr>
              <a:t>tuition about symbols</a:t>
            </a:r>
          </a:p>
        </p:txBody>
      </p:sp>
    </p:spTree>
    <p:extLst>
      <p:ext uri="{BB962C8B-B14F-4D97-AF65-F5344CB8AC3E}">
        <p14:creationId xmlns:p14="http://schemas.microsoft.com/office/powerpoint/2010/main" val="508493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Many to Many - expanded</a:t>
            </a:r>
          </a:p>
        </p:txBody>
      </p:sp>
      <p:graphicFrame>
        <p:nvGraphicFramePr>
          <p:cNvPr id="27652" name="Object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1078660"/>
              </p:ext>
            </p:extLst>
          </p:nvPr>
        </p:nvGraphicFramePr>
        <p:xfrm>
          <a:off x="5488405" y="1955132"/>
          <a:ext cx="4838700" cy="3916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375610" imgH="5970732" progId="">
                  <p:embed/>
                </p:oleObj>
              </mc:Choice>
              <mc:Fallback>
                <p:oleObj r:id="rId2" imgW="7375610" imgH="5970732" progId="">
                  <p:embed/>
                  <p:pic>
                    <p:nvPicPr>
                      <p:cNvPr id="27652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8405" y="1955132"/>
                        <a:ext cx="4838700" cy="3916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17419" y="900585"/>
            <a:ext cx="8738721" cy="437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indent="-182562" defTabSz="457200">
              <a:buSzPct val="80000"/>
              <a:tabLst>
                <a:tab pos="1970088" algn="l"/>
              </a:tabLst>
            </a:pPr>
            <a:r>
              <a:rPr lang="en-US" sz="2200" dirty="0">
                <a:solidFill>
                  <a:srgbClr val="000000"/>
                </a:solidFill>
                <a:latin typeface="Calibri"/>
              </a:rPr>
              <a:t>Consider this ERD. Is it easy to  Read?   Understand?   Convert to Schema?</a:t>
            </a:r>
          </a:p>
          <a:p>
            <a:pPr indent="-182562" defTabSz="457200">
              <a:buSzPct val="80000"/>
              <a:tabLst>
                <a:tab pos="1970088" algn="l"/>
              </a:tabLst>
            </a:pPr>
            <a:endParaRPr lang="en-US" sz="2200" dirty="0">
              <a:solidFill>
                <a:srgbClr val="000000"/>
              </a:solidFill>
              <a:latin typeface="Calibri"/>
            </a:endParaRPr>
          </a:p>
          <a:p>
            <a:pPr indent="-182562" defTabSz="457200">
              <a:buSzPct val="80000"/>
              <a:tabLst>
                <a:tab pos="1970088" algn="l"/>
              </a:tabLst>
            </a:pPr>
            <a:r>
              <a:rPr lang="en-US" sz="2000" dirty="0">
                <a:solidFill>
                  <a:srgbClr val="000000"/>
                </a:solidFill>
                <a:latin typeface="Calibri"/>
              </a:rPr>
              <a:t>Most non-database people</a:t>
            </a:r>
            <a:br>
              <a:rPr lang="en-US" sz="2000" dirty="0">
                <a:solidFill>
                  <a:srgbClr val="000000"/>
                </a:solidFill>
                <a:latin typeface="Calibri"/>
              </a:rPr>
            </a:br>
            <a:r>
              <a:rPr lang="en-US" sz="2000" dirty="0">
                <a:solidFill>
                  <a:srgbClr val="000000"/>
                </a:solidFill>
                <a:latin typeface="Calibri"/>
              </a:rPr>
              <a:t>find it difficult to understand</a:t>
            </a:r>
          </a:p>
          <a:p>
            <a:pPr indent="-182562" defTabSz="457200">
              <a:buSzPct val="80000"/>
              <a:tabLst>
                <a:tab pos="1970088" algn="l"/>
              </a:tabLst>
            </a:pPr>
            <a:r>
              <a:rPr lang="en-US" sz="2000" dirty="0">
                <a:solidFill>
                  <a:srgbClr val="000000"/>
                </a:solidFill>
                <a:latin typeface="Calibri"/>
              </a:rPr>
              <a:t>this ERD.</a:t>
            </a:r>
          </a:p>
          <a:p>
            <a:pPr indent="-182562" defTabSz="457200">
              <a:buSzPct val="80000"/>
              <a:tabLst>
                <a:tab pos="1970088" algn="l"/>
              </a:tabLst>
            </a:pPr>
            <a:endParaRPr lang="en-US" sz="2000" dirty="0">
              <a:solidFill>
                <a:srgbClr val="000000"/>
              </a:solidFill>
              <a:latin typeface="Calibri"/>
            </a:endParaRPr>
          </a:p>
          <a:p>
            <a:pPr indent="-182562" defTabSz="457200">
              <a:buSzPct val="80000"/>
              <a:tabLst>
                <a:tab pos="1970088" algn="l"/>
              </a:tabLst>
            </a:pPr>
            <a:r>
              <a:rPr lang="en-US" sz="2000" dirty="0">
                <a:solidFill>
                  <a:srgbClr val="000000"/>
                </a:solidFill>
                <a:latin typeface="Calibri"/>
              </a:rPr>
              <a:t>Symbols are more confusing.</a:t>
            </a:r>
          </a:p>
          <a:p>
            <a:pPr indent="-182562" defTabSz="457200">
              <a:buSzPct val="80000"/>
              <a:tabLst>
                <a:tab pos="1970088" algn="l"/>
              </a:tabLst>
            </a:pPr>
            <a:endParaRPr lang="en-US" sz="2000" dirty="0">
              <a:solidFill>
                <a:srgbClr val="000000"/>
              </a:solidFill>
              <a:latin typeface="Calibri"/>
            </a:endParaRPr>
          </a:p>
          <a:p>
            <a:pPr indent="-182562" defTabSz="457200">
              <a:buSzPct val="80000"/>
              <a:tabLst>
                <a:tab pos="1970088" algn="l"/>
              </a:tabLst>
            </a:pPr>
            <a:r>
              <a:rPr lang="en-US" sz="2000" dirty="0">
                <a:solidFill>
                  <a:srgbClr val="000000"/>
                </a:solidFill>
                <a:latin typeface="Calibri"/>
              </a:rPr>
              <a:t>What is the difference</a:t>
            </a:r>
            <a:br>
              <a:rPr lang="en-US" sz="2000" dirty="0">
                <a:solidFill>
                  <a:srgbClr val="000000"/>
                </a:solidFill>
                <a:latin typeface="Calibri"/>
              </a:rPr>
            </a:br>
            <a:r>
              <a:rPr lang="en-US" sz="2000" dirty="0">
                <a:solidFill>
                  <a:srgbClr val="000000"/>
                </a:solidFill>
                <a:latin typeface="Calibri"/>
              </a:rPr>
              <a:t>between a student and a</a:t>
            </a:r>
          </a:p>
          <a:p>
            <a:pPr indent="-182562" defTabSz="457200">
              <a:buSzPct val="80000"/>
              <a:tabLst>
                <a:tab pos="1970088" algn="l"/>
              </a:tabLst>
            </a:pPr>
            <a:r>
              <a:rPr lang="en-US" sz="2000" dirty="0">
                <a:solidFill>
                  <a:srgbClr val="000000"/>
                </a:solidFill>
                <a:latin typeface="Calibri"/>
              </a:rPr>
              <a:t>student society member?</a:t>
            </a:r>
          </a:p>
          <a:p>
            <a:pPr indent="-182562" defTabSz="457200">
              <a:buSzPct val="80000"/>
              <a:tabLst>
                <a:tab pos="1970088" algn="l"/>
              </a:tabLst>
            </a:pPr>
            <a:endParaRPr lang="en-US" sz="2000" dirty="0">
              <a:solidFill>
                <a:srgbClr val="000000"/>
              </a:solidFill>
              <a:latin typeface="Calibri"/>
            </a:endParaRPr>
          </a:p>
          <a:p>
            <a:pPr indent="-182562" defTabSz="457200">
              <a:buSzPct val="80000"/>
              <a:tabLst>
                <a:tab pos="1970088" algn="l"/>
              </a:tabLst>
            </a:pPr>
            <a:r>
              <a:rPr lang="en-US" sz="2000" dirty="0">
                <a:solidFill>
                  <a:srgbClr val="000000"/>
                </a:solidFill>
                <a:latin typeface="Calibri"/>
              </a:rPr>
              <a:t>Why are they two different</a:t>
            </a:r>
            <a:br>
              <a:rPr lang="en-US" sz="2000" dirty="0">
                <a:solidFill>
                  <a:srgbClr val="000000"/>
                </a:solidFill>
                <a:latin typeface="Calibri"/>
              </a:rPr>
            </a:br>
            <a:r>
              <a:rPr lang="en-US" sz="2000" dirty="0">
                <a:solidFill>
                  <a:srgbClr val="000000"/>
                </a:solidFill>
                <a:latin typeface="Calibri"/>
              </a:rPr>
              <a:t>entities?</a:t>
            </a:r>
          </a:p>
        </p:txBody>
      </p:sp>
    </p:spTree>
    <p:extLst>
      <p:ext uri="{BB962C8B-B14F-4D97-AF65-F5344CB8AC3E}">
        <p14:creationId xmlns:p14="http://schemas.microsoft.com/office/powerpoint/2010/main" val="1410211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Modelling: Designing your own ERDs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381000" indent="-381000"/>
            <a:r>
              <a:rPr lang="en-AU" sz="2200" dirty="0"/>
              <a:t>This lecture we will examine </a:t>
            </a:r>
          </a:p>
          <a:p>
            <a:pPr marL="923925" lvl="1" indent="-381000"/>
            <a:r>
              <a:rPr lang="en-AU" sz="2200" dirty="0"/>
              <a:t>how to </a:t>
            </a:r>
            <a:r>
              <a:rPr lang="en-AU" sz="2200" b="1" dirty="0"/>
              <a:t>read</a:t>
            </a:r>
            <a:r>
              <a:rPr lang="en-AU" sz="2200" dirty="0"/>
              <a:t> and interpret a </a:t>
            </a:r>
            <a:r>
              <a:rPr lang="en-AU" sz="2200" b="1" dirty="0"/>
              <a:t>business</a:t>
            </a:r>
            <a:r>
              <a:rPr lang="en-AU" sz="2200" dirty="0"/>
              <a:t> </a:t>
            </a:r>
            <a:r>
              <a:rPr lang="en-AU" sz="2200" b="1" dirty="0"/>
              <a:t>narrative </a:t>
            </a:r>
          </a:p>
          <a:p>
            <a:pPr marL="923925" lvl="1" indent="-381000"/>
            <a:r>
              <a:rPr lang="en-AU" sz="2200" b="1" dirty="0"/>
              <a:t>create and draw</a:t>
            </a:r>
            <a:r>
              <a:rPr lang="en-AU" sz="2200" dirty="0"/>
              <a:t> an ERD based on the narrative</a:t>
            </a:r>
          </a:p>
          <a:p>
            <a:pPr marL="381000" indent="-381000"/>
            <a:endParaRPr lang="en-AU" sz="2200" dirty="0"/>
          </a:p>
          <a:p>
            <a:pPr marL="381000" indent="-381000"/>
            <a:r>
              <a:rPr lang="en-AU" sz="2200" dirty="0"/>
              <a:t>You will be asked to create your own ERDs</a:t>
            </a:r>
          </a:p>
          <a:p>
            <a:pPr marL="923925" lvl="1" indent="-381000"/>
            <a:r>
              <a:rPr lang="en-AU" sz="2200" dirty="0"/>
              <a:t>In tutorials</a:t>
            </a:r>
          </a:p>
          <a:p>
            <a:pPr marL="923925" lvl="1" indent="-381000"/>
            <a:r>
              <a:rPr lang="en-AU" sz="2200" dirty="0"/>
              <a:t>In submission tasks</a:t>
            </a:r>
          </a:p>
          <a:p>
            <a:pPr marL="923925" lvl="1" indent="-381000"/>
            <a:endParaRPr lang="en-AU" sz="2200" dirty="0"/>
          </a:p>
          <a:p>
            <a:pPr marL="542925" lvl="1" indent="0">
              <a:buNone/>
            </a:pPr>
            <a:endParaRPr lang="en-AU" sz="2200" dirty="0"/>
          </a:p>
          <a:p>
            <a:pPr marL="923925" lvl="1" indent="-38100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37570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Steps involved in ERD design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087655"/>
            <a:ext cx="8010626" cy="5471087"/>
          </a:xfrm>
          <a:noFill/>
        </p:spPr>
        <p:txBody>
          <a:bodyPr>
            <a:normAutofit/>
          </a:bodyPr>
          <a:lstStyle/>
          <a:p>
            <a:r>
              <a:rPr lang="en-AU" dirty="0"/>
              <a:t> Step 1 – Identify all </a:t>
            </a:r>
            <a:r>
              <a:rPr lang="en-AU" b="1" dirty="0"/>
              <a:t>Strong</a:t>
            </a:r>
            <a:r>
              <a:rPr lang="en-AU" dirty="0"/>
              <a:t> </a:t>
            </a:r>
            <a:r>
              <a:rPr lang="en-AU" b="1" dirty="0"/>
              <a:t>Entities</a:t>
            </a:r>
            <a:r>
              <a:rPr lang="en-AU" dirty="0"/>
              <a:t> and all </a:t>
            </a:r>
            <a:r>
              <a:rPr lang="en-AU" b="1" dirty="0"/>
              <a:t>Attributes</a:t>
            </a:r>
          </a:p>
          <a:p>
            <a:r>
              <a:rPr lang="en-AU" dirty="0"/>
              <a:t> Step 2 – </a:t>
            </a:r>
            <a:r>
              <a:rPr lang="en-AU" b="1" dirty="0"/>
              <a:t>Assign attributes</a:t>
            </a:r>
            <a:r>
              <a:rPr lang="en-AU" dirty="0"/>
              <a:t> to the Strong Entities</a:t>
            </a:r>
          </a:p>
          <a:p>
            <a:r>
              <a:rPr lang="en-AU" dirty="0"/>
              <a:t> Step 3 – Identify </a:t>
            </a:r>
            <a:r>
              <a:rPr lang="en-AU" b="1" dirty="0"/>
              <a:t>relationships</a:t>
            </a:r>
          </a:p>
          <a:p>
            <a:r>
              <a:rPr lang="en-AU" dirty="0"/>
              <a:t> Step 4 – Determine </a:t>
            </a:r>
            <a:r>
              <a:rPr lang="en-AU" b="1" dirty="0"/>
              <a:t>cardinality</a:t>
            </a:r>
            <a:r>
              <a:rPr lang="en-AU" dirty="0"/>
              <a:t> and </a:t>
            </a:r>
            <a:r>
              <a:rPr lang="en-AU" b="1" dirty="0"/>
              <a:t>participation</a:t>
            </a:r>
            <a:r>
              <a:rPr lang="en-AU" dirty="0"/>
              <a:t> constraints</a:t>
            </a:r>
          </a:p>
          <a:p>
            <a:r>
              <a:rPr lang="en-AU" dirty="0"/>
              <a:t> Step 5 – Attach </a:t>
            </a:r>
            <a:r>
              <a:rPr lang="en-AU" b="1" dirty="0"/>
              <a:t>remaining attributes</a:t>
            </a:r>
            <a:r>
              <a:rPr lang="en-AU" dirty="0"/>
              <a:t> to relationships</a:t>
            </a:r>
          </a:p>
          <a:p>
            <a:r>
              <a:rPr lang="en-AU" dirty="0"/>
              <a:t> Step 6 – </a:t>
            </a:r>
            <a:r>
              <a:rPr lang="en-AU" b="1" dirty="0"/>
              <a:t>Expand M:M</a:t>
            </a:r>
            <a:r>
              <a:rPr lang="en-AU" dirty="0"/>
              <a:t> relationships with attributes </a:t>
            </a:r>
          </a:p>
          <a:p>
            <a:r>
              <a:rPr lang="en-AU" dirty="0"/>
              <a:t> Step 7 – </a:t>
            </a:r>
            <a:r>
              <a:rPr lang="en-AU" b="1" dirty="0"/>
              <a:t>Attach attributes</a:t>
            </a:r>
            <a:r>
              <a:rPr lang="en-AU" dirty="0"/>
              <a:t> to appropriate entities or relationships</a:t>
            </a:r>
          </a:p>
          <a:p>
            <a:r>
              <a:rPr lang="en-AU" dirty="0"/>
              <a:t> Step 8 – Determine </a:t>
            </a:r>
            <a:r>
              <a:rPr lang="en-AU" b="1" dirty="0"/>
              <a:t>identifiers</a:t>
            </a:r>
          </a:p>
          <a:p>
            <a:r>
              <a:rPr lang="en-AU" dirty="0"/>
              <a:t> Step 9 – </a:t>
            </a:r>
            <a:r>
              <a:rPr lang="en-AU" b="1" dirty="0"/>
              <a:t>Test</a:t>
            </a:r>
            <a:r>
              <a:rPr lang="en-AU" dirty="0"/>
              <a:t> your solution. </a:t>
            </a:r>
          </a:p>
          <a:p>
            <a:pPr marL="1698625" lvl="3"/>
            <a:r>
              <a:rPr lang="en-AU" dirty="0"/>
              <a:t>Create test data. </a:t>
            </a:r>
          </a:p>
          <a:p>
            <a:pPr marL="1698625" lvl="3"/>
            <a:r>
              <a:rPr lang="en-AU" dirty="0"/>
              <a:t>Read the ERD aloud.</a:t>
            </a:r>
          </a:p>
          <a:p>
            <a:pPr marL="1698625" lvl="3"/>
            <a:r>
              <a:rPr lang="en-AU" dirty="0"/>
              <a:t>Navigate the diagram.  </a:t>
            </a:r>
          </a:p>
          <a:p>
            <a:pPr marL="1698625" lvl="3"/>
            <a:r>
              <a:rPr lang="en-AU" dirty="0"/>
              <a:t>Think of how SQL queries would be written when the</a:t>
            </a:r>
            <a:br>
              <a:rPr lang="en-AU" dirty="0"/>
            </a:br>
            <a:r>
              <a:rPr lang="en-AU" dirty="0"/>
              <a:t>ERD is transformed into a database solution. </a:t>
            </a:r>
          </a:p>
          <a:p>
            <a:endParaRPr lang="en-AU" sz="2000" b="1" dirty="0"/>
          </a:p>
        </p:txBody>
      </p:sp>
    </p:spTree>
    <p:extLst>
      <p:ext uri="{BB962C8B-B14F-4D97-AF65-F5344CB8AC3E}">
        <p14:creationId xmlns:p14="http://schemas.microsoft.com/office/powerpoint/2010/main" val="37901362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AU">
                <a:solidFill>
                  <a:srgbClr val="D1161E"/>
                </a:solidFill>
                <a:latin typeface="Calibri" panose="020F0502020204030204" pitchFamily="34" charset="0"/>
              </a:rPr>
              <a:t>Identifying Entities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087655"/>
            <a:ext cx="8686800" cy="5035239"/>
          </a:xfrm>
          <a:noFill/>
        </p:spPr>
        <p:txBody>
          <a:bodyPr>
            <a:noAutofit/>
          </a:bodyPr>
          <a:lstStyle/>
          <a:p>
            <a:pPr marL="274638" lvl="1" indent="0">
              <a:spcBef>
                <a:spcPct val="0"/>
              </a:spcBef>
              <a:buSzPct val="75000"/>
              <a:buNone/>
            </a:pPr>
            <a:r>
              <a:rPr lang="en-AU" sz="2200" b="1" dirty="0">
                <a:latin typeface="Calibri" panose="020F0502020204030204" pitchFamily="34" charset="0"/>
              </a:rPr>
              <a:t>ERD Entities</a:t>
            </a:r>
            <a:r>
              <a:rPr lang="en-AU" sz="2200" dirty="0">
                <a:latin typeface="Calibri" panose="020F0502020204030204" pitchFamily="34" charset="0"/>
              </a:rPr>
              <a:t>:</a:t>
            </a:r>
          </a:p>
          <a:p>
            <a:pPr marL="1138238" lvl="2" indent="-381000">
              <a:spcBef>
                <a:spcPct val="0"/>
              </a:spcBef>
            </a:pPr>
            <a:r>
              <a:rPr lang="en-AU" sz="2200" dirty="0">
                <a:latin typeface="Calibri" panose="020F0502020204030204" pitchFamily="34" charset="0"/>
              </a:rPr>
              <a:t>Each entity must have </a:t>
            </a:r>
            <a:r>
              <a:rPr lang="en-AU" sz="2200" b="1" dirty="0">
                <a:latin typeface="Calibri" panose="020F0502020204030204" pitchFamily="34" charset="0"/>
              </a:rPr>
              <a:t>many</a:t>
            </a:r>
            <a:r>
              <a:rPr lang="en-AU" sz="2200" dirty="0">
                <a:latin typeface="Calibri" panose="020F0502020204030204" pitchFamily="34" charset="0"/>
              </a:rPr>
              <a:t> instances</a:t>
            </a:r>
          </a:p>
          <a:p>
            <a:pPr marL="1774825" lvl="3" indent="-304800">
              <a:spcBef>
                <a:spcPct val="0"/>
              </a:spcBef>
              <a:buSzPct val="85000"/>
              <a:buFont typeface="Wingdings" pitchFamily="2" charset="2"/>
              <a:buChar char=""/>
            </a:pPr>
            <a:r>
              <a:rPr lang="en-AU" sz="2200" dirty="0">
                <a:latin typeface="Calibri" panose="020F0502020204030204" pitchFamily="34" charset="0"/>
              </a:rPr>
              <a:t>"The Business" therefore is </a:t>
            </a:r>
            <a:r>
              <a:rPr lang="en-AU" sz="2200" b="1" dirty="0">
                <a:latin typeface="Calibri" panose="020F0502020204030204" pitchFamily="34" charset="0"/>
              </a:rPr>
              <a:t>not</a:t>
            </a:r>
            <a:r>
              <a:rPr lang="en-AU" sz="2200" dirty="0">
                <a:latin typeface="Calibri" panose="020F0502020204030204" pitchFamily="34" charset="0"/>
              </a:rPr>
              <a:t> an entity</a:t>
            </a:r>
          </a:p>
          <a:p>
            <a:pPr marL="1138238" lvl="2" indent="-381000">
              <a:spcBef>
                <a:spcPct val="0"/>
              </a:spcBef>
            </a:pPr>
            <a:r>
              <a:rPr lang="en-AU" sz="2200" b="1" dirty="0">
                <a:latin typeface="Calibri" panose="020F0502020204030204" pitchFamily="34" charset="0"/>
              </a:rPr>
              <a:t>Singular</a:t>
            </a:r>
            <a:r>
              <a:rPr lang="en-AU" sz="2200" dirty="0">
                <a:latin typeface="Calibri" panose="020F0502020204030204" pitchFamily="34" charset="0"/>
              </a:rPr>
              <a:t> noun (not verb).  Written in </a:t>
            </a:r>
            <a:r>
              <a:rPr lang="en-AU" sz="2200" b="1" dirty="0">
                <a:latin typeface="Calibri" panose="020F0502020204030204" pitchFamily="34" charset="0"/>
              </a:rPr>
              <a:t>Uppercase</a:t>
            </a:r>
          </a:p>
          <a:p>
            <a:pPr marL="1138238" lvl="2" indent="-381000">
              <a:spcBef>
                <a:spcPct val="0"/>
              </a:spcBef>
            </a:pPr>
            <a:r>
              <a:rPr lang="en-AU" sz="2200" dirty="0">
                <a:latin typeface="Calibri" panose="020F0502020204030204" pitchFamily="34" charset="0"/>
              </a:rPr>
              <a:t>Use nouns </a:t>
            </a:r>
            <a:r>
              <a:rPr lang="en-AU" sz="2200" b="1" dirty="0">
                <a:latin typeface="Calibri" panose="020F0502020204030204" pitchFamily="34" charset="0"/>
              </a:rPr>
              <a:t>specific</a:t>
            </a:r>
            <a:r>
              <a:rPr lang="en-AU" sz="2200" dirty="0">
                <a:latin typeface="Calibri" panose="020F0502020204030204" pitchFamily="34" charset="0"/>
              </a:rPr>
              <a:t> to the Business</a:t>
            </a:r>
          </a:p>
          <a:p>
            <a:pPr marL="1774825" lvl="3" indent="-304800">
              <a:spcBef>
                <a:spcPct val="0"/>
              </a:spcBef>
              <a:buSzPct val="85000"/>
              <a:buFont typeface="Wingdings" pitchFamily="2" charset="2"/>
              <a:buChar char=""/>
            </a:pPr>
            <a:r>
              <a:rPr lang="en-AU" sz="2200" dirty="0">
                <a:latin typeface="Calibri" panose="020F0502020204030204" pitchFamily="34" charset="0"/>
              </a:rPr>
              <a:t>Are you dealing with a  </a:t>
            </a:r>
            <a:r>
              <a:rPr lang="en-AU" sz="2200" i="1" dirty="0">
                <a:latin typeface="Calibri" panose="020F0502020204030204" pitchFamily="34" charset="0"/>
              </a:rPr>
              <a:t>customer</a:t>
            </a:r>
            <a:r>
              <a:rPr lang="en-AU" sz="2200" dirty="0">
                <a:latin typeface="Calibri" panose="020F0502020204030204" pitchFamily="34" charset="0"/>
              </a:rPr>
              <a:t> or </a:t>
            </a:r>
            <a:r>
              <a:rPr lang="en-AU" sz="2200" i="1" dirty="0">
                <a:latin typeface="Calibri" panose="020F0502020204030204" pitchFamily="34" charset="0"/>
              </a:rPr>
              <a:t>client</a:t>
            </a:r>
            <a:r>
              <a:rPr lang="en-AU" sz="2200" dirty="0">
                <a:latin typeface="Calibri" panose="020F0502020204030204" pitchFamily="34" charset="0"/>
              </a:rPr>
              <a:t> or </a:t>
            </a:r>
            <a:r>
              <a:rPr lang="en-AU" sz="2200" i="1" dirty="0">
                <a:latin typeface="Calibri" panose="020F0502020204030204" pitchFamily="34" charset="0"/>
              </a:rPr>
              <a:t>patron</a:t>
            </a:r>
            <a:r>
              <a:rPr lang="en-AU" sz="2200" dirty="0">
                <a:latin typeface="Calibri" panose="020F0502020204030204" pitchFamily="34" charset="0"/>
              </a:rPr>
              <a:t>?</a:t>
            </a:r>
          </a:p>
          <a:p>
            <a:pPr marL="1138238" lvl="2" indent="-381000">
              <a:spcBef>
                <a:spcPct val="0"/>
              </a:spcBef>
            </a:pPr>
            <a:r>
              <a:rPr lang="en-AU" sz="2200" dirty="0">
                <a:latin typeface="Calibri" panose="020F0502020204030204" pitchFamily="34" charset="0"/>
              </a:rPr>
              <a:t>May be a </a:t>
            </a:r>
            <a:r>
              <a:rPr lang="en-AU" sz="2200" b="1" dirty="0">
                <a:latin typeface="Calibri" panose="020F0502020204030204" pitchFamily="34" charset="0"/>
              </a:rPr>
              <a:t>Strong</a:t>
            </a:r>
            <a:r>
              <a:rPr lang="en-AU" sz="2200" dirty="0">
                <a:latin typeface="Calibri" panose="020F0502020204030204" pitchFamily="34" charset="0"/>
              </a:rPr>
              <a:t> Entity identified by its </a:t>
            </a:r>
            <a:r>
              <a:rPr lang="en-AU" sz="2200" b="1" dirty="0">
                <a:latin typeface="Calibri" panose="020F0502020204030204" pitchFamily="34" charset="0"/>
              </a:rPr>
              <a:t>own attributes</a:t>
            </a:r>
            <a:r>
              <a:rPr lang="en-AU" sz="2200" dirty="0">
                <a:latin typeface="Calibri" panose="020F0502020204030204" pitchFamily="34" charset="0"/>
              </a:rPr>
              <a:t> </a:t>
            </a:r>
          </a:p>
          <a:p>
            <a:pPr marL="1774825" lvl="3" indent="-304800">
              <a:spcBef>
                <a:spcPct val="0"/>
              </a:spcBef>
              <a:buSzPct val="85000"/>
              <a:buFont typeface="Wingdings" pitchFamily="2" charset="2"/>
              <a:buChar char=""/>
            </a:pPr>
            <a:r>
              <a:rPr lang="en-AU" sz="2200" dirty="0" err="1">
                <a:latin typeface="Calibri" panose="020F0502020204030204" pitchFamily="34" charset="0"/>
              </a:rPr>
              <a:t>eg</a:t>
            </a:r>
            <a:r>
              <a:rPr lang="en-AU" sz="2200" dirty="0">
                <a:latin typeface="Calibri" panose="020F0502020204030204" pitchFamily="34" charset="0"/>
              </a:rPr>
              <a:t>. </a:t>
            </a:r>
            <a:r>
              <a:rPr lang="en-AU" sz="2200" dirty="0" err="1">
                <a:latin typeface="Calibri" panose="020F0502020204030204" pitchFamily="34" charset="0"/>
              </a:rPr>
              <a:t>StudentId</a:t>
            </a:r>
            <a:endParaRPr lang="en-AU" sz="2200" dirty="0">
              <a:latin typeface="Calibri" panose="020F0502020204030204" pitchFamily="34" charset="0"/>
            </a:endParaRPr>
          </a:p>
          <a:p>
            <a:pPr marL="1138238" lvl="2" indent="-381000">
              <a:spcBef>
                <a:spcPct val="0"/>
              </a:spcBef>
            </a:pPr>
            <a:r>
              <a:rPr lang="en-AU" sz="2200" dirty="0">
                <a:latin typeface="Calibri" panose="020F0502020204030204" pitchFamily="34" charset="0"/>
              </a:rPr>
              <a:t>May be a </a:t>
            </a:r>
            <a:r>
              <a:rPr lang="en-AU" sz="2200" b="1" dirty="0">
                <a:latin typeface="Calibri" panose="020F0502020204030204" pitchFamily="34" charset="0"/>
              </a:rPr>
              <a:t>Weak</a:t>
            </a:r>
            <a:r>
              <a:rPr lang="en-AU" sz="2200" dirty="0">
                <a:latin typeface="Calibri" panose="020F0502020204030204" pitchFamily="34" charset="0"/>
              </a:rPr>
              <a:t> Entity identified (wholly or partly) by attributes that are ‘borrowed’ from other entities</a:t>
            </a:r>
          </a:p>
          <a:p>
            <a:pPr marL="1774825" lvl="3" indent="-304800">
              <a:spcBef>
                <a:spcPct val="0"/>
              </a:spcBef>
              <a:buSzPct val="85000"/>
              <a:buFont typeface="Wingdings" pitchFamily="2" charset="2"/>
              <a:buChar char=""/>
            </a:pPr>
            <a:r>
              <a:rPr lang="en-AU" sz="2200" dirty="0">
                <a:latin typeface="Calibri" panose="020F0502020204030204" pitchFamily="34" charset="0"/>
              </a:rPr>
              <a:t> </a:t>
            </a:r>
            <a:r>
              <a:rPr lang="en-AU" sz="2200" dirty="0" err="1">
                <a:latin typeface="Calibri" panose="020F0502020204030204" pitchFamily="34" charset="0"/>
              </a:rPr>
              <a:t>eg</a:t>
            </a:r>
            <a:r>
              <a:rPr lang="en-AU" sz="2200" dirty="0">
                <a:latin typeface="Calibri" panose="020F0502020204030204" pitchFamily="34" charset="0"/>
              </a:rPr>
              <a:t>. Enrolment</a:t>
            </a:r>
          </a:p>
          <a:p>
            <a:pPr marL="1774825" lvl="3" indent="-304800">
              <a:spcBef>
                <a:spcPct val="0"/>
              </a:spcBef>
              <a:buSzPct val="85000"/>
              <a:buFont typeface="Wingdings" pitchFamily="2" charset="2"/>
              <a:buChar char=""/>
            </a:pPr>
            <a:endParaRPr lang="en-AU" sz="2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6371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Identifying Attributes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marL="381000" indent="-381000">
              <a:spcBef>
                <a:spcPct val="0"/>
              </a:spcBef>
            </a:pPr>
            <a:r>
              <a:rPr lang="en-AU" sz="2200" dirty="0">
                <a:latin typeface="Calibri" panose="020F0502020204030204" pitchFamily="34" charset="0"/>
              </a:rPr>
              <a:t> </a:t>
            </a:r>
            <a:r>
              <a:rPr lang="en-AU" sz="2200" b="1" dirty="0">
                <a:latin typeface="Calibri" panose="020F0502020204030204" pitchFamily="34" charset="0"/>
              </a:rPr>
              <a:t>ERD Attributes</a:t>
            </a:r>
          </a:p>
          <a:p>
            <a:pPr marL="381000" indent="-381000">
              <a:spcBef>
                <a:spcPct val="0"/>
              </a:spcBef>
            </a:pPr>
            <a:endParaRPr lang="en-AU" sz="2200" dirty="0">
              <a:latin typeface="Calibri" panose="020F0502020204030204" pitchFamily="34" charset="0"/>
            </a:endParaRPr>
          </a:p>
          <a:p>
            <a:pPr marL="955675" lvl="2" indent="-381000">
              <a:spcBef>
                <a:spcPct val="0"/>
              </a:spcBef>
            </a:pPr>
            <a:r>
              <a:rPr lang="en-AU" sz="2200" dirty="0">
                <a:latin typeface="Calibri" panose="020F0502020204030204" pitchFamily="34" charset="0"/>
              </a:rPr>
              <a:t>Each attribute is Identified by a </a:t>
            </a:r>
            <a:r>
              <a:rPr lang="en-AU" sz="2200" b="1" dirty="0">
                <a:latin typeface="Calibri" panose="020F0502020204030204" pitchFamily="34" charset="0"/>
              </a:rPr>
              <a:t>single word or phrase</a:t>
            </a:r>
          </a:p>
          <a:p>
            <a:pPr marL="1481138" lvl="3" indent="-3810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AU" sz="2200" dirty="0">
                <a:latin typeface="Calibri" panose="020F0502020204030204" pitchFamily="34" charset="0"/>
              </a:rPr>
              <a:t>use underscores or capitalisation to separate words </a:t>
            </a:r>
          </a:p>
          <a:p>
            <a:pPr marL="955675" lvl="2" indent="-381000">
              <a:spcBef>
                <a:spcPct val="0"/>
              </a:spcBef>
            </a:pPr>
            <a:r>
              <a:rPr lang="en-AU" sz="2200" dirty="0">
                <a:latin typeface="Calibri" panose="020F0502020204030204" pitchFamily="34" charset="0"/>
              </a:rPr>
              <a:t>Does </a:t>
            </a:r>
            <a:r>
              <a:rPr lang="en-AU" sz="2200" b="1" dirty="0">
                <a:latin typeface="Calibri" panose="020F0502020204030204" pitchFamily="34" charset="0"/>
              </a:rPr>
              <a:t>not</a:t>
            </a:r>
            <a:r>
              <a:rPr lang="en-AU" sz="2200" dirty="0">
                <a:latin typeface="Calibri" panose="020F0502020204030204" pitchFamily="34" charset="0"/>
              </a:rPr>
              <a:t> </a:t>
            </a:r>
            <a:r>
              <a:rPr lang="en-AU" sz="2200" b="1" dirty="0">
                <a:latin typeface="Calibri" panose="020F0502020204030204" pitchFamily="34" charset="0"/>
              </a:rPr>
              <a:t>have</a:t>
            </a:r>
            <a:r>
              <a:rPr lang="en-AU" sz="2200" dirty="0">
                <a:latin typeface="Calibri" panose="020F0502020204030204" pitchFamily="34" charset="0"/>
              </a:rPr>
              <a:t> </a:t>
            </a:r>
            <a:r>
              <a:rPr lang="en-AU" sz="2200" b="1" dirty="0">
                <a:latin typeface="Calibri" panose="020F0502020204030204" pitchFamily="34" charset="0"/>
              </a:rPr>
              <a:t>properties</a:t>
            </a:r>
            <a:r>
              <a:rPr lang="en-AU" sz="2200" dirty="0">
                <a:latin typeface="Calibri" panose="020F0502020204030204" pitchFamily="34" charset="0"/>
              </a:rPr>
              <a:t> of its own</a:t>
            </a:r>
          </a:p>
          <a:p>
            <a:pPr marL="1443038" lvl="3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AU" sz="2200" dirty="0">
                <a:latin typeface="Calibri" panose="020F0502020204030204" pitchFamily="34" charset="0"/>
              </a:rPr>
              <a:t>if it does, then its probably an entity</a:t>
            </a:r>
            <a:endParaRPr lang="en-AU" sz="2200" b="1" dirty="0">
              <a:latin typeface="Calibri" panose="020F0502020204030204" pitchFamily="34" charset="0"/>
            </a:endParaRPr>
          </a:p>
          <a:p>
            <a:pPr marL="955675" lvl="2" indent="-381000">
              <a:spcBef>
                <a:spcPct val="0"/>
              </a:spcBef>
            </a:pPr>
            <a:r>
              <a:rPr lang="en-AU" sz="2200" dirty="0">
                <a:latin typeface="Calibri" panose="020F0502020204030204" pitchFamily="34" charset="0"/>
              </a:rPr>
              <a:t>An attribute is </a:t>
            </a:r>
            <a:r>
              <a:rPr lang="en-AU" sz="2200" b="1" dirty="0">
                <a:latin typeface="Calibri" panose="020F0502020204030204" pitchFamily="34" charset="0"/>
              </a:rPr>
              <a:t>dependent</a:t>
            </a:r>
            <a:r>
              <a:rPr lang="en-AU" sz="2200" dirty="0">
                <a:latin typeface="Calibri" panose="020F0502020204030204" pitchFamily="34" charset="0"/>
              </a:rPr>
              <a:t> on the </a:t>
            </a:r>
            <a:r>
              <a:rPr lang="en-AU" sz="2200" b="1" dirty="0">
                <a:latin typeface="Calibri" panose="020F0502020204030204" pitchFamily="34" charset="0"/>
              </a:rPr>
              <a:t>identifier</a:t>
            </a:r>
            <a:r>
              <a:rPr lang="en-AU" sz="2200" dirty="0">
                <a:latin typeface="Calibri" panose="020F0502020204030204" pitchFamily="34" charset="0"/>
              </a:rPr>
              <a:t> of the entity</a:t>
            </a:r>
          </a:p>
          <a:p>
            <a:pPr marL="1481138" lvl="3" indent="-3810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AU" sz="2200" dirty="0">
                <a:latin typeface="Calibri" panose="020F0502020204030204" pitchFamily="34" charset="0"/>
              </a:rPr>
              <a:t>The value of </a:t>
            </a:r>
            <a:r>
              <a:rPr lang="en-AU" sz="2200" dirty="0" err="1">
                <a:latin typeface="Calibri" panose="020F0502020204030204" pitchFamily="34" charset="0"/>
              </a:rPr>
              <a:t>StuAddress</a:t>
            </a:r>
            <a:r>
              <a:rPr lang="en-AU" sz="2200" dirty="0">
                <a:latin typeface="Calibri" panose="020F0502020204030204" pitchFamily="34" charset="0"/>
              </a:rPr>
              <a:t> is dependant on the value of the identifier </a:t>
            </a:r>
            <a:r>
              <a:rPr lang="en-AU" sz="2200" dirty="0" err="1">
                <a:latin typeface="Calibri" panose="020F0502020204030204" pitchFamily="34" charset="0"/>
              </a:rPr>
              <a:t>StudentId</a:t>
            </a:r>
            <a:endParaRPr lang="en-AU" sz="2200" u="sng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5579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09600" indent="-609600"/>
            <a:r>
              <a:rPr lang="en-AU" sz="3700" dirty="0"/>
              <a:t>Glenferrie Toy Library Narrative</a:t>
            </a:r>
          </a:p>
        </p:txBody>
      </p:sp>
      <p:sp>
        <p:nvSpPr>
          <p:cNvPr id="35847" name="Rectangle 4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AU" sz="2200" b="1" dirty="0">
                <a:latin typeface="Calibri" panose="020F0502020204030204" pitchFamily="34" charset="0"/>
              </a:rPr>
              <a:t>Sample Business Narrative:</a:t>
            </a:r>
          </a:p>
          <a:p>
            <a:pPr>
              <a:spcBef>
                <a:spcPct val="0"/>
              </a:spcBef>
              <a:buSzPct val="85000"/>
            </a:pPr>
            <a:r>
              <a:rPr lang="en-AU" sz="2200" dirty="0">
                <a:latin typeface="Calibri" panose="020F0502020204030204" pitchFamily="34" charset="0"/>
              </a:rPr>
              <a:t>Glenferrie Toy Library has many </a:t>
            </a:r>
            <a:r>
              <a:rPr lang="en-AU" sz="2200" b="1" dirty="0">
                <a:latin typeface="Calibri" panose="020F0502020204030204" pitchFamily="34" charset="0"/>
              </a:rPr>
              <a:t>Patrons</a:t>
            </a:r>
            <a:r>
              <a:rPr lang="en-AU" sz="2200" dirty="0">
                <a:latin typeface="Calibri" panose="020F0502020204030204" pitchFamily="34" charset="0"/>
              </a:rPr>
              <a:t>. A Patrons have a </a:t>
            </a:r>
            <a:r>
              <a:rPr lang="en-AU" sz="2200" b="1" dirty="0">
                <a:latin typeface="Calibri" panose="020F0502020204030204" pitchFamily="34" charset="0"/>
              </a:rPr>
              <a:t>name</a:t>
            </a:r>
            <a:r>
              <a:rPr lang="en-AU" sz="2200" dirty="0">
                <a:latin typeface="Calibri" panose="020F0502020204030204" pitchFamily="34" charset="0"/>
              </a:rPr>
              <a:t> and a </a:t>
            </a:r>
            <a:r>
              <a:rPr lang="en-AU" sz="2200" b="1" dirty="0">
                <a:latin typeface="Calibri" panose="020F0502020204030204" pitchFamily="34" charset="0"/>
              </a:rPr>
              <a:t>gender</a:t>
            </a:r>
            <a:r>
              <a:rPr lang="en-AU" sz="2200" dirty="0">
                <a:latin typeface="Calibri" panose="020F0502020204030204" pitchFamily="34" charset="0"/>
              </a:rPr>
              <a:t>. Each new Patron is assigned a sequential </a:t>
            </a:r>
            <a:r>
              <a:rPr lang="en-AU" sz="2200" b="1" dirty="0">
                <a:latin typeface="Calibri" panose="020F0502020204030204" pitchFamily="34" charset="0"/>
              </a:rPr>
              <a:t>patron number</a:t>
            </a:r>
            <a:r>
              <a:rPr lang="en-AU" sz="2200" dirty="0">
                <a:latin typeface="Calibri" panose="020F0502020204030204" pitchFamily="34" charset="0"/>
              </a:rPr>
              <a:t>. The library has a number of </a:t>
            </a:r>
            <a:r>
              <a:rPr lang="en-AU" sz="2200" b="1" dirty="0">
                <a:latin typeface="Calibri" panose="020F0502020204030204" pitchFamily="34" charset="0"/>
              </a:rPr>
              <a:t>toys</a:t>
            </a:r>
            <a:r>
              <a:rPr lang="en-AU" sz="2200" dirty="0">
                <a:latin typeface="Calibri" panose="020F0502020204030204" pitchFamily="34" charset="0"/>
              </a:rPr>
              <a:t>. </a:t>
            </a:r>
          </a:p>
          <a:p>
            <a:pPr>
              <a:spcBef>
                <a:spcPct val="0"/>
              </a:spcBef>
              <a:buSzPct val="85000"/>
            </a:pPr>
            <a:r>
              <a:rPr lang="en-AU" sz="2200" dirty="0">
                <a:latin typeface="Calibri" panose="020F0502020204030204" pitchFamily="34" charset="0"/>
              </a:rPr>
              <a:t>Every toy in the library has a unique </a:t>
            </a:r>
            <a:r>
              <a:rPr lang="en-AU" sz="2200" b="1" dirty="0">
                <a:latin typeface="Calibri" panose="020F0502020204030204" pitchFamily="34" charset="0"/>
              </a:rPr>
              <a:t>toy number.</a:t>
            </a:r>
            <a:r>
              <a:rPr lang="en-AU" sz="2200" dirty="0">
                <a:latin typeface="Calibri" panose="020F0502020204030204" pitchFamily="34" charset="0"/>
              </a:rPr>
              <a:t> </a:t>
            </a:r>
          </a:p>
          <a:p>
            <a:pPr>
              <a:spcBef>
                <a:spcPct val="0"/>
              </a:spcBef>
              <a:buSzPct val="85000"/>
            </a:pPr>
            <a:r>
              <a:rPr lang="en-AU" sz="2200" dirty="0">
                <a:latin typeface="Calibri" panose="020F0502020204030204" pitchFamily="34" charset="0"/>
              </a:rPr>
              <a:t>Each toy has a </a:t>
            </a:r>
            <a:r>
              <a:rPr lang="en-AU" sz="2200" b="1" dirty="0">
                <a:latin typeface="Calibri" panose="020F0502020204030204" pitchFamily="34" charset="0"/>
              </a:rPr>
              <a:t>description </a:t>
            </a:r>
            <a:r>
              <a:rPr lang="en-AU" sz="2200" dirty="0">
                <a:latin typeface="Calibri" panose="020F0502020204030204" pitchFamily="34" charset="0"/>
              </a:rPr>
              <a:t>and </a:t>
            </a:r>
            <a:r>
              <a:rPr lang="en-AU" sz="2200" b="1" dirty="0">
                <a:latin typeface="Calibri" panose="020F0502020204030204" pitchFamily="34" charset="0"/>
              </a:rPr>
              <a:t>year</a:t>
            </a:r>
            <a:r>
              <a:rPr lang="en-AU" sz="2200" dirty="0">
                <a:latin typeface="Calibri" panose="020F0502020204030204" pitchFamily="34" charset="0"/>
              </a:rPr>
              <a:t> of acquisition. </a:t>
            </a:r>
          </a:p>
          <a:p>
            <a:pPr>
              <a:spcBef>
                <a:spcPct val="0"/>
              </a:spcBef>
              <a:buSzPct val="85000"/>
            </a:pPr>
            <a:r>
              <a:rPr lang="en-AU" sz="2200" dirty="0">
                <a:latin typeface="Calibri" panose="020F0502020204030204" pitchFamily="34" charset="0"/>
              </a:rPr>
              <a:t>Each time a toy is loaned to a patron, the </a:t>
            </a:r>
            <a:r>
              <a:rPr lang="en-AU" sz="2200" b="1" dirty="0">
                <a:latin typeface="Calibri" panose="020F0502020204030204" pitchFamily="34" charset="0"/>
              </a:rPr>
              <a:t>date of the loan</a:t>
            </a:r>
            <a:r>
              <a:rPr lang="en-AU" sz="2200" dirty="0">
                <a:latin typeface="Calibri" panose="020F0502020204030204" pitchFamily="34" charset="0"/>
              </a:rPr>
              <a:t> is recorded. When the toy is returned, the </a:t>
            </a:r>
            <a:r>
              <a:rPr lang="en-AU" sz="2200" b="1" dirty="0">
                <a:latin typeface="Calibri" panose="020F0502020204030204" pitchFamily="34" charset="0"/>
              </a:rPr>
              <a:t>returned date</a:t>
            </a:r>
            <a:r>
              <a:rPr lang="en-AU" sz="2200" dirty="0">
                <a:latin typeface="Calibri" panose="020F0502020204030204" pitchFamily="34" charset="0"/>
              </a:rPr>
              <a:t> is recorded and the no. of </a:t>
            </a:r>
            <a:r>
              <a:rPr lang="en-AU" sz="2200" b="1" dirty="0">
                <a:latin typeface="Calibri" panose="020F0502020204030204" pitchFamily="34" charset="0"/>
              </a:rPr>
              <a:t>days borrowed</a:t>
            </a:r>
            <a:r>
              <a:rPr lang="en-AU" sz="2200" dirty="0">
                <a:latin typeface="Calibri" panose="020F0502020204030204" pitchFamily="34" charset="0"/>
              </a:rPr>
              <a:t> is determined. </a:t>
            </a:r>
          </a:p>
          <a:p>
            <a:pPr>
              <a:spcBef>
                <a:spcPct val="0"/>
              </a:spcBef>
              <a:buSzPct val="85000"/>
            </a:pPr>
            <a:r>
              <a:rPr lang="en-AU" sz="2200" dirty="0">
                <a:latin typeface="Calibri" panose="020F0502020204030204" pitchFamily="34" charset="0"/>
              </a:rPr>
              <a:t>Each loan is for a single toy.</a:t>
            </a:r>
          </a:p>
          <a:p>
            <a:pPr>
              <a:spcBef>
                <a:spcPct val="0"/>
              </a:spcBef>
              <a:buClr>
                <a:schemeClr val="bg1"/>
              </a:buClr>
              <a:buFontTx/>
              <a:buChar char="•"/>
            </a:pPr>
            <a:r>
              <a:rPr lang="en-AU" sz="2200" dirty="0">
                <a:latin typeface="Calibri" panose="020F0502020204030204" pitchFamily="34" charset="0"/>
              </a:rPr>
              <a:t> </a:t>
            </a:r>
            <a:endParaRPr lang="en-AU" sz="2200" b="1" dirty="0"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</a:pPr>
            <a:endParaRPr lang="en-US" sz="2200" b="1" dirty="0"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</a:pPr>
            <a:endParaRPr lang="en-AU" sz="2200" b="1" dirty="0"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</a:pPr>
            <a:endParaRPr lang="en-AU" sz="2200" b="1" dirty="0"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</a:pPr>
            <a:endParaRPr lang="en-AU" sz="2200" b="1" dirty="0">
              <a:latin typeface="Calibri" panose="020F0502020204030204" pitchFamily="34" charset="0"/>
            </a:endParaRPr>
          </a:p>
        </p:txBody>
      </p:sp>
      <p:pic>
        <p:nvPicPr>
          <p:cNvPr id="35844" name="Picture 58" descr="rockinghorse_with_barcod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975" y="4525964"/>
            <a:ext cx="2808288" cy="233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5" name="Rectangle 2"/>
          <p:cNvSpPr>
            <a:spLocks noChangeArrowheads="1"/>
          </p:cNvSpPr>
          <p:nvPr/>
        </p:nvSpPr>
        <p:spPr bwMode="auto">
          <a:xfrm>
            <a:off x="1524000" y="5954714"/>
            <a:ext cx="1709738" cy="9032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945207" name="Text Box 55"/>
          <p:cNvSpPr txBox="1">
            <a:spLocks noChangeArrowheads="1"/>
          </p:cNvSpPr>
          <p:nvPr/>
        </p:nvSpPr>
        <p:spPr bwMode="auto">
          <a:xfrm>
            <a:off x="7535864" y="4365625"/>
            <a:ext cx="2879725" cy="2077492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12549"/>
                  <a:invGamma/>
                </a:schemeClr>
              </a:gs>
            </a:gsLst>
            <a:lin ang="5400000" scaled="1"/>
          </a:gradFill>
          <a:ln w="9525" algn="ctr">
            <a:solidFill>
              <a:schemeClr val="tx1"/>
            </a:solidFill>
            <a:miter lim="800000"/>
            <a:headEnd type="none" w="sm" len="sm"/>
            <a:tailEnd/>
          </a:ln>
          <a:effectLst/>
        </p:spPr>
        <p:txBody>
          <a:bodyPr lIns="0" tIns="0" rIns="0" bIns="0">
            <a:spAutoFit/>
          </a:bodyPr>
          <a:lstStyle/>
          <a:p>
            <a:pPr marL="457200" indent="-457200" defTabSz="457200">
              <a:defRPr/>
            </a:pPr>
            <a:r>
              <a:rPr lang="en-AU" sz="900">
                <a:solidFill>
                  <a:srgbClr val="D1161E"/>
                </a:solidFill>
                <a:latin typeface="Calibri"/>
              </a:rPr>
              <a:t> </a:t>
            </a:r>
          </a:p>
          <a:p>
            <a:pPr marL="457200" indent="-457200" algn="ctr" defTabSz="457200">
              <a:defRPr/>
            </a:pPr>
            <a:r>
              <a:rPr lang="en-AU">
                <a:solidFill>
                  <a:srgbClr val="D1161E"/>
                </a:solidFill>
                <a:latin typeface="Calibri"/>
              </a:rPr>
              <a:t>Glenferrie Toy Library</a:t>
            </a:r>
          </a:p>
          <a:p>
            <a:pPr marL="457200" indent="-457200" algn="ctr" defTabSz="457200">
              <a:defRPr/>
            </a:pPr>
            <a:r>
              <a:rPr lang="en-AU">
                <a:solidFill>
                  <a:srgbClr val="D1161E"/>
                </a:solidFill>
                <a:latin typeface="Calibri"/>
              </a:rPr>
              <a:t>Patron ID Card</a:t>
            </a:r>
          </a:p>
          <a:p>
            <a:pPr marL="457200" indent="-457200" algn="ctr" defTabSz="457200">
              <a:defRPr/>
            </a:pPr>
            <a:endParaRPr lang="en-AU">
              <a:solidFill>
                <a:srgbClr val="D1161E"/>
              </a:solidFill>
              <a:latin typeface="Calibri"/>
            </a:endParaRPr>
          </a:p>
          <a:p>
            <a:pPr marL="457200" indent="-457200" algn="ctr" defTabSz="457200">
              <a:defRPr/>
            </a:pPr>
            <a:r>
              <a:rPr lang="en-AU">
                <a:solidFill>
                  <a:srgbClr val="D1161E"/>
                </a:solidFill>
                <a:latin typeface="Calibri"/>
              </a:rPr>
              <a:t> Patron No: 12345678</a:t>
            </a:r>
          </a:p>
          <a:p>
            <a:pPr marL="457200" indent="-457200" defTabSz="457200">
              <a:defRPr/>
            </a:pPr>
            <a:endParaRPr lang="en-AU">
              <a:solidFill>
                <a:srgbClr val="D1161E"/>
              </a:solidFill>
              <a:latin typeface="Calibri"/>
            </a:endParaRPr>
          </a:p>
          <a:p>
            <a:pPr marL="457200" indent="-457200" defTabSz="457200">
              <a:defRPr/>
            </a:pPr>
            <a:endParaRPr lang="en-AU">
              <a:solidFill>
                <a:srgbClr val="D1161E"/>
              </a:solidFill>
              <a:latin typeface="Calibri"/>
            </a:endParaRPr>
          </a:p>
          <a:p>
            <a:pPr marL="457200" indent="-457200" defTabSz="457200">
              <a:defRPr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pic>
        <p:nvPicPr>
          <p:cNvPr id="35849" name="Picture 54" descr="barcode_1234567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88"/>
          <a:stretch>
            <a:fillRect/>
          </a:stretch>
        </p:blipFill>
        <p:spPr bwMode="auto">
          <a:xfrm>
            <a:off x="8445500" y="6053932"/>
            <a:ext cx="125095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59" descr="bab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95" t="20529" r="20776" b="13658"/>
          <a:stretch>
            <a:fillRect/>
          </a:stretch>
        </p:blipFill>
        <p:spPr bwMode="auto">
          <a:xfrm>
            <a:off x="1851884" y="4525964"/>
            <a:ext cx="1519238" cy="230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50" name="Picture 61" descr="barcode_1234567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88"/>
          <a:stretch>
            <a:fillRect/>
          </a:stretch>
        </p:blipFill>
        <p:spPr bwMode="auto">
          <a:xfrm>
            <a:off x="2499584" y="5894388"/>
            <a:ext cx="503238" cy="141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75768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sz="3200" dirty="0"/>
              <a:t>Identify Entities and Attributes</a:t>
            </a:r>
          </a:p>
        </p:txBody>
      </p:sp>
      <p:sp>
        <p:nvSpPr>
          <p:cNvPr id="36869" name="Rectangle 4"/>
          <p:cNvSpPr>
            <a:spLocks noGrp="1" noChangeArrowheads="1"/>
          </p:cNvSpPr>
          <p:nvPr>
            <p:ph idx="1"/>
          </p:nvPr>
        </p:nvSpPr>
        <p:spPr>
          <a:xfrm>
            <a:off x="1981200" y="762001"/>
            <a:ext cx="8010626" cy="4243137"/>
          </a:xfrm>
          <a:noFill/>
        </p:spPr>
        <p:txBody>
          <a:bodyPr/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bg1"/>
              </a:buClr>
              <a:buFontTx/>
              <a:buChar char="•"/>
            </a:pPr>
            <a:r>
              <a:rPr lang="en-AU" sz="2300" dirty="0"/>
              <a:t>Identify key elements such as Entities &amp; Attributes</a:t>
            </a:r>
          </a:p>
        </p:txBody>
      </p:sp>
      <p:sp>
        <p:nvSpPr>
          <p:cNvPr id="36867" name="Rectangle 2"/>
          <p:cNvSpPr>
            <a:spLocks noChangeArrowheads="1"/>
          </p:cNvSpPr>
          <p:nvPr/>
        </p:nvSpPr>
        <p:spPr bwMode="auto">
          <a:xfrm>
            <a:off x="1524000" y="5954714"/>
            <a:ext cx="1709738" cy="9032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graphicFrame>
        <p:nvGraphicFramePr>
          <p:cNvPr id="944266" name="Group 138"/>
          <p:cNvGraphicFramePr>
            <a:graphicFrameLocks noGrp="1"/>
          </p:cNvGraphicFramePr>
          <p:nvPr/>
        </p:nvGraphicFramePr>
        <p:xfrm>
          <a:off x="2063751" y="1484313"/>
          <a:ext cx="8137525" cy="5120556"/>
        </p:xfrm>
        <a:graphic>
          <a:graphicData uri="http://schemas.openxmlformats.org/drawingml/2006/table">
            <a:tbl>
              <a:tblPr/>
              <a:tblGrid>
                <a:gridCol w="180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36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Element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Circle best alternative</a:t>
                      </a: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Glenf</a:t>
                      </a: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. Toy Library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StrongEntity / WeakEntity / Attribute / Calculated / Ignore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Patron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StrongEntity / WeakEntity / Attribute / Calculated / Ignore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PatronNo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StrongEntity / WeakEntity / Attribute / Calculated / Ignore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Firstname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StrongEntity</a:t>
                      </a: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 / </a:t>
                      </a:r>
                      <a:r>
                        <a:rPr kumimoji="0" lang="en-AU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WeakEntity</a:t>
                      </a: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 / Attribute / Calculated / Ignore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Surname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AU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StrongEntity</a:t>
                      </a: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 / </a:t>
                      </a:r>
                      <a:r>
                        <a:rPr kumimoji="0" lang="en-AU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WeakEntity</a:t>
                      </a: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 / Attribute / Calculated / Ignore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Patron Gender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StrongEntity</a:t>
                      </a: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 / </a:t>
                      </a:r>
                      <a:r>
                        <a:rPr kumimoji="0" lang="en-AU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WeakEntity</a:t>
                      </a: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 / Attribute / Calculated / Ignore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Toy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StrongEntity / WeakEntity / Attribute / Calculated / Ignore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ToyNo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StrongEntity / WeakEntity / Attribute / Calculated / Ignore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Description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StrongEntity / WeakEntity / Attribute / Calculated / Ignore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YearAquired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StrongEntity / WeakEntity / Attribute / Calculated / Ignore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DateBorrowed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StrongEntity / WeakEntity / Attribute / Calculated / Ignore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DateReturned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StrongEntity / WeakEntity / Attribute / Calculated / Ignore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5736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DaysBorrowed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StrongEntity</a:t>
                      </a: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 / </a:t>
                      </a:r>
                      <a:r>
                        <a:rPr kumimoji="0" lang="en-AU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WeakEntity</a:t>
                      </a:r>
                      <a:r>
                        <a:rPr kumimoji="0" lang="en-A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 / Attribute / Calculated / Ignore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87725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sz="3200" dirty="0"/>
              <a:t>Step 1 – Identify Strong Entities &amp; Attributes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087655"/>
            <a:ext cx="8353425" cy="3917482"/>
          </a:xfrm>
          <a:noFill/>
        </p:spPr>
        <p:txBody>
          <a:bodyPr/>
          <a:lstStyle/>
          <a:p>
            <a:pPr marL="0" indent="0">
              <a:buNone/>
            </a:pPr>
            <a:r>
              <a:rPr lang="en-AU" sz="2200" b="1" dirty="0"/>
              <a:t> </a:t>
            </a:r>
            <a:r>
              <a:rPr lang="en-AU" sz="2200" dirty="0"/>
              <a:t>From the business narrative, identify </a:t>
            </a:r>
            <a:r>
              <a:rPr lang="en-AU" sz="2200" b="1" dirty="0"/>
              <a:t>Attributes</a:t>
            </a:r>
            <a:r>
              <a:rPr lang="en-AU" sz="2200" dirty="0"/>
              <a:t> and </a:t>
            </a:r>
            <a:r>
              <a:rPr lang="en-AU" sz="2200" b="1" dirty="0"/>
              <a:t>Strong</a:t>
            </a:r>
            <a:r>
              <a:rPr lang="en-AU" sz="2200" dirty="0"/>
              <a:t> Entities</a:t>
            </a:r>
          </a:p>
          <a:p>
            <a:endParaRPr lang="en-AU" b="1" dirty="0"/>
          </a:p>
          <a:p>
            <a:endParaRPr lang="en-US" sz="2000" b="1" dirty="0"/>
          </a:p>
          <a:p>
            <a:endParaRPr lang="en-AU" sz="2000" b="1" dirty="0"/>
          </a:p>
          <a:p>
            <a:endParaRPr lang="en-AU" sz="2000" b="1" dirty="0"/>
          </a:p>
          <a:p>
            <a:endParaRPr lang="en-AU" sz="2000" b="1" dirty="0"/>
          </a:p>
        </p:txBody>
      </p:sp>
      <p:sp>
        <p:nvSpPr>
          <p:cNvPr id="37893" name="Text Box 4"/>
          <p:cNvSpPr txBox="1">
            <a:spLocks noChangeArrowheads="1"/>
          </p:cNvSpPr>
          <p:nvPr/>
        </p:nvSpPr>
        <p:spPr bwMode="auto">
          <a:xfrm>
            <a:off x="2566988" y="1773239"/>
            <a:ext cx="12366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defTabSz="457200"/>
            <a:r>
              <a:rPr lang="en-AU" b="0" i="0">
                <a:solidFill>
                  <a:srgbClr val="D1161E"/>
                </a:solidFill>
              </a:rPr>
              <a:t>PATRON</a:t>
            </a:r>
            <a:endParaRPr lang="en-US" b="0" i="0">
              <a:solidFill>
                <a:srgbClr val="D1161E"/>
              </a:solidFill>
            </a:endParaRPr>
          </a:p>
        </p:txBody>
      </p:sp>
      <p:sp>
        <p:nvSpPr>
          <p:cNvPr id="37894" name="Text Box 5"/>
          <p:cNvSpPr txBox="1">
            <a:spLocks noChangeArrowheads="1"/>
          </p:cNvSpPr>
          <p:nvPr/>
        </p:nvSpPr>
        <p:spPr bwMode="auto">
          <a:xfrm>
            <a:off x="5346701" y="2852739"/>
            <a:ext cx="1406525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 defTabSz="457200"/>
            <a:r>
              <a:rPr lang="en-AU" b="0" i="0">
                <a:solidFill>
                  <a:srgbClr val="D1161E"/>
                </a:solidFill>
              </a:rPr>
              <a:t>     TOY     </a:t>
            </a:r>
            <a:endParaRPr lang="en-US" b="0" i="0">
              <a:solidFill>
                <a:srgbClr val="D1161E"/>
              </a:solidFill>
            </a:endParaRPr>
          </a:p>
        </p:txBody>
      </p:sp>
      <p:sp>
        <p:nvSpPr>
          <p:cNvPr id="37895" name="Text Box 6"/>
          <p:cNvSpPr txBox="1">
            <a:spLocks noChangeArrowheads="1"/>
          </p:cNvSpPr>
          <p:nvPr/>
        </p:nvSpPr>
        <p:spPr bwMode="auto">
          <a:xfrm>
            <a:off x="2424114" y="3070225"/>
            <a:ext cx="14557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defTabSz="457200"/>
            <a:r>
              <a:rPr lang="en-US" b="0" i="0">
                <a:solidFill>
                  <a:srgbClr val="D1161E"/>
                </a:solidFill>
                <a:latin typeface="Courier New" pitchFamily="49" charset="0"/>
                <a:cs typeface="Courier New" pitchFamily="49" charset="0"/>
              </a:rPr>
              <a:t>O </a:t>
            </a:r>
            <a:r>
              <a:rPr lang="en-AU" b="0" i="0">
                <a:solidFill>
                  <a:srgbClr val="D1161E"/>
                </a:solidFill>
              </a:rPr>
              <a:t>Gender </a:t>
            </a:r>
            <a:endParaRPr lang="en-US" b="0" i="0">
              <a:solidFill>
                <a:srgbClr val="D1161E"/>
              </a:solidFill>
            </a:endParaRPr>
          </a:p>
        </p:txBody>
      </p:sp>
      <p:sp>
        <p:nvSpPr>
          <p:cNvPr id="37896" name="Text Box 7"/>
          <p:cNvSpPr txBox="1">
            <a:spLocks noChangeArrowheads="1"/>
          </p:cNvSpPr>
          <p:nvPr/>
        </p:nvSpPr>
        <p:spPr bwMode="auto">
          <a:xfrm>
            <a:off x="2640014" y="3862389"/>
            <a:ext cx="181972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defTabSz="457200"/>
            <a:r>
              <a:rPr lang="en-US" b="0" i="0" dirty="0">
                <a:solidFill>
                  <a:srgbClr val="D1161E"/>
                </a:solidFill>
                <a:latin typeface="Courier New" pitchFamily="49" charset="0"/>
                <a:cs typeface="Courier New" pitchFamily="49" charset="0"/>
              </a:rPr>
              <a:t>O </a:t>
            </a:r>
            <a:r>
              <a:rPr lang="en-AU" b="0" i="0" dirty="0">
                <a:solidFill>
                  <a:srgbClr val="D1161E"/>
                </a:solidFill>
              </a:rPr>
              <a:t>Description</a:t>
            </a:r>
            <a:endParaRPr lang="en-US" b="0" i="0" dirty="0">
              <a:solidFill>
                <a:srgbClr val="D1161E"/>
              </a:solidFill>
            </a:endParaRPr>
          </a:p>
        </p:txBody>
      </p:sp>
      <p:sp>
        <p:nvSpPr>
          <p:cNvPr id="37897" name="Text Box 8"/>
          <p:cNvSpPr txBox="1">
            <a:spLocks noChangeArrowheads="1"/>
          </p:cNvSpPr>
          <p:nvPr/>
        </p:nvSpPr>
        <p:spPr bwMode="auto">
          <a:xfrm>
            <a:off x="5232400" y="1844675"/>
            <a:ext cx="1608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defTabSz="457200"/>
            <a:r>
              <a:rPr lang="en-US" b="0" i="0">
                <a:solidFill>
                  <a:srgbClr val="D1161E"/>
                </a:solidFill>
                <a:latin typeface="Courier New" pitchFamily="49" charset="0"/>
                <a:cs typeface="Courier New" pitchFamily="49" charset="0"/>
              </a:rPr>
              <a:t>O </a:t>
            </a:r>
            <a:r>
              <a:rPr lang="en-AU" b="0" i="0">
                <a:solidFill>
                  <a:srgbClr val="D1161E"/>
                </a:solidFill>
              </a:rPr>
              <a:t>PatronNo</a:t>
            </a:r>
            <a:endParaRPr lang="en-US" b="0" i="0">
              <a:solidFill>
                <a:srgbClr val="D1161E"/>
              </a:solidFill>
            </a:endParaRPr>
          </a:p>
        </p:txBody>
      </p:sp>
      <p:sp>
        <p:nvSpPr>
          <p:cNvPr id="37898" name="Text Box 9"/>
          <p:cNvSpPr txBox="1">
            <a:spLocks noChangeArrowheads="1"/>
          </p:cNvSpPr>
          <p:nvPr/>
        </p:nvSpPr>
        <p:spPr bwMode="auto">
          <a:xfrm>
            <a:off x="5448301" y="3790950"/>
            <a:ext cx="1941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defTabSz="457200"/>
            <a:r>
              <a:rPr lang="en-US" b="0" i="0">
                <a:solidFill>
                  <a:srgbClr val="D1161E"/>
                </a:solidFill>
                <a:latin typeface="Courier New" pitchFamily="49" charset="0"/>
                <a:cs typeface="Courier New" pitchFamily="49" charset="0"/>
              </a:rPr>
              <a:t>O </a:t>
            </a:r>
            <a:r>
              <a:rPr lang="en-AU" b="0" i="0">
                <a:solidFill>
                  <a:srgbClr val="D1161E"/>
                </a:solidFill>
              </a:rPr>
              <a:t>YearAquired</a:t>
            </a:r>
            <a:endParaRPr lang="en-US" b="0" i="0">
              <a:solidFill>
                <a:srgbClr val="D1161E"/>
              </a:solidFill>
            </a:endParaRPr>
          </a:p>
        </p:txBody>
      </p:sp>
      <p:sp>
        <p:nvSpPr>
          <p:cNvPr id="37899" name="Text Box 10"/>
          <p:cNvSpPr txBox="1">
            <a:spLocks noChangeArrowheads="1"/>
          </p:cNvSpPr>
          <p:nvPr/>
        </p:nvSpPr>
        <p:spPr bwMode="auto">
          <a:xfrm>
            <a:off x="7824788" y="2925763"/>
            <a:ext cx="12874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defTabSz="457200"/>
            <a:r>
              <a:rPr lang="en-US" b="0" i="0">
                <a:solidFill>
                  <a:srgbClr val="D1161E"/>
                </a:solidFill>
                <a:latin typeface="Courier New" pitchFamily="49" charset="0"/>
                <a:cs typeface="Courier New" pitchFamily="49" charset="0"/>
              </a:rPr>
              <a:t>O </a:t>
            </a:r>
            <a:r>
              <a:rPr lang="en-AU" b="0" i="0">
                <a:solidFill>
                  <a:srgbClr val="D1161E"/>
                </a:solidFill>
              </a:rPr>
              <a:t>ToyNo</a:t>
            </a:r>
            <a:endParaRPr lang="en-US" b="0" i="0">
              <a:solidFill>
                <a:srgbClr val="D1161E"/>
              </a:solidFill>
            </a:endParaRPr>
          </a:p>
        </p:txBody>
      </p:sp>
      <p:sp>
        <p:nvSpPr>
          <p:cNvPr id="37900" name="Text Box 11"/>
          <p:cNvSpPr txBox="1">
            <a:spLocks noChangeArrowheads="1"/>
          </p:cNvSpPr>
          <p:nvPr/>
        </p:nvSpPr>
        <p:spPr bwMode="auto">
          <a:xfrm>
            <a:off x="8183563" y="3860800"/>
            <a:ext cx="2151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defTabSz="457200"/>
            <a:r>
              <a:rPr lang="en-US" b="0" i="0">
                <a:solidFill>
                  <a:srgbClr val="D1161E"/>
                </a:solidFill>
                <a:latin typeface="Courier New" pitchFamily="49" charset="0"/>
                <a:cs typeface="Courier New" pitchFamily="49" charset="0"/>
              </a:rPr>
              <a:t>O </a:t>
            </a:r>
            <a:r>
              <a:rPr lang="en-AU" b="0" i="0">
                <a:solidFill>
                  <a:srgbClr val="D1161E"/>
                </a:solidFill>
              </a:rPr>
              <a:t>DateBorrowed</a:t>
            </a:r>
            <a:endParaRPr lang="en-US" b="0" i="0">
              <a:solidFill>
                <a:srgbClr val="D1161E"/>
              </a:solidFill>
            </a:endParaRPr>
          </a:p>
        </p:txBody>
      </p:sp>
      <p:sp>
        <p:nvSpPr>
          <p:cNvPr id="37901" name="Text Box 12"/>
          <p:cNvSpPr txBox="1">
            <a:spLocks noChangeArrowheads="1"/>
          </p:cNvSpPr>
          <p:nvPr/>
        </p:nvSpPr>
        <p:spPr bwMode="auto">
          <a:xfrm>
            <a:off x="8183563" y="1773239"/>
            <a:ext cx="16770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defTabSz="457200"/>
            <a:r>
              <a:rPr lang="en-US" b="0" i="0" dirty="0">
                <a:solidFill>
                  <a:srgbClr val="D1161E"/>
                </a:solidFill>
                <a:latin typeface="Courier New" pitchFamily="49" charset="0"/>
                <a:cs typeface="Courier New" pitchFamily="49" charset="0"/>
              </a:rPr>
              <a:t>O </a:t>
            </a:r>
            <a:r>
              <a:rPr lang="en-AU" b="0" i="0" dirty="0" err="1">
                <a:solidFill>
                  <a:srgbClr val="D1161E"/>
                </a:solidFill>
              </a:rPr>
              <a:t>Firstname</a:t>
            </a:r>
            <a:endParaRPr lang="en-US" b="0" i="0" dirty="0">
              <a:solidFill>
                <a:srgbClr val="D1161E"/>
              </a:solidFill>
            </a:endParaRPr>
          </a:p>
        </p:txBody>
      </p:sp>
      <p:sp>
        <p:nvSpPr>
          <p:cNvPr id="37902" name="Text Box 13"/>
          <p:cNvSpPr txBox="1">
            <a:spLocks noChangeArrowheads="1"/>
          </p:cNvSpPr>
          <p:nvPr/>
        </p:nvSpPr>
        <p:spPr bwMode="auto">
          <a:xfrm>
            <a:off x="2782889" y="4652963"/>
            <a:ext cx="2111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defTabSz="457200"/>
            <a:r>
              <a:rPr lang="en-US" b="0" i="0">
                <a:solidFill>
                  <a:srgbClr val="D1161E"/>
                </a:solidFill>
                <a:latin typeface="Courier New" pitchFamily="49" charset="0"/>
                <a:cs typeface="Courier New" pitchFamily="49" charset="0"/>
              </a:rPr>
              <a:t>O </a:t>
            </a:r>
            <a:r>
              <a:rPr lang="en-AU" b="0" i="0">
                <a:solidFill>
                  <a:srgbClr val="D1161E"/>
                </a:solidFill>
              </a:rPr>
              <a:t>DateReturned</a:t>
            </a:r>
            <a:endParaRPr lang="en-US" b="0" i="0">
              <a:solidFill>
                <a:srgbClr val="D1161E"/>
              </a:solidFill>
            </a:endParaRP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6419056" y="4651190"/>
            <a:ext cx="15792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defTabSz="457200"/>
            <a:r>
              <a:rPr lang="en-US" b="0" i="0" dirty="0">
                <a:solidFill>
                  <a:srgbClr val="D1161E"/>
                </a:solidFill>
                <a:latin typeface="Courier New" pitchFamily="49" charset="0"/>
                <a:cs typeface="Courier New" pitchFamily="49" charset="0"/>
              </a:rPr>
              <a:t>O </a:t>
            </a:r>
            <a:r>
              <a:rPr lang="en-AU" b="0" i="0" dirty="0">
                <a:solidFill>
                  <a:srgbClr val="D1161E"/>
                </a:solidFill>
              </a:rPr>
              <a:t>Surname</a:t>
            </a:r>
            <a:endParaRPr lang="en-US" b="0" i="0" dirty="0">
              <a:solidFill>
                <a:srgbClr val="D1161E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317534" y="5721435"/>
            <a:ext cx="6941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AU" dirty="0">
                <a:solidFill>
                  <a:srgbClr val="000000"/>
                </a:solidFill>
                <a:latin typeface="Calibri"/>
              </a:rPr>
              <a:t>This may seem like an un-necessary step, but it can be useful when dealing with an industry where many terms are foreign &amp; unfamiliar</a:t>
            </a:r>
          </a:p>
        </p:txBody>
      </p:sp>
    </p:spTree>
    <p:extLst>
      <p:ext uri="{BB962C8B-B14F-4D97-AF65-F5344CB8AC3E}">
        <p14:creationId xmlns:p14="http://schemas.microsoft.com/office/powerpoint/2010/main" val="40548722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Step 2 – Attach attributes to entities</a:t>
            </a:r>
          </a:p>
        </p:txBody>
      </p:sp>
      <p:sp>
        <p:nvSpPr>
          <p:cNvPr id="2053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n-AU" sz="2200" b="1" dirty="0">
                <a:latin typeface="Calibri" panose="020F0502020204030204" pitchFamily="34" charset="0"/>
              </a:rPr>
              <a:t> </a:t>
            </a:r>
            <a:r>
              <a:rPr lang="en-AU" sz="2200" dirty="0">
                <a:latin typeface="Calibri" panose="020F0502020204030204" pitchFamily="34" charset="0"/>
              </a:rPr>
              <a:t>Attach attributes to </a:t>
            </a:r>
            <a:r>
              <a:rPr lang="en-AU" sz="2200" b="1" dirty="0">
                <a:latin typeface="Calibri" panose="020F0502020204030204" pitchFamily="34" charset="0"/>
              </a:rPr>
              <a:t>Strong</a:t>
            </a:r>
            <a:r>
              <a:rPr lang="en-AU" sz="2200" dirty="0">
                <a:latin typeface="Calibri" panose="020F0502020204030204" pitchFamily="34" charset="0"/>
              </a:rPr>
              <a:t> entities and </a:t>
            </a:r>
            <a:r>
              <a:rPr lang="en-AU" sz="2200" b="1" dirty="0">
                <a:latin typeface="Calibri" panose="020F0502020204030204" pitchFamily="34" charset="0"/>
              </a:rPr>
              <a:t>underline</a:t>
            </a:r>
            <a:r>
              <a:rPr lang="en-AU" sz="2200" dirty="0">
                <a:latin typeface="Calibri" panose="020F0502020204030204" pitchFamily="34" charset="0"/>
              </a:rPr>
              <a:t> </a:t>
            </a:r>
            <a:r>
              <a:rPr lang="en-AU" sz="2200" b="1" dirty="0">
                <a:latin typeface="Calibri" panose="020F0502020204030204" pitchFamily="34" charset="0"/>
              </a:rPr>
              <a:t>identifiers</a:t>
            </a:r>
          </a:p>
          <a:p>
            <a:pPr>
              <a:spcBef>
                <a:spcPct val="0"/>
              </a:spcBef>
            </a:pPr>
            <a:endParaRPr lang="en-AU" sz="2200" b="1" dirty="0"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</a:pPr>
            <a:endParaRPr lang="en-US" sz="2200" b="1" dirty="0"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</a:pPr>
            <a:endParaRPr lang="en-AU" sz="2200" b="1" dirty="0"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</a:pPr>
            <a:endParaRPr lang="en-AU" sz="2200" b="1" dirty="0"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</a:pPr>
            <a:endParaRPr lang="en-AU" sz="2200" b="1" dirty="0">
              <a:latin typeface="Calibri" panose="020F0502020204030204" pitchFamily="34" charset="0"/>
            </a:endParaRPr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/>
        </p:nvGraphicFramePr>
        <p:xfrm>
          <a:off x="2351089" y="1700214"/>
          <a:ext cx="7705725" cy="296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747381" imgH="1968570" progId="Visio.Drawing.11">
                  <p:embed/>
                </p:oleObj>
              </mc:Choice>
              <mc:Fallback>
                <p:oleObj name="Visio" r:id="rId2" imgW="6747381" imgH="1968570" progId="Visio.Drawing.11">
                  <p:embed/>
                  <p:pic>
                    <p:nvPicPr>
                      <p:cNvPr id="205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 r="24255"/>
                      <a:stretch>
                        <a:fillRect/>
                      </a:stretch>
                    </p:blipFill>
                    <p:spPr bwMode="auto">
                      <a:xfrm>
                        <a:off x="2351089" y="1700214"/>
                        <a:ext cx="7705725" cy="296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959771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5"/>
          <p:cNvSpPr>
            <a:spLocks noChangeArrowheads="1"/>
          </p:cNvSpPr>
          <p:nvPr/>
        </p:nvSpPr>
        <p:spPr bwMode="auto">
          <a:xfrm>
            <a:off x="1524000" y="5954714"/>
            <a:ext cx="1709738" cy="9032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The DateBorrowed Attribute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r>
              <a:rPr lang="en-AU" sz="2200" dirty="0"/>
              <a:t>To which entity (if any), should the </a:t>
            </a:r>
            <a:r>
              <a:rPr lang="en-AU" sz="2200" dirty="0" err="1"/>
              <a:t>DateBorrowed</a:t>
            </a:r>
            <a:r>
              <a:rPr lang="en-AU" sz="2200" dirty="0"/>
              <a:t> attribute be attached?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>
              <a:solidFill>
                <a:schemeClr val="accent2"/>
              </a:solidFill>
            </a:endParaRPr>
          </a:p>
          <a:p>
            <a:endParaRPr lang="en-AU" dirty="0">
              <a:solidFill>
                <a:schemeClr val="accent2"/>
              </a:solidFill>
            </a:endParaRPr>
          </a:p>
          <a:p>
            <a:endParaRPr lang="en-AU" dirty="0">
              <a:solidFill>
                <a:schemeClr val="accent2"/>
              </a:solidFill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2522539" y="2814639"/>
          <a:ext cx="7705725" cy="296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747381" imgH="1968570" progId="Visio.Drawing.11">
                  <p:embed/>
                </p:oleObj>
              </mc:Choice>
              <mc:Fallback>
                <p:oleObj name="Visio" r:id="rId2" imgW="6747381" imgH="1968570" progId="Visio.Drawing.11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24255"/>
                      <a:stretch>
                        <a:fillRect/>
                      </a:stretch>
                    </p:blipFill>
                    <p:spPr bwMode="auto">
                      <a:xfrm>
                        <a:off x="2522539" y="2814639"/>
                        <a:ext cx="7705725" cy="296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929717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Consider an instance of a Patron</a:t>
            </a:r>
          </a:p>
        </p:txBody>
      </p:sp>
      <p:sp>
        <p:nvSpPr>
          <p:cNvPr id="3077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>
              <a:spcBef>
                <a:spcPct val="0"/>
              </a:spcBef>
            </a:pPr>
            <a:r>
              <a:rPr lang="en-AU" sz="2200" dirty="0">
                <a:latin typeface="Calibri" panose="020F0502020204030204" pitchFamily="34" charset="0"/>
              </a:rPr>
              <a:t>What does this diagram mean?</a:t>
            </a:r>
          </a:p>
          <a:p>
            <a:pPr>
              <a:spcBef>
                <a:spcPct val="0"/>
              </a:spcBef>
            </a:pPr>
            <a:endParaRPr lang="en-AU" sz="2200" dirty="0"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</a:pPr>
            <a:endParaRPr lang="en-AU" sz="2200" dirty="0"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</a:pPr>
            <a:endParaRPr lang="en-AU" sz="2200" dirty="0"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</a:pPr>
            <a:endParaRPr lang="en-AU" sz="2200" dirty="0">
              <a:latin typeface="Calibri" panose="020F0502020204030204" pitchFamily="34" charset="0"/>
            </a:endParaRPr>
          </a:p>
          <a:p>
            <a:pPr marL="617538" lvl="1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AU" sz="2200" dirty="0" err="1">
                <a:latin typeface="Calibri" panose="020F0502020204030204" pitchFamily="34" charset="0"/>
              </a:rPr>
              <a:t>PatronNo</a:t>
            </a:r>
            <a:r>
              <a:rPr lang="en-AU" sz="2200" dirty="0">
                <a:latin typeface="Calibri" panose="020F0502020204030204" pitchFamily="34" charset="0"/>
              </a:rPr>
              <a:t> is the </a:t>
            </a:r>
            <a:r>
              <a:rPr lang="en-AU" sz="2200" b="1" dirty="0">
                <a:latin typeface="Calibri" panose="020F0502020204030204" pitchFamily="34" charset="0"/>
              </a:rPr>
              <a:t>identifier</a:t>
            </a:r>
            <a:r>
              <a:rPr lang="en-AU" sz="2200" dirty="0">
                <a:latin typeface="Calibri" panose="020F0502020204030204" pitchFamily="34" charset="0"/>
              </a:rPr>
              <a:t>.</a:t>
            </a:r>
          </a:p>
          <a:p>
            <a:pPr marL="627063" lvl="2" indent="0">
              <a:spcBef>
                <a:spcPct val="0"/>
              </a:spcBef>
              <a:buNone/>
            </a:pPr>
            <a:r>
              <a:rPr lang="en-AU" sz="2200" dirty="0">
                <a:latin typeface="Calibri" panose="020F0502020204030204" pitchFamily="34" charset="0"/>
              </a:rPr>
              <a:t>E.g.  53</a:t>
            </a:r>
          </a:p>
          <a:p>
            <a:pPr marL="474663" lvl="1" indent="-200025">
              <a:spcBef>
                <a:spcPct val="0"/>
              </a:spcBef>
            </a:pPr>
            <a:endParaRPr lang="en-AU" sz="2200" dirty="0">
              <a:latin typeface="Calibri" panose="020F0502020204030204" pitchFamily="34" charset="0"/>
            </a:endParaRPr>
          </a:p>
          <a:p>
            <a:pPr marL="617538" lvl="1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AU" sz="2200" dirty="0">
                <a:latin typeface="Calibri" panose="020F0502020204030204" pitchFamily="34" charset="0"/>
              </a:rPr>
              <a:t>How many </a:t>
            </a:r>
            <a:r>
              <a:rPr lang="en-AU" sz="2200" b="1" dirty="0">
                <a:latin typeface="Calibri" panose="020F0502020204030204" pitchFamily="34" charset="0"/>
              </a:rPr>
              <a:t>surnames</a:t>
            </a:r>
            <a:r>
              <a:rPr lang="en-AU" sz="2200" dirty="0">
                <a:latin typeface="Calibri" panose="020F0502020204030204" pitchFamily="34" charset="0"/>
              </a:rPr>
              <a:t> does this patron 53 have?</a:t>
            </a:r>
          </a:p>
          <a:p>
            <a:pPr marL="627063" lvl="2" indent="0">
              <a:spcBef>
                <a:spcPct val="0"/>
              </a:spcBef>
              <a:buNone/>
            </a:pPr>
            <a:r>
              <a:rPr lang="en-AU" sz="2200" dirty="0">
                <a:latin typeface="Calibri" panose="020F0502020204030204" pitchFamily="34" charset="0"/>
              </a:rPr>
              <a:t>ONE     E.g. Sofia </a:t>
            </a:r>
            <a:r>
              <a:rPr lang="en-AU" sz="2200" dirty="0" err="1">
                <a:latin typeface="Calibri" panose="020F0502020204030204" pitchFamily="34" charset="0"/>
              </a:rPr>
              <a:t>Vegara</a:t>
            </a:r>
            <a:endParaRPr lang="en-AU" sz="2200" dirty="0">
              <a:latin typeface="Calibri" panose="020F0502020204030204" pitchFamily="34" charset="0"/>
            </a:endParaRPr>
          </a:p>
          <a:p>
            <a:pPr marL="952500" lvl="2" indent="-195263">
              <a:spcBef>
                <a:spcPct val="0"/>
              </a:spcBef>
            </a:pPr>
            <a:endParaRPr lang="en-AU" sz="2200" dirty="0">
              <a:latin typeface="Calibri" panose="020F0502020204030204" pitchFamily="34" charset="0"/>
            </a:endParaRPr>
          </a:p>
          <a:p>
            <a:pPr marL="617538" lvl="1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AU" sz="2200" dirty="0">
                <a:latin typeface="Calibri" panose="020F0502020204030204" pitchFamily="34" charset="0"/>
              </a:rPr>
              <a:t>How many </a:t>
            </a:r>
            <a:r>
              <a:rPr lang="en-AU" sz="2200" b="1" dirty="0">
                <a:latin typeface="Calibri" panose="020F0502020204030204" pitchFamily="34" charset="0"/>
              </a:rPr>
              <a:t>genders</a:t>
            </a:r>
            <a:r>
              <a:rPr lang="en-AU" sz="2200" dirty="0">
                <a:latin typeface="Calibri" panose="020F0502020204030204" pitchFamily="34" charset="0"/>
              </a:rPr>
              <a:t> does this patron 53 have?</a:t>
            </a:r>
          </a:p>
          <a:p>
            <a:pPr marL="627063" lvl="2" indent="0">
              <a:spcBef>
                <a:spcPct val="0"/>
              </a:spcBef>
              <a:buNone/>
            </a:pPr>
            <a:r>
              <a:rPr lang="en-AU" sz="2200" dirty="0">
                <a:latin typeface="Calibri" panose="020F0502020204030204" pitchFamily="34" charset="0"/>
              </a:rPr>
              <a:t>ONE     E.g. Female</a:t>
            </a:r>
          </a:p>
          <a:p>
            <a:pPr marL="474663" lvl="1" indent="-200025">
              <a:spcBef>
                <a:spcPct val="0"/>
              </a:spcBef>
            </a:pPr>
            <a:endParaRPr lang="en-AU" sz="2200" dirty="0"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</a:pPr>
            <a:endParaRPr lang="en-AU" sz="2200" dirty="0"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</a:pPr>
            <a:endParaRPr lang="en-AU" sz="2200" dirty="0">
              <a:latin typeface="Calibri" panose="020F0502020204030204" pitchFamily="34" charset="0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6158753" y="747247"/>
          <a:ext cx="1851324" cy="1889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845548" imgH="1878660" progId="Visio.Drawing.11">
                  <p:embed/>
                </p:oleObj>
              </mc:Choice>
              <mc:Fallback>
                <p:oleObj name="Visio" r:id="rId2" imgW="1845548" imgH="1878660" progId="Visio.Drawing.11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158753" y="747247"/>
                        <a:ext cx="1851324" cy="18894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581147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5"/>
          <p:cNvSpPr>
            <a:spLocks noChangeArrowheads="1"/>
          </p:cNvSpPr>
          <p:nvPr/>
        </p:nvSpPr>
        <p:spPr bwMode="auto">
          <a:xfrm>
            <a:off x="1524000" y="5954714"/>
            <a:ext cx="1709738" cy="9032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The DateBorrowed Attribute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815323"/>
            <a:ext cx="8010626" cy="4189815"/>
          </a:xfrm>
          <a:noFill/>
        </p:spPr>
        <p:txBody>
          <a:bodyPr>
            <a:no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n-AU" sz="2200" dirty="0">
                <a:latin typeface="Calibri" panose="020F0502020204030204" pitchFamily="34" charset="0"/>
              </a:rPr>
              <a:t>So let's consider the </a:t>
            </a:r>
            <a:r>
              <a:rPr lang="en-AU" sz="2200" b="1" dirty="0" err="1">
                <a:latin typeface="Calibri" panose="020F0502020204030204" pitchFamily="34" charset="0"/>
              </a:rPr>
              <a:t>DateBorrowed</a:t>
            </a:r>
            <a:r>
              <a:rPr lang="en-AU" sz="2200" dirty="0">
                <a:latin typeface="Calibri" panose="020F0502020204030204" pitchFamily="34" charset="0"/>
              </a:rPr>
              <a:t> attribute:</a:t>
            </a:r>
          </a:p>
          <a:p>
            <a:pPr>
              <a:spcBef>
                <a:spcPct val="0"/>
              </a:spcBef>
            </a:pPr>
            <a:r>
              <a:rPr lang="en-AU" sz="2200" dirty="0">
                <a:latin typeface="Calibri" panose="020F0502020204030204" pitchFamily="34" charset="0"/>
              </a:rPr>
              <a:t>What if it was </a:t>
            </a:r>
            <a:r>
              <a:rPr lang="en-AU" sz="2200" b="1" dirty="0">
                <a:latin typeface="Calibri" panose="020F0502020204030204" pitchFamily="34" charset="0"/>
              </a:rPr>
              <a:t>added</a:t>
            </a:r>
            <a:r>
              <a:rPr lang="en-AU" sz="2200" dirty="0">
                <a:latin typeface="Calibri" panose="020F0502020204030204" pitchFamily="34" charset="0"/>
              </a:rPr>
              <a:t> to the </a:t>
            </a:r>
            <a:r>
              <a:rPr lang="en-AU" sz="2200" b="1" dirty="0">
                <a:latin typeface="Calibri" panose="020F0502020204030204" pitchFamily="34" charset="0"/>
              </a:rPr>
              <a:t>Patron Entity</a:t>
            </a:r>
            <a:r>
              <a:rPr lang="en-AU" sz="2200" dirty="0">
                <a:latin typeface="Calibri" panose="020F0502020204030204" pitchFamily="34" charset="0"/>
              </a:rPr>
              <a:t>?</a:t>
            </a:r>
          </a:p>
          <a:p>
            <a:pPr>
              <a:spcBef>
                <a:spcPct val="0"/>
              </a:spcBef>
            </a:pPr>
            <a:r>
              <a:rPr lang="en-AU" sz="2200" dirty="0">
                <a:latin typeface="Calibri" panose="020F0502020204030204" pitchFamily="34" charset="0"/>
              </a:rPr>
              <a:t>What would this diagram now mean?</a:t>
            </a:r>
          </a:p>
          <a:p>
            <a:pPr>
              <a:spcBef>
                <a:spcPct val="0"/>
              </a:spcBef>
            </a:pPr>
            <a:endParaRPr lang="en-AU" sz="2200" dirty="0">
              <a:latin typeface="Calibri" panose="020F0502020204030204" pitchFamily="34" charset="0"/>
            </a:endParaRPr>
          </a:p>
          <a:p>
            <a:pPr marL="617538" lvl="1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AU" sz="2200" dirty="0" err="1">
                <a:latin typeface="Calibri" panose="020F0502020204030204" pitchFamily="34" charset="0"/>
              </a:rPr>
              <a:t>PatronNo</a:t>
            </a:r>
            <a:r>
              <a:rPr lang="en-AU" sz="2200" dirty="0">
                <a:latin typeface="Calibri" panose="020F0502020204030204" pitchFamily="34" charset="0"/>
              </a:rPr>
              <a:t> is the </a:t>
            </a:r>
            <a:r>
              <a:rPr lang="en-AU" sz="2200" b="1" dirty="0">
                <a:latin typeface="Calibri" panose="020F0502020204030204" pitchFamily="34" charset="0"/>
              </a:rPr>
              <a:t>identifier</a:t>
            </a:r>
            <a:r>
              <a:rPr lang="en-AU" sz="2200" dirty="0">
                <a:latin typeface="Calibri" panose="020F0502020204030204" pitchFamily="34" charset="0"/>
              </a:rPr>
              <a:t>.</a:t>
            </a:r>
          </a:p>
          <a:p>
            <a:pPr marL="627063" lvl="2" indent="0">
              <a:spcBef>
                <a:spcPct val="0"/>
              </a:spcBef>
              <a:buNone/>
            </a:pPr>
            <a:r>
              <a:rPr lang="en-AU" sz="2200" dirty="0">
                <a:latin typeface="Calibri" panose="020F0502020204030204" pitchFamily="34" charset="0"/>
              </a:rPr>
              <a:t>Example:  53</a:t>
            </a:r>
          </a:p>
          <a:p>
            <a:pPr marL="474663" lvl="1" indent="-200025">
              <a:spcBef>
                <a:spcPct val="0"/>
              </a:spcBef>
            </a:pPr>
            <a:endParaRPr lang="en-AU" sz="2200" dirty="0">
              <a:latin typeface="Calibri" panose="020F0502020204030204" pitchFamily="34" charset="0"/>
            </a:endParaRPr>
          </a:p>
          <a:p>
            <a:pPr marL="617538" lvl="1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AU" sz="2200" dirty="0">
                <a:latin typeface="Calibri" panose="020F0502020204030204" pitchFamily="34" charset="0"/>
              </a:rPr>
              <a:t>How many </a:t>
            </a:r>
            <a:r>
              <a:rPr lang="en-AU" sz="2200" b="1" dirty="0" err="1">
                <a:latin typeface="Calibri" panose="020F0502020204030204" pitchFamily="34" charset="0"/>
              </a:rPr>
              <a:t>DateBorrowed</a:t>
            </a:r>
            <a:r>
              <a:rPr lang="en-AU" sz="2200" b="1" dirty="0">
                <a:latin typeface="Calibri" panose="020F0502020204030204" pitchFamily="34" charset="0"/>
              </a:rPr>
              <a:t> </a:t>
            </a:r>
            <a:r>
              <a:rPr lang="en-AU" sz="2200" dirty="0">
                <a:latin typeface="Calibri" panose="020F0502020204030204" pitchFamily="34" charset="0"/>
              </a:rPr>
              <a:t>values are allowed for patron 53?</a:t>
            </a:r>
          </a:p>
          <a:p>
            <a:pPr marL="627063" lvl="2" indent="0">
              <a:spcBef>
                <a:spcPct val="0"/>
              </a:spcBef>
              <a:buNone/>
            </a:pPr>
            <a:r>
              <a:rPr lang="en-AU" sz="2200" dirty="0">
                <a:latin typeface="Calibri" panose="020F0502020204030204" pitchFamily="34" charset="0"/>
              </a:rPr>
              <a:t>ONE    </a:t>
            </a:r>
            <a:r>
              <a:rPr lang="en-AU" sz="2200" dirty="0">
                <a:solidFill>
                  <a:srgbClr val="FF0000"/>
                </a:solidFill>
                <a:latin typeface="Calibri" panose="020F0502020204030204" pitchFamily="34" charset="0"/>
              </a:rPr>
              <a:t>e.g. 1 June </a:t>
            </a:r>
            <a:r>
              <a:rPr lang="en-AU" sz="2200" dirty="0">
                <a:latin typeface="Calibri" panose="020F0502020204030204" pitchFamily="34" charset="0"/>
              </a:rPr>
              <a:t>      </a:t>
            </a:r>
          </a:p>
          <a:p>
            <a:pPr marL="952500" lvl="2" indent="-195263">
              <a:spcBef>
                <a:spcPct val="0"/>
              </a:spcBef>
            </a:pPr>
            <a:endParaRPr lang="en-AU" sz="2200" dirty="0">
              <a:latin typeface="Calibri" panose="020F0502020204030204" pitchFamily="34" charset="0"/>
            </a:endParaRPr>
          </a:p>
          <a:p>
            <a:pPr marL="627063" lvl="1" indent="0">
              <a:spcBef>
                <a:spcPct val="0"/>
              </a:spcBef>
              <a:buNone/>
            </a:pPr>
            <a:r>
              <a:rPr lang="en-AU" sz="2200" dirty="0">
                <a:solidFill>
                  <a:srgbClr val="FF0000"/>
                </a:solidFill>
                <a:latin typeface="Calibri" panose="020F0502020204030204" pitchFamily="34" charset="0"/>
              </a:rPr>
              <a:t>This </a:t>
            </a:r>
            <a:r>
              <a:rPr lang="en-AU" sz="2200" b="1" dirty="0">
                <a:solidFill>
                  <a:srgbClr val="FF0000"/>
                </a:solidFill>
                <a:latin typeface="Calibri" panose="020F0502020204030204" pitchFamily="34" charset="0"/>
              </a:rPr>
              <a:t>does not</a:t>
            </a:r>
            <a:r>
              <a:rPr lang="en-AU" sz="2200" dirty="0">
                <a:solidFill>
                  <a:srgbClr val="FF0000"/>
                </a:solidFill>
                <a:latin typeface="Calibri" panose="020F0502020204030204" pitchFamily="34" charset="0"/>
              </a:rPr>
              <a:t> make sense!</a:t>
            </a:r>
            <a:r>
              <a:rPr lang="en-AU" sz="2200" dirty="0">
                <a:latin typeface="Calibri" panose="020F0502020204030204" pitchFamily="34" charset="0"/>
              </a:rPr>
              <a:t>   You would expect that a Patron</a:t>
            </a:r>
          </a:p>
          <a:p>
            <a:pPr marL="952500" lvl="2" indent="-195263">
              <a:spcBef>
                <a:spcPct val="0"/>
              </a:spcBef>
            </a:pPr>
            <a:r>
              <a:rPr lang="en-AU" sz="2200" dirty="0">
                <a:latin typeface="Calibri" panose="020F0502020204030204" pitchFamily="34" charset="0"/>
              </a:rPr>
              <a:t>Could</a:t>
            </a:r>
            <a:r>
              <a:rPr lang="en-AU" sz="2200" b="1" dirty="0">
                <a:latin typeface="Calibri" panose="020F0502020204030204" pitchFamily="34" charset="0"/>
              </a:rPr>
              <a:t> borrow many times</a:t>
            </a:r>
            <a:r>
              <a:rPr lang="en-AU" sz="2200" dirty="0">
                <a:latin typeface="Calibri" panose="020F0502020204030204" pitchFamily="34" charset="0"/>
              </a:rPr>
              <a:t> over many weeks. </a:t>
            </a:r>
          </a:p>
          <a:p>
            <a:pPr marL="952500" lvl="2" indent="-195263">
              <a:spcBef>
                <a:spcPct val="0"/>
              </a:spcBef>
            </a:pPr>
            <a:r>
              <a:rPr lang="en-AU" sz="2200" dirty="0">
                <a:latin typeface="Calibri" panose="020F0502020204030204" pitchFamily="34" charset="0"/>
              </a:rPr>
              <a:t>You would expect a patron to have </a:t>
            </a:r>
            <a:r>
              <a:rPr lang="en-AU" sz="2200" b="1" dirty="0">
                <a:latin typeface="Calibri" panose="020F0502020204030204" pitchFamily="34" charset="0"/>
              </a:rPr>
              <a:t>many</a:t>
            </a:r>
            <a:r>
              <a:rPr lang="en-AU" sz="2200" dirty="0">
                <a:latin typeface="Calibri" panose="020F0502020204030204" pitchFamily="34" charset="0"/>
              </a:rPr>
              <a:t> </a:t>
            </a:r>
            <a:r>
              <a:rPr lang="en-AU" sz="2200" dirty="0" err="1">
                <a:latin typeface="Calibri" panose="020F0502020204030204" pitchFamily="34" charset="0"/>
              </a:rPr>
              <a:t>DateBorrowed</a:t>
            </a:r>
            <a:r>
              <a:rPr lang="en-AU" sz="2200" dirty="0">
                <a:latin typeface="Calibri" panose="020F0502020204030204" pitchFamily="34" charset="0"/>
              </a:rPr>
              <a:t> values</a:t>
            </a:r>
          </a:p>
          <a:p>
            <a:pPr marL="474663" lvl="1" indent="-200025">
              <a:spcBef>
                <a:spcPct val="0"/>
              </a:spcBef>
            </a:pPr>
            <a:endParaRPr lang="en-AU" sz="2200" dirty="0">
              <a:latin typeface="Calibri" panose="020F0502020204030204" pitchFamily="34" charset="0"/>
            </a:endParaRPr>
          </a:p>
          <a:p>
            <a:pPr marL="274638" lvl="1" indent="0">
              <a:spcBef>
                <a:spcPct val="0"/>
              </a:spcBef>
              <a:buNone/>
            </a:pPr>
            <a:r>
              <a:rPr lang="en-AU" sz="2200" dirty="0">
                <a:solidFill>
                  <a:srgbClr val="0033CC"/>
                </a:solidFill>
                <a:latin typeface="Calibri" panose="020F0502020204030204" pitchFamily="34" charset="0"/>
              </a:rPr>
              <a:t>Therefore we can conclude that: </a:t>
            </a:r>
            <a:br>
              <a:rPr lang="en-AU" sz="2200" dirty="0">
                <a:solidFill>
                  <a:srgbClr val="0033CC"/>
                </a:solidFill>
                <a:latin typeface="Calibri" panose="020F0502020204030204" pitchFamily="34" charset="0"/>
              </a:rPr>
            </a:br>
            <a:r>
              <a:rPr lang="en-AU" sz="2200" dirty="0" err="1">
                <a:solidFill>
                  <a:srgbClr val="0033CC"/>
                </a:solidFill>
                <a:latin typeface="Calibri" panose="020F0502020204030204" pitchFamily="34" charset="0"/>
              </a:rPr>
              <a:t>DateBorrowed</a:t>
            </a:r>
            <a:r>
              <a:rPr lang="en-AU" sz="2200" dirty="0">
                <a:solidFill>
                  <a:srgbClr val="0033CC"/>
                </a:solidFill>
                <a:latin typeface="Calibri" panose="020F0502020204030204" pitchFamily="34" charset="0"/>
              </a:rPr>
              <a:t> </a:t>
            </a:r>
            <a:r>
              <a:rPr lang="en-AU" sz="2200" b="1" dirty="0">
                <a:solidFill>
                  <a:srgbClr val="0033CC"/>
                </a:solidFill>
                <a:latin typeface="Calibri" panose="020F0502020204030204" pitchFamily="34" charset="0"/>
              </a:rPr>
              <a:t>does not</a:t>
            </a:r>
            <a:r>
              <a:rPr lang="en-AU" sz="2200" dirty="0">
                <a:solidFill>
                  <a:srgbClr val="0033CC"/>
                </a:solidFill>
                <a:latin typeface="Calibri" panose="020F0502020204030204" pitchFamily="34" charset="0"/>
              </a:rPr>
              <a:t> belong to the Patron Entity</a:t>
            </a:r>
          </a:p>
        </p:txBody>
      </p:sp>
      <p:graphicFrame>
        <p:nvGraphicFramePr>
          <p:cNvPr id="4098" name="Object 4"/>
          <p:cNvGraphicFramePr>
            <a:graphicFrameLocks noChangeAspect="1"/>
          </p:cNvGraphicFramePr>
          <p:nvPr/>
        </p:nvGraphicFramePr>
        <p:xfrm>
          <a:off x="7646896" y="935569"/>
          <a:ext cx="2832847" cy="21493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605863" imgH="1968570" progId="Visio.Drawing.11">
                  <p:embed/>
                </p:oleObj>
              </mc:Choice>
              <mc:Fallback>
                <p:oleObj name="Visio" r:id="rId2" imgW="7605863" imgH="1968570" progId="Visio.Drawing.11">
                  <p:embed/>
                  <p:pic>
                    <p:nvPicPr>
                      <p:cNvPr id="409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 r="65965"/>
                      <a:stretch>
                        <a:fillRect/>
                      </a:stretch>
                    </p:blipFill>
                    <p:spPr bwMode="auto">
                      <a:xfrm>
                        <a:off x="7646896" y="935569"/>
                        <a:ext cx="2832847" cy="21493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607544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ChangeArrowheads="1"/>
          </p:cNvSpPr>
          <p:nvPr/>
        </p:nvSpPr>
        <p:spPr bwMode="auto">
          <a:xfrm>
            <a:off x="1524000" y="5954714"/>
            <a:ext cx="1709738" cy="9032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/>
              <a:t>The DateBorrowed Attribute</a:t>
            </a:r>
          </a:p>
        </p:txBody>
      </p:sp>
      <p:sp>
        <p:nvSpPr>
          <p:cNvPr id="5126" name="Rectangle 4"/>
          <p:cNvSpPr>
            <a:spLocks noGrp="1" noChangeArrowheads="1"/>
          </p:cNvSpPr>
          <p:nvPr>
            <p:ph idx="1"/>
          </p:nvPr>
        </p:nvSpPr>
        <p:spPr>
          <a:xfrm>
            <a:off x="1981200" y="788895"/>
            <a:ext cx="8010626" cy="4216243"/>
          </a:xfrm>
          <a:noFill/>
        </p:spPr>
        <p:txBody>
          <a:bodyPr>
            <a:noAutofit/>
          </a:bodyPr>
          <a:lstStyle/>
          <a:p>
            <a:pPr>
              <a:spcBef>
                <a:spcPct val="0"/>
              </a:spcBef>
            </a:pPr>
            <a:r>
              <a:rPr lang="en-AU" sz="2200" dirty="0">
                <a:latin typeface="Calibri" panose="020F0502020204030204" pitchFamily="34" charset="0"/>
              </a:rPr>
              <a:t>SO let's consider the </a:t>
            </a:r>
            <a:r>
              <a:rPr lang="en-AU" sz="2200" b="1" dirty="0" err="1">
                <a:latin typeface="Calibri" panose="020F0502020204030204" pitchFamily="34" charset="0"/>
              </a:rPr>
              <a:t>DateBorrowed</a:t>
            </a:r>
            <a:r>
              <a:rPr lang="en-AU" sz="2200" dirty="0">
                <a:latin typeface="Calibri" panose="020F0502020204030204" pitchFamily="34" charset="0"/>
              </a:rPr>
              <a:t> attribute:</a:t>
            </a:r>
          </a:p>
          <a:p>
            <a:pPr>
              <a:spcBef>
                <a:spcPct val="0"/>
              </a:spcBef>
            </a:pPr>
            <a:r>
              <a:rPr lang="en-AU" sz="2200" dirty="0">
                <a:latin typeface="Calibri" panose="020F0502020204030204" pitchFamily="34" charset="0"/>
              </a:rPr>
              <a:t>What if it was </a:t>
            </a:r>
            <a:r>
              <a:rPr lang="en-AU" sz="2200" b="1" dirty="0">
                <a:latin typeface="Calibri" panose="020F0502020204030204" pitchFamily="34" charset="0"/>
              </a:rPr>
              <a:t>added</a:t>
            </a:r>
            <a:r>
              <a:rPr lang="en-AU" sz="2200" dirty="0">
                <a:latin typeface="Calibri" panose="020F0502020204030204" pitchFamily="34" charset="0"/>
              </a:rPr>
              <a:t> to the </a:t>
            </a:r>
            <a:r>
              <a:rPr lang="en-AU" sz="2200" b="1" dirty="0">
                <a:latin typeface="Calibri" panose="020F0502020204030204" pitchFamily="34" charset="0"/>
              </a:rPr>
              <a:t>Toy Entity</a:t>
            </a:r>
            <a:r>
              <a:rPr lang="en-AU" sz="2200" dirty="0">
                <a:latin typeface="Calibri" panose="020F0502020204030204" pitchFamily="34" charset="0"/>
              </a:rPr>
              <a:t>?</a:t>
            </a:r>
          </a:p>
          <a:p>
            <a:pPr>
              <a:spcBef>
                <a:spcPct val="0"/>
              </a:spcBef>
            </a:pPr>
            <a:r>
              <a:rPr lang="en-AU" sz="2200" dirty="0">
                <a:latin typeface="Calibri" panose="020F0502020204030204" pitchFamily="34" charset="0"/>
              </a:rPr>
              <a:t>What would this diagram now mean?</a:t>
            </a:r>
          </a:p>
          <a:p>
            <a:pPr>
              <a:spcBef>
                <a:spcPct val="0"/>
              </a:spcBef>
            </a:pPr>
            <a:endParaRPr lang="en-AU" sz="2200" dirty="0">
              <a:latin typeface="Calibri" panose="020F0502020204030204" pitchFamily="34" charset="0"/>
            </a:endParaRPr>
          </a:p>
          <a:p>
            <a:pPr marL="617538" lvl="1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AU" sz="2200" dirty="0" err="1">
                <a:latin typeface="Calibri" panose="020F0502020204030204" pitchFamily="34" charset="0"/>
              </a:rPr>
              <a:t>ToyNo</a:t>
            </a:r>
            <a:r>
              <a:rPr lang="en-AU" sz="2200" dirty="0">
                <a:latin typeface="Calibri" panose="020F0502020204030204" pitchFamily="34" charset="0"/>
              </a:rPr>
              <a:t> is the </a:t>
            </a:r>
            <a:r>
              <a:rPr lang="en-AU" sz="2200" b="1" dirty="0">
                <a:latin typeface="Calibri" panose="020F0502020204030204" pitchFamily="34" charset="0"/>
              </a:rPr>
              <a:t>identifier</a:t>
            </a:r>
            <a:r>
              <a:rPr lang="en-AU" sz="2200" dirty="0">
                <a:latin typeface="Calibri" panose="020F0502020204030204" pitchFamily="34" charset="0"/>
              </a:rPr>
              <a:t>.</a:t>
            </a:r>
          </a:p>
          <a:p>
            <a:pPr marL="627063" lvl="2" indent="0">
              <a:spcBef>
                <a:spcPct val="0"/>
              </a:spcBef>
              <a:buNone/>
              <a:tabLst>
                <a:tab pos="627063" algn="l"/>
              </a:tabLst>
            </a:pPr>
            <a:r>
              <a:rPr lang="en-AU" sz="2200" dirty="0">
                <a:latin typeface="Calibri" panose="020F0502020204030204" pitchFamily="34" charset="0"/>
              </a:rPr>
              <a:t>E.g.  T27</a:t>
            </a:r>
          </a:p>
          <a:p>
            <a:pPr marL="474663" lvl="1" indent="-200025">
              <a:spcBef>
                <a:spcPct val="0"/>
              </a:spcBef>
            </a:pPr>
            <a:endParaRPr lang="en-AU" sz="2200" dirty="0">
              <a:latin typeface="Calibri" panose="020F0502020204030204" pitchFamily="34" charset="0"/>
            </a:endParaRPr>
          </a:p>
          <a:p>
            <a:pPr marL="617538" lvl="1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AU" sz="2200" dirty="0">
                <a:latin typeface="Calibri" panose="020F0502020204030204" pitchFamily="34" charset="0"/>
              </a:rPr>
              <a:t>How many </a:t>
            </a:r>
            <a:r>
              <a:rPr lang="en-AU" sz="2200" b="1" dirty="0" err="1">
                <a:latin typeface="Calibri" panose="020F0502020204030204" pitchFamily="34" charset="0"/>
              </a:rPr>
              <a:t>DateBorrowed</a:t>
            </a:r>
            <a:r>
              <a:rPr lang="en-AU" sz="2200" b="1" dirty="0">
                <a:latin typeface="Calibri" panose="020F0502020204030204" pitchFamily="34" charset="0"/>
              </a:rPr>
              <a:t> values</a:t>
            </a:r>
            <a:r>
              <a:rPr lang="en-AU" sz="2200" dirty="0">
                <a:latin typeface="Calibri" panose="020F0502020204030204" pitchFamily="34" charset="0"/>
              </a:rPr>
              <a:t> are allowed for toy T27?</a:t>
            </a:r>
          </a:p>
          <a:p>
            <a:pPr marL="627063" lvl="2" indent="0">
              <a:spcBef>
                <a:spcPct val="0"/>
              </a:spcBef>
              <a:buNone/>
            </a:pPr>
            <a:r>
              <a:rPr lang="en-AU" sz="2200" dirty="0">
                <a:latin typeface="Calibri" panose="020F0502020204030204" pitchFamily="34" charset="0"/>
              </a:rPr>
              <a:t>ONE         </a:t>
            </a:r>
            <a:r>
              <a:rPr lang="en-AU" sz="2200" dirty="0">
                <a:solidFill>
                  <a:srgbClr val="FF0000"/>
                </a:solidFill>
                <a:latin typeface="Calibri" panose="020F0502020204030204" pitchFamily="34" charset="0"/>
              </a:rPr>
              <a:t>E.g. 15 Sept </a:t>
            </a:r>
            <a:r>
              <a:rPr lang="en-AU" sz="2200" dirty="0">
                <a:latin typeface="Calibri" panose="020F0502020204030204" pitchFamily="34" charset="0"/>
              </a:rPr>
              <a:t>      </a:t>
            </a:r>
          </a:p>
          <a:p>
            <a:pPr marL="952500" lvl="2" indent="-195263">
              <a:spcBef>
                <a:spcPct val="0"/>
              </a:spcBef>
            </a:pPr>
            <a:endParaRPr lang="en-AU" sz="2200" dirty="0">
              <a:latin typeface="Calibri" panose="020F0502020204030204" pitchFamily="34" charset="0"/>
            </a:endParaRPr>
          </a:p>
          <a:p>
            <a:pPr marL="574675" lvl="2" indent="0">
              <a:spcBef>
                <a:spcPct val="0"/>
              </a:spcBef>
              <a:buNone/>
            </a:pPr>
            <a:r>
              <a:rPr lang="en-AU" sz="2200" dirty="0">
                <a:solidFill>
                  <a:srgbClr val="FF0000"/>
                </a:solidFill>
                <a:latin typeface="Calibri" panose="020F0502020204030204" pitchFamily="34" charset="0"/>
              </a:rPr>
              <a:t>This </a:t>
            </a:r>
            <a:r>
              <a:rPr lang="en-AU" sz="2200" b="1" dirty="0">
                <a:solidFill>
                  <a:srgbClr val="FF0000"/>
                </a:solidFill>
                <a:latin typeface="Calibri" panose="020F0502020204030204" pitchFamily="34" charset="0"/>
              </a:rPr>
              <a:t>does not</a:t>
            </a:r>
            <a:r>
              <a:rPr lang="en-AU" sz="2200" dirty="0">
                <a:solidFill>
                  <a:srgbClr val="FF0000"/>
                </a:solidFill>
                <a:latin typeface="Calibri" panose="020F0502020204030204" pitchFamily="34" charset="0"/>
              </a:rPr>
              <a:t> make sense!</a:t>
            </a:r>
            <a:r>
              <a:rPr lang="en-AU" sz="2200" dirty="0">
                <a:latin typeface="Calibri" panose="020F0502020204030204" pitchFamily="34" charset="0"/>
              </a:rPr>
              <a:t>    You would expect that a Toy</a:t>
            </a:r>
          </a:p>
          <a:p>
            <a:pPr marL="952500" lvl="2" indent="-195263">
              <a:spcBef>
                <a:spcPct val="0"/>
              </a:spcBef>
            </a:pPr>
            <a:r>
              <a:rPr lang="en-AU" sz="2200" dirty="0">
                <a:latin typeface="Calibri" panose="020F0502020204030204" pitchFamily="34" charset="0"/>
              </a:rPr>
              <a:t>Will be</a:t>
            </a:r>
            <a:r>
              <a:rPr lang="en-AU" sz="2200" b="1" dirty="0">
                <a:latin typeface="Calibri" panose="020F0502020204030204" pitchFamily="34" charset="0"/>
              </a:rPr>
              <a:t> borrowed many times</a:t>
            </a:r>
            <a:r>
              <a:rPr lang="en-AU" sz="2200" dirty="0">
                <a:latin typeface="Calibri" panose="020F0502020204030204" pitchFamily="34" charset="0"/>
              </a:rPr>
              <a:t> over many weeks. </a:t>
            </a:r>
          </a:p>
          <a:p>
            <a:pPr marL="952500" lvl="2" indent="-195263">
              <a:spcBef>
                <a:spcPct val="0"/>
              </a:spcBef>
            </a:pPr>
            <a:r>
              <a:rPr lang="en-AU" sz="2200" dirty="0">
                <a:latin typeface="Calibri" panose="020F0502020204030204" pitchFamily="34" charset="0"/>
              </a:rPr>
              <a:t>You would expect a toy to have </a:t>
            </a:r>
            <a:r>
              <a:rPr lang="en-AU" sz="2200" b="1" dirty="0">
                <a:latin typeface="Calibri" panose="020F0502020204030204" pitchFamily="34" charset="0"/>
              </a:rPr>
              <a:t>many</a:t>
            </a:r>
            <a:r>
              <a:rPr lang="en-AU" sz="2200" dirty="0">
                <a:latin typeface="Calibri" panose="020F0502020204030204" pitchFamily="34" charset="0"/>
              </a:rPr>
              <a:t> </a:t>
            </a:r>
            <a:r>
              <a:rPr lang="en-AU" sz="2200" dirty="0" err="1">
                <a:latin typeface="Calibri" panose="020F0502020204030204" pitchFamily="34" charset="0"/>
              </a:rPr>
              <a:t>DateBorrowed</a:t>
            </a:r>
            <a:r>
              <a:rPr lang="en-AU" sz="2200" dirty="0">
                <a:latin typeface="Calibri" panose="020F0502020204030204" pitchFamily="34" charset="0"/>
              </a:rPr>
              <a:t> values</a:t>
            </a:r>
          </a:p>
          <a:p>
            <a:pPr marL="474663" lvl="1" indent="-200025">
              <a:spcBef>
                <a:spcPct val="0"/>
              </a:spcBef>
            </a:pPr>
            <a:endParaRPr lang="en-AU" sz="2200" dirty="0">
              <a:latin typeface="Calibri" panose="020F0502020204030204" pitchFamily="34" charset="0"/>
            </a:endParaRPr>
          </a:p>
          <a:p>
            <a:pPr marL="274638" lvl="1" indent="0">
              <a:spcBef>
                <a:spcPct val="0"/>
              </a:spcBef>
              <a:buNone/>
            </a:pPr>
            <a:r>
              <a:rPr lang="en-AU" sz="2200" dirty="0">
                <a:solidFill>
                  <a:srgbClr val="0033CC"/>
                </a:solidFill>
                <a:latin typeface="Calibri" panose="020F0502020204030204" pitchFamily="34" charset="0"/>
              </a:rPr>
              <a:t>Therefore we can conclude that: </a:t>
            </a:r>
            <a:br>
              <a:rPr lang="en-AU" sz="2200" dirty="0">
                <a:solidFill>
                  <a:srgbClr val="0033CC"/>
                </a:solidFill>
                <a:latin typeface="Calibri" panose="020F0502020204030204" pitchFamily="34" charset="0"/>
              </a:rPr>
            </a:br>
            <a:r>
              <a:rPr lang="en-AU" sz="2200" dirty="0" err="1">
                <a:solidFill>
                  <a:srgbClr val="0033CC"/>
                </a:solidFill>
                <a:latin typeface="Calibri" panose="020F0502020204030204" pitchFamily="34" charset="0"/>
              </a:rPr>
              <a:t>DateBorrowed</a:t>
            </a:r>
            <a:r>
              <a:rPr lang="en-AU" sz="2200" dirty="0">
                <a:solidFill>
                  <a:srgbClr val="0033CC"/>
                </a:solidFill>
                <a:latin typeface="Calibri" panose="020F0502020204030204" pitchFamily="34" charset="0"/>
              </a:rPr>
              <a:t> </a:t>
            </a:r>
            <a:r>
              <a:rPr lang="en-AU" sz="2200" b="1" dirty="0">
                <a:solidFill>
                  <a:srgbClr val="0033CC"/>
                </a:solidFill>
                <a:latin typeface="Calibri" panose="020F0502020204030204" pitchFamily="34" charset="0"/>
              </a:rPr>
              <a:t>does not</a:t>
            </a:r>
            <a:r>
              <a:rPr lang="en-AU" sz="2200" dirty="0">
                <a:solidFill>
                  <a:srgbClr val="0033CC"/>
                </a:solidFill>
                <a:latin typeface="Calibri" panose="020F0502020204030204" pitchFamily="34" charset="0"/>
              </a:rPr>
              <a:t> belong to the Toy Entity</a:t>
            </a:r>
          </a:p>
        </p:txBody>
      </p:sp>
      <p:graphicFrame>
        <p:nvGraphicFramePr>
          <p:cNvPr id="5122" name="Object 5"/>
          <p:cNvGraphicFramePr>
            <a:graphicFrameLocks noChangeAspect="1"/>
          </p:cNvGraphicFramePr>
          <p:nvPr/>
        </p:nvGraphicFramePr>
        <p:xfrm>
          <a:off x="8229601" y="908051"/>
          <a:ext cx="2160681" cy="18512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747627" imgH="1968649" progId="Visio.Drawing.11">
                  <p:embed/>
                </p:oleObj>
              </mc:Choice>
              <mc:Fallback>
                <p:oleObj name="Visio" r:id="rId2" imgW="6747627" imgH="1968649" progId="Visio.Drawing.11">
                  <p:embed/>
                  <p:pic>
                    <p:nvPicPr>
                      <p:cNvPr id="512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4016" r="31947"/>
                      <a:stretch>
                        <a:fillRect/>
                      </a:stretch>
                    </p:blipFill>
                    <p:spPr bwMode="auto">
                      <a:xfrm>
                        <a:off x="8229601" y="908051"/>
                        <a:ext cx="2160681" cy="18512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641689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Step 2 – Attach attributes to entities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806027"/>
            <a:ext cx="8010626" cy="4199110"/>
          </a:xfrm>
          <a:noFill/>
        </p:spPr>
        <p:txBody>
          <a:bodyPr>
            <a:norm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n-AU" sz="2200" b="1" dirty="0">
                <a:latin typeface="Calibri" panose="020F0502020204030204" pitchFamily="34" charset="0"/>
              </a:rPr>
              <a:t> </a:t>
            </a:r>
            <a:r>
              <a:rPr lang="en-AU" sz="2200" dirty="0">
                <a:latin typeface="Calibri" panose="020F0502020204030204" pitchFamily="34" charset="0"/>
              </a:rPr>
              <a:t>Some attributes simply </a:t>
            </a:r>
            <a:r>
              <a:rPr lang="en-AU" sz="2200" b="1" dirty="0">
                <a:latin typeface="Calibri" panose="020F0502020204030204" pitchFamily="34" charset="0"/>
              </a:rPr>
              <a:t>don't belong</a:t>
            </a:r>
            <a:r>
              <a:rPr lang="en-AU" sz="2200" dirty="0">
                <a:latin typeface="Calibri" panose="020F0502020204030204" pitchFamily="34" charset="0"/>
              </a:rPr>
              <a:t> to any of the strong entities.</a:t>
            </a:r>
          </a:p>
          <a:p>
            <a:pPr marL="0" indent="0">
              <a:spcBef>
                <a:spcPct val="0"/>
              </a:spcBef>
              <a:buNone/>
            </a:pPr>
            <a:endParaRPr lang="en-AU" sz="2200" b="1" dirty="0">
              <a:latin typeface="Calibri" panose="020F0502020204030204" pitchFamily="34" charset="0"/>
            </a:endParaRPr>
          </a:p>
          <a:p>
            <a:pPr marL="0" indent="0">
              <a:spcBef>
                <a:spcPct val="0"/>
              </a:spcBef>
              <a:buNone/>
            </a:pPr>
            <a:endParaRPr lang="en-US" sz="2200" b="1" dirty="0">
              <a:latin typeface="Calibri" panose="020F0502020204030204" pitchFamily="34" charset="0"/>
            </a:endParaRPr>
          </a:p>
          <a:p>
            <a:pPr marL="0" indent="0">
              <a:spcBef>
                <a:spcPct val="0"/>
              </a:spcBef>
              <a:buNone/>
            </a:pPr>
            <a:endParaRPr lang="en-AU" sz="2200" b="1" dirty="0">
              <a:latin typeface="Calibri" panose="020F0502020204030204" pitchFamily="34" charset="0"/>
            </a:endParaRPr>
          </a:p>
          <a:p>
            <a:pPr marL="0" indent="0">
              <a:spcBef>
                <a:spcPct val="0"/>
              </a:spcBef>
              <a:buNone/>
            </a:pPr>
            <a:endParaRPr lang="en-AU" sz="2200" b="1" dirty="0">
              <a:latin typeface="Calibri" panose="020F0502020204030204" pitchFamily="34" charset="0"/>
            </a:endParaRPr>
          </a:p>
          <a:p>
            <a:pPr marL="0" indent="0">
              <a:spcBef>
                <a:spcPct val="0"/>
              </a:spcBef>
              <a:buNone/>
            </a:pPr>
            <a:endParaRPr lang="en-AU" sz="2200" b="1" dirty="0">
              <a:latin typeface="Calibri" panose="020F0502020204030204" pitchFamily="34" charset="0"/>
            </a:endParaRPr>
          </a:p>
        </p:txBody>
      </p:sp>
      <p:sp>
        <p:nvSpPr>
          <p:cNvPr id="6150" name="Text Box 5"/>
          <p:cNvSpPr txBox="1">
            <a:spLocks noChangeArrowheads="1"/>
          </p:cNvSpPr>
          <p:nvPr/>
        </p:nvSpPr>
        <p:spPr bwMode="auto">
          <a:xfrm>
            <a:off x="2714719" y="4840809"/>
            <a:ext cx="19165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defTabSz="457200"/>
            <a:r>
              <a:rPr lang="en-US" sz="2200" b="0" i="0" dirty="0">
                <a:solidFill>
                  <a:srgbClr val="D1161E"/>
                </a:solidFill>
                <a:latin typeface="Calibri"/>
                <a:cs typeface="Courier New" pitchFamily="49" charset="0"/>
              </a:rPr>
              <a:t> </a:t>
            </a:r>
            <a:r>
              <a:rPr lang="en-AU" sz="2200" b="0" i="0" dirty="0" err="1">
                <a:solidFill>
                  <a:srgbClr val="D1161E"/>
                </a:solidFill>
                <a:latin typeface="Calibri"/>
              </a:rPr>
              <a:t>DateBorrowed</a:t>
            </a:r>
            <a:endParaRPr lang="en-US" sz="2200" b="0" i="0" dirty="0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6151" name="Text Box 6"/>
          <p:cNvSpPr txBox="1">
            <a:spLocks noChangeArrowheads="1"/>
          </p:cNvSpPr>
          <p:nvPr/>
        </p:nvSpPr>
        <p:spPr bwMode="auto">
          <a:xfrm>
            <a:off x="5091207" y="4840809"/>
            <a:ext cx="185089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defTabSz="457200"/>
            <a:r>
              <a:rPr lang="en-US" sz="2200" b="0" i="0" dirty="0">
                <a:solidFill>
                  <a:srgbClr val="D1161E"/>
                </a:solidFill>
                <a:latin typeface="Calibri"/>
                <a:cs typeface="Courier New" pitchFamily="49" charset="0"/>
              </a:rPr>
              <a:t> </a:t>
            </a:r>
            <a:r>
              <a:rPr lang="en-AU" sz="2200" b="0" i="0" dirty="0" err="1">
                <a:solidFill>
                  <a:srgbClr val="D1161E"/>
                </a:solidFill>
                <a:latin typeface="Calibri"/>
              </a:rPr>
              <a:t>DateReturned</a:t>
            </a:r>
            <a:endParaRPr lang="en-US" sz="2200" b="0" i="0" dirty="0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6152" name="Text Box 7"/>
          <p:cNvSpPr txBox="1">
            <a:spLocks noChangeArrowheads="1"/>
          </p:cNvSpPr>
          <p:nvPr/>
        </p:nvSpPr>
        <p:spPr bwMode="auto">
          <a:xfrm>
            <a:off x="2438401" y="4709696"/>
            <a:ext cx="6051176" cy="166199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defTabSz="457200"/>
            <a:endParaRPr lang="en-AU" sz="2000" b="0" dirty="0">
              <a:solidFill>
                <a:srgbClr val="D1161E"/>
              </a:solidFill>
              <a:latin typeface="Calibri"/>
            </a:endParaRPr>
          </a:p>
          <a:p>
            <a:pPr defTabSz="457200"/>
            <a:endParaRPr lang="en-AU" sz="2000" b="0" dirty="0">
              <a:solidFill>
                <a:srgbClr val="D1161E"/>
              </a:solidFill>
              <a:latin typeface="Calibri"/>
            </a:endParaRPr>
          </a:p>
          <a:p>
            <a:pPr defTabSz="457200"/>
            <a:endParaRPr lang="en-AU" sz="2000" b="0" dirty="0">
              <a:solidFill>
                <a:srgbClr val="D1161E"/>
              </a:solidFill>
              <a:latin typeface="Calibri"/>
            </a:endParaRPr>
          </a:p>
          <a:p>
            <a:pPr defTabSz="457200"/>
            <a:r>
              <a:rPr lang="en-AU" sz="2000" b="0" dirty="0">
                <a:solidFill>
                  <a:srgbClr val="D1161E"/>
                </a:solidFill>
                <a:latin typeface="Calibri"/>
              </a:rPr>
              <a:t>Leave these attributes alone.</a:t>
            </a:r>
          </a:p>
          <a:p>
            <a:pPr defTabSz="457200"/>
            <a:r>
              <a:rPr lang="en-AU" sz="2000" b="0" dirty="0">
                <a:solidFill>
                  <a:srgbClr val="D1161E"/>
                </a:solidFill>
                <a:latin typeface="Calibri"/>
              </a:rPr>
              <a:t>They will be dealt with in future steps of this process</a:t>
            </a:r>
            <a:r>
              <a:rPr lang="en-AU" sz="2200" b="0" dirty="0">
                <a:solidFill>
                  <a:srgbClr val="D1161E"/>
                </a:solidFill>
                <a:latin typeface="Calibri"/>
              </a:rPr>
              <a:t>.</a:t>
            </a:r>
            <a:endParaRPr lang="en-US" sz="2200" b="0" dirty="0">
              <a:solidFill>
                <a:srgbClr val="D1161E"/>
              </a:solidFill>
              <a:latin typeface="Calibri"/>
            </a:endParaRPr>
          </a:p>
        </p:txBody>
      </p:sp>
      <p:graphicFrame>
        <p:nvGraphicFramePr>
          <p:cNvPr id="6154" name="Object 4"/>
          <p:cNvGraphicFramePr>
            <a:graphicFrameLocks noChangeAspect="1"/>
          </p:cNvGraphicFramePr>
          <p:nvPr/>
        </p:nvGraphicFramePr>
        <p:xfrm>
          <a:off x="2351089" y="1700214"/>
          <a:ext cx="7705725" cy="296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747381" imgH="1968570" progId="Visio.Drawing.11">
                  <p:embed/>
                </p:oleObj>
              </mc:Choice>
              <mc:Fallback>
                <p:oleObj name="Visio" r:id="rId2" imgW="6747381" imgH="1968570" progId="Visio.Drawing.11">
                  <p:embed/>
                  <p:pic>
                    <p:nvPicPr>
                      <p:cNvPr id="615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 r="24255"/>
                      <a:stretch>
                        <a:fillRect/>
                      </a:stretch>
                    </p:blipFill>
                    <p:spPr bwMode="auto">
                      <a:xfrm>
                        <a:off x="2351089" y="1700214"/>
                        <a:ext cx="7705725" cy="296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507022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Step 3 - Identifying Relationships</a:t>
            </a:r>
          </a:p>
        </p:txBody>
      </p:sp>
      <p:sp>
        <p:nvSpPr>
          <p:cNvPr id="38915" name="Rectangle 6"/>
          <p:cNvSpPr>
            <a:spLocks noChangeArrowheads="1"/>
          </p:cNvSpPr>
          <p:nvPr/>
        </p:nvSpPr>
        <p:spPr bwMode="auto">
          <a:xfrm>
            <a:off x="1524000" y="5954714"/>
            <a:ext cx="1709738" cy="9032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38917" name="Rectangle 4"/>
          <p:cNvSpPr>
            <a:spLocks noChangeArrowheads="1"/>
          </p:cNvSpPr>
          <p:nvPr/>
        </p:nvSpPr>
        <p:spPr bwMode="auto">
          <a:xfrm>
            <a:off x="2208213" y="836613"/>
            <a:ext cx="8280400" cy="504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457200">
              <a:buSzPct val="75000"/>
              <a:tabLst>
                <a:tab pos="1970088" algn="l"/>
              </a:tabLst>
            </a:pPr>
            <a:r>
              <a:rPr lang="en-AU" sz="2200" dirty="0">
                <a:solidFill>
                  <a:srgbClr val="000000"/>
                </a:solidFill>
                <a:latin typeface="Calibri" panose="020F0502020204030204" pitchFamily="34" charset="0"/>
              </a:rPr>
              <a:t>Entities have </a:t>
            </a:r>
            <a:r>
              <a:rPr lang="en-AU" sz="2200" b="1" dirty="0">
                <a:solidFill>
                  <a:srgbClr val="000000"/>
                </a:solidFill>
                <a:latin typeface="Calibri" panose="020F0502020204030204" pitchFamily="34" charset="0"/>
              </a:rPr>
              <a:t>relationships</a:t>
            </a:r>
            <a:r>
              <a:rPr lang="en-AU" sz="2200" dirty="0">
                <a:solidFill>
                  <a:srgbClr val="000000"/>
                </a:solidFill>
                <a:latin typeface="Calibri" panose="020F0502020204030204" pitchFamily="34" charset="0"/>
              </a:rPr>
              <a:t> with other entities </a:t>
            </a:r>
          </a:p>
          <a:p>
            <a:pPr marL="617538" lvl="1" indent="-342900" defTabSz="457200">
              <a:buSzPct val="75000"/>
              <a:buFont typeface="Arial" panose="020B0604020202020204" pitchFamily="34" charset="0"/>
              <a:buChar char="•"/>
              <a:tabLst>
                <a:tab pos="1970088" algn="l"/>
              </a:tabLst>
            </a:pPr>
            <a:r>
              <a:rPr lang="en-AU" sz="2200" dirty="0">
                <a:solidFill>
                  <a:srgbClr val="000000"/>
                </a:solidFill>
                <a:latin typeface="Calibri" panose="020F0502020204030204" pitchFamily="34" charset="0"/>
              </a:rPr>
              <a:t>That's why they're called Entity Relationship Diagrams!</a:t>
            </a:r>
          </a:p>
          <a:p>
            <a:pPr marL="617538" lvl="1" indent="-342900" defTabSz="457200">
              <a:buSzPct val="75000"/>
              <a:buFont typeface="Arial" panose="020B0604020202020204" pitchFamily="34" charset="0"/>
              <a:buChar char="•"/>
              <a:tabLst>
                <a:tab pos="1970088" algn="l"/>
              </a:tabLst>
            </a:pPr>
            <a:endParaRPr lang="en-AU" sz="22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defTabSz="457200">
              <a:buSzPct val="75000"/>
              <a:tabLst>
                <a:tab pos="1970088" algn="l"/>
              </a:tabLst>
            </a:pPr>
            <a:r>
              <a:rPr lang="en-AU" sz="2200" dirty="0">
                <a:solidFill>
                  <a:srgbClr val="000000"/>
                </a:solidFill>
                <a:latin typeface="Calibri" panose="020F0502020204030204" pitchFamily="34" charset="0"/>
              </a:rPr>
              <a:t>Use </a:t>
            </a:r>
            <a:r>
              <a:rPr lang="en-AU" sz="2200" b="1" dirty="0">
                <a:solidFill>
                  <a:srgbClr val="000000"/>
                </a:solidFill>
                <a:latin typeface="Calibri" panose="020F0502020204030204" pitchFamily="34" charset="0"/>
              </a:rPr>
              <a:t>relevant</a:t>
            </a:r>
            <a:r>
              <a:rPr lang="en-AU" sz="2200" dirty="0">
                <a:solidFill>
                  <a:srgbClr val="000000"/>
                </a:solidFill>
                <a:latin typeface="Calibri" panose="020F0502020204030204" pitchFamily="34" charset="0"/>
              </a:rPr>
              <a:t> verbs</a:t>
            </a:r>
          </a:p>
          <a:p>
            <a:pPr marL="731838" lvl="1" indent="-457200" defTabSz="457200">
              <a:buSzPct val="75000"/>
              <a:buFont typeface="Wingdings" pitchFamily="2" charset="2"/>
              <a:buChar char="§"/>
              <a:tabLst>
                <a:tab pos="1970088" algn="l"/>
              </a:tabLst>
            </a:pPr>
            <a:r>
              <a:rPr lang="en-AU" sz="2200" dirty="0">
                <a:solidFill>
                  <a:srgbClr val="000000"/>
                </a:solidFill>
                <a:latin typeface="Calibri" panose="020F0502020204030204" pitchFamily="34" charset="0"/>
              </a:rPr>
              <a:t>The relationship must be </a:t>
            </a:r>
            <a:r>
              <a:rPr lang="en-AU" sz="2200" b="1" dirty="0">
                <a:solidFill>
                  <a:srgbClr val="000000"/>
                </a:solidFill>
                <a:latin typeface="Calibri" panose="020F0502020204030204" pitchFamily="34" charset="0"/>
              </a:rPr>
              <a:t>worth</a:t>
            </a:r>
            <a:r>
              <a:rPr lang="en-AU" sz="2200" dirty="0">
                <a:solidFill>
                  <a:srgbClr val="000000"/>
                </a:solidFill>
                <a:latin typeface="Calibri" panose="020F0502020204030204" pitchFamily="34" charset="0"/>
              </a:rPr>
              <a:t> recording</a:t>
            </a:r>
          </a:p>
          <a:p>
            <a:pPr marL="731838" lvl="1" indent="-457200" defTabSz="457200">
              <a:buSzPct val="75000"/>
              <a:buFont typeface="Wingdings" pitchFamily="2" charset="2"/>
              <a:buChar char="§"/>
              <a:tabLst>
                <a:tab pos="1970088" algn="l"/>
              </a:tabLst>
            </a:pPr>
            <a:r>
              <a:rPr lang="en-AU" sz="2200" dirty="0">
                <a:solidFill>
                  <a:srgbClr val="000000"/>
                </a:solidFill>
                <a:latin typeface="Calibri" panose="020F0502020204030204" pitchFamily="34" charset="0"/>
              </a:rPr>
              <a:t>The relationship must </a:t>
            </a:r>
            <a:r>
              <a:rPr lang="en-AU" sz="2200" b="1" dirty="0">
                <a:solidFill>
                  <a:srgbClr val="000000"/>
                </a:solidFill>
                <a:latin typeface="Calibri" panose="020F0502020204030204" pitchFamily="34" charset="0"/>
              </a:rPr>
              <a:t>persistent</a:t>
            </a:r>
            <a:r>
              <a:rPr lang="en-AU" sz="2200" dirty="0">
                <a:solidFill>
                  <a:srgbClr val="000000"/>
                </a:solidFill>
                <a:latin typeface="Calibri" panose="020F0502020204030204" pitchFamily="34" charset="0"/>
              </a:rPr>
              <a:t>, not transient</a:t>
            </a:r>
          </a:p>
          <a:p>
            <a:pPr marL="1927225" lvl="3" indent="-457200" defTabSz="457200">
              <a:buSzPct val="75000"/>
              <a:tabLst>
                <a:tab pos="1970088" algn="l"/>
              </a:tabLst>
            </a:pPr>
            <a:r>
              <a:rPr lang="en-AU" sz="2200" dirty="0">
                <a:solidFill>
                  <a:srgbClr val="000000"/>
                </a:solidFill>
                <a:latin typeface="Calibri" panose="020F0502020204030204" pitchFamily="34" charset="0"/>
              </a:rPr>
              <a:t>"The student enrolled in a subject"</a:t>
            </a:r>
          </a:p>
          <a:p>
            <a:pPr marL="1927225" lvl="3" indent="-457200" defTabSz="457200">
              <a:buSzPct val="75000"/>
              <a:tabLst>
                <a:tab pos="1970088" algn="l"/>
              </a:tabLst>
            </a:pPr>
            <a:r>
              <a:rPr lang="en-AU" sz="2200" dirty="0">
                <a:solidFill>
                  <a:srgbClr val="000000"/>
                </a:solidFill>
                <a:latin typeface="Calibri" panose="020F0502020204030204" pitchFamily="34" charset="0"/>
              </a:rPr>
              <a:t>                   rather than</a:t>
            </a:r>
          </a:p>
          <a:p>
            <a:pPr marL="1927225" lvl="3" indent="-457200" defTabSz="457200">
              <a:buSzPct val="75000"/>
              <a:tabLst>
                <a:tab pos="1970088" algn="l"/>
              </a:tabLst>
            </a:pPr>
            <a:r>
              <a:rPr lang="en-AU" sz="2200" dirty="0">
                <a:solidFill>
                  <a:srgbClr val="000000"/>
                </a:solidFill>
                <a:latin typeface="Calibri" panose="020F0502020204030204" pitchFamily="34" charset="0"/>
              </a:rPr>
              <a:t>"The student read the subject course finder web page"</a:t>
            </a:r>
          </a:p>
          <a:p>
            <a:pPr marL="731838" lvl="1" indent="-457200" defTabSz="457200">
              <a:buSzPct val="75000"/>
              <a:buFont typeface="Wingdings" pitchFamily="2" charset="2"/>
              <a:buChar char="§"/>
              <a:tabLst>
                <a:tab pos="1970088" algn="l"/>
              </a:tabLst>
            </a:pPr>
            <a:r>
              <a:rPr lang="en-AU" sz="2200" dirty="0">
                <a:solidFill>
                  <a:srgbClr val="000000"/>
                </a:solidFill>
                <a:latin typeface="Calibri" panose="020F0502020204030204" pitchFamily="34" charset="0"/>
              </a:rPr>
              <a:t>Watch for "</a:t>
            </a:r>
            <a:r>
              <a:rPr lang="en-AU" sz="2200" b="1" dirty="0">
                <a:solidFill>
                  <a:srgbClr val="000000"/>
                </a:solidFill>
                <a:latin typeface="Calibri" panose="020F0502020204030204" pitchFamily="34" charset="0"/>
              </a:rPr>
              <a:t>abstract</a:t>
            </a:r>
            <a:r>
              <a:rPr lang="en-AU" sz="2200" dirty="0">
                <a:solidFill>
                  <a:srgbClr val="000000"/>
                </a:solidFill>
                <a:latin typeface="Calibri" panose="020F0502020204030204" pitchFamily="34" charset="0"/>
              </a:rPr>
              <a:t>" nouns</a:t>
            </a:r>
          </a:p>
          <a:p>
            <a:pPr marL="1927225" lvl="3" indent="-457200" defTabSz="457200">
              <a:buSzPct val="75000"/>
              <a:tabLst>
                <a:tab pos="1970088" algn="l"/>
              </a:tabLst>
            </a:pPr>
            <a:r>
              <a:rPr lang="en-AU" sz="2200" dirty="0">
                <a:solidFill>
                  <a:srgbClr val="000000"/>
                </a:solidFill>
                <a:latin typeface="Calibri" panose="020F0502020204030204" pitchFamily="34" charset="0"/>
              </a:rPr>
              <a:t>"A student makes an enrolment"</a:t>
            </a:r>
          </a:p>
          <a:p>
            <a:pPr marL="1927225" lvl="3" indent="-457200" defTabSz="457200">
              <a:buSzPct val="75000"/>
              <a:tabLst>
                <a:tab pos="1970088" algn="l"/>
              </a:tabLst>
            </a:pPr>
            <a:r>
              <a:rPr lang="en-AU" sz="2200" dirty="0">
                <a:solidFill>
                  <a:srgbClr val="000000"/>
                </a:solidFill>
                <a:latin typeface="Calibri" panose="020F0502020204030204" pitchFamily="34" charset="0"/>
              </a:rPr>
              <a:t>                is the same as</a:t>
            </a:r>
          </a:p>
          <a:p>
            <a:pPr marL="1927225" lvl="3" indent="-457200" defTabSz="457200">
              <a:buSzPct val="75000"/>
              <a:tabLst>
                <a:tab pos="1970088" algn="l"/>
              </a:tabLst>
            </a:pPr>
            <a:r>
              <a:rPr lang="en-AU" sz="2200" dirty="0">
                <a:solidFill>
                  <a:srgbClr val="000000"/>
                </a:solidFill>
                <a:latin typeface="Calibri" panose="020F0502020204030204" pitchFamily="34" charset="0"/>
              </a:rPr>
              <a:t>"A student enrols in a subject".</a:t>
            </a:r>
          </a:p>
          <a:p>
            <a:pPr marL="731838" lvl="1" indent="-457200" defTabSz="457200">
              <a:buSzPct val="75000"/>
              <a:buFont typeface="Wingdings" pitchFamily="2" charset="2"/>
              <a:buChar char="§"/>
              <a:tabLst>
                <a:tab pos="1970088" algn="l"/>
              </a:tabLst>
            </a:pPr>
            <a:r>
              <a:rPr lang="en-AU" sz="2200" dirty="0">
                <a:solidFill>
                  <a:srgbClr val="000000"/>
                </a:solidFill>
                <a:latin typeface="Calibri" panose="020F0502020204030204" pitchFamily="34" charset="0"/>
              </a:rPr>
              <a:t>You should be able to </a:t>
            </a:r>
            <a:r>
              <a:rPr lang="en-AU" sz="2200" b="1" dirty="0">
                <a:solidFill>
                  <a:srgbClr val="000000"/>
                </a:solidFill>
                <a:latin typeface="Calibri" panose="020F0502020204030204" pitchFamily="34" charset="0"/>
              </a:rPr>
              <a:t>verbalize</a:t>
            </a:r>
            <a:r>
              <a:rPr lang="en-AU" sz="22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AU" sz="2200" b="1" dirty="0">
                <a:solidFill>
                  <a:srgbClr val="000000"/>
                </a:solidFill>
                <a:latin typeface="Calibri" panose="020F0502020204030204" pitchFamily="34" charset="0"/>
              </a:rPr>
              <a:t>the</a:t>
            </a:r>
            <a:r>
              <a:rPr lang="en-AU" sz="22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AU" sz="2200" b="1" dirty="0">
                <a:solidFill>
                  <a:srgbClr val="000000"/>
                </a:solidFill>
                <a:latin typeface="Calibri" panose="020F0502020204030204" pitchFamily="34" charset="0"/>
              </a:rPr>
              <a:t>relationship</a:t>
            </a:r>
          </a:p>
          <a:p>
            <a:pPr marL="1214438" lvl="2" indent="-457200" defTabSz="457200">
              <a:buSzPct val="75000"/>
              <a:buFont typeface="Wingdings" pitchFamily="2" charset="2"/>
              <a:buChar char="§"/>
              <a:tabLst>
                <a:tab pos="1970088" algn="l"/>
              </a:tabLst>
            </a:pPr>
            <a:r>
              <a:rPr lang="en-AU" sz="2200" dirty="0" err="1">
                <a:solidFill>
                  <a:srgbClr val="000000"/>
                </a:solidFill>
                <a:latin typeface="Calibri" panose="020F0502020204030204" pitchFamily="34" charset="0"/>
              </a:rPr>
              <a:t>eg</a:t>
            </a:r>
            <a:r>
              <a:rPr lang="en-AU" sz="2200" dirty="0">
                <a:solidFill>
                  <a:srgbClr val="000000"/>
                </a:solidFill>
                <a:latin typeface="Calibri" panose="020F0502020204030204" pitchFamily="34" charset="0"/>
              </a:rPr>
              <a:t>. You can say "A Subject has many Enrolments"</a:t>
            </a:r>
          </a:p>
        </p:txBody>
      </p:sp>
    </p:spTree>
    <p:extLst>
      <p:ext uri="{BB962C8B-B14F-4D97-AF65-F5344CB8AC3E}">
        <p14:creationId xmlns:p14="http://schemas.microsoft.com/office/powerpoint/2010/main" val="11423157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Step 3</a:t>
            </a:r>
          </a:p>
        </p:txBody>
      </p:sp>
      <p:sp>
        <p:nvSpPr>
          <p:cNvPr id="7173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839893"/>
            <a:ext cx="8010626" cy="4165244"/>
          </a:xfrm>
          <a:noFill/>
        </p:spPr>
        <p:txBody>
          <a:bodyPr>
            <a:norm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n-AU" sz="2200" dirty="0">
                <a:latin typeface="Calibri" panose="020F0502020204030204" pitchFamily="34" charset="0"/>
              </a:rPr>
              <a:t>Identify any </a:t>
            </a:r>
            <a:r>
              <a:rPr lang="en-AU" sz="2200" b="1" dirty="0">
                <a:latin typeface="Calibri" panose="020F0502020204030204" pitchFamily="34" charset="0"/>
              </a:rPr>
              <a:t>relationships</a:t>
            </a:r>
            <a:r>
              <a:rPr lang="en-AU" sz="2200" dirty="0">
                <a:latin typeface="Calibri" panose="020F0502020204030204" pitchFamily="34" charset="0"/>
              </a:rPr>
              <a:t> between entities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AU" sz="2200" dirty="0">
                <a:latin typeface="Calibri" panose="020F0502020204030204" pitchFamily="34" charset="0"/>
              </a:rPr>
              <a:t>Easy in this diagram as there are only two entities!</a:t>
            </a:r>
          </a:p>
          <a:p>
            <a:pPr marL="0" indent="0">
              <a:spcBef>
                <a:spcPct val="0"/>
              </a:spcBef>
              <a:buNone/>
            </a:pPr>
            <a:endParaRPr lang="en-AU" sz="2200" dirty="0">
              <a:latin typeface="Calibri" panose="020F0502020204030204" pitchFamily="34" charset="0"/>
            </a:endParaRPr>
          </a:p>
          <a:p>
            <a:pPr marL="952500" lvl="2" indent="-195263">
              <a:spcBef>
                <a:spcPct val="0"/>
              </a:spcBef>
              <a:buNone/>
            </a:pPr>
            <a:r>
              <a:rPr lang="en-AU" sz="2200" dirty="0">
                <a:latin typeface="Calibri" panose="020F0502020204030204" pitchFamily="34" charset="0"/>
              </a:rPr>
              <a:t>"A patron borrows toys"</a:t>
            </a:r>
          </a:p>
          <a:p>
            <a:pPr marL="952500" lvl="2" indent="-195263">
              <a:spcBef>
                <a:spcPct val="0"/>
              </a:spcBef>
              <a:buNone/>
            </a:pPr>
            <a:endParaRPr lang="en-AU" sz="2200" dirty="0">
              <a:latin typeface="Calibri" panose="020F0502020204030204" pitchFamily="34" charset="0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sz="2200" dirty="0">
                <a:latin typeface="Calibri" panose="020F0502020204030204" pitchFamily="34" charset="0"/>
              </a:rPr>
              <a:t>So draw a line between the entities</a:t>
            </a:r>
          </a:p>
          <a:p>
            <a:pPr>
              <a:spcBef>
                <a:spcPct val="0"/>
              </a:spcBef>
            </a:pPr>
            <a:endParaRPr lang="en-AU" sz="2200" b="1" dirty="0"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</a:pPr>
            <a:endParaRPr lang="en-AU" sz="2200" b="1" dirty="0"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</a:pPr>
            <a:endParaRPr lang="en-AU" sz="2200" b="1" dirty="0">
              <a:latin typeface="Calibri" panose="020F0502020204030204" pitchFamily="34" charset="0"/>
            </a:endParaRPr>
          </a:p>
        </p:txBody>
      </p:sp>
      <p:sp>
        <p:nvSpPr>
          <p:cNvPr id="7174" name="Text Box 12"/>
          <p:cNvSpPr txBox="1">
            <a:spLocks noChangeArrowheads="1"/>
          </p:cNvSpPr>
          <p:nvPr/>
        </p:nvSpPr>
        <p:spPr bwMode="auto">
          <a:xfrm>
            <a:off x="3220758" y="6093106"/>
            <a:ext cx="13965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defTabSz="457200"/>
            <a:r>
              <a:rPr lang="en-AU" sz="1800" b="0" i="0" dirty="0" err="1">
                <a:solidFill>
                  <a:srgbClr val="D1161E"/>
                </a:solidFill>
              </a:rPr>
              <a:t>DateBorrowed</a:t>
            </a:r>
            <a:endParaRPr lang="en-US" sz="1800" b="0" i="0" dirty="0">
              <a:solidFill>
                <a:srgbClr val="D1161E"/>
              </a:solidFill>
            </a:endParaRPr>
          </a:p>
        </p:txBody>
      </p:sp>
      <p:sp>
        <p:nvSpPr>
          <p:cNvPr id="7175" name="Text Box 13"/>
          <p:cNvSpPr txBox="1">
            <a:spLocks noChangeArrowheads="1"/>
          </p:cNvSpPr>
          <p:nvPr/>
        </p:nvSpPr>
        <p:spPr bwMode="auto">
          <a:xfrm>
            <a:off x="5597246" y="6093106"/>
            <a:ext cx="136608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defTabSz="457200"/>
            <a:r>
              <a:rPr lang="en-AU" sz="1800" b="0" i="0" dirty="0" err="1">
                <a:solidFill>
                  <a:srgbClr val="D1161E"/>
                </a:solidFill>
              </a:rPr>
              <a:t>DateReturned</a:t>
            </a:r>
            <a:endParaRPr lang="en-US" sz="1800" b="0" i="0" dirty="0">
              <a:solidFill>
                <a:srgbClr val="D1161E"/>
              </a:solidFill>
            </a:endParaRPr>
          </a:p>
        </p:txBody>
      </p:sp>
      <p:graphicFrame>
        <p:nvGraphicFramePr>
          <p:cNvPr id="7179" name="Object 4"/>
          <p:cNvGraphicFramePr>
            <a:graphicFrameLocks noChangeAspect="1"/>
          </p:cNvGraphicFramePr>
          <p:nvPr/>
        </p:nvGraphicFramePr>
        <p:xfrm>
          <a:off x="2764027" y="3543696"/>
          <a:ext cx="5348007" cy="20592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747381" imgH="1968570" progId="Visio.Drawing.11">
                  <p:embed/>
                </p:oleObj>
              </mc:Choice>
              <mc:Fallback>
                <p:oleObj name="Visio" r:id="rId2" imgW="6747381" imgH="1968570" progId="Visio.Drawing.11">
                  <p:embed/>
                  <p:pic>
                    <p:nvPicPr>
                      <p:cNvPr id="717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 r="24255"/>
                      <a:stretch>
                        <a:fillRect/>
                      </a:stretch>
                    </p:blipFill>
                    <p:spPr bwMode="auto">
                      <a:xfrm>
                        <a:off x="2764027" y="3543696"/>
                        <a:ext cx="5348007" cy="20592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799835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Step 4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b="1" dirty="0"/>
              <a:t> </a:t>
            </a:r>
            <a:r>
              <a:rPr lang="en-AU" sz="2400" dirty="0"/>
              <a:t>Determine cardinality and participation constraints</a:t>
            </a:r>
            <a:r>
              <a:rPr lang="en-AU" dirty="0"/>
              <a:t>.</a:t>
            </a:r>
          </a:p>
          <a:p>
            <a:endParaRPr lang="en-AU" b="1" dirty="0"/>
          </a:p>
          <a:p>
            <a:endParaRPr lang="en-US" b="1" dirty="0"/>
          </a:p>
          <a:p>
            <a:endParaRPr lang="en-AU" b="1" dirty="0"/>
          </a:p>
          <a:p>
            <a:endParaRPr lang="en-AU" b="1" dirty="0"/>
          </a:p>
          <a:p>
            <a:endParaRPr lang="en-AU" b="1" dirty="0"/>
          </a:p>
        </p:txBody>
      </p:sp>
      <p:graphicFrame>
        <p:nvGraphicFramePr>
          <p:cNvPr id="8194" name="Object 11"/>
          <p:cNvGraphicFramePr>
            <a:graphicFrameLocks noChangeAspect="1"/>
          </p:cNvGraphicFramePr>
          <p:nvPr/>
        </p:nvGraphicFramePr>
        <p:xfrm>
          <a:off x="2513246" y="1894599"/>
          <a:ext cx="6147921" cy="2412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747381" imgH="1968570" progId="Visio.Drawing.11">
                  <p:embed/>
                </p:oleObj>
              </mc:Choice>
              <mc:Fallback>
                <p:oleObj name="Visio" r:id="rId2" imgW="6747381" imgH="1968570" progId="Visio.Drawing.11">
                  <p:embed/>
                  <p:pic>
                    <p:nvPicPr>
                      <p:cNvPr id="8194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 r="25676"/>
                      <a:stretch>
                        <a:fillRect/>
                      </a:stretch>
                    </p:blipFill>
                    <p:spPr bwMode="auto">
                      <a:xfrm>
                        <a:off x="2513246" y="1894599"/>
                        <a:ext cx="6147921" cy="24124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2"/>
          <p:cNvSpPr txBox="1">
            <a:spLocks noChangeArrowheads="1"/>
          </p:cNvSpPr>
          <p:nvPr/>
        </p:nvSpPr>
        <p:spPr bwMode="auto">
          <a:xfrm>
            <a:off x="3220758" y="6093106"/>
            <a:ext cx="13965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defTabSz="457200"/>
            <a:r>
              <a:rPr lang="en-AU" sz="1800" b="0" i="0" dirty="0" err="1">
                <a:solidFill>
                  <a:srgbClr val="D1161E"/>
                </a:solidFill>
              </a:rPr>
              <a:t>DateBorrowed</a:t>
            </a:r>
            <a:endParaRPr lang="en-US" sz="1800" b="0" i="0" dirty="0">
              <a:solidFill>
                <a:srgbClr val="D1161E"/>
              </a:solidFill>
            </a:endParaRPr>
          </a:p>
        </p:txBody>
      </p:sp>
      <p:sp>
        <p:nvSpPr>
          <p:cNvPr id="8" name="Text Box 13"/>
          <p:cNvSpPr txBox="1">
            <a:spLocks noChangeArrowheads="1"/>
          </p:cNvSpPr>
          <p:nvPr/>
        </p:nvSpPr>
        <p:spPr bwMode="auto">
          <a:xfrm>
            <a:off x="5597246" y="6093106"/>
            <a:ext cx="136608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defTabSz="457200"/>
            <a:r>
              <a:rPr lang="en-AU" sz="1800" b="0" i="0" dirty="0" err="1">
                <a:solidFill>
                  <a:srgbClr val="D1161E"/>
                </a:solidFill>
              </a:rPr>
              <a:t>DateReturned</a:t>
            </a:r>
            <a:endParaRPr lang="en-US" sz="1800" b="0" i="0" dirty="0">
              <a:solidFill>
                <a:srgbClr val="D1161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48835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Step 5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087655"/>
            <a:ext cx="8010626" cy="5138578"/>
          </a:xfrm>
          <a:noFill/>
        </p:spPr>
        <p:txBody>
          <a:bodyPr>
            <a:normAutofit lnSpcReduction="10000"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n-AU" sz="2200" b="1" dirty="0">
                <a:latin typeface="Calibri" panose="020F0502020204030204" pitchFamily="34" charset="0"/>
              </a:rPr>
              <a:t>Attach</a:t>
            </a:r>
            <a:r>
              <a:rPr lang="en-AU" sz="2200" dirty="0">
                <a:latin typeface="Calibri" panose="020F0502020204030204" pitchFamily="34" charset="0"/>
              </a:rPr>
              <a:t> ALL remaining attributes to entities or relationships.</a:t>
            </a:r>
          </a:p>
          <a:p>
            <a:pPr marL="0" indent="0">
              <a:spcBef>
                <a:spcPct val="0"/>
              </a:spcBef>
              <a:buNone/>
            </a:pPr>
            <a:endParaRPr lang="en-AU" sz="2200" dirty="0"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</a:pPr>
            <a:r>
              <a:rPr lang="en-AU" sz="2200" dirty="0">
                <a:latin typeface="Calibri" panose="020F0502020204030204" pitchFamily="34" charset="0"/>
              </a:rPr>
              <a:t>Ask yourself, does it make sense for the attributes to 'belong' to the relationship</a:t>
            </a:r>
          </a:p>
          <a:p>
            <a:pPr>
              <a:spcBef>
                <a:spcPct val="0"/>
              </a:spcBef>
            </a:pPr>
            <a:endParaRPr lang="en-AU" sz="2200" dirty="0"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</a:pPr>
            <a:endParaRPr lang="en-AU" sz="2200" dirty="0"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</a:pPr>
            <a:endParaRPr lang="en-AU" sz="2200" dirty="0"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</a:pPr>
            <a:endParaRPr lang="en-AU" sz="2200" dirty="0"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</a:pPr>
            <a:endParaRPr lang="en-AU" sz="2200" dirty="0"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</a:pPr>
            <a:endParaRPr lang="en-AU" sz="2200" dirty="0"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</a:pPr>
            <a:endParaRPr lang="en-AU" sz="2200" dirty="0"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</a:pPr>
            <a:endParaRPr lang="en-AU" sz="2200" dirty="0"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</a:pPr>
            <a:endParaRPr lang="en-AU" sz="2200" dirty="0"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</a:pPr>
            <a:r>
              <a:rPr lang="en-AU" sz="2200" dirty="0">
                <a:latin typeface="Calibri" panose="020F0502020204030204" pitchFamily="34" charset="0"/>
              </a:rPr>
              <a:t>After this step, </a:t>
            </a:r>
            <a:r>
              <a:rPr lang="en-AU" sz="2200" b="1" dirty="0">
                <a:latin typeface="Calibri" panose="020F0502020204030204" pitchFamily="34" charset="0"/>
              </a:rPr>
              <a:t>all</a:t>
            </a:r>
            <a:r>
              <a:rPr lang="en-AU" sz="2200" dirty="0">
                <a:latin typeface="Calibri" panose="020F0502020204030204" pitchFamily="34" charset="0"/>
              </a:rPr>
              <a:t> </a:t>
            </a:r>
            <a:r>
              <a:rPr lang="en-AU" sz="2200" b="1" dirty="0">
                <a:latin typeface="Calibri" panose="020F0502020204030204" pitchFamily="34" charset="0"/>
              </a:rPr>
              <a:t>attributes</a:t>
            </a:r>
            <a:r>
              <a:rPr lang="en-AU" sz="2200" dirty="0">
                <a:latin typeface="Calibri" panose="020F0502020204030204" pitchFamily="34" charset="0"/>
              </a:rPr>
              <a:t> must be attached to an entity or to a relationship.</a:t>
            </a:r>
          </a:p>
          <a:p>
            <a:pPr marL="354013" indent="-354013">
              <a:spcBef>
                <a:spcPct val="0"/>
              </a:spcBef>
              <a:buNone/>
            </a:pPr>
            <a:r>
              <a:rPr lang="en-AU" sz="2200" dirty="0">
                <a:latin typeface="Calibri" panose="020F0502020204030204" pitchFamily="34" charset="0"/>
              </a:rPr>
              <a:t> </a:t>
            </a:r>
          </a:p>
          <a:p>
            <a:pPr marL="354013" indent="-354013">
              <a:spcBef>
                <a:spcPct val="0"/>
              </a:spcBef>
            </a:pPr>
            <a:endParaRPr lang="en-AU" sz="2200" dirty="0">
              <a:latin typeface="Calibri" panose="020F0502020204030204" pitchFamily="34" charset="0"/>
            </a:endParaRPr>
          </a:p>
          <a:p>
            <a:pPr marL="354013" indent="-354013">
              <a:spcBef>
                <a:spcPct val="0"/>
              </a:spcBef>
            </a:pPr>
            <a:endParaRPr lang="en-US" sz="2200" b="1" dirty="0">
              <a:latin typeface="Calibri" panose="020F0502020204030204" pitchFamily="34" charset="0"/>
            </a:endParaRPr>
          </a:p>
          <a:p>
            <a:pPr marL="354013" indent="-354013">
              <a:spcBef>
                <a:spcPct val="0"/>
              </a:spcBef>
            </a:pPr>
            <a:endParaRPr lang="en-AU" sz="2200" b="1" dirty="0">
              <a:latin typeface="Calibri" panose="020F0502020204030204" pitchFamily="34" charset="0"/>
            </a:endParaRPr>
          </a:p>
          <a:p>
            <a:pPr marL="354013" indent="-354013">
              <a:spcBef>
                <a:spcPct val="0"/>
              </a:spcBef>
            </a:pPr>
            <a:endParaRPr lang="en-AU" sz="2200" b="1" dirty="0">
              <a:latin typeface="Calibri" panose="020F0502020204030204" pitchFamily="34" charset="0"/>
            </a:endParaRPr>
          </a:p>
          <a:p>
            <a:pPr marL="354013" indent="-354013">
              <a:spcBef>
                <a:spcPct val="0"/>
              </a:spcBef>
            </a:pPr>
            <a:endParaRPr lang="en-AU" sz="2200" b="1" dirty="0">
              <a:latin typeface="Calibri" panose="020F0502020204030204" pitchFamily="34" charset="0"/>
            </a:endParaRPr>
          </a:p>
        </p:txBody>
      </p:sp>
      <p:graphicFrame>
        <p:nvGraphicFramePr>
          <p:cNvPr id="9218" name="Object 6"/>
          <p:cNvGraphicFramePr>
            <a:graphicFrameLocks noChangeAspect="1"/>
          </p:cNvGraphicFramePr>
          <p:nvPr/>
        </p:nvGraphicFramePr>
        <p:xfrm>
          <a:off x="2816646" y="2535726"/>
          <a:ext cx="6558709" cy="23194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747381" imgH="1968570" progId="Visio.Drawing.11">
                  <p:embed/>
                </p:oleObj>
              </mc:Choice>
              <mc:Fallback>
                <p:oleObj name="Visio" r:id="rId2" imgW="6747381" imgH="1968570" progId="Visio.Drawing.11">
                  <p:embed/>
                  <p:pic>
                    <p:nvPicPr>
                      <p:cNvPr id="921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 r="17546"/>
                      <a:stretch>
                        <a:fillRect/>
                      </a:stretch>
                    </p:blipFill>
                    <p:spPr bwMode="auto">
                      <a:xfrm>
                        <a:off x="2816646" y="2535726"/>
                        <a:ext cx="6558709" cy="23194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168953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Step 6 – expand M:M with attributes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AU" sz="2200" dirty="0">
                <a:latin typeface="Calibri" panose="020F0502020204030204" pitchFamily="34" charset="0"/>
              </a:rPr>
              <a:t>If your diagram now contains a </a:t>
            </a:r>
            <a:r>
              <a:rPr lang="en-AU" sz="2200" b="1" dirty="0">
                <a:latin typeface="Calibri" panose="020F0502020204030204" pitchFamily="34" charset="0"/>
              </a:rPr>
              <a:t>M:M</a:t>
            </a:r>
            <a:r>
              <a:rPr lang="en-AU" sz="2200" dirty="0">
                <a:latin typeface="Calibri" panose="020F0502020204030204" pitchFamily="34" charset="0"/>
              </a:rPr>
              <a:t> </a:t>
            </a:r>
            <a:r>
              <a:rPr lang="en-AU" sz="2200" b="1" dirty="0">
                <a:latin typeface="Calibri" panose="020F0502020204030204" pitchFamily="34" charset="0"/>
              </a:rPr>
              <a:t>with attached attributes</a:t>
            </a:r>
            <a:r>
              <a:rPr lang="en-AU" sz="2200" dirty="0">
                <a:latin typeface="Calibri" panose="020F0502020204030204" pitchFamily="34" charset="0"/>
              </a:rPr>
              <a:t>, then </a:t>
            </a:r>
            <a:r>
              <a:rPr lang="en-AU" sz="2200" b="1" dirty="0">
                <a:latin typeface="Calibri" panose="020F0502020204030204" pitchFamily="34" charset="0"/>
              </a:rPr>
              <a:t>expand</a:t>
            </a:r>
            <a:r>
              <a:rPr lang="en-AU" sz="2200" dirty="0">
                <a:latin typeface="Calibri" panose="020F0502020204030204" pitchFamily="34" charset="0"/>
              </a:rPr>
              <a:t> that M:M relationship</a:t>
            </a:r>
          </a:p>
          <a:p>
            <a:pPr>
              <a:spcBef>
                <a:spcPct val="0"/>
              </a:spcBef>
            </a:pPr>
            <a:r>
              <a:rPr lang="en-AU" sz="2200" dirty="0">
                <a:latin typeface="Calibri" panose="020F0502020204030204" pitchFamily="34" charset="0"/>
              </a:rPr>
              <a:t>Expand M:M relationships that have attributes </a:t>
            </a:r>
          </a:p>
          <a:p>
            <a:pPr>
              <a:spcBef>
                <a:spcPct val="0"/>
              </a:spcBef>
            </a:pPr>
            <a:endParaRPr lang="en-AU" sz="2200" dirty="0"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</a:pPr>
            <a:endParaRPr lang="en-AU" sz="2200" b="1" dirty="0">
              <a:latin typeface="Calibri" panose="020F0502020204030204" pitchFamily="34" charset="0"/>
            </a:endParaRPr>
          </a:p>
        </p:txBody>
      </p:sp>
      <p:graphicFrame>
        <p:nvGraphicFramePr>
          <p:cNvPr id="10242" name="Object 10"/>
          <p:cNvGraphicFramePr>
            <a:graphicFrameLocks noChangeAspect="1"/>
          </p:cNvGraphicFramePr>
          <p:nvPr/>
        </p:nvGraphicFramePr>
        <p:xfrm>
          <a:off x="2465294" y="2521506"/>
          <a:ext cx="6893767" cy="20184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747381" imgH="1968570" progId="Visio.Drawing.11">
                  <p:embed/>
                </p:oleObj>
              </mc:Choice>
              <mc:Fallback>
                <p:oleObj name="Visio" r:id="rId2" imgW="6747381" imgH="1968570" progId="Visio.Drawing.11">
                  <p:embed/>
                  <p:pic>
                    <p:nvPicPr>
                      <p:cNvPr id="1024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 r="433"/>
                      <a:stretch>
                        <a:fillRect/>
                      </a:stretch>
                    </p:blipFill>
                    <p:spPr bwMode="auto">
                      <a:xfrm>
                        <a:off x="2465294" y="2521506"/>
                        <a:ext cx="6893767" cy="20184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2"/>
          <p:cNvSpPr txBox="1">
            <a:spLocks noChangeArrowheads="1"/>
          </p:cNvSpPr>
          <p:nvPr/>
        </p:nvSpPr>
        <p:spPr bwMode="auto">
          <a:xfrm>
            <a:off x="4045511" y="4868415"/>
            <a:ext cx="13965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defTabSz="457200"/>
            <a:r>
              <a:rPr lang="en-AU" sz="1800" b="0" i="0" dirty="0" err="1">
                <a:solidFill>
                  <a:srgbClr val="D1161E"/>
                </a:solidFill>
              </a:rPr>
              <a:t>DateBorrowed</a:t>
            </a:r>
            <a:endParaRPr lang="en-US" sz="1800" b="0" i="0" dirty="0">
              <a:solidFill>
                <a:srgbClr val="D1161E"/>
              </a:solidFill>
            </a:endParaRPr>
          </a:p>
        </p:txBody>
      </p:sp>
      <p:sp>
        <p:nvSpPr>
          <p:cNvPr id="8" name="Text Box 13"/>
          <p:cNvSpPr txBox="1">
            <a:spLocks noChangeArrowheads="1"/>
          </p:cNvSpPr>
          <p:nvPr/>
        </p:nvSpPr>
        <p:spPr bwMode="auto">
          <a:xfrm>
            <a:off x="6421999" y="4868415"/>
            <a:ext cx="136608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defTabSz="457200"/>
            <a:r>
              <a:rPr lang="en-AU" sz="1800" b="0" i="0" dirty="0" err="1">
                <a:solidFill>
                  <a:srgbClr val="D1161E"/>
                </a:solidFill>
              </a:rPr>
              <a:t>DateReturned</a:t>
            </a:r>
            <a:endParaRPr lang="en-US" sz="1800" b="0" i="0" dirty="0">
              <a:solidFill>
                <a:srgbClr val="D1161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186" y="5333636"/>
            <a:ext cx="56506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AU" dirty="0">
                <a:solidFill>
                  <a:srgbClr val="000000"/>
                </a:solidFill>
                <a:latin typeface="Calibri"/>
              </a:rPr>
              <a:t>Sometimes, during this process, you may discover more underlying M:M relationships, so you can't simply assume that the Dates will both belong to the Loan Entity.</a:t>
            </a:r>
          </a:p>
        </p:txBody>
      </p:sp>
    </p:spTree>
    <p:extLst>
      <p:ext uri="{BB962C8B-B14F-4D97-AF65-F5344CB8AC3E}">
        <p14:creationId xmlns:p14="http://schemas.microsoft.com/office/powerpoint/2010/main" val="10525226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/>
              <a:t>Step 7 – reattach attributes</a:t>
            </a:r>
          </a:p>
        </p:txBody>
      </p:sp>
      <p:sp>
        <p:nvSpPr>
          <p:cNvPr id="11270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842683"/>
            <a:ext cx="8686800" cy="4162455"/>
          </a:xfrm>
          <a:noFill/>
        </p:spPr>
        <p:txBody>
          <a:bodyPr>
            <a:norm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n-AU" sz="2200" dirty="0">
                <a:latin typeface="Calibri" panose="020F0502020204030204" pitchFamily="34" charset="0"/>
              </a:rPr>
              <a:t>Consider each outstanding attribute</a:t>
            </a:r>
          </a:p>
          <a:p>
            <a:pPr marL="655638" lvl="1" indent="-3810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AU" sz="2200" dirty="0">
                <a:latin typeface="Calibri" panose="020F0502020204030204" pitchFamily="34" charset="0"/>
              </a:rPr>
              <a:t>Does each Loan have a single </a:t>
            </a:r>
            <a:r>
              <a:rPr lang="en-AU" sz="2200" dirty="0" err="1">
                <a:latin typeface="Calibri" panose="020F0502020204030204" pitchFamily="34" charset="0"/>
              </a:rPr>
              <a:t>DateBorrowed</a:t>
            </a:r>
            <a:r>
              <a:rPr lang="en-AU" sz="2200" dirty="0">
                <a:latin typeface="Calibri" panose="020F0502020204030204" pitchFamily="34" charset="0"/>
              </a:rPr>
              <a:t>?   (Yes)</a:t>
            </a:r>
          </a:p>
          <a:p>
            <a:pPr marL="655638" lvl="1" indent="-3810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AU" sz="2200" dirty="0">
                <a:latin typeface="Calibri" panose="020F0502020204030204" pitchFamily="34" charset="0"/>
              </a:rPr>
              <a:t>Does each Loan have a single </a:t>
            </a:r>
            <a:r>
              <a:rPr lang="en-AU" sz="2200" dirty="0" err="1">
                <a:latin typeface="Calibri" panose="020F0502020204030204" pitchFamily="34" charset="0"/>
              </a:rPr>
              <a:t>DateReturned</a:t>
            </a:r>
            <a:r>
              <a:rPr lang="en-AU" sz="2200" dirty="0">
                <a:latin typeface="Calibri" panose="020F0502020204030204" pitchFamily="34" charset="0"/>
              </a:rPr>
              <a:t>  (Yes. It may be NULL)</a:t>
            </a:r>
          </a:p>
          <a:p>
            <a:pPr marL="655638" lvl="1" indent="-381000">
              <a:spcBef>
                <a:spcPct val="0"/>
              </a:spcBef>
            </a:pPr>
            <a:endParaRPr lang="en-AU" sz="2200" dirty="0">
              <a:latin typeface="Calibri" panose="020F0502020204030204" pitchFamily="34" charset="0"/>
            </a:endParaRPr>
          </a:p>
          <a:p>
            <a:pPr marL="274638" lvl="1" indent="0">
              <a:spcBef>
                <a:spcPct val="0"/>
              </a:spcBef>
              <a:buNone/>
            </a:pPr>
            <a:r>
              <a:rPr lang="en-AU" sz="2200" dirty="0">
                <a:latin typeface="Calibri" panose="020F0502020204030204" pitchFamily="34" charset="0"/>
              </a:rPr>
              <a:t>If an attribute belongs to an Entity, add it to the diagram</a:t>
            </a:r>
          </a:p>
          <a:p>
            <a:pPr marL="655638" lvl="1" indent="-381000">
              <a:spcBef>
                <a:spcPct val="0"/>
              </a:spcBef>
            </a:pPr>
            <a:endParaRPr lang="en-AU" sz="2200" dirty="0">
              <a:latin typeface="Calibri" panose="020F0502020204030204" pitchFamily="34" charset="0"/>
            </a:endParaRPr>
          </a:p>
          <a:p>
            <a:pPr marL="1138238" lvl="2" indent="-381000">
              <a:spcBef>
                <a:spcPct val="0"/>
              </a:spcBef>
            </a:pPr>
            <a:endParaRPr lang="en-US" sz="2200" dirty="0">
              <a:latin typeface="Calibri" panose="020F0502020204030204" pitchFamily="34" charset="0"/>
            </a:endParaRPr>
          </a:p>
          <a:p>
            <a:pPr marL="381000" indent="-381000">
              <a:spcBef>
                <a:spcPct val="0"/>
              </a:spcBef>
            </a:pPr>
            <a:endParaRPr lang="en-AU" sz="2200" dirty="0">
              <a:latin typeface="Calibri" panose="020F0502020204030204" pitchFamily="34" charset="0"/>
            </a:endParaRPr>
          </a:p>
        </p:txBody>
      </p:sp>
      <p:sp>
        <p:nvSpPr>
          <p:cNvPr id="11268" name="Rectangle 10"/>
          <p:cNvSpPr>
            <a:spLocks noChangeArrowheads="1"/>
          </p:cNvSpPr>
          <p:nvPr/>
        </p:nvSpPr>
        <p:spPr bwMode="auto">
          <a:xfrm>
            <a:off x="1524000" y="5954714"/>
            <a:ext cx="1709738" cy="9032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graphicFrame>
        <p:nvGraphicFramePr>
          <p:cNvPr id="11266" name="Object 9"/>
          <p:cNvGraphicFramePr>
            <a:graphicFrameLocks noChangeAspect="1"/>
          </p:cNvGraphicFramePr>
          <p:nvPr/>
        </p:nvGraphicFramePr>
        <p:xfrm>
          <a:off x="2467443" y="3109820"/>
          <a:ext cx="7062040" cy="2067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747381" imgH="1968570" progId="Visio.Drawing.11">
                  <p:embed/>
                </p:oleObj>
              </mc:Choice>
              <mc:Fallback>
                <p:oleObj name="Visio" r:id="rId2" imgW="6747381" imgH="1968570" progId="Visio.Drawing.11">
                  <p:embed/>
                  <p:pic>
                    <p:nvPicPr>
                      <p:cNvPr id="11266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 r="433"/>
                      <a:stretch>
                        <a:fillRect/>
                      </a:stretch>
                    </p:blipFill>
                    <p:spPr bwMode="auto">
                      <a:xfrm>
                        <a:off x="2467443" y="3109820"/>
                        <a:ext cx="7062040" cy="20676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000752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 dirty="0"/>
              <a:t>Identifiers…</a:t>
            </a:r>
          </a:p>
        </p:txBody>
      </p:sp>
      <p:sp>
        <p:nvSpPr>
          <p:cNvPr id="11270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>
            <a:normAutofit lnSpcReduction="10000"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n-AU" sz="2200" dirty="0">
                <a:latin typeface="Calibri" panose="020F0502020204030204" pitchFamily="34" charset="0"/>
              </a:rPr>
              <a:t>What is the identifier of Loan?</a:t>
            </a:r>
          </a:p>
          <a:p>
            <a:pPr marL="381000" indent="-381000">
              <a:spcBef>
                <a:spcPct val="0"/>
              </a:spcBef>
            </a:pPr>
            <a:endParaRPr lang="en-AU" sz="2200" dirty="0">
              <a:latin typeface="Calibri" panose="020F0502020204030204" pitchFamily="34" charset="0"/>
            </a:endParaRPr>
          </a:p>
          <a:p>
            <a:pPr marL="274638" lvl="1" indent="0">
              <a:spcBef>
                <a:spcPct val="0"/>
              </a:spcBef>
              <a:buNone/>
            </a:pPr>
            <a:endParaRPr lang="en-AU" sz="2200" dirty="0">
              <a:latin typeface="Calibri" panose="020F0502020204030204" pitchFamily="34" charset="0"/>
            </a:endParaRPr>
          </a:p>
          <a:p>
            <a:pPr marL="1138238" lvl="2" indent="-381000">
              <a:spcBef>
                <a:spcPct val="0"/>
              </a:spcBef>
            </a:pPr>
            <a:endParaRPr lang="en-US" sz="2200" dirty="0">
              <a:latin typeface="Calibri" panose="020F0502020204030204" pitchFamily="34" charset="0"/>
            </a:endParaRPr>
          </a:p>
          <a:p>
            <a:pPr marL="381000" indent="-381000">
              <a:spcBef>
                <a:spcPct val="0"/>
              </a:spcBef>
            </a:pPr>
            <a:endParaRPr lang="en-AU" sz="2200" dirty="0">
              <a:latin typeface="Calibri" panose="020F0502020204030204" pitchFamily="34" charset="0"/>
            </a:endParaRPr>
          </a:p>
          <a:p>
            <a:pPr marL="381000" indent="-381000">
              <a:spcBef>
                <a:spcPct val="0"/>
              </a:spcBef>
            </a:pPr>
            <a:endParaRPr lang="en-AU" sz="2200" dirty="0">
              <a:latin typeface="Calibri" panose="020F0502020204030204" pitchFamily="34" charset="0"/>
            </a:endParaRPr>
          </a:p>
          <a:p>
            <a:pPr marL="381000" indent="-381000">
              <a:spcBef>
                <a:spcPct val="0"/>
              </a:spcBef>
            </a:pPr>
            <a:endParaRPr lang="en-AU" sz="2200" dirty="0">
              <a:latin typeface="Calibri" panose="020F0502020204030204" pitchFamily="34" charset="0"/>
            </a:endParaRPr>
          </a:p>
          <a:p>
            <a:pPr marL="381000" indent="-381000">
              <a:spcBef>
                <a:spcPct val="0"/>
              </a:spcBef>
            </a:pPr>
            <a:endParaRPr lang="en-AU" sz="2200" dirty="0">
              <a:latin typeface="Calibri" panose="020F0502020204030204" pitchFamily="34" charset="0"/>
            </a:endParaRPr>
          </a:p>
          <a:p>
            <a:pPr marL="381000" indent="-381000">
              <a:spcBef>
                <a:spcPct val="0"/>
              </a:spcBef>
            </a:pPr>
            <a:endParaRPr lang="en-AU" sz="2200" dirty="0">
              <a:latin typeface="Calibri" panose="020F0502020204030204" pitchFamily="34" charset="0"/>
            </a:endParaRPr>
          </a:p>
          <a:p>
            <a:pPr marL="381000" indent="-381000">
              <a:spcBef>
                <a:spcPct val="0"/>
              </a:spcBef>
            </a:pPr>
            <a:endParaRPr lang="en-AU" sz="2200" dirty="0">
              <a:latin typeface="Calibri" panose="020F0502020204030204" pitchFamily="34" charset="0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AU" sz="2200" dirty="0">
                <a:latin typeface="Calibri" panose="020F0502020204030204" pitchFamily="34" charset="0"/>
              </a:rPr>
              <a:t>If you are not sure, then a good approach is to create a relational schema and use some sample data…</a:t>
            </a:r>
          </a:p>
        </p:txBody>
      </p:sp>
      <p:sp>
        <p:nvSpPr>
          <p:cNvPr id="11268" name="Rectangle 10"/>
          <p:cNvSpPr>
            <a:spLocks noChangeArrowheads="1"/>
          </p:cNvSpPr>
          <p:nvPr/>
        </p:nvSpPr>
        <p:spPr bwMode="auto">
          <a:xfrm>
            <a:off x="1524000" y="5954714"/>
            <a:ext cx="1709738" cy="90328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graphicFrame>
        <p:nvGraphicFramePr>
          <p:cNvPr id="11266" name="Object 9"/>
          <p:cNvGraphicFramePr>
            <a:graphicFrameLocks noChangeAspect="1"/>
          </p:cNvGraphicFramePr>
          <p:nvPr/>
        </p:nvGraphicFramePr>
        <p:xfrm>
          <a:off x="2518619" y="1940247"/>
          <a:ext cx="6684776" cy="19572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747381" imgH="1968570" progId="Visio.Drawing.11">
                  <p:embed/>
                </p:oleObj>
              </mc:Choice>
              <mc:Fallback>
                <p:oleObj name="Visio" r:id="rId2" imgW="6747381" imgH="1968570" progId="Visio.Drawing.11">
                  <p:embed/>
                  <p:pic>
                    <p:nvPicPr>
                      <p:cNvPr id="11266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 r="433"/>
                      <a:stretch>
                        <a:fillRect/>
                      </a:stretch>
                    </p:blipFill>
                    <p:spPr bwMode="auto">
                      <a:xfrm>
                        <a:off x="2518619" y="1940247"/>
                        <a:ext cx="6684776" cy="19572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90639412"/>
      </p:ext>
    </p:extLst>
  </p:cSld>
  <p:clrMapOvr>
    <a:masterClrMapping/>
  </p:clrMapOvr>
</p:sld>
</file>

<file path=ppt/theme/theme1.xml><?xml version="1.0" encoding="utf-8"?>
<a:theme xmlns:a="http://schemas.openxmlformats.org/drawingml/2006/main" name="1_Swinburne_Tiles">
  <a:themeElements>
    <a:clrScheme name="Swinburne">
      <a:dk1>
        <a:srgbClr val="D1161E"/>
      </a:dk1>
      <a:lt1>
        <a:srgbClr val="FFFFFF"/>
      </a:lt1>
      <a:dk2>
        <a:srgbClr val="000000"/>
      </a:dk2>
      <a:lt2>
        <a:srgbClr val="FFFFFF"/>
      </a:lt2>
      <a:accent1>
        <a:srgbClr val="4A8E10"/>
      </a:accent1>
      <a:accent2>
        <a:srgbClr val="0C64A7"/>
      </a:accent2>
      <a:accent3>
        <a:srgbClr val="16B1CF"/>
      </a:accent3>
      <a:accent4>
        <a:srgbClr val="FEAE35"/>
      </a:accent4>
      <a:accent5>
        <a:srgbClr val="6C008D"/>
      </a:accent5>
      <a:accent6>
        <a:srgbClr val="6D6F72"/>
      </a:accent6>
      <a:hlink>
        <a:srgbClr val="6D6F72"/>
      </a:hlink>
      <a:folHlink>
        <a:srgbClr val="D1161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6055</TotalTime>
  <Words>1984</Words>
  <Application>Microsoft Office PowerPoint</Application>
  <PresentationFormat>Widescreen</PresentationFormat>
  <Paragraphs>433</Paragraphs>
  <Slides>31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Arial</vt:lpstr>
      <vt:lpstr>Arial Narrow</vt:lpstr>
      <vt:lpstr>Calibri</vt:lpstr>
      <vt:lpstr>Courier New</vt:lpstr>
      <vt:lpstr>Open Sans</vt:lpstr>
      <vt:lpstr>Wingdings</vt:lpstr>
      <vt:lpstr>1_Swinburne_Tiles</vt:lpstr>
      <vt:lpstr>Visio</vt:lpstr>
      <vt:lpstr>VISIO</vt:lpstr>
      <vt:lpstr>INF10025 Data Management and Analytics Lecture 8 – Part 1</vt:lpstr>
      <vt:lpstr>Many to Many relationships</vt:lpstr>
      <vt:lpstr>Convert    M:M   to   2 * M:1</vt:lpstr>
      <vt:lpstr>Many to Many expansion</vt:lpstr>
      <vt:lpstr>Many to Many expansion</vt:lpstr>
      <vt:lpstr>Intersection Entity</vt:lpstr>
      <vt:lpstr>Many to Many expansion</vt:lpstr>
      <vt:lpstr>Unexpanded M:M relationships. </vt:lpstr>
      <vt:lpstr>Many to Many – not expanded</vt:lpstr>
      <vt:lpstr>Many to Many – not expanded</vt:lpstr>
      <vt:lpstr>Many to Many - expanded</vt:lpstr>
      <vt:lpstr>Modelling: Designing your own ERDs</vt:lpstr>
      <vt:lpstr>Steps involved in ERD design</vt:lpstr>
      <vt:lpstr>Identifying Entities</vt:lpstr>
      <vt:lpstr>Identifying Attributes</vt:lpstr>
      <vt:lpstr>Glenferrie Toy Library Narrative</vt:lpstr>
      <vt:lpstr>Identify Entities and Attributes</vt:lpstr>
      <vt:lpstr>Step 1 – Identify Strong Entities &amp; Attributes</vt:lpstr>
      <vt:lpstr>Step 2 – Attach attributes to entities</vt:lpstr>
      <vt:lpstr>The DateBorrowed Attribute</vt:lpstr>
      <vt:lpstr>Consider an instance of a Patron</vt:lpstr>
      <vt:lpstr>The DateBorrowed Attribute</vt:lpstr>
      <vt:lpstr>The DateBorrowed Attribute</vt:lpstr>
      <vt:lpstr>Step 2 – Attach attributes to entities</vt:lpstr>
      <vt:lpstr>Step 3 - Identifying Relationships</vt:lpstr>
      <vt:lpstr>Step 3</vt:lpstr>
      <vt:lpstr>Step 4</vt:lpstr>
      <vt:lpstr>Step 5</vt:lpstr>
      <vt:lpstr>Step 6 – expand M:M with attributes</vt:lpstr>
      <vt:lpstr>Step 7 – reattach attributes</vt:lpstr>
      <vt:lpstr>Identifiers…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 Tipping</dc:creator>
  <cp:lastModifiedBy>Robert Tipping</cp:lastModifiedBy>
  <cp:revision>2</cp:revision>
  <dcterms:created xsi:type="dcterms:W3CDTF">2023-04-21T00:48:17Z</dcterms:created>
  <dcterms:modified xsi:type="dcterms:W3CDTF">2023-04-25T05:43:58Z</dcterms:modified>
</cp:coreProperties>
</file>