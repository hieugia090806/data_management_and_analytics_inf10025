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13" r:id="rId3"/>
    <p:sldId id="261" r:id="rId4"/>
    <p:sldId id="262" r:id="rId5"/>
    <p:sldId id="263" r:id="rId6"/>
    <p:sldId id="264" r:id="rId7"/>
    <p:sldId id="314" r:id="rId8"/>
    <p:sldId id="265" r:id="rId9"/>
    <p:sldId id="266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mymer@bigpond.com" initials="j" lastIdx="4" clrIdx="0">
    <p:extLst>
      <p:ext uri="{19B8F6BF-5375-455C-9EA6-DF929625EA0E}">
        <p15:presenceInfo xmlns:p15="http://schemas.microsoft.com/office/powerpoint/2012/main" userId="c72c5e478633a0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31T13:25:49.103" idx="3">
    <p:pos x="10" y="10"/>
    <p:text/>
    <p:extLst>
      <p:ext uri="{C676402C-5697-4E1C-873F-D02D1690AC5C}">
        <p15:threadingInfo xmlns:p15="http://schemas.microsoft.com/office/powerpoint/2012/main" timeZoneBias="-600"/>
      </p:ext>
    </p:extLst>
  </p:cm>
  <p:cm authorId="1" dt="2020-07-31T13:26:29.553" idx="4">
    <p:pos x="6912" y="4232"/>
    <p:text>here i am</p:text>
    <p:extLst>
      <p:ext uri="{C676402C-5697-4E1C-873F-D02D1690AC5C}">
        <p15:threadingInfo xmlns:p15="http://schemas.microsoft.com/office/powerpoint/2012/main" timeZoneBias="-6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1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06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466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752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517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6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19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856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062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72034"/>
            <a:ext cx="9144000" cy="2388859"/>
          </a:xfrm>
        </p:spPr>
        <p:txBody>
          <a:bodyPr>
            <a:normAutofit/>
          </a:bodyPr>
          <a:lstStyle/>
          <a:p>
            <a:r>
              <a:rPr lang="en-AU" b="1" dirty="0"/>
              <a:t>Week 01 – Part 1</a:t>
            </a:r>
          </a:p>
          <a:p>
            <a:endParaRPr lang="en-AU" b="1" dirty="0"/>
          </a:p>
          <a:p>
            <a:r>
              <a:rPr lang="en-AU" dirty="0"/>
              <a:t>Understanding Data,</a:t>
            </a:r>
          </a:p>
          <a:p>
            <a:r>
              <a:rPr lang="en-AU"/>
              <a:t>Relational Data Model and RDBMS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92869-0DEC-4190-9E59-FD3B52C9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13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Understanding </a:t>
            </a:r>
            <a:r>
              <a:rPr lang="en-AU" b="1" dirty="0"/>
              <a:t>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Challenges | Unstructured | Semi-Structured | Structured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30C55-57E4-4DC8-BCF4-3A3C9523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44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Modern </a:t>
            </a:r>
            <a:r>
              <a:rPr lang="en-AU" b="1" dirty="0"/>
              <a:t>Data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Organisations need to store and retrieve usually large amounts of data</a:t>
            </a:r>
          </a:p>
          <a:p>
            <a:endParaRPr lang="en-AU" dirty="0"/>
          </a:p>
          <a:p>
            <a:r>
              <a:rPr lang="en-AU" dirty="0"/>
              <a:t>Data can be divided into three major </a:t>
            </a:r>
            <a:r>
              <a:rPr lang="en-AU" b="1" dirty="0"/>
              <a:t>categories</a:t>
            </a:r>
          </a:p>
          <a:p>
            <a:endParaRPr lang="en-AU" dirty="0"/>
          </a:p>
          <a:p>
            <a:pPr lvl="1"/>
            <a:r>
              <a:rPr lang="en-AU" b="1" dirty="0"/>
              <a:t>Structured Data </a:t>
            </a:r>
          </a:p>
          <a:p>
            <a:pPr lvl="1"/>
            <a:r>
              <a:rPr lang="en-AU" b="1" dirty="0"/>
              <a:t>Semi-Structured Data </a:t>
            </a:r>
          </a:p>
          <a:p>
            <a:pPr lvl="1"/>
            <a:r>
              <a:rPr lang="en-AU" b="1" dirty="0"/>
              <a:t>Unstructured Data</a:t>
            </a:r>
          </a:p>
          <a:p>
            <a:endParaRPr lang="en-AU" dirty="0"/>
          </a:p>
          <a:p>
            <a:r>
              <a:rPr lang="en-AU" dirty="0"/>
              <a:t>Structured Data is typically used by Relational Database Management Systems (RDBMSs) such as Access, Oracle, SQL Server, MySQL.</a:t>
            </a:r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B75D-987F-424A-B856-131FCCA5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093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Unstructured </a:t>
            </a:r>
            <a:r>
              <a:rPr lang="en-AU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b="1" dirty="0"/>
              <a:t>Unstructured data</a:t>
            </a:r>
            <a:r>
              <a:rPr lang="en-AU" dirty="0"/>
              <a:t> </a:t>
            </a:r>
            <a:r>
              <a:rPr lang="en-AU" dirty="0" err="1"/>
              <a:t>i</a:t>
            </a:r>
            <a:r>
              <a:rPr lang="en-US" dirty="0"/>
              <a:t>s not organized in a pre-defined manner. </a:t>
            </a:r>
          </a:p>
          <a:p>
            <a:endParaRPr lang="en-US" dirty="0"/>
          </a:p>
          <a:p>
            <a:r>
              <a:rPr lang="en-US" dirty="0"/>
              <a:t>The organization </a:t>
            </a:r>
            <a:r>
              <a:rPr lang="en-US" b="1" dirty="0"/>
              <a:t>does not know the format </a:t>
            </a:r>
            <a:r>
              <a:rPr lang="en-US" dirty="0"/>
              <a:t>nor the content of the data in advance.</a:t>
            </a:r>
          </a:p>
          <a:p>
            <a:endParaRPr lang="en-US" dirty="0"/>
          </a:p>
          <a:p>
            <a:r>
              <a:rPr lang="en-US" dirty="0"/>
              <a:t>Consider data sourced from </a:t>
            </a:r>
            <a:r>
              <a:rPr lang="en-US" b="1" dirty="0"/>
              <a:t>social media &amp; email </a:t>
            </a:r>
            <a:r>
              <a:rPr lang="en-US" dirty="0"/>
              <a:t>etc. The contents are unpredictable. </a:t>
            </a:r>
          </a:p>
          <a:p>
            <a:pPr lvl="1"/>
            <a:r>
              <a:rPr lang="en-US" dirty="0"/>
              <a:t>The data may contain text, audio, video, links, images. One item may include many data about many organizational functions.</a:t>
            </a:r>
          </a:p>
          <a:p>
            <a:endParaRPr lang="en-US" dirty="0"/>
          </a:p>
          <a:p>
            <a:r>
              <a:rPr lang="en-US" b="1" dirty="0"/>
              <a:t>How</a:t>
            </a:r>
            <a:r>
              <a:rPr lang="en-US" dirty="0"/>
              <a:t> do organizations store such data so that it can be retrieved, collated, analyzed?</a:t>
            </a:r>
          </a:p>
          <a:p>
            <a:endParaRPr lang="en-US" dirty="0"/>
          </a:p>
          <a:p>
            <a:r>
              <a:rPr lang="en-US" dirty="0"/>
              <a:t>We will deal with the topic of unstructured data later in </a:t>
            </a:r>
            <a:r>
              <a:rPr lang="en-US" b="1" dirty="0"/>
              <a:t>future weeks</a:t>
            </a:r>
            <a:r>
              <a:rPr lang="en-US" dirty="0"/>
              <a:t>.</a:t>
            </a:r>
            <a:endParaRPr lang="en-AU" dirty="0"/>
          </a:p>
          <a:p>
            <a:pPr lvl="1"/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D005B-94DC-42F1-8698-D5FC6C5B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717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Semi-Structured</a:t>
            </a:r>
            <a:r>
              <a:rPr lang="en-AU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Semi-structured</a:t>
            </a:r>
            <a:r>
              <a:rPr lang="en-US" dirty="0"/>
              <a:t> data is information that doesn't match the requirements of a relational database.</a:t>
            </a:r>
          </a:p>
          <a:p>
            <a:endParaRPr lang="en-US" dirty="0"/>
          </a:p>
          <a:p>
            <a:r>
              <a:rPr lang="en-US" dirty="0"/>
              <a:t>The data is organized / arranged that makes it easier to analyze. </a:t>
            </a:r>
          </a:p>
          <a:p>
            <a:endParaRPr lang="en-US" dirty="0"/>
          </a:p>
          <a:p>
            <a:r>
              <a:rPr lang="en-US" dirty="0"/>
              <a:t>Examples of semi-structured data include </a:t>
            </a:r>
            <a:r>
              <a:rPr lang="en-US" b="1" dirty="0"/>
              <a:t>XML</a:t>
            </a:r>
            <a:r>
              <a:rPr lang="en-US" dirty="0"/>
              <a:t> documents and </a:t>
            </a:r>
            <a:r>
              <a:rPr lang="en-US" b="1" dirty="0"/>
              <a:t>NoSQL</a:t>
            </a:r>
            <a:r>
              <a:rPr lang="en-US" dirty="0"/>
              <a:t> databases.</a:t>
            </a:r>
          </a:p>
          <a:p>
            <a:endParaRPr lang="en-US" dirty="0"/>
          </a:p>
          <a:p>
            <a:r>
              <a:rPr lang="en-US" dirty="0"/>
              <a:t>We will briefly deal with the topic of semi-structured data in future weeks</a:t>
            </a: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C14E-8459-4FC7-A867-FE03B927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99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Structured</a:t>
            </a:r>
            <a:r>
              <a:rPr lang="en-AU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b="1" dirty="0"/>
              <a:t>Relational Database Management Systems </a:t>
            </a:r>
            <a:r>
              <a:rPr lang="en-AU" dirty="0"/>
              <a:t>require data to be stored in a very structured way.</a:t>
            </a:r>
          </a:p>
          <a:p>
            <a:endParaRPr lang="en-AU" dirty="0"/>
          </a:p>
          <a:p>
            <a:r>
              <a:rPr lang="en-AU" dirty="0"/>
              <a:t>These systems deal with data that has a </a:t>
            </a:r>
            <a:r>
              <a:rPr lang="en-AU" b="1" dirty="0"/>
              <a:t>repetitive pattern or format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Consider </a:t>
            </a:r>
            <a:r>
              <a:rPr lang="en-AU" b="1" dirty="0"/>
              <a:t>Student</a:t>
            </a:r>
            <a:r>
              <a:rPr lang="en-AU" dirty="0"/>
              <a:t> data stored in a University. While every student is different, the university want to store data in the same format for every student. Data Types are also specified for each piece of information</a:t>
            </a:r>
          </a:p>
          <a:p>
            <a:pPr lvl="2"/>
            <a:r>
              <a:rPr lang="en-AU" dirty="0"/>
              <a:t>Student ID – Numeric		</a:t>
            </a:r>
            <a:r>
              <a:rPr lang="en-AU" dirty="0" err="1"/>
              <a:t>HomeAddress</a:t>
            </a:r>
            <a:r>
              <a:rPr lang="en-AU" dirty="0"/>
              <a:t> - Alpha</a:t>
            </a:r>
          </a:p>
          <a:p>
            <a:pPr lvl="2"/>
            <a:r>
              <a:rPr lang="en-AU" dirty="0"/>
              <a:t>Student Name – Alpha		</a:t>
            </a:r>
            <a:r>
              <a:rPr lang="en-AU" dirty="0" err="1"/>
              <a:t>PhoneNo</a:t>
            </a:r>
            <a:r>
              <a:rPr lang="en-AU" dirty="0"/>
              <a:t> - Numeric</a:t>
            </a:r>
          </a:p>
          <a:p>
            <a:pPr lvl="2"/>
            <a:r>
              <a:rPr lang="en-AU" dirty="0"/>
              <a:t>Gender – Alpha		</a:t>
            </a:r>
            <a:r>
              <a:rPr lang="en-AU" dirty="0" err="1"/>
              <a:t>NextOfKin</a:t>
            </a:r>
            <a:r>
              <a:rPr lang="en-AU" dirty="0"/>
              <a:t> - Alpha</a:t>
            </a:r>
          </a:p>
          <a:p>
            <a:pPr lvl="2"/>
            <a:r>
              <a:rPr lang="en-AU" dirty="0" err="1"/>
              <a:t>DateOfBirth</a:t>
            </a:r>
            <a:r>
              <a:rPr lang="en-AU" dirty="0"/>
              <a:t> -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2E6A1-A327-4F60-91E9-7A6245E3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97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Relational</a:t>
            </a:r>
            <a:r>
              <a:rPr lang="en-AU" dirty="0"/>
              <a:t> Data Model and </a:t>
            </a:r>
            <a:r>
              <a:rPr lang="en-AU" b="1" dirty="0"/>
              <a:t>RDBMS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Tables | Columns | Rows | Advantages |RDBMS | Servers | Interfaces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4013D9-1564-4167-B650-5B8E3EC6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07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Relational Data </a:t>
            </a:r>
            <a:r>
              <a:rPr lang="en-AU" b="1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indent="-457200"/>
            <a:r>
              <a:rPr lang="en-AU" b="1" dirty="0"/>
              <a:t>RDBMSs are based on the Relational Data Model</a:t>
            </a:r>
            <a:endParaRPr lang="en-AU" dirty="0"/>
          </a:p>
          <a:p>
            <a:pPr marL="856800" lvl="1" indent="-457200"/>
            <a:r>
              <a:rPr lang="en-AU" dirty="0"/>
              <a:t>Developed by Ted </a:t>
            </a:r>
            <a:r>
              <a:rPr lang="en-AU" dirty="0" err="1"/>
              <a:t>Codd</a:t>
            </a:r>
            <a:r>
              <a:rPr lang="en-AU" dirty="0"/>
              <a:t> in 1970. </a:t>
            </a:r>
          </a:p>
          <a:p>
            <a:pPr marL="856800" lvl="1" indent="-457200"/>
            <a:r>
              <a:rPr lang="en-AU" dirty="0"/>
              <a:t>Data is represented in the form of two-dimensional </a:t>
            </a:r>
            <a:r>
              <a:rPr lang="en-AU" b="1" dirty="0"/>
              <a:t>tables</a:t>
            </a:r>
            <a:r>
              <a:rPr lang="en-AU" dirty="0"/>
              <a:t>.</a:t>
            </a:r>
          </a:p>
          <a:p>
            <a:pPr marL="457200" indent="-457200"/>
            <a:endParaRPr lang="en-AU" sz="1000" dirty="0"/>
          </a:p>
          <a:p>
            <a:pPr marL="457200" indent="-457200"/>
            <a:r>
              <a:rPr lang="en-AU" dirty="0"/>
              <a:t>Each two-dimensional table has the following properties:</a:t>
            </a:r>
          </a:p>
          <a:p>
            <a:pPr marL="896963" lvl="1" indent="-457200"/>
            <a:r>
              <a:rPr lang="en-AU" dirty="0"/>
              <a:t>A set of uniquely named </a:t>
            </a:r>
            <a:r>
              <a:rPr lang="en-AU" b="1" dirty="0"/>
              <a:t>Columns / Attributes</a:t>
            </a:r>
          </a:p>
          <a:p>
            <a:pPr marL="896963" lvl="1" indent="-457200"/>
            <a:r>
              <a:rPr lang="en-AU" dirty="0"/>
              <a:t>A list of unnamed/unnumbered </a:t>
            </a:r>
            <a:r>
              <a:rPr lang="en-AU" b="1" dirty="0"/>
              <a:t>Rows </a:t>
            </a:r>
            <a:endParaRPr lang="en-AU" dirty="0"/>
          </a:p>
          <a:p>
            <a:pPr marL="896963" lvl="1" indent="-457200"/>
            <a:r>
              <a:rPr lang="en-AU" dirty="0"/>
              <a:t>The </a:t>
            </a:r>
            <a:r>
              <a:rPr lang="en-AU" b="1" dirty="0"/>
              <a:t>order</a:t>
            </a:r>
            <a:r>
              <a:rPr lang="en-AU" dirty="0"/>
              <a:t> of the rows is </a:t>
            </a:r>
            <a:r>
              <a:rPr lang="en-AU" b="1" dirty="0"/>
              <a:t>irrelevant</a:t>
            </a:r>
            <a:r>
              <a:rPr lang="en-AU" dirty="0"/>
              <a:t>. </a:t>
            </a:r>
          </a:p>
          <a:p>
            <a:pPr marL="497363" indent="-457200"/>
            <a:endParaRPr lang="en-AU" dirty="0"/>
          </a:p>
          <a:p>
            <a:pPr marL="497363" indent="-457200"/>
            <a:r>
              <a:rPr lang="en-AU" dirty="0"/>
              <a:t>A </a:t>
            </a:r>
            <a:r>
              <a:rPr lang="en-AU" b="1" dirty="0"/>
              <a:t>Row</a:t>
            </a:r>
            <a:r>
              <a:rPr lang="en-AU" dirty="0"/>
              <a:t> consists of a sequence of </a:t>
            </a:r>
            <a:r>
              <a:rPr lang="en-AU" b="1" dirty="0"/>
              <a:t>Attributes</a:t>
            </a:r>
          </a:p>
          <a:p>
            <a:pPr marL="896963" lvl="1" indent="-457200"/>
            <a:r>
              <a:rPr lang="en-AU" b="1" dirty="0"/>
              <a:t>One cell</a:t>
            </a:r>
            <a:r>
              <a:rPr lang="en-AU" dirty="0"/>
              <a:t> for each Attribute</a:t>
            </a:r>
          </a:p>
          <a:p>
            <a:pPr marL="896963" lvl="1" indent="-457200"/>
            <a:r>
              <a:rPr lang="en-AU" dirty="0"/>
              <a:t>Only </a:t>
            </a:r>
            <a:r>
              <a:rPr lang="en-AU" b="1" dirty="0"/>
              <a:t>one value</a:t>
            </a:r>
            <a:r>
              <a:rPr lang="en-AU" dirty="0"/>
              <a:t> </a:t>
            </a:r>
            <a:r>
              <a:rPr lang="en-AU" b="1" dirty="0"/>
              <a:t>per cell </a:t>
            </a:r>
            <a:r>
              <a:rPr lang="en-AU" dirty="0"/>
              <a:t>is allowed.</a:t>
            </a:r>
          </a:p>
          <a:p>
            <a:pPr marL="497363" indent="-457200"/>
            <a:endParaRPr lang="en-AU" b="1" dirty="0"/>
          </a:p>
          <a:p>
            <a:pPr marL="497363" indent="-457200"/>
            <a:r>
              <a:rPr lang="en-AU" b="1" dirty="0"/>
              <a:t>All</a:t>
            </a:r>
            <a:r>
              <a:rPr lang="en-AU" dirty="0"/>
              <a:t> Relational Database Management Systems are </a:t>
            </a:r>
            <a:r>
              <a:rPr lang="en-AU" b="1" dirty="0"/>
              <a:t>based on</a:t>
            </a:r>
            <a:r>
              <a:rPr lang="en-AU" dirty="0"/>
              <a:t> the Relational Data Model.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473B6-A041-40CA-89BC-2C90C247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227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Relational Data </a:t>
            </a:r>
            <a:r>
              <a:rPr lang="en-AU" b="1" dirty="0"/>
              <a:t>Model</a:t>
            </a:r>
            <a:r>
              <a:rPr lang="en-AU" dirty="0"/>
              <a:t> (cont.)</a:t>
            </a:r>
          </a:p>
        </p:txBody>
      </p:sp>
      <p:graphicFrame>
        <p:nvGraphicFramePr>
          <p:cNvPr id="4" name="Group 57"/>
          <p:cNvGraphicFramePr>
            <a:graphicFrameLocks noGrp="1"/>
          </p:cNvGraphicFramePr>
          <p:nvPr/>
        </p:nvGraphicFramePr>
        <p:xfrm>
          <a:off x="2811463" y="3004185"/>
          <a:ext cx="5278177" cy="1909128"/>
        </p:xfrm>
        <a:graphic>
          <a:graphicData uri="http://schemas.openxmlformats.org/drawingml/2006/table">
            <a:tbl>
              <a:tblPr/>
              <a:tblGrid>
                <a:gridCol w="101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585">
                  <a:extLst>
                    <a:ext uri="{9D8B030D-6E8A-4147-A177-3AD203B41FA5}">
                      <a16:colId xmlns:a16="http://schemas.microsoft.com/office/drawing/2014/main" val="2394764561"/>
                    </a:ext>
                  </a:extLst>
                </a:gridCol>
                <a:gridCol w="1180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EmpName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Fred Blogs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89000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677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1004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Emma </a:t>
                      </a:r>
                      <a:r>
                        <a:rPr kumimoji="0" lang="en-AU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Jevs</a:t>
                      </a:r>
                      <a:endParaRPr kumimoji="0" lang="en-AU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125000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1006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Dave Rigg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65000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947863" y="3582035"/>
            <a:ext cx="43973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Row</a:t>
            </a:r>
          </a:p>
        </p:txBody>
      </p:sp>
      <p:sp>
        <p:nvSpPr>
          <p:cNvPr id="7" name="Line 46"/>
          <p:cNvSpPr>
            <a:spLocks noChangeShapeType="1"/>
          </p:cNvSpPr>
          <p:nvPr/>
        </p:nvSpPr>
        <p:spPr bwMode="auto">
          <a:xfrm flipH="1">
            <a:off x="6588125" y="2712085"/>
            <a:ext cx="71438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8" name="Line 47"/>
          <p:cNvSpPr>
            <a:spLocks noChangeShapeType="1"/>
          </p:cNvSpPr>
          <p:nvPr/>
        </p:nvSpPr>
        <p:spPr bwMode="auto">
          <a:xfrm>
            <a:off x="2524125" y="3724910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9" name="Rectangle 50"/>
          <p:cNvSpPr>
            <a:spLocks noChangeArrowheads="1"/>
          </p:cNvSpPr>
          <p:nvPr/>
        </p:nvSpPr>
        <p:spPr bwMode="auto">
          <a:xfrm>
            <a:off x="4609461" y="2209367"/>
            <a:ext cx="5260975" cy="225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marL="85725" marR="0" lvl="0" indent="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Uniquely named columns called Attributes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DC2D27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Rectangle 52"/>
          <p:cNvSpPr>
            <a:spLocks noChangeArrowheads="1"/>
          </p:cNvSpPr>
          <p:nvPr/>
        </p:nvSpPr>
        <p:spPr bwMode="auto">
          <a:xfrm rot="-1246335">
            <a:off x="7509216" y="4685036"/>
            <a:ext cx="3787775" cy="22583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marL="85725" marR="0" lvl="0" indent="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Only one value per cell allowed.</a:t>
            </a:r>
          </a:p>
        </p:txBody>
      </p:sp>
      <p:sp>
        <p:nvSpPr>
          <p:cNvPr id="11" name="Rectangle 53"/>
          <p:cNvSpPr>
            <a:spLocks noChangeArrowheads="1"/>
          </p:cNvSpPr>
          <p:nvPr/>
        </p:nvSpPr>
        <p:spPr bwMode="auto">
          <a:xfrm rot="1064680">
            <a:off x="2108261" y="5587769"/>
            <a:ext cx="4054475" cy="44319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marL="85725" marR="0" lvl="0" indent="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The order of the rows is irrelevant.</a:t>
            </a:r>
          </a:p>
          <a:p>
            <a:pPr marL="85725" marR="0" lvl="0" indent="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DC2D27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2" name="Rectangle 51"/>
          <p:cNvSpPr>
            <a:spLocks noChangeArrowheads="1"/>
          </p:cNvSpPr>
          <p:nvPr/>
        </p:nvSpPr>
        <p:spPr bwMode="auto">
          <a:xfrm rot="-376328">
            <a:off x="369951" y="2635301"/>
            <a:ext cx="2525713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 marL="85725" marR="0" lvl="0" indent="0" algn="l" defTabSz="179388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Unnamed &amp; </a:t>
            </a:r>
            <a:b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DC2D27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unnumbered  Rows</a:t>
            </a:r>
          </a:p>
        </p:txBody>
      </p:sp>
      <p:sp>
        <p:nvSpPr>
          <p:cNvPr id="13" name="Text Box 59"/>
          <p:cNvSpPr txBox="1">
            <a:spLocks noChangeArrowheads="1"/>
          </p:cNvSpPr>
          <p:nvPr/>
        </p:nvSpPr>
        <p:spPr bwMode="auto">
          <a:xfrm>
            <a:off x="6440488" y="2483485"/>
            <a:ext cx="8683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Attribute</a:t>
            </a:r>
          </a:p>
        </p:txBody>
      </p:sp>
      <p:sp>
        <p:nvSpPr>
          <p:cNvPr id="15" name="Text Box 59"/>
          <p:cNvSpPr txBox="1">
            <a:spLocks noChangeArrowheads="1"/>
          </p:cNvSpPr>
          <p:nvPr/>
        </p:nvSpPr>
        <p:spPr bwMode="auto">
          <a:xfrm>
            <a:off x="2387600" y="1386228"/>
            <a:ext cx="52918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9144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Table</a:t>
            </a:r>
          </a:p>
        </p:txBody>
      </p:sp>
      <p:sp>
        <p:nvSpPr>
          <p:cNvPr id="16" name="Line 46"/>
          <p:cNvSpPr>
            <a:spLocks noChangeShapeType="1"/>
          </p:cNvSpPr>
          <p:nvPr/>
        </p:nvSpPr>
        <p:spPr bwMode="auto">
          <a:xfrm>
            <a:off x="3028951" y="1632450"/>
            <a:ext cx="491490" cy="8510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EB537-60B3-407C-A425-3C343F37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2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Relational </a:t>
            </a:r>
            <a:r>
              <a:rPr lang="en-AU" b="1" dirty="0"/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 relational database is simple of collection of related tables</a:t>
            </a:r>
          </a:p>
          <a:p>
            <a:endParaRPr lang="en-AU" dirty="0"/>
          </a:p>
          <a:p>
            <a:r>
              <a:rPr lang="en-AU" dirty="0"/>
              <a:t>Example:</a:t>
            </a:r>
          </a:p>
          <a:p>
            <a:pPr lvl="1"/>
            <a:r>
              <a:rPr lang="en-AU" b="1" dirty="0"/>
              <a:t>Student Table </a:t>
            </a:r>
            <a:r>
              <a:rPr lang="en-AU" dirty="0"/>
              <a:t>(stores data about students)</a:t>
            </a:r>
          </a:p>
          <a:p>
            <a:pPr lvl="1"/>
            <a:r>
              <a:rPr lang="en-AU" b="1" dirty="0"/>
              <a:t>Unit Table </a:t>
            </a:r>
            <a:r>
              <a:rPr lang="en-AU" dirty="0"/>
              <a:t>(stores data about university units of study)</a:t>
            </a:r>
          </a:p>
          <a:p>
            <a:pPr lvl="1"/>
            <a:r>
              <a:rPr lang="en-AU" b="1" dirty="0"/>
              <a:t>Enrolment Table </a:t>
            </a:r>
            <a:r>
              <a:rPr lang="en-AU" dirty="0"/>
              <a:t>(stores data about the units that a student has enrolled into)</a:t>
            </a:r>
          </a:p>
          <a:p>
            <a:endParaRPr lang="en-AU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81174-9ABE-478A-BD05-B4F67F24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286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A RDBMS is a collection of programs that allow developers / users to store &amp; retrieve data from relational databases</a:t>
            </a:r>
          </a:p>
          <a:p>
            <a:endParaRPr lang="en-AU" dirty="0"/>
          </a:p>
          <a:p>
            <a:r>
              <a:rPr lang="en-AU" dirty="0"/>
              <a:t>It allows users to perform CRUD (create, read, update &amp; delete) operations on data in the tables. </a:t>
            </a:r>
            <a:r>
              <a:rPr lang="en-AU" dirty="0" err="1"/>
              <a:t>E.g</a:t>
            </a:r>
            <a:r>
              <a:rPr lang="en-AU" dirty="0"/>
              <a:t>:</a:t>
            </a:r>
          </a:p>
          <a:p>
            <a:pPr lvl="1"/>
            <a:r>
              <a:rPr lang="en-AU" b="1" dirty="0"/>
              <a:t>Create</a:t>
            </a:r>
            <a:r>
              <a:rPr lang="en-AU" dirty="0"/>
              <a:t> a student</a:t>
            </a:r>
          </a:p>
          <a:p>
            <a:pPr lvl="1"/>
            <a:r>
              <a:rPr lang="en-AU" b="1" dirty="0"/>
              <a:t>Retrieve</a:t>
            </a:r>
            <a:r>
              <a:rPr lang="en-AU" dirty="0"/>
              <a:t> a student's details</a:t>
            </a:r>
          </a:p>
          <a:p>
            <a:pPr lvl="1"/>
            <a:r>
              <a:rPr lang="en-AU" b="1" dirty="0"/>
              <a:t>Update</a:t>
            </a:r>
            <a:r>
              <a:rPr lang="en-AU" dirty="0"/>
              <a:t> a student's details</a:t>
            </a:r>
          </a:p>
          <a:p>
            <a:pPr lvl="1"/>
            <a:r>
              <a:rPr lang="en-AU" b="1" dirty="0"/>
              <a:t>Delete</a:t>
            </a:r>
            <a:r>
              <a:rPr lang="en-AU" dirty="0"/>
              <a:t> a student details from a table</a:t>
            </a:r>
          </a:p>
          <a:p>
            <a:endParaRPr lang="en-AU" b="1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6172199" y="1509387"/>
            <a:ext cx="5675589" cy="4536689"/>
          </a:xfrm>
          <a:prstGeom prst="rect">
            <a:avLst/>
          </a:prstGeom>
        </p:spPr>
        <p:txBody>
          <a:bodyPr>
            <a:normAutofit/>
          </a:bodyPr>
          <a:lstStyle>
            <a:lvl1pPr marL="342000" indent="-342000" algn="l" defTabSz="914400" rtl="0" eaLnBrk="1" latinLnBrk="0" hangingPunct="1">
              <a:lnSpc>
                <a:spcPct val="100000"/>
              </a:lnSpc>
              <a:spcBef>
                <a:spcPts val="768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1600" indent="-284400" algn="l" defTabSz="914400" rtl="0" eaLnBrk="1" latinLnBrk="0" hangingPunct="1">
              <a:lnSpc>
                <a:spcPct val="100000"/>
              </a:lnSpc>
              <a:spcBef>
                <a:spcPts val="672"/>
              </a:spcBef>
              <a:buFont typeface="Open Sans" panose="020B0606030504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4800" indent="-23040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80"/>
              </a:spcBef>
              <a:buFont typeface="Open Sans" panose="020B06060305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80"/>
              </a:spcBef>
              <a:buFont typeface="Open Sans" panose="020B0606030504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marR="0" lvl="0" indent="-342000" algn="l" defTabSz="914400" rtl="0" eaLnBrk="1" fontAlgn="auto" latinLnBrk="0" hangingPunct="1">
              <a:lnSpc>
                <a:spcPct val="100000"/>
              </a:lnSpc>
              <a:spcBef>
                <a:spcPts val="768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9FA8B-58F2-454D-8D3F-DDAC5A97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79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Setting up </a:t>
            </a:r>
            <a:r>
              <a:rPr lang="en-AU" dirty="0"/>
              <a:t>a RDBMS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b="1" dirty="0"/>
              <a:t>Tables</a:t>
            </a:r>
          </a:p>
          <a:p>
            <a:pPr lvl="1"/>
            <a:r>
              <a:rPr lang="en-AU" dirty="0"/>
              <a:t>Follow a 2 dimensional structure</a:t>
            </a:r>
          </a:p>
          <a:p>
            <a:pPr lvl="1"/>
            <a:r>
              <a:rPr lang="en-AU" dirty="0"/>
              <a:t>Each row of data has a Primary Key value</a:t>
            </a:r>
          </a:p>
          <a:p>
            <a:pPr lvl="1"/>
            <a:r>
              <a:rPr lang="en-AU" dirty="0"/>
              <a:t>No duplicates e.g. Student ID</a:t>
            </a:r>
          </a:p>
          <a:p>
            <a:endParaRPr lang="en-AU" dirty="0"/>
          </a:p>
          <a:p>
            <a:r>
              <a:rPr lang="en-AU" b="1" dirty="0"/>
              <a:t>Constraints</a:t>
            </a:r>
            <a:r>
              <a:rPr lang="en-AU" dirty="0"/>
              <a:t> can be added to validate data</a:t>
            </a:r>
          </a:p>
          <a:p>
            <a:pPr lvl="1"/>
            <a:r>
              <a:rPr lang="en-AU" dirty="0"/>
              <a:t>Student ID is correct length</a:t>
            </a:r>
          </a:p>
          <a:p>
            <a:pPr lvl="1"/>
            <a:r>
              <a:rPr lang="en-AU" dirty="0"/>
              <a:t>Student type is PG or UG (post or undergraduate)</a:t>
            </a:r>
          </a:p>
          <a:p>
            <a:pPr lvl="1"/>
            <a:r>
              <a:rPr lang="en-AU" dirty="0"/>
              <a:t>Student is enrolled in a degree that actually exists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EB6DE4-7E4F-4D42-8169-411418B5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99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Advantages </a:t>
            </a:r>
            <a:r>
              <a:rPr lang="en-AU" dirty="0"/>
              <a:t>of RDBMs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b="1" dirty="0"/>
              <a:t>Constraints</a:t>
            </a:r>
            <a:r>
              <a:rPr lang="en-AU" dirty="0"/>
              <a:t> are usually easier to implement compared to a spreadsheet e.g. 'lookups' are easier and 'rules' are easier </a:t>
            </a:r>
          </a:p>
          <a:p>
            <a:endParaRPr lang="en-AU" dirty="0"/>
          </a:p>
          <a:p>
            <a:r>
              <a:rPr lang="en-AU" dirty="0"/>
              <a:t>When </a:t>
            </a:r>
            <a:r>
              <a:rPr lang="en-AU" b="1" dirty="0"/>
              <a:t>searching</a:t>
            </a:r>
            <a:r>
              <a:rPr lang="en-AU" dirty="0"/>
              <a:t> for data, only rows that match criteria are retrieved, unlike a s/s where the entire spreadsheet is loaded</a:t>
            </a:r>
          </a:p>
          <a:p>
            <a:endParaRPr lang="en-AU" dirty="0"/>
          </a:p>
          <a:p>
            <a:r>
              <a:rPr lang="en-AU" dirty="0"/>
              <a:t>The data only exists in </a:t>
            </a:r>
            <a:r>
              <a:rPr lang="en-AU" b="1" dirty="0"/>
              <a:t>one location </a:t>
            </a:r>
            <a:r>
              <a:rPr lang="en-AU" dirty="0"/>
              <a:t>(e.g. a database server) so we don't have multiple copies of the same(?) spreadsheet</a:t>
            </a:r>
          </a:p>
          <a:p>
            <a:endParaRPr lang="en-AU" dirty="0"/>
          </a:p>
          <a:p>
            <a:r>
              <a:rPr lang="en-AU" b="1" dirty="0"/>
              <a:t>Changes</a:t>
            </a:r>
            <a:r>
              <a:rPr lang="en-AU" dirty="0"/>
              <a:t> to data only occur in a single place and all users can see that change immediately, unlike s/s where sheets may be consolidated</a:t>
            </a:r>
          </a:p>
          <a:p>
            <a:endParaRPr lang="en-AU" dirty="0"/>
          </a:p>
          <a:p>
            <a:r>
              <a:rPr lang="en-AU" b="1" dirty="0"/>
              <a:t>Other benefits </a:t>
            </a:r>
            <a:r>
              <a:rPr lang="en-AU" dirty="0"/>
              <a:t>such as concurrency, eliminating data redundancy,  relationships with other tables (To be covered over next few weeks)</a:t>
            </a:r>
          </a:p>
          <a:p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C56C02-E897-4700-9447-966B9694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459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RDBMS and </a:t>
            </a:r>
            <a:r>
              <a:rPr lang="en-AU" b="1" dirty="0"/>
              <a:t>Database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database server is a computer that is </a:t>
            </a:r>
            <a:r>
              <a:rPr lang="en-US" b="1" dirty="0"/>
              <a:t>networked to other computers</a:t>
            </a:r>
          </a:p>
          <a:p>
            <a:endParaRPr lang="en-US" dirty="0"/>
          </a:p>
          <a:p>
            <a:r>
              <a:rPr lang="en-US" dirty="0"/>
              <a:t>The database server </a:t>
            </a:r>
            <a:r>
              <a:rPr lang="en-US" b="1" dirty="0"/>
              <a:t>stores databases</a:t>
            </a:r>
          </a:p>
          <a:p>
            <a:endParaRPr lang="en-US" dirty="0"/>
          </a:p>
          <a:p>
            <a:r>
              <a:rPr lang="en-US" dirty="0"/>
              <a:t>Users on the network </a:t>
            </a:r>
            <a:r>
              <a:rPr lang="en-US" b="1" dirty="0"/>
              <a:t>can access the data </a:t>
            </a:r>
            <a:r>
              <a:rPr lang="en-US" dirty="0"/>
              <a:t>stored in the databases</a:t>
            </a:r>
          </a:p>
          <a:p>
            <a:endParaRPr lang="en-US" dirty="0"/>
          </a:p>
          <a:p>
            <a:r>
              <a:rPr lang="en-US" dirty="0"/>
              <a:t>There is only </a:t>
            </a:r>
            <a:r>
              <a:rPr lang="en-US" b="1" dirty="0"/>
              <a:t>one copy </a:t>
            </a:r>
            <a:r>
              <a:rPr lang="en-US" dirty="0"/>
              <a:t>of the data (excluding backups etc.)</a:t>
            </a:r>
          </a:p>
          <a:p>
            <a:endParaRPr lang="en-US" dirty="0"/>
          </a:p>
          <a:p>
            <a:r>
              <a:rPr lang="en-US" dirty="0"/>
              <a:t>RDBMSs allow </a:t>
            </a:r>
            <a:r>
              <a:rPr lang="en-US" b="1" dirty="0"/>
              <a:t>multiple users on the network to update data</a:t>
            </a:r>
            <a:r>
              <a:rPr lang="en-US" dirty="0"/>
              <a:t> in database tables.</a:t>
            </a:r>
          </a:p>
          <a:p>
            <a:pPr lvl="1"/>
            <a:r>
              <a:rPr lang="en-US" dirty="0"/>
              <a:t>Many people can check the price of product 20</a:t>
            </a:r>
          </a:p>
          <a:p>
            <a:pPr lvl="1"/>
            <a:r>
              <a:rPr lang="en-US" dirty="0"/>
              <a:t>Many people may choose to enroll in INF10002 simultaneously</a:t>
            </a:r>
          </a:p>
          <a:p>
            <a:pPr lvl="1"/>
            <a:r>
              <a:rPr lang="en-US" dirty="0"/>
              <a:t>Many users may purchase tickets for a flight at the same time.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EB7BA-B7A4-4A79-BF55-D69D7267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313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RDBMS and </a:t>
            </a:r>
            <a:r>
              <a:rPr lang="en-AU" b="1" dirty="0"/>
              <a:t>Databases Servers </a:t>
            </a:r>
            <a:r>
              <a:rPr lang="en-AU" dirty="0"/>
              <a:t>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Imagine trying to use a Word Processor or Spreadsheet to do this</a:t>
            </a:r>
            <a:r>
              <a:rPr lang="en-US" b="1" dirty="0"/>
              <a:t>!!!</a:t>
            </a:r>
          </a:p>
          <a:p>
            <a:endParaRPr lang="en-US" dirty="0"/>
          </a:p>
          <a:p>
            <a:r>
              <a:rPr lang="en-US" dirty="0"/>
              <a:t>Could </a:t>
            </a:r>
            <a:r>
              <a:rPr lang="en-US" b="1" dirty="0"/>
              <a:t>Telstra</a:t>
            </a:r>
            <a:r>
              <a:rPr lang="en-US" dirty="0"/>
              <a:t> store details about all of their customers in a Word Processing document or spreadsheet? Loading! Searching! Updating!</a:t>
            </a:r>
          </a:p>
          <a:p>
            <a:endParaRPr lang="en-US" dirty="0"/>
          </a:p>
          <a:p>
            <a:r>
              <a:rPr lang="en-US" dirty="0"/>
              <a:t>Could </a:t>
            </a:r>
            <a:r>
              <a:rPr lang="en-US" b="1" dirty="0"/>
              <a:t>ANZ</a:t>
            </a:r>
            <a:r>
              <a:rPr lang="en-US" dirty="0"/>
              <a:t> store all deposits and withdrawals of all customers in a single spreadsheet? Thousands / Millions / Billions of rows.</a:t>
            </a:r>
          </a:p>
          <a:p>
            <a:endParaRPr lang="en-US" dirty="0"/>
          </a:p>
          <a:p>
            <a:r>
              <a:rPr lang="en-US" dirty="0"/>
              <a:t>Imagine trying to retrieve all the deposits made by </a:t>
            </a:r>
            <a:r>
              <a:rPr lang="en-US" b="1" dirty="0" err="1"/>
              <a:t>Cust</a:t>
            </a:r>
            <a:r>
              <a:rPr lang="en-US" b="1" dirty="0"/>
              <a:t> 123</a:t>
            </a:r>
            <a:r>
              <a:rPr lang="en-US" dirty="0"/>
              <a:t>4 over the past 24 months from spreadsheet data</a:t>
            </a:r>
          </a:p>
          <a:p>
            <a:pPr lvl="1"/>
            <a:r>
              <a:rPr lang="en-US" dirty="0"/>
              <a:t>Size of sheets</a:t>
            </a:r>
          </a:p>
          <a:p>
            <a:pPr lvl="1"/>
            <a:r>
              <a:rPr lang="en-US" dirty="0"/>
              <a:t>Load time</a:t>
            </a:r>
          </a:p>
          <a:p>
            <a:pPr lvl="1"/>
            <a:r>
              <a:rPr lang="en-US" dirty="0"/>
              <a:t>Lack of computer memory</a:t>
            </a:r>
          </a:p>
          <a:p>
            <a:pPr lvl="1"/>
            <a:r>
              <a:rPr lang="en-US" dirty="0"/>
              <a:t>Unnecessary loading of other customers banking transactions.</a:t>
            </a:r>
          </a:p>
          <a:p>
            <a:endParaRPr lang="en-US" dirty="0"/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D8BEA-0AF7-4C27-A766-D9918633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490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GUI</a:t>
            </a:r>
            <a:r>
              <a:rPr lang="en-AU" dirty="0"/>
              <a:t>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AU" dirty="0"/>
              <a:t>There are </a:t>
            </a:r>
            <a:r>
              <a:rPr lang="en-AU" b="1" dirty="0"/>
              <a:t>two major ways </a:t>
            </a:r>
            <a:r>
              <a:rPr lang="en-AU" dirty="0"/>
              <a:t>of interacting with data within a Database</a:t>
            </a:r>
          </a:p>
          <a:p>
            <a:endParaRPr lang="en-AU" dirty="0"/>
          </a:p>
          <a:p>
            <a:r>
              <a:rPr lang="en-AU" dirty="0"/>
              <a:t>The first is using a </a:t>
            </a:r>
            <a:r>
              <a:rPr lang="en-AU" b="1" dirty="0"/>
              <a:t>GUI </a:t>
            </a:r>
            <a:r>
              <a:rPr lang="en-AU" dirty="0"/>
              <a:t>(graphical user interface).</a:t>
            </a:r>
          </a:p>
          <a:p>
            <a:pPr lvl="1"/>
            <a:r>
              <a:rPr lang="en-AU" dirty="0"/>
              <a:t>E.g. Microsoft Access </a:t>
            </a:r>
          </a:p>
          <a:p>
            <a:pPr lvl="1"/>
            <a:r>
              <a:rPr lang="en-AU" dirty="0"/>
              <a:t>Most actions are carried out with mouse clicks, pull down menus, drag and drop and minimal typing</a:t>
            </a:r>
          </a:p>
          <a:p>
            <a:endParaRPr lang="en-AU" dirty="0"/>
          </a:p>
          <a:p>
            <a:r>
              <a:rPr lang="en-AU" b="1" dirty="0"/>
              <a:t>Pros:</a:t>
            </a:r>
          </a:p>
          <a:p>
            <a:pPr lvl="1"/>
            <a:r>
              <a:rPr lang="en-AU" b="1" dirty="0"/>
              <a:t>Easy</a:t>
            </a:r>
            <a:r>
              <a:rPr lang="en-AU" dirty="0"/>
              <a:t> to use (after initial training)</a:t>
            </a:r>
          </a:p>
          <a:p>
            <a:pPr lvl="1"/>
            <a:endParaRPr lang="en-AU" dirty="0"/>
          </a:p>
          <a:p>
            <a:r>
              <a:rPr lang="en-AU" b="1" dirty="0"/>
              <a:t>Cons:</a:t>
            </a:r>
          </a:p>
          <a:p>
            <a:pPr lvl="1"/>
            <a:r>
              <a:rPr lang="en-AU" dirty="0"/>
              <a:t>Complex actions may be </a:t>
            </a:r>
            <a:r>
              <a:rPr lang="en-AU" b="1" dirty="0"/>
              <a:t>relatively slow </a:t>
            </a:r>
            <a:r>
              <a:rPr lang="en-AU" dirty="0"/>
              <a:t>involving lots of menu options and filters etc.</a:t>
            </a:r>
          </a:p>
          <a:p>
            <a:pPr lvl="1"/>
            <a:r>
              <a:rPr lang="en-AU" dirty="0"/>
              <a:t>Complex actions </a:t>
            </a:r>
            <a:r>
              <a:rPr lang="en-AU" b="1" dirty="0"/>
              <a:t>cannot easily be saved</a:t>
            </a:r>
            <a:r>
              <a:rPr lang="en-AU" dirty="0"/>
              <a:t>.  They must be replicated again and again. Can be tedious.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434F6-5F8D-4292-8407-0C4DAC42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97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08" y="1509386"/>
            <a:ext cx="5675588" cy="4536689"/>
          </a:xfrm>
          <a:noFill/>
        </p:spPr>
        <p:txBody>
          <a:bodyPr>
            <a:normAutofit/>
          </a:bodyPr>
          <a:lstStyle/>
          <a:p>
            <a:r>
              <a:rPr lang="en-AU" sz="2000" dirty="0"/>
              <a:t>An alternative method of interacting with a RDBMS is using </a:t>
            </a:r>
            <a:r>
              <a:rPr lang="en-AU" sz="2000" b="1" dirty="0"/>
              <a:t>SQL (structured query language)</a:t>
            </a:r>
          </a:p>
          <a:p>
            <a:endParaRPr lang="en-AU" sz="2000" dirty="0"/>
          </a:p>
          <a:p>
            <a:r>
              <a:rPr lang="en-AU" sz="2000" dirty="0"/>
              <a:t>Every action is carried out via the SQL language that enforces a </a:t>
            </a:r>
            <a:r>
              <a:rPr lang="en-AU" sz="2000" b="1" dirty="0"/>
              <a:t>very strict syntax</a:t>
            </a:r>
            <a:r>
              <a:rPr lang="en-AU" sz="2000" dirty="0"/>
              <a:t>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/>
              <a:t>Pros: </a:t>
            </a:r>
          </a:p>
          <a:p>
            <a:pPr lvl="1"/>
            <a:r>
              <a:rPr lang="en-AU" sz="1800" dirty="0"/>
              <a:t>Useful for programmers and developers who want to automate common tasks</a:t>
            </a:r>
          </a:p>
          <a:p>
            <a:pPr lvl="1"/>
            <a:r>
              <a:rPr lang="en-AU" sz="1800" dirty="0"/>
              <a:t>Typing an SQL command can (to some people) be quicker than a series of mouse clicks</a:t>
            </a:r>
          </a:p>
          <a:p>
            <a:endParaRPr lang="en-AU" sz="2000" b="1" dirty="0"/>
          </a:p>
          <a:p>
            <a:r>
              <a:rPr lang="en-AU" sz="2000" b="1" dirty="0"/>
              <a:t>Cons:</a:t>
            </a:r>
          </a:p>
          <a:p>
            <a:pPr lvl="1"/>
            <a:r>
              <a:rPr lang="en-AU" sz="1800" dirty="0"/>
              <a:t>Relatively difficult to learn</a:t>
            </a:r>
          </a:p>
          <a:p>
            <a:pPr lvl="1"/>
            <a:r>
              <a:rPr lang="en-AU" sz="1800" dirty="0"/>
              <a:t>Requires typing skills</a:t>
            </a:r>
          </a:p>
          <a:p>
            <a:pPr lvl="1"/>
            <a:r>
              <a:rPr lang="en-AU" sz="1800" dirty="0"/>
              <a:t>Strict syntax </a:t>
            </a:r>
          </a:p>
          <a:p>
            <a:endParaRPr lang="en-AU" sz="2000" dirty="0"/>
          </a:p>
          <a:p>
            <a:r>
              <a:rPr lang="en-AU" sz="2000" dirty="0"/>
              <a:t>Many RDBMs offer a </a:t>
            </a:r>
            <a:r>
              <a:rPr lang="en-AU" sz="2000" b="1" dirty="0"/>
              <a:t>combination</a:t>
            </a:r>
            <a:r>
              <a:rPr lang="en-AU" sz="2000" dirty="0"/>
              <a:t> of GUI and SQL interfaces</a:t>
            </a:r>
          </a:p>
          <a:p>
            <a:endParaRPr lang="en-AU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SQL </a:t>
            </a:r>
            <a:r>
              <a:rPr lang="en-AU" dirty="0"/>
              <a:t>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185" y="4038399"/>
            <a:ext cx="44996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SELECT    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movieno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, title, 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relyear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FROM     movie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WHERE   (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relyear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&gt;=2005 And 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relyear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&lt;= 2009)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AND        title IS LIKE "%Harry Potter%"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ORDER BY 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relyear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A2040-38D2-4843-9C07-E873190F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200494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1216</Words>
  <Application>Microsoft Office PowerPoint</Application>
  <PresentationFormat>Widescreen</PresentationFormat>
  <Paragraphs>217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Narrow</vt:lpstr>
      <vt:lpstr>Open Sans</vt:lpstr>
      <vt:lpstr>Wingdings</vt:lpstr>
      <vt:lpstr>Swinburne - Light</vt:lpstr>
      <vt:lpstr>INF10025 Data Management and Analytics</vt:lpstr>
      <vt:lpstr>Understanding Data</vt:lpstr>
      <vt:lpstr>The Modern Data Challenge</vt:lpstr>
      <vt:lpstr>Unstructured Data</vt:lpstr>
      <vt:lpstr>Semi-Structured Data</vt:lpstr>
      <vt:lpstr>Structured Data</vt:lpstr>
      <vt:lpstr>Relational Data Model and RDBMS</vt:lpstr>
      <vt:lpstr>Relational Data Model</vt:lpstr>
      <vt:lpstr>Relational Data Model (cont.)</vt:lpstr>
      <vt:lpstr>Relational Databases</vt:lpstr>
      <vt:lpstr>RDBMS</vt:lpstr>
      <vt:lpstr>Setting up a RDBMS</vt:lpstr>
      <vt:lpstr>Advantages of RDBMs</vt:lpstr>
      <vt:lpstr>RDBMS and Database Servers</vt:lpstr>
      <vt:lpstr>RDBMS and Databases Servers (cont.)</vt:lpstr>
      <vt:lpstr>GUI Interfaces</vt:lpstr>
      <vt:lpstr>SQL Interfaces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2023-02-01T23:45:26Z</dcterms:created>
  <dcterms:modified xsi:type="dcterms:W3CDTF">2023-02-01T23:50:19Z</dcterms:modified>
</cp:coreProperties>
</file>