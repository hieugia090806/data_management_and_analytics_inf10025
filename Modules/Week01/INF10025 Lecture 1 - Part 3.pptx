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  <p:sldMasterId id="2147483648" r:id="rId2"/>
    <p:sldMasterId id="2147483661" r:id="rId3"/>
  </p:sldMasterIdLst>
  <p:notesMasterIdLst>
    <p:notesMasterId r:id="rId34"/>
  </p:notesMasterIdLst>
  <p:handoutMasterIdLst>
    <p:handoutMasterId r:id="rId35"/>
  </p:handoutMasterIdLst>
  <p:sldIdLst>
    <p:sldId id="258" r:id="rId4"/>
    <p:sldId id="317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31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mymer@bigpond.com" initials="j" lastIdx="2" clrIdx="0">
    <p:extLst>
      <p:ext uri="{19B8F6BF-5375-455C-9EA6-DF929625EA0E}">
        <p15:presenceInfo xmlns:p15="http://schemas.microsoft.com/office/powerpoint/2012/main" userId="c72c5e478633a06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90" y="163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289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1D768-E3B0-44E1-90C2-54E498AE82AF}" type="datetimeFigureOut">
              <a:rPr lang="en-AU" smtClean="0"/>
              <a:t>31/01/2023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852F5-A1BB-4423-ACDD-5BD46981B4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4569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7EFC8-CA7A-47B7-B0EB-816A580517C9}" type="datetimeFigureOut">
              <a:rPr lang="en-AU" smtClean="0"/>
              <a:t>31/01/2023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7053E-8DFE-4886-BD41-97119B65F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2578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AMDC Fins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/>
          <a:p>
            <a:fld id="{5D49465A-8857-432B-B8F7-DAABA936F9E1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1"/>
            <a:ext cx="11488755" cy="2041635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918" y="3293128"/>
            <a:ext cx="11496164" cy="1404996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5201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/>
              <a:t>CRICOS</a:t>
            </a:r>
            <a:r>
              <a:rPr lang="en-AU" sz="800" baseline="0" dirty="0"/>
              <a:t> 00111D, TOID 3059</a:t>
            </a:r>
            <a:endParaRPr lang="en-AU" sz="800" dirty="0"/>
          </a:p>
        </p:txBody>
      </p:sp>
      <p:pic>
        <p:nvPicPr>
          <p:cNvPr id="9" name="Picture 8" descr="Swinburne Logo RGB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73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Paper">
    <p:bg>
      <p:bgPr>
        <a:blipFill dpi="0" rotWithShape="1">
          <a:blip r:embed="rId2">
            <a:alphaModFix amt="9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25343"/>
            <a:ext cx="9144000" cy="2426140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5201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>
                <a:solidFill>
                  <a:schemeClr val="bg1">
                    <a:lumMod val="95000"/>
                  </a:schemeClr>
                </a:solidFill>
              </a:rPr>
              <a:t>CRICOS</a:t>
            </a:r>
            <a:r>
              <a:rPr lang="en-AU" sz="800" baseline="0" dirty="0">
                <a:solidFill>
                  <a:schemeClr val="bg1">
                    <a:lumMod val="95000"/>
                  </a:schemeClr>
                </a:solidFill>
              </a:rPr>
              <a:t> 00111D</a:t>
            </a:r>
          </a:p>
          <a:p>
            <a:pPr algn="r"/>
            <a:r>
              <a:rPr lang="en-AU" sz="800" baseline="0" dirty="0">
                <a:solidFill>
                  <a:schemeClr val="bg1">
                    <a:lumMod val="95000"/>
                  </a:schemeClr>
                </a:solidFill>
              </a:rPr>
              <a:t>TOID 3059</a:t>
            </a:r>
            <a:endParaRPr lang="en-AU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Picture 8" descr="Swinburne Logo RGB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68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Swinburne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1623" y="1290909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3600" strike="noStrike" cap="all" baseline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1623" y="3586928"/>
            <a:ext cx="11488755" cy="2388859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855942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>
                <a:solidFill>
                  <a:schemeClr val="tx1"/>
                </a:solidFill>
              </a:rPr>
              <a:t>CRICOS</a:t>
            </a:r>
            <a:r>
              <a:rPr lang="en-AU" sz="800" baseline="0" dirty="0">
                <a:solidFill>
                  <a:schemeClr val="tx1"/>
                </a:solidFill>
              </a:rPr>
              <a:t> 00111D</a:t>
            </a:r>
          </a:p>
          <a:p>
            <a:pPr algn="r"/>
            <a:r>
              <a:rPr lang="en-AU" sz="800" baseline="0" dirty="0">
                <a:solidFill>
                  <a:schemeClr val="tx1"/>
                </a:solidFill>
              </a:rPr>
              <a:t>TOID 3059</a:t>
            </a:r>
            <a:endParaRPr lang="en-AU" sz="800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44212" y="6176964"/>
            <a:ext cx="2743200" cy="5445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2620" y="0"/>
            <a:ext cx="545168" cy="1090336"/>
          </a:xfrm>
          <a:prstGeom prst="rect">
            <a:avLst/>
          </a:prstGeom>
          <a:ln w="25400">
            <a:solidFill>
              <a:schemeClr val="bg2"/>
            </a:solidFill>
            <a:miter lim="800000"/>
          </a:ln>
        </p:spPr>
      </p:pic>
      <p:pic>
        <p:nvPicPr>
          <p:cNvPr id="9" name="Picture 8" descr="KNOWING Logo RGB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878" y="6177568"/>
            <a:ext cx="543910" cy="543910"/>
          </a:xfrm>
          <a:prstGeom prst="rect">
            <a:avLst/>
          </a:prstGeom>
          <a:ln w="25400">
            <a:solidFill>
              <a:schemeClr val="bg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409256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Camp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992"/>
            <a:ext cx="12192000" cy="386979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4010765"/>
            <a:ext cx="11488755" cy="845589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918" y="4873073"/>
            <a:ext cx="11496165" cy="1141473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4757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/>
              <a:t>CRICOS</a:t>
            </a:r>
            <a:r>
              <a:rPr lang="en-AU" sz="800" baseline="0" dirty="0"/>
              <a:t> 00111D</a:t>
            </a:r>
          </a:p>
          <a:p>
            <a:pPr algn="r"/>
            <a:r>
              <a:rPr lang="en-AU" sz="800" baseline="0" dirty="0"/>
              <a:t>TOID 3059</a:t>
            </a:r>
            <a:endParaRPr lang="en-AU" sz="800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3839859"/>
            <a:ext cx="121920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winburne Logo RGB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92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Students">
    <p:bg>
      <p:bgPr>
        <a:blipFill dpi="0" rotWithShape="1">
          <a:blip r:embed="rId2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7624"/>
            <a:ext cx="12192000" cy="389572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4010765"/>
            <a:ext cx="11488755" cy="845589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918" y="4873073"/>
            <a:ext cx="11496165" cy="1141473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4757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/>
              <a:t>CRICOS</a:t>
            </a:r>
            <a:r>
              <a:rPr lang="en-AU" sz="800" baseline="0" dirty="0"/>
              <a:t> 00111D</a:t>
            </a:r>
          </a:p>
          <a:p>
            <a:pPr algn="r"/>
            <a:r>
              <a:rPr lang="en-AU" sz="800" baseline="0" dirty="0"/>
              <a:t>TOID 3059</a:t>
            </a:r>
            <a:endParaRPr lang="en-AU" sz="800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3839859"/>
            <a:ext cx="121920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winburne Logo RGB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96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52" y="3649334"/>
            <a:ext cx="9144000" cy="2388859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5201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/>
              <a:t>CRICOS</a:t>
            </a:r>
            <a:r>
              <a:rPr lang="en-AU" sz="800" baseline="0" dirty="0"/>
              <a:t> 00111D</a:t>
            </a:r>
          </a:p>
          <a:p>
            <a:pPr algn="r"/>
            <a:r>
              <a:rPr lang="en-AU" sz="800" baseline="0" dirty="0"/>
              <a:t>TOID 3059</a:t>
            </a:r>
            <a:endParaRPr lang="en-AU" sz="800" dirty="0"/>
          </a:p>
        </p:txBody>
      </p:sp>
      <p:pic>
        <p:nvPicPr>
          <p:cNvPr id="9" name="Picture 8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716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378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502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2333299"/>
            <a:ext cx="5675588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333299"/>
            <a:ext cx="5675589" cy="37285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>
          <a:xfrm>
            <a:off x="344211" y="1509387"/>
            <a:ext cx="5675588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4"/>
          </p:nvPr>
        </p:nvSpPr>
        <p:spPr>
          <a:xfrm>
            <a:off x="6172199" y="1509387"/>
            <a:ext cx="56755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2582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9452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177647"/>
            <a:ext cx="11490877" cy="207005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212" y="3335008"/>
            <a:ext cx="11490877" cy="2687421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91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839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97" y="5486400"/>
            <a:ext cx="4665555" cy="12432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2000" cy="5358064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4946" y="5358064"/>
            <a:ext cx="7127055" cy="14999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2328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52" y="3649334"/>
            <a:ext cx="9144000" cy="2388859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5201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/>
              <a:t>CRICOS</a:t>
            </a:r>
            <a:r>
              <a:rPr lang="en-AU" sz="800" baseline="0" dirty="0"/>
              <a:t> 00111D</a:t>
            </a:r>
          </a:p>
          <a:p>
            <a:pPr algn="r"/>
            <a:r>
              <a:rPr lang="en-AU" sz="800" baseline="0" dirty="0"/>
              <a:t>TOID 3059</a:t>
            </a:r>
            <a:endParaRPr lang="en-AU" sz="800" dirty="0"/>
          </a:p>
        </p:txBody>
      </p:sp>
      <p:pic>
        <p:nvPicPr>
          <p:cNvPr id="10" name="Picture 9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01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589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86957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2333299"/>
            <a:ext cx="5675588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333299"/>
            <a:ext cx="5675589" cy="37285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>
          <a:xfrm>
            <a:off x="344211" y="1509387"/>
            <a:ext cx="5675588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4"/>
          </p:nvPr>
        </p:nvSpPr>
        <p:spPr>
          <a:xfrm>
            <a:off x="6172199" y="1509387"/>
            <a:ext cx="56755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54089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7329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177647"/>
            <a:ext cx="11490877" cy="207005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212" y="3335008"/>
            <a:ext cx="11490877" cy="2687421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844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74640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97" y="5486400"/>
            <a:ext cx="4665555" cy="12432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2000" cy="5358064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4946" y="5358064"/>
            <a:ext cx="7127055" cy="14999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101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vert="horz" lIns="91440" tIns="90000" rIns="91440" bIns="90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8" name="Picture 7" descr="KNOWING Logo RGB.png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878" y="6177568"/>
            <a:ext cx="543910" cy="54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72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5" r:id="rId2"/>
    <p:sldLayoutId id="2147483677" r:id="rId3"/>
    <p:sldLayoutId id="2147483676" r:id="rId4"/>
    <p:sldLayoutId id="2147483678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vert="horz" lIns="91440" tIns="108000" rIns="91440" bIns="108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988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0" r:id="rId4"/>
    <p:sldLayoutId id="2147483654" r:id="rId5"/>
    <p:sldLayoutId id="2147483651" r:id="rId6"/>
    <p:sldLayoutId id="2147483655" r:id="rId7"/>
    <p:sldLayoutId id="214748365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1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txBody>
          <a:bodyPr vert="horz" lIns="91440" tIns="108000" rIns="91440" bIns="108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08484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1"/>
        </a:buBlip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en-us/article/Use-the-OR-criteria-to-query-on-alternate-or-multiple-conditions-d04b3e63-b477-430e-8fdc-7e37189ede88" TargetMode="External"/><Relationship Id="rId2" Type="http://schemas.openxmlformats.org/officeDocument/2006/relationships/hyperlink" Target="https://support.office.com/en-us/article/Examples-of-query-criteria-3197228c-8684-4552-ac03-aba746fb29d8?ui=en-US&amp;rs=en-US&amp;ad=US&amp;fromAR=1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fontstuff.com/access/acctut06.htm" TargetMode="External"/><Relationship Id="rId5" Type="http://schemas.openxmlformats.org/officeDocument/2006/relationships/hyperlink" Target="http://www.gcflearnfree.org/access2013/query-criteria-quick-reference-guide/1/" TargetMode="External"/><Relationship Id="rId4" Type="http://schemas.openxmlformats.org/officeDocument/2006/relationships/hyperlink" Target="https://support.office.com/en-us/article/Examples-of-Access-query-criteria-0c7e9394-c485-454f-bc00-3bd3ec617805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72034"/>
            <a:ext cx="9144000" cy="2388859"/>
          </a:xfrm>
        </p:spPr>
        <p:txBody>
          <a:bodyPr>
            <a:normAutofit/>
          </a:bodyPr>
          <a:lstStyle/>
          <a:p>
            <a:r>
              <a:rPr lang="en-AU" b="1" dirty="0"/>
              <a:t>Week 01 – Part 3</a:t>
            </a:r>
          </a:p>
          <a:p>
            <a:endParaRPr lang="en-AU" b="1" dirty="0"/>
          </a:p>
          <a:p>
            <a:r>
              <a:rPr lang="en-AU" dirty="0"/>
              <a:t>Filter &amp; Query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92869-0DEC-4190-9E59-FD3B52C9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113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Filters and Queries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Datasheet Filter | Design Grid | Running | Saving | Reusing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58D31-2207-4B2C-8D87-4D4F3811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8629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Datasheet </a:t>
            </a:r>
            <a:r>
              <a:rPr lang="en-AU" b="1" dirty="0"/>
              <a:t>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6638479" cy="4536689"/>
          </a:xfrm>
        </p:spPr>
        <p:txBody>
          <a:bodyPr>
            <a:normAutofit fontScale="70000" lnSpcReduction="20000"/>
          </a:bodyPr>
          <a:lstStyle/>
          <a:p>
            <a:r>
              <a:rPr lang="en-AU" b="1" dirty="0"/>
              <a:t>Filters</a:t>
            </a:r>
            <a:r>
              <a:rPr lang="en-AU" dirty="0"/>
              <a:t> are a useful way of specifying which records are to be retrieved by Access</a:t>
            </a:r>
          </a:p>
          <a:p>
            <a:endParaRPr lang="en-AU" dirty="0"/>
          </a:p>
          <a:p>
            <a:r>
              <a:rPr lang="en-AU" dirty="0"/>
              <a:t>Click the </a:t>
            </a:r>
            <a:r>
              <a:rPr lang="en-AU" dirty="0">
                <a:sym typeface="Wingdings 3" panose="05040102010807070707" pitchFamily="18" charset="2"/>
              </a:rPr>
              <a:t> icon on any of the Field headings</a:t>
            </a:r>
            <a:endParaRPr lang="en-AU" dirty="0"/>
          </a:p>
          <a:p>
            <a:endParaRPr lang="en-AU" dirty="0"/>
          </a:p>
          <a:p>
            <a:r>
              <a:rPr lang="en-AU" dirty="0"/>
              <a:t>Simply check one or </a:t>
            </a:r>
            <a:br>
              <a:rPr lang="en-AU" dirty="0"/>
            </a:br>
            <a:r>
              <a:rPr lang="en-AU" dirty="0"/>
              <a:t>more of the boxes on the left side </a:t>
            </a:r>
            <a:br>
              <a:rPr lang="en-AU" dirty="0"/>
            </a:br>
            <a:r>
              <a:rPr lang="en-AU" dirty="0"/>
              <a:t>of the menu to choose a record</a:t>
            </a:r>
          </a:p>
          <a:p>
            <a:endParaRPr lang="en-AU" dirty="0"/>
          </a:p>
          <a:p>
            <a:r>
              <a:rPr lang="en-AU" dirty="0"/>
              <a:t>Click Select All toggle to  </a:t>
            </a:r>
            <a:br>
              <a:rPr lang="en-AU" dirty="0"/>
            </a:br>
            <a:r>
              <a:rPr lang="en-AU" dirty="0"/>
              <a:t>select / unselect all records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grpSp>
        <p:nvGrpSpPr>
          <p:cNvPr id="8" name="Group 7"/>
          <p:cNvGrpSpPr/>
          <p:nvPr/>
        </p:nvGrpSpPr>
        <p:grpSpPr>
          <a:xfrm>
            <a:off x="3416878" y="1141239"/>
            <a:ext cx="8035289" cy="5272984"/>
            <a:chOff x="2914651" y="1564957"/>
            <a:chExt cx="8035289" cy="527298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8914" y="1564957"/>
              <a:ext cx="4391026" cy="527298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4651" y="1564957"/>
              <a:ext cx="3644264" cy="359734"/>
            </a:xfrm>
            <a:prstGeom prst="rect">
              <a:avLst/>
            </a:prstGeom>
          </p:spPr>
        </p:pic>
      </p:grpSp>
      <p:cxnSp>
        <p:nvCxnSpPr>
          <p:cNvPr id="10" name="Straight Arrow Connector 9"/>
          <p:cNvCxnSpPr/>
          <p:nvPr/>
        </p:nvCxnSpPr>
        <p:spPr>
          <a:xfrm flipV="1">
            <a:off x="3981796" y="3233651"/>
            <a:ext cx="3607724" cy="1587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541222" y="3499658"/>
            <a:ext cx="4048298" cy="1321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EACC0-9733-48A9-B1C1-FC847A5B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9761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Datasheet </a:t>
            </a:r>
            <a:r>
              <a:rPr lang="en-AU" b="1" dirty="0"/>
              <a:t>Filters</a:t>
            </a:r>
            <a:r>
              <a:rPr lang="en-AU" dirty="0"/>
              <a:t>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225" y="1509388"/>
            <a:ext cx="11503576" cy="4536689"/>
          </a:xfrm>
        </p:spPr>
        <p:txBody>
          <a:bodyPr/>
          <a:lstStyle/>
          <a:p>
            <a:r>
              <a:rPr lang="en-AU" dirty="0"/>
              <a:t>Click the </a:t>
            </a:r>
            <a:r>
              <a:rPr lang="en-AU" b="1" dirty="0"/>
              <a:t>Text</a:t>
            </a:r>
            <a:r>
              <a:rPr lang="en-AU" dirty="0"/>
              <a:t> Filters menu option to specify others filter options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4737"/>
          <a:stretch/>
        </p:blipFill>
        <p:spPr>
          <a:xfrm>
            <a:off x="4397433" y="2379201"/>
            <a:ext cx="7169714" cy="404020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AA369-D37B-4EDA-9ECC-05C98742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9017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Datasheet </a:t>
            </a:r>
            <a:r>
              <a:rPr lang="en-AU" b="1" dirty="0"/>
              <a:t>Filters </a:t>
            </a:r>
            <a:r>
              <a:rPr lang="en-AU" dirty="0"/>
              <a:t>(cont.)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Numeric</a:t>
            </a:r>
            <a:r>
              <a:rPr lang="en-AU" dirty="0"/>
              <a:t> columns have a different selection of filter options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672" y="2389563"/>
            <a:ext cx="7061489" cy="333375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5B398-D6E5-4DDD-8793-79559B84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737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Datasheet </a:t>
            </a:r>
            <a:r>
              <a:rPr lang="en-AU" b="1" dirty="0"/>
              <a:t>Filters</a:t>
            </a:r>
            <a:r>
              <a:rPr lang="en-AU" dirty="0"/>
              <a:t>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Date</a:t>
            </a:r>
            <a:r>
              <a:rPr lang="en-AU" dirty="0"/>
              <a:t> columns have huge selection of filter options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965939" y="2335875"/>
            <a:ext cx="5480686" cy="4300587"/>
            <a:chOff x="1011554" y="1472565"/>
            <a:chExt cx="7332346" cy="526365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1554" y="1472565"/>
              <a:ext cx="5400675" cy="460426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2229" y="2698400"/>
              <a:ext cx="1931671" cy="4037815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15103-D54D-4574-8409-B2CB121E3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210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Filters </a:t>
            </a:r>
            <a:r>
              <a:rPr lang="en-AU" b="1" dirty="0"/>
              <a:t>vs.</a:t>
            </a:r>
            <a:r>
              <a:rPr lang="en-AU" dirty="0"/>
              <a:t>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U" dirty="0"/>
              <a:t>Filters are useful for </a:t>
            </a:r>
            <a:r>
              <a:rPr lang="en-AU" b="1" dirty="0"/>
              <a:t>'one-off' searches</a:t>
            </a:r>
          </a:p>
          <a:p>
            <a:endParaRPr lang="en-AU" dirty="0"/>
          </a:p>
          <a:p>
            <a:r>
              <a:rPr lang="en-AU" dirty="0"/>
              <a:t>However, Filter settings cannot be saved.</a:t>
            </a:r>
          </a:p>
          <a:p>
            <a:pPr lvl="1"/>
            <a:r>
              <a:rPr lang="en-AU" dirty="0"/>
              <a:t>The next time you want to repeat the search, you </a:t>
            </a:r>
            <a:r>
              <a:rPr lang="en-AU" b="1" dirty="0"/>
              <a:t>need to re-create </a:t>
            </a:r>
            <a:r>
              <a:rPr lang="en-AU" dirty="0"/>
              <a:t>all of the filter settings again.</a:t>
            </a:r>
          </a:p>
          <a:p>
            <a:pPr lvl="1"/>
            <a:endParaRPr lang="en-AU" dirty="0"/>
          </a:p>
          <a:p>
            <a:r>
              <a:rPr lang="en-AU" dirty="0"/>
              <a:t>Queries by comparison are most useful when a search </a:t>
            </a:r>
            <a:r>
              <a:rPr lang="en-AU" b="1" dirty="0"/>
              <a:t>will be repeated</a:t>
            </a:r>
            <a:r>
              <a:rPr lang="en-AU" dirty="0"/>
              <a:t>.</a:t>
            </a:r>
          </a:p>
          <a:p>
            <a:pPr lvl="1"/>
            <a:r>
              <a:rPr lang="en-AU" dirty="0"/>
              <a:t>Filters can be saved as a 'Query'</a:t>
            </a:r>
          </a:p>
          <a:p>
            <a:pPr lvl="1"/>
            <a:r>
              <a:rPr lang="en-AU" dirty="0"/>
              <a:t>A query can be re-run repeated may times</a:t>
            </a:r>
          </a:p>
          <a:p>
            <a:pPr lvl="1"/>
            <a:r>
              <a:rPr lang="en-AU" dirty="0"/>
              <a:t>A query can behave just like a table.</a:t>
            </a:r>
          </a:p>
          <a:p>
            <a:pPr lvl="1"/>
            <a:r>
              <a:rPr lang="en-AU" dirty="0"/>
              <a:t>A new query can use an existing query as its source (instead of a table)</a:t>
            </a:r>
          </a:p>
          <a:p>
            <a:pPr lvl="2"/>
            <a:endParaRPr lang="en-AU" dirty="0"/>
          </a:p>
          <a:p>
            <a:endParaRPr lang="en-AU" dirty="0"/>
          </a:p>
          <a:p>
            <a:endParaRPr lang="en-AU" dirty="0"/>
          </a:p>
          <a:p>
            <a:pPr lvl="1"/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383E1-8205-4572-8447-46FE97DDA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992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An Access query is literally a question that you ask about your data</a:t>
            </a:r>
          </a:p>
          <a:p>
            <a:pPr lvl="1"/>
            <a:r>
              <a:rPr lang="en-AU" dirty="0"/>
              <a:t>e.g. What is the name and rating code of all movies that were released in the year 2015. </a:t>
            </a:r>
          </a:p>
          <a:p>
            <a:endParaRPr lang="en-AU" dirty="0"/>
          </a:p>
          <a:p>
            <a:r>
              <a:rPr lang="en-AU" dirty="0"/>
              <a:t>To Build a query think about:</a:t>
            </a:r>
          </a:p>
          <a:p>
            <a:pPr lvl="1"/>
            <a:r>
              <a:rPr lang="en-AU" dirty="0"/>
              <a:t>Which </a:t>
            </a:r>
            <a:r>
              <a:rPr lang="en-AU" b="1" dirty="0"/>
              <a:t>table(s)</a:t>
            </a:r>
            <a:r>
              <a:rPr lang="en-AU" dirty="0"/>
              <a:t> store this data</a:t>
            </a:r>
          </a:p>
          <a:p>
            <a:pPr lvl="1"/>
            <a:r>
              <a:rPr lang="en-AU" dirty="0"/>
              <a:t>Which </a:t>
            </a:r>
            <a:r>
              <a:rPr lang="en-AU" b="1" dirty="0"/>
              <a:t>fields</a:t>
            </a:r>
            <a:r>
              <a:rPr lang="en-AU" dirty="0"/>
              <a:t> do you want displayed</a:t>
            </a:r>
          </a:p>
          <a:p>
            <a:pPr lvl="1"/>
            <a:r>
              <a:rPr lang="en-AU" dirty="0"/>
              <a:t>What </a:t>
            </a:r>
            <a:r>
              <a:rPr lang="en-AU" b="1" dirty="0"/>
              <a:t>criteria</a:t>
            </a:r>
            <a:r>
              <a:rPr lang="en-AU" dirty="0"/>
              <a:t> does a record have to match </a:t>
            </a:r>
          </a:p>
          <a:p>
            <a:pPr lvl="1"/>
            <a:r>
              <a:rPr lang="en-AU" dirty="0"/>
              <a:t>What </a:t>
            </a:r>
            <a:r>
              <a:rPr lang="en-AU" b="1" dirty="0"/>
              <a:t>sequence</a:t>
            </a:r>
            <a:r>
              <a:rPr lang="en-AU" dirty="0"/>
              <a:t> do you want to matching data to appear in</a:t>
            </a:r>
          </a:p>
          <a:p>
            <a:pPr lvl="1"/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AF618-8486-4402-8FC3-D1AC6CA65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7624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Queries </a:t>
            </a:r>
            <a:r>
              <a:rPr lang="en-AU" dirty="0"/>
              <a:t>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Q: What is the title and rating code of all movies that were released in the year 2015. </a:t>
            </a:r>
          </a:p>
          <a:p>
            <a:pPr lvl="1"/>
            <a:r>
              <a:rPr lang="en-AU" dirty="0"/>
              <a:t>Which table are necessary?</a:t>
            </a:r>
          </a:p>
          <a:p>
            <a:pPr lvl="2"/>
            <a:r>
              <a:rPr lang="en-AU" b="1" dirty="0"/>
              <a:t>Movie</a:t>
            </a:r>
            <a:r>
              <a:rPr lang="en-AU" dirty="0"/>
              <a:t> table</a:t>
            </a:r>
          </a:p>
          <a:p>
            <a:pPr lvl="1"/>
            <a:r>
              <a:rPr lang="en-AU" dirty="0"/>
              <a:t>Which fields do you want displayed</a:t>
            </a:r>
          </a:p>
          <a:p>
            <a:pPr lvl="2"/>
            <a:r>
              <a:rPr lang="en-AU" b="1" dirty="0"/>
              <a:t>Title, </a:t>
            </a:r>
            <a:r>
              <a:rPr lang="en-AU" b="1" dirty="0" err="1"/>
              <a:t>RatingCode</a:t>
            </a:r>
            <a:endParaRPr lang="en-AU" b="1" dirty="0"/>
          </a:p>
          <a:p>
            <a:pPr lvl="1"/>
            <a:r>
              <a:rPr lang="en-AU" dirty="0"/>
              <a:t>What criteria does a row have to match </a:t>
            </a:r>
          </a:p>
          <a:p>
            <a:pPr lvl="2"/>
            <a:r>
              <a:rPr lang="en-AU" b="1" dirty="0" err="1"/>
              <a:t>Relyear</a:t>
            </a:r>
            <a:r>
              <a:rPr lang="en-AU" dirty="0"/>
              <a:t> must be </a:t>
            </a:r>
            <a:r>
              <a:rPr lang="en-AU" b="1" dirty="0"/>
              <a:t>equal</a:t>
            </a:r>
            <a:r>
              <a:rPr lang="en-AU" dirty="0"/>
              <a:t> to </a:t>
            </a:r>
            <a:r>
              <a:rPr lang="en-AU" b="1" dirty="0"/>
              <a:t>2015</a:t>
            </a:r>
          </a:p>
          <a:p>
            <a:pPr lvl="1"/>
            <a:r>
              <a:rPr lang="en-AU" dirty="0"/>
              <a:t>What sequence do you want to matching data to appear in</a:t>
            </a:r>
          </a:p>
          <a:p>
            <a:pPr lvl="2"/>
            <a:r>
              <a:rPr lang="en-AU" b="1" dirty="0"/>
              <a:t>Alphabetical</a:t>
            </a:r>
            <a:r>
              <a:rPr lang="en-AU" dirty="0"/>
              <a:t> by </a:t>
            </a:r>
            <a:r>
              <a:rPr lang="en-AU" b="1" dirty="0"/>
              <a:t>title</a:t>
            </a:r>
          </a:p>
          <a:p>
            <a:pPr lvl="1"/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FE161-C8B0-406B-A0E8-F4E68DE9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6816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Query </a:t>
            </a:r>
            <a:r>
              <a:rPr lang="en-AU" b="1" dirty="0"/>
              <a:t>Design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/>
              <a:t>Q: What is the </a:t>
            </a:r>
            <a:r>
              <a:rPr lang="en-AU" sz="2000" b="1" dirty="0"/>
              <a:t>titl</a:t>
            </a:r>
            <a:r>
              <a:rPr lang="en-AU" sz="2000" dirty="0"/>
              <a:t>e and </a:t>
            </a:r>
            <a:r>
              <a:rPr lang="en-AU" sz="2000" b="1" dirty="0"/>
              <a:t>rating code </a:t>
            </a:r>
            <a:r>
              <a:rPr lang="en-AU" sz="2000" dirty="0"/>
              <a:t>of all </a:t>
            </a:r>
            <a:r>
              <a:rPr lang="en-AU" sz="2000" b="1" dirty="0"/>
              <a:t>movies </a:t>
            </a:r>
            <a:r>
              <a:rPr lang="en-AU" sz="2000" dirty="0"/>
              <a:t>that were </a:t>
            </a:r>
            <a:r>
              <a:rPr lang="en-AU" sz="2000" b="1" dirty="0"/>
              <a:t>released in the year 2015</a:t>
            </a:r>
            <a:r>
              <a:rPr lang="en-AU" sz="2000" dirty="0"/>
              <a:t>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461" y="2135839"/>
            <a:ext cx="8896350" cy="4524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55084" y="3194432"/>
            <a:ext cx="39878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/>
              <a:t>Query Design Grid</a:t>
            </a:r>
          </a:p>
        </p:txBody>
      </p:sp>
      <p:sp>
        <p:nvSpPr>
          <p:cNvPr id="6" name="Right Brace 5"/>
          <p:cNvSpPr/>
          <p:nvPr/>
        </p:nvSpPr>
        <p:spPr>
          <a:xfrm rot="16200000">
            <a:off x="5897087" y="407865"/>
            <a:ext cx="1441474" cy="8430383"/>
          </a:xfrm>
          <a:prstGeom prst="righ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7193A-82B0-4A82-861E-7CAAE487C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885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407" y="1989859"/>
            <a:ext cx="8867775" cy="44577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Query </a:t>
            </a:r>
            <a:r>
              <a:rPr lang="en-AU" b="1" dirty="0"/>
              <a:t>Design Grid </a:t>
            </a:r>
            <a:r>
              <a:rPr lang="en-AU" dirty="0"/>
              <a:t>(cont.)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/>
              <a:t>Q: What is the </a:t>
            </a:r>
            <a:r>
              <a:rPr lang="en-AU" sz="2000" b="1" dirty="0"/>
              <a:t>title</a:t>
            </a:r>
            <a:r>
              <a:rPr lang="en-AU" sz="2000" dirty="0"/>
              <a:t> and </a:t>
            </a:r>
            <a:r>
              <a:rPr lang="en-AU" sz="2000" b="1" dirty="0"/>
              <a:t>rating code </a:t>
            </a:r>
            <a:r>
              <a:rPr lang="en-AU" sz="2000" dirty="0"/>
              <a:t>of all </a:t>
            </a:r>
            <a:r>
              <a:rPr lang="en-AU" sz="2000" b="1" dirty="0"/>
              <a:t>movies</a:t>
            </a:r>
            <a:r>
              <a:rPr lang="en-AU" sz="2000" dirty="0"/>
              <a:t> that were </a:t>
            </a:r>
            <a:r>
              <a:rPr lang="en-AU" sz="2000" b="1" dirty="0"/>
              <a:t>released in the year 2015</a:t>
            </a:r>
            <a:r>
              <a:rPr lang="en-AU" sz="2000" dirty="0"/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2594" y="3338651"/>
            <a:ext cx="548342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Add each field / column to the Design Grid</a:t>
            </a:r>
          </a:p>
          <a:p>
            <a:pPr algn="ctr"/>
            <a:r>
              <a:rPr lang="en-AU" sz="1600" dirty="0"/>
              <a:t>(via drag n drop or double click)</a:t>
            </a:r>
          </a:p>
          <a:p>
            <a:endParaRPr lang="en-AU" sz="2400" dirty="0"/>
          </a:p>
          <a:p>
            <a:r>
              <a:rPr lang="en-AU" sz="2400" dirty="0"/>
              <a:t>         The Show check box is selected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478114" y="3824379"/>
            <a:ext cx="1091682" cy="141124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4447309" y="4534782"/>
            <a:ext cx="318431" cy="107305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2E4D86-815A-47EA-8708-759C57BF7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0165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Query </a:t>
            </a:r>
            <a:r>
              <a:rPr lang="en-AU" b="1" dirty="0"/>
              <a:t>Design Grid</a:t>
            </a:r>
            <a:r>
              <a:rPr lang="en-AU" dirty="0"/>
              <a:t> (cont.)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000" dirty="0"/>
              <a:t>Q: What is the </a:t>
            </a:r>
            <a:r>
              <a:rPr lang="en-AU" sz="2000" b="1" dirty="0"/>
              <a:t>title </a:t>
            </a:r>
            <a:r>
              <a:rPr lang="en-AU" sz="2000" dirty="0"/>
              <a:t>and </a:t>
            </a:r>
            <a:r>
              <a:rPr lang="en-AU" sz="2000" b="1" dirty="0"/>
              <a:t>rating code </a:t>
            </a:r>
            <a:r>
              <a:rPr lang="en-AU" sz="2000" dirty="0"/>
              <a:t>of all </a:t>
            </a:r>
            <a:r>
              <a:rPr lang="en-AU" sz="2000" b="1" dirty="0"/>
              <a:t>movies</a:t>
            </a:r>
            <a:r>
              <a:rPr lang="en-AU" sz="2000" dirty="0"/>
              <a:t> that were </a:t>
            </a:r>
            <a:r>
              <a:rPr lang="en-AU" sz="2000" b="1" dirty="0"/>
              <a:t>released in the year 2015</a:t>
            </a:r>
            <a:r>
              <a:rPr lang="en-AU" sz="2000" dirty="0"/>
              <a:t>?</a:t>
            </a:r>
          </a:p>
          <a:p>
            <a:endParaRPr lang="en-AU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993" y="2189060"/>
            <a:ext cx="7447425" cy="3743754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H="1">
            <a:off x="5416731" y="4274325"/>
            <a:ext cx="801976" cy="12076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967874" y="2335332"/>
            <a:ext cx="57069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Add the </a:t>
            </a:r>
            <a:r>
              <a:rPr lang="en-AU" sz="2400" dirty="0" err="1"/>
              <a:t>Relyear</a:t>
            </a:r>
            <a:r>
              <a:rPr lang="en-AU" sz="2400" dirty="0"/>
              <a:t> field / column to the Design Grid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400" dirty="0"/>
              <a:t>Do </a:t>
            </a:r>
            <a:r>
              <a:rPr lang="en-AU" sz="2400" u="sng" dirty="0"/>
              <a:t>not</a:t>
            </a:r>
            <a:r>
              <a:rPr lang="en-AU" sz="2400" dirty="0"/>
              <a:t> select Show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400" dirty="0"/>
              <a:t>Specify the </a:t>
            </a:r>
            <a:r>
              <a:rPr lang="en-AU" sz="2400" u="sng" dirty="0"/>
              <a:t>criteria</a:t>
            </a:r>
            <a:r>
              <a:rPr lang="en-AU" sz="2400" dirty="0"/>
              <a:t> that reach row must satisfy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5355771" y="3304828"/>
            <a:ext cx="461948" cy="196380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C7F9F5-02BA-4395-B797-304BDC58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2126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Run </a:t>
            </a:r>
            <a:r>
              <a:rPr lang="en-AU" dirty="0"/>
              <a:t>the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5646117" cy="4536689"/>
          </a:xfrm>
        </p:spPr>
        <p:txBody>
          <a:bodyPr/>
          <a:lstStyle/>
          <a:p>
            <a:r>
              <a:rPr lang="en-AU" dirty="0">
                <a:solidFill>
                  <a:schemeClr val="tx2"/>
                </a:solidFill>
              </a:rPr>
              <a:t>Click the Run !  to execute the query</a:t>
            </a:r>
          </a:p>
          <a:p>
            <a:endParaRPr lang="en-AU" dirty="0">
              <a:solidFill>
                <a:schemeClr val="tx2"/>
              </a:solidFill>
            </a:endParaRPr>
          </a:p>
          <a:p>
            <a:r>
              <a:rPr lang="en-AU" dirty="0">
                <a:solidFill>
                  <a:schemeClr val="tx2"/>
                </a:solidFill>
              </a:rPr>
              <a:t>A Datasheet view appears with the matching rows</a:t>
            </a:r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343" y="131041"/>
            <a:ext cx="5162550" cy="6726959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5631003" y="964636"/>
            <a:ext cx="1740693" cy="85841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/>
          <a:srcRect r="6084"/>
          <a:stretch/>
        </p:blipFill>
        <p:spPr>
          <a:xfrm>
            <a:off x="1873626" y="4573539"/>
            <a:ext cx="4602906" cy="2222317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>
            <a:off x="5425698" y="3872732"/>
            <a:ext cx="410610" cy="93558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05DA2-BAA9-4CDA-81E8-13B90D80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1992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A Query can be </a:t>
            </a:r>
            <a:r>
              <a:rPr lang="en-AU" sz="2400" b="1" dirty="0">
                <a:solidFill>
                  <a:schemeClr val="tx2"/>
                </a:solidFill>
              </a:rPr>
              <a:t>saved</a:t>
            </a:r>
            <a:r>
              <a:rPr lang="en-AU" sz="2400" dirty="0">
                <a:solidFill>
                  <a:schemeClr val="tx2"/>
                </a:solidFill>
              </a:rPr>
              <a:t> and </a:t>
            </a:r>
            <a:r>
              <a:rPr lang="en-AU" sz="2400" b="1" dirty="0">
                <a:solidFill>
                  <a:schemeClr val="tx2"/>
                </a:solidFill>
              </a:rPr>
              <a:t>executed again </a:t>
            </a:r>
            <a:r>
              <a:rPr lang="en-AU" sz="2400" dirty="0">
                <a:solidFill>
                  <a:schemeClr val="tx2"/>
                </a:solidFill>
              </a:rPr>
              <a:t>at a later time.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The Query is saved </a:t>
            </a:r>
            <a:r>
              <a:rPr lang="en-AU" sz="2400" b="1" dirty="0">
                <a:solidFill>
                  <a:schemeClr val="tx2"/>
                </a:solidFill>
              </a:rPr>
              <a:t>within</a:t>
            </a:r>
            <a:r>
              <a:rPr lang="en-AU" sz="2400" dirty="0">
                <a:solidFill>
                  <a:schemeClr val="tx2"/>
                </a:solidFill>
              </a:rPr>
              <a:t> the database.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This database now </a:t>
            </a:r>
            <a:r>
              <a:rPr lang="en-AU" sz="2400" b="1" dirty="0">
                <a:solidFill>
                  <a:schemeClr val="tx2"/>
                </a:solidFill>
              </a:rPr>
              <a:t>contains</a:t>
            </a:r>
            <a:r>
              <a:rPr lang="en-AU" sz="2400" dirty="0">
                <a:solidFill>
                  <a:schemeClr val="tx2"/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tx2"/>
                </a:solidFill>
              </a:rPr>
              <a:t>A Table named Movie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tx2"/>
                </a:solidFill>
              </a:rPr>
              <a:t>A Query named Movie Title and Ratings of 2015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To run the query again</a:t>
            </a:r>
            <a:r>
              <a:rPr lang="en-AU" sz="2400" b="1" dirty="0">
                <a:solidFill>
                  <a:schemeClr val="tx2"/>
                </a:solidFill>
              </a:rPr>
              <a:t>, simply double click </a:t>
            </a:r>
            <a:r>
              <a:rPr lang="en-AU" sz="2400" dirty="0">
                <a:solidFill>
                  <a:schemeClr val="tx2"/>
                </a:solidFill>
              </a:rPr>
              <a:t>on the Query named Movies Titles and Ratings of 2015</a:t>
            </a:r>
            <a:r>
              <a:rPr lang="en-AU" sz="2400" dirty="0"/>
              <a:t>.</a:t>
            </a:r>
          </a:p>
          <a:p>
            <a:endParaRPr lang="en-AU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Saving</a:t>
            </a:r>
            <a:r>
              <a:rPr lang="en-AU" dirty="0"/>
              <a:t> Queries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37" y="3115879"/>
            <a:ext cx="5986511" cy="18135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5A18A-DB66-4F83-AD7E-B954E816B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0097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Reusing</a:t>
            </a:r>
            <a:r>
              <a:rPr lang="en-AU" dirty="0"/>
              <a:t> Queries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44212" y="1509388"/>
            <a:ext cx="7527941" cy="5179627"/>
          </a:xfrm>
        </p:spPr>
        <p:txBody>
          <a:bodyPr>
            <a:normAutofit fontScale="70000" lnSpcReduction="20000"/>
          </a:bodyPr>
          <a:lstStyle/>
          <a:p>
            <a:r>
              <a:rPr lang="en-AU" dirty="0">
                <a:solidFill>
                  <a:schemeClr val="tx2"/>
                </a:solidFill>
              </a:rPr>
              <a:t>Queries are often treated in the same way as Tables within Access</a:t>
            </a:r>
          </a:p>
          <a:p>
            <a:r>
              <a:rPr lang="en-AU" dirty="0">
                <a:solidFill>
                  <a:schemeClr val="tx2"/>
                </a:solidFill>
              </a:rPr>
              <a:t>Let us suppose we want to change the criteria</a:t>
            </a:r>
          </a:p>
          <a:p>
            <a:r>
              <a:rPr lang="en-AU" dirty="0">
                <a:solidFill>
                  <a:schemeClr val="tx2"/>
                </a:solidFill>
              </a:rPr>
              <a:t>Now, we only want to display PG movies from the year 2015</a:t>
            </a:r>
          </a:p>
          <a:p>
            <a:r>
              <a:rPr lang="en-AU" dirty="0">
                <a:solidFill>
                  <a:schemeClr val="tx2"/>
                </a:solidFill>
              </a:rPr>
              <a:t>We could edit and modify the previous query. </a:t>
            </a:r>
          </a:p>
          <a:p>
            <a:r>
              <a:rPr lang="en-AU" dirty="0">
                <a:solidFill>
                  <a:schemeClr val="tx2"/>
                </a:solidFill>
              </a:rPr>
              <a:t>Instead… we can create a new query </a:t>
            </a:r>
          </a:p>
          <a:p>
            <a:r>
              <a:rPr lang="en-AU" dirty="0">
                <a:solidFill>
                  <a:schemeClr val="tx2"/>
                </a:solidFill>
              </a:rPr>
              <a:t>Create a New Query via Create / Query Design menu option.</a:t>
            </a:r>
          </a:p>
          <a:p>
            <a:r>
              <a:rPr lang="en-AU" b="1" dirty="0">
                <a:solidFill>
                  <a:schemeClr val="tx2"/>
                </a:solidFill>
              </a:rPr>
              <a:t>Don't </a:t>
            </a:r>
            <a:r>
              <a:rPr lang="en-AU" dirty="0">
                <a:solidFill>
                  <a:schemeClr val="tx2"/>
                </a:solidFill>
              </a:rPr>
              <a:t>base the data on a table but instead choose ‘Movie Titles and Ratings of 2015’ from the Queries tab.</a:t>
            </a:r>
          </a:p>
          <a:p>
            <a:r>
              <a:rPr lang="en-AU" dirty="0">
                <a:solidFill>
                  <a:schemeClr val="tx2"/>
                </a:solidFill>
              </a:rPr>
              <a:t>The only columns that are available for this query </a:t>
            </a:r>
            <a:br>
              <a:rPr lang="en-AU" dirty="0">
                <a:solidFill>
                  <a:schemeClr val="tx2"/>
                </a:solidFill>
              </a:rPr>
            </a:br>
            <a:r>
              <a:rPr lang="en-AU" dirty="0">
                <a:solidFill>
                  <a:schemeClr val="tx2"/>
                </a:solidFill>
              </a:rPr>
              <a:t>are Title and </a:t>
            </a:r>
            <a:r>
              <a:rPr lang="en-AU" dirty="0" err="1">
                <a:solidFill>
                  <a:schemeClr val="tx2"/>
                </a:solidFill>
              </a:rPr>
              <a:t>RatingCode</a:t>
            </a:r>
            <a:endParaRPr lang="en-AU" dirty="0">
              <a:solidFill>
                <a:schemeClr val="tx2"/>
              </a:solidFill>
            </a:endParaRP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93029" y="832728"/>
            <a:ext cx="11591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/>
          </a:p>
          <a:p>
            <a:endParaRPr lang="en-AU" sz="2400" dirty="0"/>
          </a:p>
        </p:txBody>
      </p:sp>
      <p:grpSp>
        <p:nvGrpSpPr>
          <p:cNvPr id="6" name="Group 5"/>
          <p:cNvGrpSpPr/>
          <p:nvPr/>
        </p:nvGrpSpPr>
        <p:grpSpPr>
          <a:xfrm>
            <a:off x="8378403" y="1419944"/>
            <a:ext cx="3552825" cy="2006274"/>
            <a:chOff x="4319587" y="904875"/>
            <a:chExt cx="3552825" cy="200627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/>
            <a:srcRect b="78002"/>
            <a:stretch/>
          </p:blipFill>
          <p:spPr>
            <a:xfrm>
              <a:off x="4319587" y="904875"/>
              <a:ext cx="3552825" cy="1110537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/>
            <a:srcRect t="85145" b="-2888"/>
            <a:stretch/>
          </p:blipFill>
          <p:spPr>
            <a:xfrm>
              <a:off x="4319587" y="2015410"/>
              <a:ext cx="3552825" cy="895739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403" y="3641016"/>
            <a:ext cx="3552825" cy="304800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7280366" y="2267341"/>
            <a:ext cx="1490410" cy="24115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7367451" y="4833259"/>
            <a:ext cx="1729896" cy="8186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783B09-253C-48DF-9823-8B1F5756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47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Reusing</a:t>
            </a:r>
            <a:r>
              <a:rPr lang="en-AU" dirty="0"/>
              <a:t> Queries (cont.)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44212" y="1509387"/>
            <a:ext cx="6970988" cy="2489035"/>
          </a:xfrm>
        </p:spPr>
        <p:txBody>
          <a:bodyPr>
            <a:normAutofit fontScale="62500" lnSpcReduction="20000"/>
          </a:bodyPr>
          <a:lstStyle/>
          <a:p>
            <a:r>
              <a:rPr lang="en-AU" b="1" dirty="0">
                <a:solidFill>
                  <a:schemeClr val="tx2"/>
                </a:solidFill>
              </a:rPr>
              <a:t>Add </a:t>
            </a:r>
            <a:r>
              <a:rPr lang="en-AU" dirty="0">
                <a:solidFill>
                  <a:schemeClr val="tx2"/>
                </a:solidFill>
              </a:rPr>
              <a:t>the Title and </a:t>
            </a:r>
            <a:r>
              <a:rPr lang="en-AU" dirty="0" err="1">
                <a:solidFill>
                  <a:schemeClr val="tx2"/>
                </a:solidFill>
              </a:rPr>
              <a:t>RatingCode</a:t>
            </a:r>
            <a:r>
              <a:rPr lang="en-AU" dirty="0">
                <a:solidFill>
                  <a:schemeClr val="tx2"/>
                </a:solidFill>
              </a:rPr>
              <a:t> fields / columns to the Design Grid.</a:t>
            </a:r>
          </a:p>
          <a:p>
            <a:endParaRPr lang="en-AU" dirty="0">
              <a:solidFill>
                <a:schemeClr val="tx2"/>
              </a:solidFill>
            </a:endParaRPr>
          </a:p>
          <a:p>
            <a:r>
              <a:rPr lang="en-AU" b="1" dirty="0">
                <a:solidFill>
                  <a:schemeClr val="tx2"/>
                </a:solidFill>
              </a:rPr>
              <a:t>Add </a:t>
            </a:r>
            <a:r>
              <a:rPr lang="en-AU" dirty="0">
                <a:solidFill>
                  <a:schemeClr val="tx2"/>
                </a:solidFill>
              </a:rPr>
              <a:t>a criteria to </a:t>
            </a:r>
            <a:r>
              <a:rPr lang="en-AU" dirty="0" err="1">
                <a:solidFill>
                  <a:schemeClr val="tx2"/>
                </a:solidFill>
              </a:rPr>
              <a:t>RatingCode</a:t>
            </a:r>
            <a:r>
              <a:rPr lang="en-AU" dirty="0">
                <a:solidFill>
                  <a:schemeClr val="tx2"/>
                </a:solidFill>
              </a:rPr>
              <a:t> so that only PG movies are displayed.</a:t>
            </a:r>
          </a:p>
          <a:p>
            <a:endParaRPr lang="en-AU" dirty="0">
              <a:solidFill>
                <a:schemeClr val="tx2"/>
              </a:solidFill>
            </a:endParaRPr>
          </a:p>
          <a:p>
            <a:r>
              <a:rPr lang="en-AU" dirty="0">
                <a:solidFill>
                  <a:schemeClr val="tx2"/>
                </a:solidFill>
              </a:rPr>
              <a:t>You could save this as a new query.</a:t>
            </a:r>
          </a:p>
          <a:p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627" y="1164657"/>
            <a:ext cx="4387017" cy="44150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431" y="4257869"/>
            <a:ext cx="5706669" cy="155510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D34E0-6FED-4FC3-AFA5-16D24133C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5637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References</a:t>
            </a:r>
            <a:r>
              <a:rPr lang="en-AU" dirty="0"/>
              <a:t> on Queries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U" dirty="0"/>
              <a:t>There are many resources available describing how to create Access Queries</a:t>
            </a:r>
          </a:p>
          <a:p>
            <a:r>
              <a:rPr lang="en-AU" dirty="0"/>
              <a:t>The Access Bible 2016 available on-line via Swinburne Library.</a:t>
            </a:r>
          </a:p>
          <a:p>
            <a:r>
              <a:rPr lang="en-AU" dirty="0"/>
              <a:t>Also:</a:t>
            </a:r>
          </a:p>
          <a:p>
            <a:pPr lvl="1"/>
            <a:r>
              <a:rPr lang="en-AU" dirty="0">
                <a:hlinkClick r:id="rId2"/>
              </a:rPr>
              <a:t>https://support.office.com/en-us/article/Examples-of-query-criteria-3197228c-8684-4552-ac03-aba746fb29d8?ui=en-US&amp;rs=en-US&amp;ad=US&amp;fromAR=1</a:t>
            </a:r>
            <a:endParaRPr lang="en-AU" dirty="0"/>
          </a:p>
          <a:p>
            <a:pPr lvl="1"/>
            <a:r>
              <a:rPr lang="en-AU" dirty="0">
                <a:hlinkClick r:id="rId3"/>
              </a:rPr>
              <a:t>https://support.office.com/en-us/article/Use-the-OR-criteria-to-query-on-alternate-or-multiple-conditions-d04b3e63-b477-430e-8fdc-7e37189ede88</a:t>
            </a:r>
            <a:endParaRPr lang="en-AU" dirty="0"/>
          </a:p>
          <a:p>
            <a:pPr lvl="1"/>
            <a:r>
              <a:rPr lang="en-AU" dirty="0">
                <a:hlinkClick r:id="rId4"/>
              </a:rPr>
              <a:t>https://support.office.com/en-us/article/Examples-of-Access-query-criteria-0c7e9394-c485-454f-bc00-3bd3ec617805</a:t>
            </a:r>
            <a:endParaRPr lang="en-AU" dirty="0"/>
          </a:p>
          <a:p>
            <a:pPr lvl="1"/>
            <a:r>
              <a:rPr lang="en-AU" dirty="0">
                <a:hlinkClick r:id="rId5"/>
              </a:rPr>
              <a:t>http://www.gcflearnfree.org/access2013/query-criteria-quick-reference-guide/1/</a:t>
            </a:r>
            <a:endParaRPr lang="en-AU" dirty="0"/>
          </a:p>
          <a:p>
            <a:pPr lvl="1"/>
            <a:r>
              <a:rPr lang="en-AU" dirty="0">
                <a:hlinkClick r:id="rId6"/>
              </a:rPr>
              <a:t>http://www.fontstuff.com/access/acctut06.htm</a:t>
            </a:r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C6BE70-30B7-4F94-A9FC-F8112F23F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0428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Multiple Criteria, Keywords, and Wildcards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AND | OR | LIKE | Field Names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68A11-5385-4D9B-9564-A08ADAA7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9321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Multiple criteria </a:t>
            </a:r>
            <a:r>
              <a:rPr lang="en-AU" dirty="0"/>
              <a:t>in a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6299157" cy="4536689"/>
          </a:xfrm>
        </p:spPr>
        <p:txBody>
          <a:bodyPr>
            <a:normAutofit fontScale="92500" lnSpcReduction="10000"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When a field has </a:t>
            </a:r>
            <a:r>
              <a:rPr lang="en-AU" sz="2400" b="1" dirty="0">
                <a:solidFill>
                  <a:schemeClr val="tx2"/>
                </a:solidFill>
              </a:rPr>
              <a:t>multiple values</a:t>
            </a:r>
            <a:r>
              <a:rPr lang="en-AU" sz="2400" dirty="0">
                <a:solidFill>
                  <a:schemeClr val="tx2"/>
                </a:solidFill>
              </a:rPr>
              <a:t> on </a:t>
            </a:r>
            <a:r>
              <a:rPr lang="en-AU" sz="2400" b="1" dirty="0">
                <a:solidFill>
                  <a:schemeClr val="tx2"/>
                </a:solidFill>
              </a:rPr>
              <a:t>multiple rows </a:t>
            </a:r>
            <a:r>
              <a:rPr lang="en-AU" sz="2400" dirty="0">
                <a:solidFill>
                  <a:schemeClr val="tx2"/>
                </a:solidFill>
              </a:rPr>
              <a:t>in the Criteria section, it means that a movie record only needs to satisfy</a:t>
            </a:r>
            <a:r>
              <a:rPr lang="en-AU" sz="2400" b="1" dirty="0">
                <a:solidFill>
                  <a:schemeClr val="tx2"/>
                </a:solidFill>
              </a:rPr>
              <a:t> ONE </a:t>
            </a:r>
            <a:r>
              <a:rPr lang="en-AU" sz="2400" dirty="0">
                <a:solidFill>
                  <a:schemeClr val="tx2"/>
                </a:solidFill>
              </a:rPr>
              <a:t>of the criteria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b="1" dirty="0">
                <a:solidFill>
                  <a:schemeClr val="tx2"/>
                </a:solidFill>
              </a:rPr>
              <a:t>Meaning: </a:t>
            </a:r>
            <a:r>
              <a:rPr lang="en-AU" sz="2400" dirty="0">
                <a:solidFill>
                  <a:schemeClr val="tx2"/>
                </a:solidFill>
              </a:rPr>
              <a:t>Evaluate each record. Select the record when</a:t>
            </a:r>
          </a:p>
          <a:p>
            <a:pPr marL="457200" lvl="1" indent="0">
              <a:buNone/>
            </a:pPr>
            <a:r>
              <a:rPr lang="en-AU" sz="2400" dirty="0">
                <a:solidFill>
                  <a:schemeClr val="tx2"/>
                </a:solidFill>
              </a:rPr>
              <a:t>the </a:t>
            </a:r>
            <a:r>
              <a:rPr lang="en-AU" sz="2400" dirty="0" err="1">
                <a:solidFill>
                  <a:schemeClr val="tx2"/>
                </a:solidFill>
              </a:rPr>
              <a:t>relyear</a:t>
            </a:r>
            <a:r>
              <a:rPr lang="en-AU" sz="2400" dirty="0">
                <a:solidFill>
                  <a:schemeClr val="tx2"/>
                </a:solidFill>
              </a:rPr>
              <a:t> is equal to 2013 </a:t>
            </a:r>
          </a:p>
          <a:p>
            <a:pPr marL="457200" lvl="1" indent="0">
              <a:buNone/>
            </a:pPr>
            <a:r>
              <a:rPr lang="en-AU" sz="2400" b="1" dirty="0">
                <a:solidFill>
                  <a:schemeClr val="tx2"/>
                </a:solidFill>
              </a:rPr>
              <a:t>OR</a:t>
            </a:r>
          </a:p>
          <a:p>
            <a:pPr marL="457200" lvl="1" indent="0">
              <a:buNone/>
            </a:pPr>
            <a:r>
              <a:rPr lang="en-AU" sz="2400" dirty="0">
                <a:solidFill>
                  <a:schemeClr val="tx2"/>
                </a:solidFill>
              </a:rPr>
              <a:t>the </a:t>
            </a:r>
            <a:r>
              <a:rPr lang="en-AU" sz="2400" dirty="0" err="1">
                <a:solidFill>
                  <a:schemeClr val="tx2"/>
                </a:solidFill>
              </a:rPr>
              <a:t>relyear</a:t>
            </a:r>
            <a:r>
              <a:rPr lang="en-AU" sz="2400" dirty="0">
                <a:solidFill>
                  <a:schemeClr val="tx2"/>
                </a:solidFill>
              </a:rPr>
              <a:t> is equal to 2016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AU" sz="2400" i="1" dirty="0">
              <a:solidFill>
                <a:schemeClr val="tx2"/>
              </a:solidFill>
            </a:endParaRPr>
          </a:p>
          <a:p>
            <a:r>
              <a:rPr lang="en-AU" sz="2400" i="1" dirty="0">
                <a:solidFill>
                  <a:schemeClr val="tx2"/>
                </a:solidFill>
              </a:rPr>
              <a:t>Either criteria must be met by a record.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AU" sz="2400" dirty="0">
              <a:solidFill>
                <a:schemeClr val="tx2"/>
              </a:solidFill>
            </a:endParaRPr>
          </a:p>
          <a:p>
            <a:endParaRPr lang="en-AU" sz="2400" dirty="0"/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443" y="3862111"/>
            <a:ext cx="3695700" cy="2590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737" y="1974191"/>
            <a:ext cx="5671070" cy="156443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34B69-A7EE-4CB8-A39E-B4A32F8B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2408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Multiple criteria in </a:t>
            </a:r>
            <a:r>
              <a:rPr lang="en-AU" b="1" dirty="0"/>
              <a:t>multiple fields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44212" y="1509387"/>
            <a:ext cx="6879548" cy="4536689"/>
          </a:xfrm>
        </p:spPr>
        <p:txBody>
          <a:bodyPr>
            <a:normAutofit fontScale="70000" lnSpcReduction="20000"/>
          </a:bodyPr>
          <a:lstStyle/>
          <a:p>
            <a:r>
              <a:rPr lang="en-AU" dirty="0"/>
              <a:t>When multiple fields have values the </a:t>
            </a:r>
            <a:br>
              <a:rPr lang="en-AU" dirty="0"/>
            </a:br>
            <a:r>
              <a:rPr lang="en-AU" dirty="0"/>
              <a:t>Criteria section, it means that a movie record must satisfy</a:t>
            </a:r>
            <a:r>
              <a:rPr lang="en-AU" b="1" dirty="0"/>
              <a:t> ALL </a:t>
            </a:r>
            <a:r>
              <a:rPr lang="en-AU" dirty="0"/>
              <a:t>of the criteria</a:t>
            </a:r>
          </a:p>
          <a:p>
            <a:endParaRPr lang="en-AU" dirty="0"/>
          </a:p>
          <a:p>
            <a:r>
              <a:rPr lang="en-AU" b="1" dirty="0"/>
              <a:t>Meaning: </a:t>
            </a:r>
            <a:r>
              <a:rPr lang="en-AU" dirty="0"/>
              <a:t>Evaluate each record. Select the record when</a:t>
            </a:r>
          </a:p>
          <a:p>
            <a:pPr marL="457200" lvl="1" indent="0">
              <a:buNone/>
            </a:pPr>
            <a:r>
              <a:rPr lang="en-AU" dirty="0"/>
              <a:t>the </a:t>
            </a:r>
            <a:r>
              <a:rPr lang="en-AU" dirty="0" err="1"/>
              <a:t>relyear</a:t>
            </a:r>
            <a:r>
              <a:rPr lang="en-AU" dirty="0"/>
              <a:t> is equal to 2013 </a:t>
            </a:r>
          </a:p>
          <a:p>
            <a:pPr marL="914400" lvl="2" indent="0">
              <a:buNone/>
            </a:pPr>
            <a:r>
              <a:rPr lang="en-AU" b="1" dirty="0"/>
              <a:t>AND</a:t>
            </a:r>
          </a:p>
          <a:p>
            <a:pPr marL="457200" lvl="1" indent="0">
              <a:buNone/>
            </a:pPr>
            <a:r>
              <a:rPr lang="en-AU" dirty="0"/>
              <a:t>the </a:t>
            </a:r>
            <a:r>
              <a:rPr lang="en-AU" dirty="0" err="1"/>
              <a:t>ratingcode</a:t>
            </a:r>
            <a:r>
              <a:rPr lang="en-AU" dirty="0"/>
              <a:t> is equal to "M"</a:t>
            </a:r>
          </a:p>
          <a:p>
            <a:endParaRPr lang="en-AU" dirty="0"/>
          </a:p>
          <a:p>
            <a:r>
              <a:rPr lang="en-AU" i="1" dirty="0"/>
              <a:t>Both criteria must be met by a record.</a:t>
            </a:r>
          </a:p>
          <a:p>
            <a:r>
              <a:rPr lang="en-AU" i="1" dirty="0"/>
              <a:t>When reading  the Criteria across the query it means AND</a:t>
            </a:r>
          </a:p>
          <a:p>
            <a:endParaRPr lang="en-AU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228" y="1698999"/>
            <a:ext cx="5143772" cy="138582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472791"/>
            <a:ext cx="4490972" cy="206654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C918DE-3E4A-4B1E-9535-3DF95B8B1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7144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Multiple criteria in </a:t>
            </a:r>
            <a:r>
              <a:rPr lang="en-AU" b="1" dirty="0"/>
              <a:t>multiple fields </a:t>
            </a:r>
            <a:r>
              <a:rPr lang="en-AU" dirty="0"/>
              <a:t>(cont.)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44212" y="1509387"/>
            <a:ext cx="6192927" cy="5090918"/>
          </a:xfrm>
        </p:spPr>
        <p:txBody>
          <a:bodyPr>
            <a:normAutofit fontScale="77500" lnSpcReduction="20000"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When </a:t>
            </a:r>
            <a:r>
              <a:rPr lang="en-AU" sz="2400" b="1" dirty="0">
                <a:solidFill>
                  <a:schemeClr val="tx2"/>
                </a:solidFill>
              </a:rPr>
              <a:t>multiple criteria rows</a:t>
            </a:r>
            <a:r>
              <a:rPr lang="en-AU" sz="2400" dirty="0">
                <a:solidFill>
                  <a:schemeClr val="tx2"/>
                </a:solidFill>
              </a:rPr>
              <a:t> have multiple</a:t>
            </a:r>
            <a:br>
              <a:rPr lang="en-AU" sz="2400" dirty="0">
                <a:solidFill>
                  <a:schemeClr val="tx2"/>
                </a:solidFill>
              </a:rPr>
            </a:br>
            <a:r>
              <a:rPr lang="en-AU" sz="2400" b="1" dirty="0">
                <a:solidFill>
                  <a:schemeClr val="tx2"/>
                </a:solidFill>
              </a:rPr>
              <a:t>values</a:t>
            </a:r>
            <a:r>
              <a:rPr lang="en-AU" sz="2400" dirty="0">
                <a:solidFill>
                  <a:schemeClr val="tx2"/>
                </a:solidFill>
              </a:rPr>
              <a:t> in the Criteria section, it is tricky.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Evaluate each record against each </a:t>
            </a:r>
            <a:br>
              <a:rPr lang="en-AU" sz="2400" dirty="0">
                <a:solidFill>
                  <a:schemeClr val="tx2"/>
                </a:solidFill>
              </a:rPr>
            </a:br>
            <a:r>
              <a:rPr lang="en-AU" sz="2400" dirty="0">
                <a:solidFill>
                  <a:schemeClr val="tx2"/>
                </a:solidFill>
              </a:rPr>
              <a:t>Criteria row separately.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If a record meets all the Criteria of a </a:t>
            </a:r>
            <a:br>
              <a:rPr lang="en-AU" sz="2400" dirty="0">
                <a:solidFill>
                  <a:schemeClr val="tx2"/>
                </a:solidFill>
              </a:rPr>
            </a:br>
            <a:r>
              <a:rPr lang="en-AU" sz="2400" dirty="0">
                <a:solidFill>
                  <a:schemeClr val="tx2"/>
                </a:solidFill>
              </a:rPr>
              <a:t>Criteria Row, then that record is selected.</a:t>
            </a:r>
          </a:p>
          <a:p>
            <a:endParaRPr lang="en-AU" sz="2400" b="1" dirty="0">
              <a:solidFill>
                <a:schemeClr val="tx2"/>
              </a:solidFill>
            </a:endParaRPr>
          </a:p>
          <a:p>
            <a:r>
              <a:rPr lang="en-AU" sz="2400" b="1" dirty="0">
                <a:solidFill>
                  <a:schemeClr val="tx2"/>
                </a:solidFill>
              </a:rPr>
              <a:t>Meaning</a:t>
            </a:r>
            <a:r>
              <a:rPr lang="en-AU" sz="2400" dirty="0">
                <a:solidFill>
                  <a:schemeClr val="tx2"/>
                </a:solidFill>
              </a:rPr>
              <a:t> Evaluate each record. Select the record when</a:t>
            </a:r>
          </a:p>
          <a:p>
            <a:pPr marL="457200" lvl="1" indent="0">
              <a:buNone/>
            </a:pPr>
            <a:r>
              <a:rPr lang="en-AU" sz="2400" dirty="0">
                <a:solidFill>
                  <a:schemeClr val="tx2"/>
                </a:solidFill>
              </a:rPr>
              <a:t>All of Criteria A is satisfied </a:t>
            </a:r>
          </a:p>
          <a:p>
            <a:pPr marL="457200" lvl="1" indent="0">
              <a:buNone/>
            </a:pPr>
            <a:r>
              <a:rPr lang="en-AU" sz="2400" b="1" dirty="0">
                <a:solidFill>
                  <a:schemeClr val="tx2"/>
                </a:solidFill>
              </a:rPr>
              <a:t>OR</a:t>
            </a:r>
          </a:p>
          <a:p>
            <a:pPr marL="457200" lvl="1" indent="0">
              <a:buNone/>
            </a:pPr>
            <a:r>
              <a:rPr lang="en-AU" sz="2400" dirty="0">
                <a:solidFill>
                  <a:schemeClr val="tx2"/>
                </a:solidFill>
              </a:rPr>
              <a:t>All of Criteria B is satisfied</a:t>
            </a:r>
          </a:p>
          <a:p>
            <a:endParaRPr lang="en-AU" sz="2400" i="1" dirty="0">
              <a:solidFill>
                <a:schemeClr val="tx2"/>
              </a:solidFill>
            </a:endParaRPr>
          </a:p>
          <a:p>
            <a:r>
              <a:rPr lang="en-AU" sz="2400" i="1" dirty="0">
                <a:solidFill>
                  <a:schemeClr val="tx2"/>
                </a:solidFill>
              </a:rPr>
              <a:t>Either criteria A or criteria B must be met by a record.</a:t>
            </a:r>
            <a:endParaRPr lang="en-AU" sz="2400" dirty="0"/>
          </a:p>
          <a:p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982" y="3375027"/>
            <a:ext cx="5195806" cy="22926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406" y="1343198"/>
            <a:ext cx="5762603" cy="166475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18468" y="2308504"/>
            <a:ext cx="6102219" cy="267407"/>
          </a:xfrm>
          <a:prstGeom prst="rect">
            <a:avLst/>
          </a:prstGeom>
          <a:solidFill>
            <a:srgbClr val="DAF8C0">
              <a:alpha val="20000"/>
            </a:srgbClr>
          </a:solidFill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6093116" y="2575911"/>
            <a:ext cx="6102219" cy="267407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5627034" y="225754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2612" y="252494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9900"/>
                </a:solidFill>
              </a:rPr>
              <a:t>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886F6-A89B-4DCE-ABF5-FE09742D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7507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 alternative way to perform </a:t>
            </a:r>
            <a:r>
              <a:rPr lang="en-AU" b="1" dirty="0"/>
              <a:t>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5316755" cy="4536689"/>
          </a:xfrm>
        </p:spPr>
        <p:txBody>
          <a:bodyPr>
            <a:norm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You can use the </a:t>
            </a:r>
            <a:r>
              <a:rPr lang="en-AU" sz="2400" b="1" dirty="0">
                <a:solidFill>
                  <a:schemeClr val="tx2"/>
                </a:solidFill>
              </a:rPr>
              <a:t>OR keyword </a:t>
            </a:r>
            <a:r>
              <a:rPr lang="en-AU" sz="2400" dirty="0">
                <a:solidFill>
                  <a:schemeClr val="tx2"/>
                </a:solidFill>
              </a:rPr>
              <a:t>instead of using multiple rows in the Criteria area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Meaning Evaluate each record. Select the record when</a:t>
            </a:r>
          </a:p>
          <a:p>
            <a:pPr marL="457200" lvl="1" indent="0">
              <a:buNone/>
            </a:pPr>
            <a:r>
              <a:rPr lang="en-AU" sz="2400" dirty="0">
                <a:solidFill>
                  <a:schemeClr val="tx2"/>
                </a:solidFill>
              </a:rPr>
              <a:t>the </a:t>
            </a:r>
            <a:r>
              <a:rPr lang="en-AU" sz="2400" dirty="0" err="1">
                <a:solidFill>
                  <a:schemeClr val="tx2"/>
                </a:solidFill>
              </a:rPr>
              <a:t>relyear</a:t>
            </a:r>
            <a:r>
              <a:rPr lang="en-AU" sz="2400" dirty="0">
                <a:solidFill>
                  <a:schemeClr val="tx2"/>
                </a:solidFill>
              </a:rPr>
              <a:t> is equal to 2013 </a:t>
            </a:r>
          </a:p>
          <a:p>
            <a:pPr marL="457200" lvl="1" indent="0">
              <a:buNone/>
            </a:pPr>
            <a:r>
              <a:rPr lang="en-AU" sz="2400" b="1" dirty="0">
                <a:solidFill>
                  <a:schemeClr val="tx2"/>
                </a:solidFill>
              </a:rPr>
              <a:t>OR</a:t>
            </a:r>
          </a:p>
          <a:p>
            <a:pPr marL="457200" lvl="1" indent="0">
              <a:buNone/>
            </a:pPr>
            <a:r>
              <a:rPr lang="en-AU" sz="2400" dirty="0">
                <a:solidFill>
                  <a:schemeClr val="tx2"/>
                </a:solidFill>
              </a:rPr>
              <a:t>the </a:t>
            </a:r>
            <a:r>
              <a:rPr lang="en-AU" sz="2400" dirty="0" err="1">
                <a:solidFill>
                  <a:schemeClr val="tx2"/>
                </a:solidFill>
              </a:rPr>
              <a:t>relyear</a:t>
            </a:r>
            <a:r>
              <a:rPr lang="en-AU" sz="2400" dirty="0">
                <a:solidFill>
                  <a:schemeClr val="tx2"/>
                </a:solidFill>
              </a:rPr>
              <a:t> is equal to 2016</a:t>
            </a:r>
            <a:endParaRPr lang="en-AU" sz="2400" dirty="0"/>
          </a:p>
          <a:p>
            <a:endParaRPr lang="en-AU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708" y="1509387"/>
            <a:ext cx="6006080" cy="160446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708" y="3280219"/>
            <a:ext cx="4452142" cy="312108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ECA92-C2B0-4C5F-9B27-3999E856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7998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 alternative way to perform </a:t>
            </a:r>
            <a:r>
              <a:rPr lang="en-AU" b="1" dirty="0"/>
              <a:t>OR </a:t>
            </a:r>
            <a:r>
              <a:rPr lang="en-AU" dirty="0"/>
              <a:t>(cont.)</a:t>
            </a:r>
            <a:endParaRPr lang="en-AU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44212" y="1509387"/>
            <a:ext cx="5687689" cy="4536689"/>
          </a:xfrm>
        </p:spPr>
        <p:txBody>
          <a:bodyPr>
            <a:normAutofit fontScale="62500" lnSpcReduction="20000"/>
          </a:bodyPr>
          <a:lstStyle/>
          <a:p>
            <a:r>
              <a:rPr lang="en-AU" dirty="0"/>
              <a:t>You can use the </a:t>
            </a:r>
            <a:r>
              <a:rPr lang="en-AU" b="1" dirty="0"/>
              <a:t>OR keyword </a:t>
            </a:r>
            <a:r>
              <a:rPr lang="en-AU" dirty="0"/>
              <a:t>instead of using multiple rows in the Criteria area</a:t>
            </a:r>
          </a:p>
          <a:p>
            <a:endParaRPr lang="en-AU" dirty="0"/>
          </a:p>
          <a:p>
            <a:r>
              <a:rPr lang="en-AU" dirty="0"/>
              <a:t>Meaning. Evaluate each record. Select the record when</a:t>
            </a:r>
          </a:p>
          <a:p>
            <a:pPr marL="457200" lvl="1" indent="0">
              <a:buNone/>
            </a:pPr>
            <a:r>
              <a:rPr lang="en-AU" dirty="0"/>
              <a:t>(the </a:t>
            </a:r>
            <a:r>
              <a:rPr lang="en-AU" dirty="0" err="1"/>
              <a:t>relyear</a:t>
            </a:r>
            <a:r>
              <a:rPr lang="en-AU" dirty="0"/>
              <a:t> is equal to 2013 </a:t>
            </a:r>
            <a:br>
              <a:rPr lang="en-AU" dirty="0"/>
            </a:br>
            <a:r>
              <a:rPr lang="en-AU" dirty="0"/>
              <a:t>  OR the </a:t>
            </a:r>
            <a:r>
              <a:rPr lang="en-AU" dirty="0" err="1"/>
              <a:t>relyear</a:t>
            </a:r>
            <a:r>
              <a:rPr lang="en-AU" dirty="0"/>
              <a:t> is equal to 2016)</a:t>
            </a:r>
          </a:p>
          <a:p>
            <a:pPr marL="914400" lvl="2" indent="0">
              <a:buNone/>
            </a:pPr>
            <a:r>
              <a:rPr lang="en-AU" b="1" dirty="0"/>
              <a:t>AND</a:t>
            </a:r>
          </a:p>
          <a:p>
            <a:pPr marL="457200" lvl="1" indent="0">
              <a:buNone/>
            </a:pPr>
            <a:r>
              <a:rPr lang="en-AU" dirty="0"/>
              <a:t>(the </a:t>
            </a:r>
            <a:r>
              <a:rPr lang="en-AU" dirty="0" err="1"/>
              <a:t>ratingcode</a:t>
            </a:r>
            <a:r>
              <a:rPr lang="en-AU" dirty="0"/>
              <a:t> is equal to "PG“ OR the </a:t>
            </a:r>
            <a:r>
              <a:rPr lang="en-AU" dirty="0" err="1"/>
              <a:t>ratingcode</a:t>
            </a:r>
            <a:r>
              <a:rPr lang="en-AU" dirty="0"/>
              <a:t> is equal to "M")</a:t>
            </a:r>
          </a:p>
          <a:p>
            <a:r>
              <a:rPr lang="en-AU" dirty="0"/>
              <a:t>This means you can have </a:t>
            </a:r>
          </a:p>
          <a:p>
            <a:r>
              <a:rPr lang="en-AU" dirty="0"/>
              <a:t>2013 And PG , 2013 And M</a:t>
            </a:r>
          </a:p>
          <a:p>
            <a:r>
              <a:rPr lang="en-AU" dirty="0"/>
              <a:t>Or 2016 And PG, 2016 and 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44" y="1509386"/>
            <a:ext cx="5815887" cy="16889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544" y="3378680"/>
            <a:ext cx="4805547" cy="26673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ECB1C1-9952-4469-8947-BA9F6F50A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6665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 alternative way to perform </a:t>
            </a:r>
            <a:r>
              <a:rPr lang="en-AU" b="1" dirty="0"/>
              <a:t>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6314283" cy="4536689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You can use the AND keyword in the Criteria area.</a:t>
            </a:r>
          </a:p>
          <a:p>
            <a:endParaRPr lang="en-AU" dirty="0"/>
          </a:p>
          <a:p>
            <a:r>
              <a:rPr lang="en-AU" dirty="0"/>
              <a:t>It is most useful when defining a numeric range.</a:t>
            </a:r>
          </a:p>
          <a:p>
            <a:endParaRPr lang="en-AU" b="1" dirty="0"/>
          </a:p>
          <a:p>
            <a:r>
              <a:rPr lang="en-AU" b="1" dirty="0"/>
              <a:t>Meaning </a:t>
            </a:r>
            <a:r>
              <a:rPr lang="en-AU" dirty="0"/>
              <a:t>Evaluate each record. Select the record when the </a:t>
            </a:r>
            <a:r>
              <a:rPr lang="en-AU" dirty="0" err="1"/>
              <a:t>relyear</a:t>
            </a:r>
            <a:r>
              <a:rPr lang="en-AU" dirty="0"/>
              <a:t> is between 2011 and 2015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99827" y="990464"/>
            <a:ext cx="11320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764" y="2071322"/>
            <a:ext cx="5113237" cy="12509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665" y="3884238"/>
            <a:ext cx="4857436" cy="157416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434AB-EF56-46C8-A4EA-270CA64E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382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Be carful </a:t>
            </a:r>
            <a:r>
              <a:rPr lang="en-AU" dirty="0"/>
              <a:t>with 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6331085" cy="4536689"/>
          </a:xfrm>
        </p:spPr>
        <p:txBody>
          <a:bodyPr>
            <a:normAutofit lnSpcReduction="10000"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Be careful when using AND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Try to understand what you are searching for.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Meaning: </a:t>
            </a:r>
            <a:br>
              <a:rPr lang="en-AU" sz="2400" dirty="0">
                <a:solidFill>
                  <a:schemeClr val="tx2"/>
                </a:solidFill>
              </a:rPr>
            </a:br>
            <a:r>
              <a:rPr lang="en-AU" sz="2400" dirty="0">
                <a:solidFill>
                  <a:schemeClr val="tx2"/>
                </a:solidFill>
              </a:rPr>
              <a:t>Evaluate </a:t>
            </a:r>
            <a:r>
              <a:rPr lang="en-AU" sz="2400" u="sng" dirty="0">
                <a:solidFill>
                  <a:srgbClr val="FF0000"/>
                </a:solidFill>
              </a:rPr>
              <a:t>each</a:t>
            </a:r>
            <a:r>
              <a:rPr lang="en-AU" sz="2400" dirty="0">
                <a:solidFill>
                  <a:schemeClr val="tx2"/>
                </a:solidFill>
              </a:rPr>
              <a:t> record. Select the record when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tx2"/>
                </a:solidFill>
              </a:rPr>
              <a:t>the </a:t>
            </a:r>
            <a:r>
              <a:rPr lang="en-AU" sz="2400" dirty="0" err="1">
                <a:solidFill>
                  <a:schemeClr val="tx2"/>
                </a:solidFill>
              </a:rPr>
              <a:t>relyear</a:t>
            </a:r>
            <a:r>
              <a:rPr lang="en-AU" sz="2400" dirty="0">
                <a:solidFill>
                  <a:schemeClr val="tx2"/>
                </a:solidFill>
              </a:rPr>
              <a:t> is equal to 2013 </a:t>
            </a:r>
            <a:br>
              <a:rPr lang="en-AU" sz="2400" dirty="0">
                <a:solidFill>
                  <a:schemeClr val="tx2"/>
                </a:solidFill>
              </a:rPr>
            </a:br>
            <a:r>
              <a:rPr lang="en-AU" sz="2400" dirty="0">
                <a:solidFill>
                  <a:schemeClr val="tx2"/>
                </a:solidFill>
              </a:rPr>
              <a:t>AND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tx2"/>
                </a:solidFill>
              </a:rPr>
              <a:t>the </a:t>
            </a:r>
            <a:r>
              <a:rPr lang="en-AU" sz="2400" dirty="0" err="1">
                <a:solidFill>
                  <a:schemeClr val="tx2"/>
                </a:solidFill>
              </a:rPr>
              <a:t>relyear</a:t>
            </a:r>
            <a:r>
              <a:rPr lang="en-AU" sz="2400" dirty="0">
                <a:solidFill>
                  <a:schemeClr val="tx2"/>
                </a:solidFill>
              </a:rPr>
              <a:t> is equal to 2016</a:t>
            </a:r>
          </a:p>
          <a:p>
            <a:pPr marL="0" indent="0">
              <a:buNone/>
            </a:pPr>
            <a:endParaRPr lang="en-AU" sz="2400" dirty="0"/>
          </a:p>
          <a:p>
            <a:endParaRPr lang="en-AU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904" y="2031491"/>
            <a:ext cx="5328096" cy="15261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534" y="4360058"/>
            <a:ext cx="4324350" cy="485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30242" y="4937880"/>
            <a:ext cx="1680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impossible!!!!!</a:t>
            </a:r>
          </a:p>
        </p:txBody>
      </p:sp>
      <p:sp>
        <p:nvSpPr>
          <p:cNvPr id="10" name="Right Brace 9"/>
          <p:cNvSpPr/>
          <p:nvPr/>
        </p:nvSpPr>
        <p:spPr>
          <a:xfrm>
            <a:off x="5221581" y="4845833"/>
            <a:ext cx="382555" cy="830424"/>
          </a:xfrm>
          <a:prstGeom prst="rightBrac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9135687" y="4937880"/>
            <a:ext cx="2568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Empty.</a:t>
            </a:r>
          </a:p>
          <a:p>
            <a:r>
              <a:rPr lang="en-AU" dirty="0"/>
              <a:t>No rows match this criteria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35AF7-736D-48E5-84FE-0A1FE5FD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5411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Text </a:t>
            </a:r>
            <a:r>
              <a:rPr lang="en-AU" dirty="0"/>
              <a:t>criteria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When specifying text values in the Criteria section, the text must be </a:t>
            </a:r>
            <a:r>
              <a:rPr lang="en-AU" sz="2400" b="1" dirty="0"/>
              <a:t>surrounded by double quotes</a:t>
            </a:r>
          </a:p>
          <a:p>
            <a:endParaRPr lang="en-AU" sz="2400" dirty="0"/>
          </a:p>
          <a:p>
            <a:r>
              <a:rPr lang="en-AU" sz="2400" dirty="0"/>
              <a:t>Access is not case sensitive:</a:t>
            </a:r>
            <a:r>
              <a:rPr lang="en-AU" sz="2400" b="1" dirty="0"/>
              <a:t> ”The” is the same as "THE" and "the"</a:t>
            </a:r>
          </a:p>
          <a:p>
            <a:endParaRPr lang="en-AU" sz="2400" dirty="0"/>
          </a:p>
          <a:p>
            <a:r>
              <a:rPr lang="en-AU" sz="2400" dirty="0"/>
              <a:t>The opposite is true in other databases</a:t>
            </a:r>
          </a:p>
          <a:p>
            <a:endParaRPr lang="en-AU" sz="2400" dirty="0"/>
          </a:p>
          <a:p>
            <a:r>
              <a:rPr lang="en-AU" sz="2400" dirty="0"/>
              <a:t>In Oracle, </a:t>
            </a:r>
            <a:r>
              <a:rPr lang="en-AU" sz="2400" b="1" dirty="0"/>
              <a:t>"THE" is different to "The" and "the"</a:t>
            </a:r>
          </a:p>
          <a:p>
            <a:endParaRPr lang="en-AU" sz="2400" dirty="0"/>
          </a:p>
          <a:p>
            <a:endParaRPr lang="en-AU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4FE4BD-BAC1-4921-88D0-C9E49F77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2076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Text </a:t>
            </a:r>
            <a:r>
              <a:rPr lang="en-AU" b="1" dirty="0"/>
              <a:t>Wildcards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44212" y="1509387"/>
            <a:ext cx="4593548" cy="4754880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US" dirty="0"/>
              <a:t>You </a:t>
            </a:r>
            <a:r>
              <a:rPr lang="en-US" b="1" dirty="0"/>
              <a:t>can </a:t>
            </a:r>
            <a:r>
              <a:rPr lang="en-US" dirty="0"/>
              <a:t>use Wildcards in access</a:t>
            </a:r>
          </a:p>
          <a:p>
            <a:pPr lvl="0"/>
            <a:r>
              <a:rPr lang="en-US" dirty="0"/>
              <a:t>Notice the space after </a:t>
            </a:r>
            <a:r>
              <a:rPr lang="en-US" b="1" dirty="0"/>
              <a:t>the </a:t>
            </a:r>
          </a:p>
          <a:p>
            <a:pPr lvl="0"/>
            <a:r>
              <a:rPr lang="en-US" dirty="0"/>
              <a:t>If </a:t>
            </a:r>
            <a:r>
              <a:rPr lang="en-US" b="1" dirty="0"/>
              <a:t>no space </a:t>
            </a:r>
            <a:r>
              <a:rPr lang="en-US" dirty="0"/>
              <a:t>then you will get an outcome like “Thelma and Louise”</a:t>
            </a:r>
          </a:p>
          <a:p>
            <a:pPr lvl="0"/>
            <a:r>
              <a:rPr lang="en-US" dirty="0"/>
              <a:t>when you actually want only Titles that start with THE</a:t>
            </a:r>
          </a:p>
          <a:p>
            <a:pPr lvl="0"/>
            <a:r>
              <a:rPr lang="en-US" dirty="0"/>
              <a:t>These must be used with the </a:t>
            </a:r>
            <a:r>
              <a:rPr lang="en-US" b="1" dirty="0"/>
              <a:t>‘Like’ keyword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The Like condition allows you to use </a:t>
            </a:r>
            <a:r>
              <a:rPr lang="en-US" b="1" dirty="0"/>
              <a:t>wildcards to perform pattern matching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The patterns that you can use </a:t>
            </a:r>
            <a:r>
              <a:rPr lang="en-US" b="1" dirty="0"/>
              <a:t>are</a:t>
            </a:r>
            <a:r>
              <a:rPr lang="en-US" dirty="0"/>
              <a:t>:</a:t>
            </a:r>
          </a:p>
          <a:p>
            <a:pPr marL="0" lvl="0" indent="0">
              <a:buNone/>
            </a:pPr>
            <a:r>
              <a:rPr lang="en-US" dirty="0"/>
              <a:t>				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               </a:t>
            </a:r>
            <a:endParaRPr lang="en-A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369787"/>
              </p:ext>
            </p:extLst>
          </p:nvPr>
        </p:nvGraphicFramePr>
        <p:xfrm>
          <a:off x="5037512" y="1509387"/>
          <a:ext cx="693281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203">
                  <a:extLst>
                    <a:ext uri="{9D8B030D-6E8A-4147-A177-3AD203B41FA5}">
                      <a16:colId xmlns:a16="http://schemas.microsoft.com/office/drawing/2014/main" val="2787599375"/>
                    </a:ext>
                  </a:extLst>
                </a:gridCol>
                <a:gridCol w="1733203">
                  <a:extLst>
                    <a:ext uri="{9D8B030D-6E8A-4147-A177-3AD203B41FA5}">
                      <a16:colId xmlns:a16="http://schemas.microsoft.com/office/drawing/2014/main" val="3304011243"/>
                    </a:ext>
                  </a:extLst>
                </a:gridCol>
                <a:gridCol w="1733203">
                  <a:extLst>
                    <a:ext uri="{9D8B030D-6E8A-4147-A177-3AD203B41FA5}">
                      <a16:colId xmlns:a16="http://schemas.microsoft.com/office/drawing/2014/main" val="3318884459"/>
                    </a:ext>
                  </a:extLst>
                </a:gridCol>
                <a:gridCol w="1733203">
                  <a:extLst>
                    <a:ext uri="{9D8B030D-6E8A-4147-A177-3AD203B41FA5}">
                      <a16:colId xmlns:a16="http://schemas.microsoft.com/office/drawing/2014/main" val="212147506"/>
                    </a:ext>
                  </a:extLst>
                </a:gridCol>
              </a:tblGrid>
              <a:tr h="319543">
                <a:tc>
                  <a:txBody>
                    <a:bodyPr/>
                    <a:lstStyle/>
                    <a:p>
                      <a:r>
                        <a:rPr lang="en-AU" dirty="0"/>
                        <a:t>Wildcard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Example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492894"/>
                  </a:ext>
                </a:extLst>
              </a:tr>
              <a:tr h="798858">
                <a:tc>
                  <a:txBody>
                    <a:bodyPr/>
                    <a:lstStyle/>
                    <a:p>
                      <a:r>
                        <a:rPr lang="en-AU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Allows a match of any </a:t>
                      </a:r>
                      <a:r>
                        <a:rPr lang="en-AU" b="1" dirty="0"/>
                        <a:t>string </a:t>
                      </a:r>
                      <a:r>
                        <a:rPr lang="en-AU" dirty="0"/>
                        <a:t>of any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Like "the *"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Title must begin with "the"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486482"/>
                  </a:ext>
                </a:extLst>
              </a:tr>
              <a:tr h="103851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Like "*day*"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Title must contain day 	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349330"/>
                  </a:ext>
                </a:extLst>
              </a:tr>
              <a:tr h="1517830">
                <a:tc>
                  <a:txBody>
                    <a:bodyPr/>
                    <a:lstStyle/>
                    <a:p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Allows a match on a </a:t>
                      </a:r>
                      <a:r>
                        <a:rPr lang="en-AU" b="1" dirty="0"/>
                        <a:t>single character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Like "the ????"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Title must begin with "the" and be followed by exactly 4 characters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55577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C4E217-9BD0-415D-BBD2-69367B6F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6102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Field </a:t>
            </a:r>
            <a:r>
              <a:rPr lang="en-AU" b="1" dirty="0"/>
              <a:t>Names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When creating field names</a:t>
            </a:r>
          </a:p>
          <a:p>
            <a:pPr lvl="1"/>
            <a:r>
              <a:rPr lang="en-US" b="1" dirty="0"/>
              <a:t>Avoid</a:t>
            </a:r>
            <a:r>
              <a:rPr lang="en-US" dirty="0"/>
              <a:t> using spaces</a:t>
            </a:r>
          </a:p>
          <a:p>
            <a:pPr lvl="1"/>
            <a:r>
              <a:rPr lang="en-US" b="1" dirty="0"/>
              <a:t>Use</a:t>
            </a:r>
            <a:r>
              <a:rPr lang="en-US" dirty="0"/>
              <a:t> letters A-Z, a-z, and numbers 0-9</a:t>
            </a:r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b="1" dirty="0"/>
              <a:t>queries you will often see examples of field names </a:t>
            </a:r>
            <a:r>
              <a:rPr lang="en-US" dirty="0"/>
              <a:t>surrounded by square brackets</a:t>
            </a:r>
          </a:p>
          <a:p>
            <a:pPr lvl="1"/>
            <a:r>
              <a:rPr lang="en-US" dirty="0"/>
              <a:t>e.g. [</a:t>
            </a:r>
            <a:r>
              <a:rPr lang="en-US" dirty="0" err="1"/>
              <a:t>movieno</a:t>
            </a:r>
            <a:r>
              <a:rPr lang="en-US" dirty="0"/>
              <a:t>]  [title]  [</a:t>
            </a:r>
            <a:r>
              <a:rPr lang="en-US" dirty="0" err="1"/>
              <a:t>relyear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/>
              <a:t>This was introduced because Access allows you create field names that contain spaces! (Please avoid doing this! Leads to headaches). </a:t>
            </a:r>
          </a:p>
          <a:p>
            <a:endParaRPr lang="en-US" dirty="0"/>
          </a:p>
          <a:p>
            <a:r>
              <a:rPr lang="en-US" dirty="0"/>
              <a:t>Using [ ] is the only way to tell Access the start and end charters of a field name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-908957" y="846606"/>
            <a:ext cx="100926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chemeClr val="tx2"/>
              </a:solidFill>
            </a:endParaRPr>
          </a:p>
          <a:p>
            <a:endParaRPr lang="en-AU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C464C4-03CA-415A-B8FA-63931FEA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73116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Tasks based on Week 1 Lecture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AU" dirty="0"/>
              <a:t>There are tutorial questions and submission tasks associated with this lecture.</a:t>
            </a:r>
          </a:p>
          <a:p>
            <a:endParaRPr lang="en-AU" dirty="0"/>
          </a:p>
          <a:p>
            <a:r>
              <a:rPr lang="en-AU" b="1" dirty="0"/>
              <a:t>The tutorial questions…</a:t>
            </a:r>
          </a:p>
          <a:p>
            <a:pPr lvl="1"/>
            <a:r>
              <a:rPr lang="en-AU" dirty="0"/>
              <a:t>Should be reviewed by students after this lecture</a:t>
            </a:r>
          </a:p>
          <a:p>
            <a:pPr lvl="1"/>
            <a:r>
              <a:rPr lang="en-AU" dirty="0"/>
              <a:t>They will be discussed in the tutorial.</a:t>
            </a:r>
          </a:p>
          <a:p>
            <a:pPr lvl="1"/>
            <a:r>
              <a:rPr lang="en-AU" dirty="0"/>
              <a:t>Tutorial usually discus topics from the previous week's lecture</a:t>
            </a:r>
          </a:p>
          <a:p>
            <a:pPr lvl="1"/>
            <a:r>
              <a:rPr lang="en-AU" dirty="0"/>
              <a:t>Topics discussed in the above sessions may appear in tasks and in tests</a:t>
            </a:r>
          </a:p>
          <a:p>
            <a:endParaRPr lang="en-AU" dirty="0"/>
          </a:p>
          <a:p>
            <a:r>
              <a:rPr lang="en-AU" b="1" dirty="0"/>
              <a:t>The submission tasks…</a:t>
            </a:r>
          </a:p>
          <a:p>
            <a:pPr lvl="1"/>
            <a:r>
              <a:rPr lang="en-AU" dirty="0"/>
              <a:t>Can be completed in your own time( remember to check deadlines)</a:t>
            </a:r>
          </a:p>
          <a:p>
            <a:pPr lvl="1"/>
            <a:r>
              <a:rPr lang="en-AU" dirty="0"/>
              <a:t>You will need MS Access for the first few weeks of the semester</a:t>
            </a:r>
          </a:p>
          <a:p>
            <a:pPr lvl="1"/>
            <a:r>
              <a:rPr lang="en-AU" dirty="0"/>
              <a:t>The completed tasks must be submitted via Canvas</a:t>
            </a:r>
          </a:p>
          <a:p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90A774-8A4B-416F-ADBA-52440C90F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50716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End.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Thanks for viewing </a:t>
            </a:r>
            <a:r>
              <a:rPr lang="en-AU"/>
              <a:t>the recordings. </a:t>
            </a:r>
            <a:r>
              <a:rPr lang="en-AU" dirty="0"/>
              <a:t>Good luck this Semester </a:t>
            </a:r>
            <a:r>
              <a:rPr lang="en-AU" dirty="0">
                <a:sym typeface="Wingdings" panose="05000000000000000000" pitchFamily="2" charset="2"/>
              </a:rPr>
              <a:t>.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F7C01-FF29-4661-83AC-2509CE2D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3247797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 - Colourful Titles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8F006C9-65F3-430C-8CBE-92C89A6F4650}" vid="{9A779980-5704-4DDC-8C0D-C8F4E5E08805}"/>
    </a:ext>
  </a:extLst>
</a:theme>
</file>

<file path=ppt/theme/theme2.xml><?xml version="1.0" encoding="utf-8"?>
<a:theme xmlns:a="http://schemas.openxmlformats.org/drawingml/2006/main" name="Swinburne - Light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8F006C9-65F3-430C-8CBE-92C89A6F4650}" vid="{8B552470-14E2-4541-94E0-A0FC88D4D66E}"/>
    </a:ext>
  </a:extLst>
</a:theme>
</file>

<file path=ppt/theme/theme3.xml><?xml version="1.0" encoding="utf-8"?>
<a:theme xmlns:a="http://schemas.openxmlformats.org/drawingml/2006/main" name="Swinburne - Dark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8F006C9-65F3-430C-8CBE-92C89A6F4650}" vid="{7380876C-3C12-45A6-82C9-358E649031D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Swinburne-wide-PPT-Template_JF</Template>
  <TotalTime>4223</TotalTime>
  <Words>1722</Words>
  <Application>Microsoft Office PowerPoint</Application>
  <PresentationFormat>Widescreen</PresentationFormat>
  <Paragraphs>266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Open Sans</vt:lpstr>
      <vt:lpstr>Open Sans Extrabold</vt:lpstr>
      <vt:lpstr>Swinburne - Colourful Titles</vt:lpstr>
      <vt:lpstr>Swinburne - Light</vt:lpstr>
      <vt:lpstr>Swinburne - Dark</vt:lpstr>
      <vt:lpstr>INF10025 Data Management and Analytics</vt:lpstr>
      <vt:lpstr>Filters and Queries </vt:lpstr>
      <vt:lpstr>Datasheet Filters</vt:lpstr>
      <vt:lpstr>Datasheet Filters (cont.)</vt:lpstr>
      <vt:lpstr>Datasheet Filters (cont.)</vt:lpstr>
      <vt:lpstr>Datasheet Filters (cont.)</vt:lpstr>
      <vt:lpstr>Filters vs. Queries</vt:lpstr>
      <vt:lpstr>Queries</vt:lpstr>
      <vt:lpstr>Queries (cont.)</vt:lpstr>
      <vt:lpstr>Query Design Grid</vt:lpstr>
      <vt:lpstr>Query Design Grid (cont.)</vt:lpstr>
      <vt:lpstr>Query Design Grid (cont.)</vt:lpstr>
      <vt:lpstr>Run the Query</vt:lpstr>
      <vt:lpstr>Saving Queries</vt:lpstr>
      <vt:lpstr>Reusing Queries</vt:lpstr>
      <vt:lpstr>Reusing Queries (cont.)</vt:lpstr>
      <vt:lpstr>References on Queries</vt:lpstr>
      <vt:lpstr>Multiple Criteria, Keywords, and Wildcards</vt:lpstr>
      <vt:lpstr>Multiple criteria in a field</vt:lpstr>
      <vt:lpstr>Multiple criteria in multiple fields</vt:lpstr>
      <vt:lpstr>Multiple criteria in multiple fields (cont.)</vt:lpstr>
      <vt:lpstr>An alternative way to perform OR</vt:lpstr>
      <vt:lpstr>An alternative way to perform OR (cont.)</vt:lpstr>
      <vt:lpstr>An alternative way to perform AND</vt:lpstr>
      <vt:lpstr>Be carful with AND</vt:lpstr>
      <vt:lpstr>Text criteria</vt:lpstr>
      <vt:lpstr>Text Wildcards</vt:lpstr>
      <vt:lpstr>Field Names</vt:lpstr>
      <vt:lpstr>Tasks based on Week 1 Lecture</vt:lpstr>
      <vt:lpstr>End. </vt:lpstr>
    </vt:vector>
  </TitlesOfParts>
  <Company>Swinburne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INF10002 / 60009 Database Analysis and Design</dc:title>
  <dc:creator>Rohan Bennett</dc:creator>
  <cp:lastModifiedBy>Robert Tipping</cp:lastModifiedBy>
  <cp:revision>51</cp:revision>
  <dcterms:created xsi:type="dcterms:W3CDTF">2017-07-28T03:03:32Z</dcterms:created>
  <dcterms:modified xsi:type="dcterms:W3CDTF">2023-02-02T00:22:47Z</dcterms:modified>
</cp:coreProperties>
</file>