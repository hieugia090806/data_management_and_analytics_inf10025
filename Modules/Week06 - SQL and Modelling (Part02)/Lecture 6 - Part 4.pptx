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7" r:id="rId2"/>
    <p:sldId id="307" r:id="rId3"/>
    <p:sldId id="308" r:id="rId4"/>
    <p:sldId id="309" r:id="rId5"/>
    <p:sldId id="310" r:id="rId6"/>
    <p:sldId id="311" r:id="rId7"/>
    <p:sldId id="312" r:id="rId8"/>
    <p:sldId id="341" r:id="rId9"/>
    <p:sldId id="342" r:id="rId10"/>
    <p:sldId id="314" r:id="rId11"/>
    <p:sldId id="315" r:id="rId12"/>
    <p:sldId id="329" r:id="rId13"/>
    <p:sldId id="330" r:id="rId14"/>
    <p:sldId id="316" r:id="rId15"/>
    <p:sldId id="317" r:id="rId16"/>
    <p:sldId id="32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4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6CA172-CD83-4F08-85D8-646E4682D04B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D4D79-BD5F-4835-87AB-675D6E9A9F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7028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9358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69532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362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463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12365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8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36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5" name="Picture 7" descr="corpV_3 300_lzw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80784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A1D595-1EAF-B3CA-096B-6E72AE9C4578}"/>
              </a:ext>
            </a:extLst>
          </p:cNvPr>
          <p:cNvSpPr/>
          <p:nvPr userDrawn="1"/>
        </p:nvSpPr>
        <p:spPr>
          <a:xfrm rot="18000966">
            <a:off x="11208029" y="-5226"/>
            <a:ext cx="68137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algn="ctr"/>
            <a:r>
              <a:rPr lang="en-US" sz="4050" b="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Management &amp; Analytics   </a:t>
            </a:r>
            <a:endParaRPr lang="en-US" sz="405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Picture 5" descr="KNOWING Logo RGB.png">
            <a:extLst>
              <a:ext uri="{FF2B5EF4-FFF2-40B4-BE49-F238E27FC236}">
                <a16:creationId xmlns:a16="http://schemas.microsoft.com/office/drawing/2014/main" id="{D562B274-86C5-1054-ACF2-497295C868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516" y="5573716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8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80"/>
            <a:ext cx="10972800" cy="1058779"/>
          </a:xfrm>
        </p:spPr>
        <p:txBody>
          <a:bodyPr anchor="t">
            <a:normAutofit/>
          </a:bodyPr>
          <a:lstStyle>
            <a:lvl1pPr>
              <a:defRPr sz="3300" b="0">
                <a:latin typeface="+mn-lt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5" cy="3917482"/>
          </a:xfrm>
          <a:noFill/>
        </p:spPr>
        <p:txBody>
          <a:bodyPr/>
          <a:lstStyle>
            <a:lvl1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2pPr>
            <a:lvl3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 rot="18000966">
            <a:off x="11208029" y="-5226"/>
            <a:ext cx="68137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algn="ctr"/>
            <a:r>
              <a:rPr lang="en-US" sz="405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  <a:r>
              <a:rPr lang="en-US" sz="4050" b="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Analysis and Design   </a:t>
            </a:r>
            <a:endParaRPr lang="en-US" sz="405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Line 22"/>
          <p:cNvSpPr>
            <a:spLocks noChangeShapeType="1"/>
          </p:cNvSpPr>
          <p:nvPr userDrawn="1"/>
        </p:nvSpPr>
        <p:spPr bwMode="auto">
          <a:xfrm flipV="1">
            <a:off x="283634" y="857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AU" sz="1800">
              <a:solidFill>
                <a:schemeClr val="tx1"/>
              </a:solidFill>
            </a:endParaRPr>
          </a:p>
        </p:txBody>
      </p:sp>
      <p:sp>
        <p:nvSpPr>
          <p:cNvPr id="8" name="Line 23"/>
          <p:cNvSpPr>
            <a:spLocks noChangeShapeType="1"/>
          </p:cNvSpPr>
          <p:nvPr userDrawn="1"/>
        </p:nvSpPr>
        <p:spPr bwMode="auto">
          <a:xfrm flipV="1">
            <a:off x="334434" y="984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AU" sz="18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" y="85725"/>
            <a:ext cx="6223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r"/>
            <a:fld id="{A0B7F734-0547-4653-B8DE-E21D4CE8AB45}" type="slidenum">
              <a:rPr lang="en-AU" sz="1800" i="0">
                <a:solidFill>
                  <a:schemeClr val="tx1"/>
                </a:solidFill>
              </a:rPr>
              <a:pPr algn="r"/>
              <a:t>‹#›</a:t>
            </a:fld>
            <a:endParaRPr lang="en-AU" sz="1800" i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162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33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3844703"/>
          </a:xfrm>
        </p:spPr>
        <p:txBody>
          <a:bodyPr/>
          <a:lstStyle>
            <a:lvl1pPr>
              <a:defRPr sz="21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3844703"/>
          </a:xfrm>
        </p:spPr>
        <p:txBody>
          <a:bodyPr/>
          <a:lstStyle>
            <a:lvl1pPr>
              <a:defRPr sz="21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58406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1344618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3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2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34468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NOWING Logo RGB.png">
            <a:extLst>
              <a:ext uri="{FF2B5EF4-FFF2-40B4-BE49-F238E27FC236}">
                <a16:creationId xmlns:a16="http://schemas.microsoft.com/office/drawing/2014/main" id="{76A2C585-110A-9CEF-DC80-A478B0B3BE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076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41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8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Line 22"/>
          <p:cNvSpPr>
            <a:spLocks noChangeShapeType="1"/>
          </p:cNvSpPr>
          <p:nvPr userDrawn="1"/>
        </p:nvSpPr>
        <p:spPr bwMode="auto">
          <a:xfrm flipV="1">
            <a:off x="283634" y="857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AU" sz="1800">
              <a:solidFill>
                <a:schemeClr val="tx1"/>
              </a:solidFill>
            </a:endParaRPr>
          </a:p>
        </p:txBody>
      </p:sp>
      <p:sp>
        <p:nvSpPr>
          <p:cNvPr id="8" name="Line 23"/>
          <p:cNvSpPr>
            <a:spLocks noChangeShapeType="1"/>
          </p:cNvSpPr>
          <p:nvPr userDrawn="1"/>
        </p:nvSpPr>
        <p:spPr bwMode="auto">
          <a:xfrm flipV="1">
            <a:off x="334434" y="984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AU" sz="18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" y="85725"/>
            <a:ext cx="6223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r"/>
            <a:fld id="{A0B7F734-0547-4653-B8DE-E21D4CE8AB45}" type="slidenum">
              <a:rPr lang="en-AU" sz="1800" i="0">
                <a:solidFill>
                  <a:schemeClr val="tx1"/>
                </a:solidFill>
              </a:rPr>
              <a:pPr algn="r"/>
              <a:t>‹#›</a:t>
            </a:fld>
            <a:endParaRPr lang="en-AU" sz="1800" i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18000966">
            <a:off x="11299700" y="-55435"/>
            <a:ext cx="56540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algn="ctr"/>
            <a:r>
              <a:rPr lang="en-US" sz="405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  <a:r>
              <a:rPr lang="en-US" sz="4050" b="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Analysis and Design   </a:t>
            </a:r>
            <a:endParaRPr lang="en-US" sz="405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2748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33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rgbClr val="000000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rgbClr val="000000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rgbClr val="000000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Grp="1" noChangeArrowheads="1"/>
          </p:cNvSpPr>
          <p:nvPr>
            <p:ph type="ctrTitle"/>
          </p:nvPr>
        </p:nvSpPr>
        <p:spPr>
          <a:xfrm>
            <a:off x="3753275" y="1981500"/>
            <a:ext cx="6534798" cy="1143000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tx1"/>
                </a:solidFill>
              </a:rPr>
              <a:t>INF10025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 dirty="0">
                <a:solidFill>
                  <a:schemeClr val="tx1"/>
                </a:solidFill>
              </a:rPr>
              <a:t>Data Management and Analytics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 dirty="0">
                <a:solidFill>
                  <a:schemeClr val="tx1"/>
                </a:solidFill>
              </a:rPr>
              <a:t>Lecture 6 – Part 4</a:t>
            </a:r>
          </a:p>
        </p:txBody>
      </p:sp>
      <p:sp>
        <p:nvSpPr>
          <p:cNvPr id="5122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3836988" y="3636335"/>
            <a:ext cx="6021388" cy="1719890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AU" b="1" dirty="0"/>
              <a:t>More Operators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Parentheses (  )</a:t>
            </a:r>
            <a:endParaRPr lang="en-AU"/>
          </a:p>
        </p:txBody>
      </p:sp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066800"/>
            <a:ext cx="88392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Operators within parentheses ( ) are always evaluated </a:t>
            </a:r>
            <a:r>
              <a:rPr lang="en-US" sz="2000" b="1" dirty="0"/>
              <a:t>first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AU" sz="2000" dirty="0"/>
              <a:t>These similar looking statements may produce different results</a:t>
            </a:r>
          </a:p>
          <a:p>
            <a:pPr marL="457200" indent="-457200"/>
            <a:endParaRPr lang="en-US" sz="2000" dirty="0"/>
          </a:p>
          <a:p>
            <a:pPr marL="933450" lvl="1" indent="-457200">
              <a:buNone/>
            </a:pPr>
            <a:r>
              <a:rPr lang="en-US" sz="2000" b="1" dirty="0">
                <a:solidFill>
                  <a:srgbClr val="0033CC"/>
                </a:solidFill>
              </a:rPr>
              <a:t>WHERE   gender = 'F'   OR  Age &lt;20  AND  branch = 'Haw'  </a:t>
            </a:r>
          </a:p>
          <a:p>
            <a:pPr marL="933450" lvl="1" indent="-457200">
              <a:buNone/>
            </a:pPr>
            <a:endParaRPr lang="en-US" sz="2000" i="1" dirty="0"/>
          </a:p>
          <a:p>
            <a:pPr marL="933450" lvl="1" indent="-457200">
              <a:buNone/>
            </a:pPr>
            <a:r>
              <a:rPr lang="en-US" sz="2000" b="1" dirty="0">
                <a:solidFill>
                  <a:srgbClr val="0033CC"/>
                </a:solidFill>
              </a:rPr>
              <a:t>WHERE   (gender = 'F'   OR  Age &lt;20)  AND  branch = 'City'     </a:t>
            </a:r>
            <a:r>
              <a:rPr lang="en-US" sz="2000" b="1" dirty="0"/>
              <a:t>  </a:t>
            </a:r>
          </a:p>
        </p:txBody>
      </p:sp>
      <p:graphicFrame>
        <p:nvGraphicFramePr>
          <p:cNvPr id="414948" name="Group 228"/>
          <p:cNvGraphicFramePr>
            <a:graphicFrameLocks noGrp="1"/>
          </p:cNvGraphicFramePr>
          <p:nvPr/>
        </p:nvGraphicFramePr>
        <p:xfrm>
          <a:off x="1703388" y="3860800"/>
          <a:ext cx="8424862" cy="2016760"/>
        </p:xfrm>
        <a:graphic>
          <a:graphicData uri="http://schemas.openxmlformats.org/drawingml/2006/table">
            <a:tbl>
              <a:tblPr/>
              <a:tblGrid>
                <a:gridCol w="785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5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9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05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Row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Name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Branch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Gender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Alternative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Alternative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Ralph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Haw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18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2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Emma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3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Julie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Haw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19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4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Jon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479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Parentheses (2) </a:t>
            </a:r>
            <a:endParaRPr lang="en-AU"/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066800"/>
            <a:ext cx="88392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Parentheses can also be used just for </a:t>
            </a:r>
            <a:r>
              <a:rPr lang="en-US" sz="2000" b="1" dirty="0"/>
              <a:t>readability</a:t>
            </a:r>
            <a:r>
              <a:rPr lang="en-US" sz="2000" dirty="0"/>
              <a:t>.</a:t>
            </a:r>
            <a:endParaRPr lang="en-AU" sz="2000" dirty="0"/>
          </a:p>
          <a:p>
            <a:pPr marL="457200" indent="-457200"/>
            <a:endParaRPr lang="en-US" sz="2000" dirty="0"/>
          </a:p>
          <a:p>
            <a:pPr marL="731838" lvl="1" indent="-457200">
              <a:buNone/>
            </a:pPr>
            <a:r>
              <a:rPr lang="en-US" sz="2000" b="1" dirty="0">
                <a:solidFill>
                  <a:srgbClr val="0033CC"/>
                </a:solidFill>
              </a:rPr>
              <a:t>WHERE   age &gt;18   AND  gender = 'M'  OR  age &lt;= 17  AND  gender = 'F' </a:t>
            </a:r>
          </a:p>
          <a:p>
            <a:pPr marL="731838" lvl="1" indent="-457200">
              <a:buNone/>
            </a:pPr>
            <a:r>
              <a:rPr lang="en-US" sz="2000" b="1" dirty="0">
                <a:solidFill>
                  <a:srgbClr val="0033CC"/>
                </a:solidFill>
              </a:rPr>
              <a:t> </a:t>
            </a:r>
          </a:p>
          <a:p>
            <a:pPr marL="731838" lvl="1" indent="-457200">
              <a:buNone/>
            </a:pPr>
            <a:r>
              <a:rPr lang="en-US" sz="2000" b="1" dirty="0">
                <a:solidFill>
                  <a:srgbClr val="0033CC"/>
                </a:solidFill>
              </a:rPr>
              <a:t>WHERE </a:t>
            </a:r>
            <a:r>
              <a:rPr lang="en-US" sz="2000" dirty="0">
                <a:solidFill>
                  <a:srgbClr val="0033CC"/>
                </a:solidFill>
              </a:rPr>
              <a:t> </a:t>
            </a:r>
            <a:r>
              <a:rPr lang="en-US" sz="2000" b="1" dirty="0">
                <a:solidFill>
                  <a:srgbClr val="0033CC"/>
                </a:solidFill>
              </a:rPr>
              <a:t>(age &gt;18   AND  gender = 'M') OR (age &lt;= 17  AND  gender = 'F')</a:t>
            </a:r>
          </a:p>
          <a:p>
            <a:pPr marL="731838" lvl="1" indent="-457200">
              <a:buNone/>
            </a:pPr>
            <a:endParaRPr lang="en-US" sz="2000" dirty="0">
              <a:solidFill>
                <a:srgbClr val="0033CC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The parentheses in the 2</a:t>
            </a:r>
            <a:r>
              <a:rPr lang="en-AU" sz="2000" baseline="30000" dirty="0"/>
              <a:t>nd</a:t>
            </a:r>
            <a:r>
              <a:rPr lang="en-AU" sz="2000" dirty="0"/>
              <a:t> example </a:t>
            </a:r>
            <a:r>
              <a:rPr lang="en-AU" sz="2000" b="1" dirty="0"/>
              <a:t>do not alter</a:t>
            </a:r>
            <a:r>
              <a:rPr lang="en-AU" sz="2000" dirty="0"/>
              <a:t> the meaning of the SQL.</a:t>
            </a:r>
          </a:p>
          <a:p>
            <a:pPr marL="457200" indent="-457200"/>
            <a:endParaRPr lang="en-AU" sz="2000" dirty="0"/>
          </a:p>
          <a:p>
            <a:pPr marL="731838" lvl="1" indent="-457200">
              <a:buFont typeface="Arial" panose="020B0604020202020204" pitchFamily="34" charset="0"/>
              <a:buChar char="•"/>
            </a:pPr>
            <a:r>
              <a:rPr lang="en-AU" sz="2000" dirty="0"/>
              <a:t>Parentheses  make the SQL </a:t>
            </a:r>
            <a:r>
              <a:rPr lang="en-AU" sz="2000" b="1" dirty="0"/>
              <a:t>more readable</a:t>
            </a:r>
          </a:p>
          <a:p>
            <a:pPr marL="731838" lvl="1" indent="-457200"/>
            <a:endParaRPr lang="en-AU" sz="2000" b="1" dirty="0"/>
          </a:p>
          <a:p>
            <a:pPr marL="731838" lvl="1" indent="-457200">
              <a:buFont typeface="Arial" panose="020B0604020202020204" pitchFamily="34" charset="0"/>
              <a:buChar char="•"/>
            </a:pPr>
            <a:r>
              <a:rPr lang="en-AU" sz="2000" dirty="0"/>
              <a:t>Easier for the </a:t>
            </a:r>
            <a:r>
              <a:rPr lang="en-AU" sz="2000" b="1" dirty="0"/>
              <a:t>Author / Programmer</a:t>
            </a:r>
          </a:p>
          <a:p>
            <a:pPr marL="731838" lvl="1" indent="-457200">
              <a:buFont typeface="Arial" panose="020B0604020202020204" pitchFamily="34" charset="0"/>
              <a:buChar char="•"/>
            </a:pPr>
            <a:r>
              <a:rPr lang="en-AU" sz="2000" dirty="0"/>
              <a:t>Easier to </a:t>
            </a:r>
            <a:r>
              <a:rPr lang="en-AU" sz="2000" b="1" dirty="0"/>
              <a:t>read / change / debug</a:t>
            </a:r>
          </a:p>
          <a:p>
            <a:pPr marL="731838" lvl="1" indent="-457200">
              <a:buFont typeface="Arial" panose="020B0604020202020204" pitchFamily="34" charset="0"/>
              <a:buChar char="•"/>
            </a:pPr>
            <a:r>
              <a:rPr lang="en-AU" sz="2000" dirty="0"/>
              <a:t>Easier for the person </a:t>
            </a:r>
            <a:r>
              <a:rPr lang="en-AU" sz="2000" b="1" dirty="0"/>
              <a:t>marking</a:t>
            </a:r>
            <a:r>
              <a:rPr lang="en-AU" sz="2000" dirty="0"/>
              <a:t> your assignment or exam!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45604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 Operator</a:t>
            </a:r>
          </a:p>
        </p:txBody>
      </p:sp>
      <p:sp>
        <p:nvSpPr>
          <p:cNvPr id="29701" name="Rectangle 4"/>
          <p:cNvSpPr>
            <a:spLocks noGrp="1" noChangeArrowheads="1"/>
          </p:cNvSpPr>
          <p:nvPr>
            <p:ph idx="1"/>
          </p:nvPr>
        </p:nvSpPr>
        <p:spPr>
          <a:xfrm>
            <a:off x="1703388" y="836614"/>
            <a:ext cx="8964612" cy="53943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The </a:t>
            </a:r>
            <a:r>
              <a:rPr lang="en-US" sz="2000" b="1" dirty="0"/>
              <a:t>NOT</a:t>
            </a:r>
            <a:r>
              <a:rPr lang="en-US" sz="2000" dirty="0"/>
              <a:t> operator </a:t>
            </a:r>
            <a:r>
              <a:rPr lang="en-US" sz="2000" b="1" dirty="0"/>
              <a:t>negates</a:t>
            </a:r>
            <a:r>
              <a:rPr lang="en-US" sz="2000" dirty="0"/>
              <a:t> the </a:t>
            </a:r>
            <a:r>
              <a:rPr lang="en-US" sz="2000" b="1" dirty="0"/>
              <a:t>expression </a:t>
            </a:r>
            <a:r>
              <a:rPr lang="en-US" sz="2000" u="sng" dirty="0"/>
              <a:t>immediately</a:t>
            </a:r>
            <a:r>
              <a:rPr lang="en-US" sz="2000" dirty="0"/>
              <a:t> to its</a:t>
            </a:r>
            <a:r>
              <a:rPr lang="en-US" sz="2000" b="1" dirty="0"/>
              <a:t> right</a:t>
            </a:r>
            <a:r>
              <a:rPr lang="en-US" sz="2000" dirty="0"/>
              <a:t>.</a:t>
            </a:r>
          </a:p>
          <a:p>
            <a:pPr marL="933450" lvl="1" indent="-457200"/>
            <a:r>
              <a:rPr lang="en-AU" sz="2000" dirty="0"/>
              <a:t>If the &lt;expression&gt; is TRUE, then NOT &lt;expression&gt; is FALSE</a:t>
            </a:r>
          </a:p>
          <a:p>
            <a:pPr marL="933450" lvl="1" indent="-457200"/>
            <a:r>
              <a:rPr lang="en-AU" sz="2000" dirty="0"/>
              <a:t>If the &lt;expression&gt; is FALSE, then NOT &lt;expression&gt; is TRUE</a:t>
            </a:r>
          </a:p>
          <a:p>
            <a:pPr marL="457200" indent="-457200"/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Select all people who work in the City branch</a:t>
            </a:r>
          </a:p>
          <a:p>
            <a:pPr marL="933450" lvl="1" indent="-457200">
              <a:buNone/>
            </a:pPr>
            <a:r>
              <a:rPr lang="en-AU" sz="2000" b="1" dirty="0">
                <a:solidFill>
                  <a:srgbClr val="0033CC"/>
                </a:solidFill>
              </a:rPr>
              <a:t>     SELECT * FROM </a:t>
            </a:r>
            <a:r>
              <a:rPr lang="en-AU" sz="2000" b="1" dirty="0" err="1">
                <a:solidFill>
                  <a:srgbClr val="0033CC"/>
                </a:solidFill>
              </a:rPr>
              <a:t>Emp</a:t>
            </a:r>
            <a:r>
              <a:rPr lang="en-AU" sz="2000" b="1" dirty="0">
                <a:solidFill>
                  <a:srgbClr val="0033CC"/>
                </a:solidFill>
              </a:rPr>
              <a:t> WHERE branch = 'City'</a:t>
            </a:r>
          </a:p>
          <a:p>
            <a:pPr marL="933450" lvl="1" indent="-457200">
              <a:buNone/>
            </a:pPr>
            <a:endParaRPr lang="en-AU" sz="1050" b="1" dirty="0">
              <a:solidFill>
                <a:srgbClr val="0033CC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Select all people from all other branches</a:t>
            </a:r>
          </a:p>
          <a:p>
            <a:pPr marL="933450" lvl="1" indent="-457200">
              <a:buNone/>
            </a:pPr>
            <a:r>
              <a:rPr lang="en-AU" sz="2000" b="1" dirty="0">
                <a:solidFill>
                  <a:srgbClr val="0033CC"/>
                </a:solidFill>
              </a:rPr>
              <a:t>     SELECT * FROM </a:t>
            </a:r>
            <a:r>
              <a:rPr lang="en-AU" sz="2000" b="1" dirty="0" err="1">
                <a:solidFill>
                  <a:srgbClr val="0033CC"/>
                </a:solidFill>
              </a:rPr>
              <a:t>Emp</a:t>
            </a:r>
            <a:r>
              <a:rPr lang="en-AU" sz="2000" b="1" dirty="0">
                <a:solidFill>
                  <a:srgbClr val="0033CC"/>
                </a:solidFill>
              </a:rPr>
              <a:t> WHERE </a:t>
            </a:r>
            <a:r>
              <a:rPr lang="en-AU" sz="2000" b="1" dirty="0">
                <a:solidFill>
                  <a:srgbClr val="FF0000"/>
                </a:solidFill>
              </a:rPr>
              <a:t>NOT</a:t>
            </a:r>
            <a:r>
              <a:rPr lang="en-AU" sz="2000" b="1" dirty="0">
                <a:solidFill>
                  <a:srgbClr val="0033CC"/>
                </a:solidFill>
              </a:rPr>
              <a:t> </a:t>
            </a:r>
            <a:r>
              <a:rPr lang="en-AU" sz="2000" b="1" dirty="0">
                <a:solidFill>
                  <a:schemeClr val="accent2"/>
                </a:solidFill>
              </a:rPr>
              <a:t>(</a:t>
            </a:r>
            <a:r>
              <a:rPr lang="en-AU" sz="2000" b="1" dirty="0">
                <a:solidFill>
                  <a:srgbClr val="0033CC"/>
                </a:solidFill>
              </a:rPr>
              <a:t>branch = 'City'</a:t>
            </a:r>
            <a:r>
              <a:rPr lang="en-AU" sz="2000" b="1" dirty="0">
                <a:solidFill>
                  <a:schemeClr val="accent2"/>
                </a:solidFill>
              </a:rPr>
              <a:t>)</a:t>
            </a:r>
          </a:p>
          <a:p>
            <a:pPr marL="1504950" lvl="2" indent="-457200">
              <a:buNone/>
            </a:pPr>
            <a:endParaRPr lang="en-AU" sz="1000" dirty="0"/>
          </a:p>
          <a:p>
            <a:pPr marL="1504950" lvl="2" indent="-457200">
              <a:buNone/>
            </a:pPr>
            <a:endParaRPr lang="en-AU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Select all people who work in either City or Haw</a:t>
            </a:r>
          </a:p>
          <a:p>
            <a:pPr marL="933450" lvl="1" indent="-457200">
              <a:buNone/>
            </a:pPr>
            <a:r>
              <a:rPr lang="en-AU" sz="2000" b="1" dirty="0">
                <a:solidFill>
                  <a:srgbClr val="0033CC"/>
                </a:solidFill>
              </a:rPr>
              <a:t>     SELECT * FROM </a:t>
            </a:r>
            <a:r>
              <a:rPr lang="en-AU" sz="2000" b="1" dirty="0" err="1">
                <a:solidFill>
                  <a:srgbClr val="0033CC"/>
                </a:solidFill>
              </a:rPr>
              <a:t>Emp</a:t>
            </a:r>
            <a:r>
              <a:rPr lang="en-AU" sz="2000" b="1" dirty="0">
                <a:solidFill>
                  <a:srgbClr val="0033CC"/>
                </a:solidFill>
              </a:rPr>
              <a:t> WHERE branch = 'City' OR  branch='Haw'</a:t>
            </a:r>
          </a:p>
          <a:p>
            <a:pPr marL="933450" lvl="1" indent="-457200">
              <a:buNone/>
            </a:pPr>
            <a:endParaRPr lang="en-AU" sz="1200" b="1" dirty="0">
              <a:solidFill>
                <a:srgbClr val="0033CC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Select all people from all branches except City or Haw</a:t>
            </a:r>
          </a:p>
          <a:p>
            <a:pPr marL="933450" lvl="1" indent="-457200">
              <a:buNone/>
            </a:pPr>
            <a:r>
              <a:rPr lang="en-AU" sz="2000" b="1" dirty="0">
                <a:solidFill>
                  <a:srgbClr val="0033CC"/>
                </a:solidFill>
              </a:rPr>
              <a:t>    SELECT * FROM </a:t>
            </a:r>
            <a:r>
              <a:rPr lang="en-AU" sz="2000" b="1" dirty="0" err="1">
                <a:solidFill>
                  <a:srgbClr val="0033CC"/>
                </a:solidFill>
              </a:rPr>
              <a:t>Emp</a:t>
            </a:r>
            <a:r>
              <a:rPr lang="en-AU" sz="2000" b="1" dirty="0">
                <a:solidFill>
                  <a:srgbClr val="0033CC"/>
                </a:solidFill>
              </a:rPr>
              <a:t> WHERE </a:t>
            </a:r>
            <a:r>
              <a:rPr lang="en-AU" sz="2000" b="1" dirty="0">
                <a:solidFill>
                  <a:srgbClr val="FF0000"/>
                </a:solidFill>
              </a:rPr>
              <a:t>NOT</a:t>
            </a:r>
            <a:r>
              <a:rPr lang="en-AU" sz="2000" b="1" dirty="0">
                <a:solidFill>
                  <a:schemeClr val="accent2"/>
                </a:solidFill>
              </a:rPr>
              <a:t> (</a:t>
            </a:r>
            <a:r>
              <a:rPr lang="en-AU" sz="2000" b="1" dirty="0">
                <a:solidFill>
                  <a:srgbClr val="0033CC"/>
                </a:solidFill>
              </a:rPr>
              <a:t>branch='City' OR  branch='Haw'</a:t>
            </a:r>
            <a:r>
              <a:rPr lang="en-AU" sz="2000" b="1" dirty="0">
                <a:solidFill>
                  <a:schemeClr val="accent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08511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US" dirty="0">
                <a:solidFill>
                  <a:srgbClr val="D1161E"/>
                </a:solidFill>
                <a:latin typeface="Calibri" panose="020F0502020204030204" pitchFamily="34" charset="0"/>
              </a:rPr>
              <a:t>NOT Operator and parentheses</a:t>
            </a:r>
          </a:p>
        </p:txBody>
      </p:sp>
      <p:sp>
        <p:nvSpPr>
          <p:cNvPr id="87045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1703388" y="836614"/>
            <a:ext cx="8964612" cy="590581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NOT</a:t>
            </a:r>
            <a:r>
              <a:rPr lang="en-US" sz="2000" dirty="0"/>
              <a:t> operator negates the </a:t>
            </a:r>
            <a:r>
              <a:rPr lang="en-US" sz="2000" b="1" dirty="0"/>
              <a:t>expression </a:t>
            </a:r>
            <a:r>
              <a:rPr lang="en-US" sz="2000" b="1" u="sng" dirty="0"/>
              <a:t>immediately</a:t>
            </a:r>
            <a:r>
              <a:rPr lang="en-US" sz="2000" b="1" dirty="0"/>
              <a:t> to its right</a:t>
            </a:r>
            <a:r>
              <a:rPr lang="en-US" sz="2000" dirty="0"/>
              <a:t>.</a:t>
            </a:r>
          </a:p>
          <a:p>
            <a:pPr marL="457200" indent="-457200"/>
            <a:endParaRPr lang="en-US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b="1" dirty="0"/>
              <a:t>Be careful:</a:t>
            </a:r>
            <a:r>
              <a:rPr lang="en-AU" sz="2000" dirty="0"/>
              <a:t> If you have a pair of conditions, then they must be surrounded by parentheses / brackets. </a:t>
            </a:r>
            <a:br>
              <a:rPr lang="en-AU" sz="2000" dirty="0"/>
            </a:br>
            <a:r>
              <a:rPr lang="en-AU" sz="2000" dirty="0"/>
              <a:t>If the brackets are omitted, you may get unexpected results!</a:t>
            </a:r>
          </a:p>
          <a:p>
            <a:pPr marL="457200" indent="-457200"/>
            <a:endParaRPr lang="en-AU" sz="1100" dirty="0">
              <a:solidFill>
                <a:srgbClr val="0033CC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These </a:t>
            </a:r>
            <a:r>
              <a:rPr lang="en-US" sz="2000" b="1" dirty="0"/>
              <a:t>three</a:t>
            </a:r>
            <a:r>
              <a:rPr lang="en-US" sz="2000" dirty="0"/>
              <a:t> queries all return </a:t>
            </a:r>
            <a:r>
              <a:rPr lang="en-US" sz="2000" b="1" dirty="0"/>
              <a:t>different</a:t>
            </a:r>
            <a:r>
              <a:rPr lang="en-US" sz="2000" dirty="0"/>
              <a:t> results</a:t>
            </a:r>
          </a:p>
          <a:p>
            <a:pPr marL="457200" indent="-457200"/>
            <a:endParaRPr lang="en-AU" sz="1100" dirty="0"/>
          </a:p>
          <a:p>
            <a:pPr marL="1504950" lvl="2" indent="-457200">
              <a:buNone/>
            </a:pPr>
            <a:r>
              <a:rPr lang="en-AU" sz="2000" b="1" dirty="0">
                <a:solidFill>
                  <a:srgbClr val="0033CC"/>
                </a:solidFill>
              </a:rPr>
              <a:t>A.  SELECT * FROM </a:t>
            </a:r>
            <a:r>
              <a:rPr lang="en-AU" sz="2000" b="1" dirty="0" err="1">
                <a:solidFill>
                  <a:srgbClr val="0033CC"/>
                </a:solidFill>
              </a:rPr>
              <a:t>emp</a:t>
            </a:r>
            <a:r>
              <a:rPr lang="en-AU" sz="2000" b="1" dirty="0">
                <a:solidFill>
                  <a:srgbClr val="0033CC"/>
                </a:solidFill>
              </a:rPr>
              <a:t> WHERE             </a:t>
            </a:r>
            <a:r>
              <a:rPr lang="en-AU" sz="2000" b="1" dirty="0" err="1">
                <a:solidFill>
                  <a:srgbClr val="0033CC"/>
                </a:solidFill>
              </a:rPr>
              <a:t>Dept</a:t>
            </a:r>
            <a:r>
              <a:rPr lang="en-AU" sz="2000" b="1" dirty="0">
                <a:solidFill>
                  <a:srgbClr val="0033CC"/>
                </a:solidFill>
              </a:rPr>
              <a:t> = 1   OR   </a:t>
            </a:r>
            <a:r>
              <a:rPr lang="en-AU" sz="2000" b="1" dirty="0" err="1">
                <a:solidFill>
                  <a:srgbClr val="0033CC"/>
                </a:solidFill>
              </a:rPr>
              <a:t>Dept</a:t>
            </a:r>
            <a:r>
              <a:rPr lang="en-AU" sz="2000" b="1" dirty="0">
                <a:solidFill>
                  <a:srgbClr val="0033CC"/>
                </a:solidFill>
              </a:rPr>
              <a:t> = 2</a:t>
            </a:r>
          </a:p>
          <a:p>
            <a:pPr marL="1504950" lvl="2" indent="-457200">
              <a:buNone/>
            </a:pPr>
            <a:r>
              <a:rPr lang="en-AU" sz="2000" b="1" dirty="0">
                <a:solidFill>
                  <a:srgbClr val="0033CC"/>
                </a:solidFill>
              </a:rPr>
              <a:t>B.  SELECT * FROM </a:t>
            </a:r>
            <a:r>
              <a:rPr lang="en-AU" sz="2000" b="1" dirty="0" err="1">
                <a:solidFill>
                  <a:srgbClr val="0033CC"/>
                </a:solidFill>
              </a:rPr>
              <a:t>emp</a:t>
            </a:r>
            <a:r>
              <a:rPr lang="en-AU" sz="2000" b="1" dirty="0">
                <a:solidFill>
                  <a:srgbClr val="0033CC"/>
                </a:solidFill>
              </a:rPr>
              <a:t> WHERE </a:t>
            </a:r>
            <a:r>
              <a:rPr lang="en-AU" sz="2000" b="1" dirty="0">
                <a:solidFill>
                  <a:schemeClr val="accent2"/>
                </a:solidFill>
              </a:rPr>
              <a:t>NOT (  </a:t>
            </a:r>
            <a:r>
              <a:rPr lang="en-AU" sz="2000" b="1" dirty="0" err="1">
                <a:solidFill>
                  <a:schemeClr val="accent2"/>
                </a:solidFill>
              </a:rPr>
              <a:t>Dept</a:t>
            </a:r>
            <a:r>
              <a:rPr lang="en-AU" sz="2000" b="1" dirty="0">
                <a:solidFill>
                  <a:schemeClr val="accent2"/>
                </a:solidFill>
              </a:rPr>
              <a:t> = 1   OR   </a:t>
            </a:r>
            <a:r>
              <a:rPr lang="en-AU" sz="2000" b="1" dirty="0" err="1">
                <a:solidFill>
                  <a:schemeClr val="accent2"/>
                </a:solidFill>
              </a:rPr>
              <a:t>Dept</a:t>
            </a:r>
            <a:r>
              <a:rPr lang="en-AU" sz="2000" b="1" dirty="0">
                <a:solidFill>
                  <a:schemeClr val="accent2"/>
                </a:solidFill>
              </a:rPr>
              <a:t> = 2  )</a:t>
            </a:r>
          </a:p>
          <a:p>
            <a:pPr marL="1504950" lvl="2" indent="-457200">
              <a:buNone/>
            </a:pPr>
            <a:r>
              <a:rPr lang="en-AU" sz="2000" b="1" dirty="0">
                <a:solidFill>
                  <a:srgbClr val="0033CC"/>
                </a:solidFill>
              </a:rPr>
              <a:t>C.  SELECT * FROM </a:t>
            </a:r>
            <a:r>
              <a:rPr lang="en-AU" sz="2000" b="1" dirty="0" err="1">
                <a:solidFill>
                  <a:srgbClr val="0033CC"/>
                </a:solidFill>
              </a:rPr>
              <a:t>emp</a:t>
            </a:r>
            <a:r>
              <a:rPr lang="en-AU" sz="2000" b="1" dirty="0">
                <a:solidFill>
                  <a:srgbClr val="0033CC"/>
                </a:solidFill>
              </a:rPr>
              <a:t> WHERE </a:t>
            </a:r>
            <a:r>
              <a:rPr lang="en-AU" sz="2000" b="1" dirty="0">
                <a:solidFill>
                  <a:schemeClr val="accent2"/>
                </a:solidFill>
              </a:rPr>
              <a:t>NOT    </a:t>
            </a:r>
            <a:r>
              <a:rPr lang="en-AU" sz="2000" b="1" dirty="0" err="1">
                <a:solidFill>
                  <a:schemeClr val="accent2"/>
                </a:solidFill>
              </a:rPr>
              <a:t>Dept</a:t>
            </a:r>
            <a:r>
              <a:rPr lang="en-AU" sz="2000" b="1" dirty="0">
                <a:solidFill>
                  <a:schemeClr val="accent2"/>
                </a:solidFill>
              </a:rPr>
              <a:t> = 1</a:t>
            </a:r>
            <a:r>
              <a:rPr lang="en-AU" sz="2000" b="1" dirty="0">
                <a:solidFill>
                  <a:srgbClr val="0033CC"/>
                </a:solidFill>
              </a:rPr>
              <a:t>   OR   </a:t>
            </a:r>
            <a:r>
              <a:rPr lang="en-AU" sz="2000" b="1" dirty="0" err="1">
                <a:solidFill>
                  <a:srgbClr val="0033CC"/>
                </a:solidFill>
              </a:rPr>
              <a:t>Dept</a:t>
            </a:r>
            <a:r>
              <a:rPr lang="en-AU" sz="2000" b="1" dirty="0">
                <a:solidFill>
                  <a:srgbClr val="0033CC"/>
                </a:solidFill>
              </a:rPr>
              <a:t> = 2</a:t>
            </a:r>
          </a:p>
          <a:p>
            <a:pPr marL="457200" indent="-457200">
              <a:buNone/>
            </a:pPr>
            <a:endParaRPr lang="en-AU" sz="2000" b="1" dirty="0">
              <a:solidFill>
                <a:srgbClr val="0033CC"/>
              </a:solidFill>
            </a:endParaRPr>
          </a:p>
          <a:p>
            <a:pPr marL="457200" indent="-457200">
              <a:buNone/>
            </a:pPr>
            <a:endParaRPr lang="en-AU" sz="2000" b="1" dirty="0">
              <a:solidFill>
                <a:srgbClr val="0033CC"/>
              </a:solidFill>
            </a:endParaRPr>
          </a:p>
        </p:txBody>
      </p:sp>
      <p:graphicFrame>
        <p:nvGraphicFramePr>
          <p:cNvPr id="87127" name="Group 87"/>
          <p:cNvGraphicFramePr>
            <a:graphicFrameLocks noGrp="1"/>
          </p:cNvGraphicFramePr>
          <p:nvPr/>
        </p:nvGraphicFramePr>
        <p:xfrm>
          <a:off x="2927350" y="4724400"/>
          <a:ext cx="5545138" cy="2018030"/>
        </p:xfrm>
        <a:graphic>
          <a:graphicData uri="http://schemas.openxmlformats.org/drawingml/2006/table">
            <a:tbl>
              <a:tblPr/>
              <a:tblGrid>
                <a:gridCol w="85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Row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Name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Dept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Result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Result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Result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Amy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2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Bruce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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3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Carol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4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Dave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264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0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SQL: Order of precedence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933450" lvl="1" indent="-4572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AU" sz="2400" dirty="0"/>
              <a:t>Relational Operators (&lt;, &gt;, = </a:t>
            </a:r>
            <a:r>
              <a:rPr lang="en-AU" sz="2400" i="1" dirty="0"/>
              <a:t>etc</a:t>
            </a:r>
            <a:r>
              <a:rPr lang="en-AU" sz="2400" dirty="0"/>
              <a:t>.)</a:t>
            </a:r>
          </a:p>
          <a:p>
            <a:pPr marL="933450" lvl="1" indent="-4572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AU" sz="2400" dirty="0"/>
              <a:t>Brackets</a:t>
            </a:r>
          </a:p>
          <a:p>
            <a:pPr marL="933450" lvl="1" indent="-4572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AU" sz="2400" dirty="0"/>
              <a:t>NOT</a:t>
            </a:r>
          </a:p>
          <a:p>
            <a:pPr marL="933450" lvl="1" indent="-4572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AU" sz="2400" dirty="0"/>
              <a:t>AND</a:t>
            </a:r>
          </a:p>
          <a:p>
            <a:pPr marL="933450" lvl="1" indent="-4572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AU" sz="2400" dirty="0"/>
              <a:t>OR</a:t>
            </a:r>
          </a:p>
          <a:p>
            <a:pPr marL="933450" lvl="1" indent="-457200">
              <a:buFont typeface="Wingdings" pitchFamily="2" charset="2"/>
              <a:buAutoNum type="arabicPeriod"/>
            </a:pPr>
            <a:endParaRPr lang="en-AU" sz="3200" dirty="0"/>
          </a:p>
          <a:p>
            <a:pPr marL="933450" lvl="1" indent="-457200">
              <a:buFont typeface="Wingdings" pitchFamily="2" charset="2"/>
              <a:buAutoNum type="arabicPeriod"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378075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0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9216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05792"/>
            <a:ext cx="8229600" cy="1058799"/>
          </a:xfrm>
        </p:spPr>
        <p:txBody>
          <a:bodyPr anchor="t">
            <a:noAutofit/>
          </a:bodyPr>
          <a:lstStyle/>
          <a:p>
            <a:pPr marL="685800" indent="-685800"/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SQL: UPPER ( ) &amp; LOWER ( )</a:t>
            </a:r>
          </a:p>
        </p:txBody>
      </p:sp>
      <p:sp>
        <p:nvSpPr>
          <p:cNvPr id="9216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44750" y="908050"/>
            <a:ext cx="8223250" cy="5843624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Syntax: </a:t>
            </a:r>
            <a:r>
              <a:rPr lang="en-AU" sz="2000" b="1" dirty="0"/>
              <a:t>UPPER</a:t>
            </a:r>
            <a:r>
              <a:rPr lang="en-AU" sz="2000" dirty="0"/>
              <a:t> (&lt;character expression&gt;)</a:t>
            </a:r>
          </a:p>
          <a:p>
            <a:pPr marL="457200" indent="-457200"/>
            <a:endParaRPr lang="en-A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The Upper() function takes a &lt;</a:t>
            </a:r>
            <a:r>
              <a:rPr lang="en-AU" sz="2000" b="1" dirty="0"/>
              <a:t>character expression</a:t>
            </a:r>
            <a:r>
              <a:rPr lang="en-AU" sz="2000" dirty="0"/>
              <a:t>&gt;</a:t>
            </a:r>
            <a:br>
              <a:rPr lang="en-AU" sz="2000" dirty="0"/>
            </a:br>
            <a:r>
              <a:rPr lang="en-AU" sz="2000" dirty="0"/>
              <a:t>and </a:t>
            </a:r>
            <a:r>
              <a:rPr lang="en-AU" sz="2000" b="1" dirty="0"/>
              <a:t>returns</a:t>
            </a:r>
            <a:r>
              <a:rPr lang="en-AU" sz="2000" dirty="0"/>
              <a:t> </a:t>
            </a:r>
            <a:r>
              <a:rPr lang="en-AU" sz="2000" b="1" dirty="0"/>
              <a:t>a value</a:t>
            </a:r>
            <a:r>
              <a:rPr lang="en-AU" sz="2000" dirty="0"/>
              <a:t> where all characters are in </a:t>
            </a:r>
            <a:r>
              <a:rPr lang="en-AU" sz="2000" b="1" dirty="0"/>
              <a:t>upper case.</a:t>
            </a:r>
          </a:p>
          <a:p>
            <a:pPr marL="457200" indent="-457200"/>
            <a:endParaRPr lang="en-AU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Syntax: </a:t>
            </a:r>
            <a:r>
              <a:rPr lang="en-AU" sz="2000" b="1" dirty="0"/>
              <a:t>LOWER</a:t>
            </a:r>
            <a:r>
              <a:rPr lang="en-AU" sz="2000" dirty="0"/>
              <a:t> (&lt;character expression&gt;)</a:t>
            </a:r>
          </a:p>
          <a:p>
            <a:pPr marL="457200" indent="-457200"/>
            <a:endParaRPr lang="en-A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The Lower() function takes a &lt;</a:t>
            </a:r>
            <a:r>
              <a:rPr lang="en-AU" sz="2000" b="1" dirty="0"/>
              <a:t>character expression</a:t>
            </a:r>
            <a:r>
              <a:rPr lang="en-AU" sz="2000" dirty="0"/>
              <a:t>&gt;</a:t>
            </a:r>
            <a:br>
              <a:rPr lang="en-AU" sz="2000" dirty="0"/>
            </a:br>
            <a:r>
              <a:rPr lang="en-AU" sz="2000" dirty="0"/>
              <a:t>and </a:t>
            </a:r>
            <a:r>
              <a:rPr lang="en-AU" sz="2000" b="1" dirty="0"/>
              <a:t>returns</a:t>
            </a:r>
            <a:r>
              <a:rPr lang="en-AU" sz="2000" dirty="0"/>
              <a:t> </a:t>
            </a:r>
            <a:r>
              <a:rPr lang="en-AU" sz="2000" b="1" dirty="0"/>
              <a:t>a value</a:t>
            </a:r>
            <a:r>
              <a:rPr lang="en-AU" sz="2000" dirty="0"/>
              <a:t> where all characters are in </a:t>
            </a:r>
            <a:r>
              <a:rPr lang="en-AU" sz="2000" b="1" dirty="0"/>
              <a:t>lower case.</a:t>
            </a:r>
          </a:p>
          <a:p>
            <a:pPr marL="457200" indent="-457200"/>
            <a:endParaRPr lang="en-AU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Upper() and Lower() functions </a:t>
            </a:r>
            <a:r>
              <a:rPr lang="en-AU" sz="2000" b="1" dirty="0"/>
              <a:t>DO NOT</a:t>
            </a:r>
            <a:r>
              <a:rPr lang="en-AU" sz="2000" dirty="0"/>
              <a:t> </a:t>
            </a:r>
            <a:r>
              <a:rPr lang="en-AU" sz="2000" b="1" dirty="0"/>
              <a:t>change</a:t>
            </a:r>
            <a:r>
              <a:rPr lang="en-AU" sz="2000" dirty="0"/>
              <a:t> the database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Each simply </a:t>
            </a:r>
            <a:r>
              <a:rPr lang="en-AU" sz="2000" b="1" dirty="0"/>
              <a:t>returns</a:t>
            </a:r>
            <a:r>
              <a:rPr lang="en-AU" sz="2000" dirty="0"/>
              <a:t> a value to be used </a:t>
            </a:r>
            <a:r>
              <a:rPr lang="en-AU" sz="2000" b="1" dirty="0"/>
              <a:t>within </a:t>
            </a:r>
            <a:r>
              <a:rPr lang="en-AU" sz="2000" dirty="0"/>
              <a:t>the query</a:t>
            </a:r>
          </a:p>
          <a:p>
            <a:pPr marL="933450" lvl="1" indent="-457200"/>
            <a:endParaRPr lang="en-A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Characters outside the range A-Z / a-z are </a:t>
            </a:r>
            <a:r>
              <a:rPr lang="en-AU" sz="2000" b="1" dirty="0"/>
              <a:t>not affected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AU" sz="2000" dirty="0"/>
              <a:t>E.g. numbers &amp; punctuation not affected</a:t>
            </a:r>
          </a:p>
          <a:p>
            <a:pPr marL="457200" indent="-457200"/>
            <a:endParaRPr lang="en-AU" sz="2000" b="1" dirty="0"/>
          </a:p>
          <a:p>
            <a:pPr marL="0" indent="0">
              <a:buNone/>
            </a:pPr>
            <a:r>
              <a:rPr lang="en-AU" sz="2000" dirty="0"/>
              <a:t>   </a:t>
            </a:r>
          </a:p>
          <a:p>
            <a:pPr marL="933450" lvl="1" indent="-457200">
              <a:buNone/>
            </a:pPr>
            <a:endParaRPr lang="en-AU" sz="2000" dirty="0">
              <a:solidFill>
                <a:srgbClr val="0033CC"/>
              </a:solidFill>
            </a:endParaRPr>
          </a:p>
          <a:p>
            <a:pPr marL="933450" lvl="1" indent="-457200">
              <a:buNone/>
            </a:pPr>
            <a:endParaRPr lang="en-AU" sz="2000" dirty="0">
              <a:solidFill>
                <a:srgbClr val="0033CC"/>
              </a:solidFill>
            </a:endParaRPr>
          </a:p>
          <a:p>
            <a:pPr marL="933450" lvl="1" indent="-457200">
              <a:buNone/>
            </a:pPr>
            <a:endParaRPr lang="en-AU" sz="2000" dirty="0">
              <a:solidFill>
                <a:srgbClr val="0033CC"/>
              </a:solidFill>
            </a:endParaRPr>
          </a:p>
          <a:p>
            <a:pPr marL="933450" lvl="1" indent="-457200">
              <a:buNone/>
            </a:pPr>
            <a:endParaRPr lang="en-AU" sz="2000" dirty="0">
              <a:solidFill>
                <a:srgbClr val="0033CC"/>
              </a:solidFill>
            </a:endParaRPr>
          </a:p>
          <a:p>
            <a:pPr marL="933450" lvl="1" indent="-457200">
              <a:buNone/>
            </a:pPr>
            <a:endParaRPr lang="en-AU" sz="2000" dirty="0">
              <a:solidFill>
                <a:srgbClr val="0033CC"/>
              </a:solidFill>
            </a:endParaRPr>
          </a:p>
          <a:p>
            <a:pPr marL="457200" indent="-457200"/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442541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199" y="105792"/>
            <a:ext cx="8229600" cy="1058799"/>
          </a:xfrm>
        </p:spPr>
        <p:txBody>
          <a:bodyPr anchor="t">
            <a:noAutofit/>
          </a:bodyPr>
          <a:lstStyle/>
          <a:p>
            <a:pPr marL="685800" indent="-685800"/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SQL: UPPER ( ) &amp; LOWER ( )</a:t>
            </a:r>
          </a:p>
        </p:txBody>
      </p:sp>
      <p:sp>
        <p:nvSpPr>
          <p:cNvPr id="9318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87600" y="765176"/>
            <a:ext cx="8280400" cy="601839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Example</a:t>
            </a:r>
            <a:endParaRPr lang="en-AU" b="1" dirty="0"/>
          </a:p>
          <a:p>
            <a:pPr marL="933450" lvl="1" indent="-457200"/>
            <a:endParaRPr lang="en-AU" sz="1000" dirty="0"/>
          </a:p>
          <a:p>
            <a:pPr marL="933450" lvl="1" indent="-457200">
              <a:buNone/>
            </a:pPr>
            <a:r>
              <a:rPr lang="en-AU" dirty="0">
                <a:solidFill>
                  <a:srgbClr val="0033CC"/>
                </a:solidFill>
              </a:rPr>
              <a:t>SELECT	UPPER(</a:t>
            </a:r>
            <a:r>
              <a:rPr lang="en-AU" dirty="0" err="1">
                <a:solidFill>
                  <a:srgbClr val="0033CC"/>
                </a:solidFill>
              </a:rPr>
              <a:t>empid</a:t>
            </a:r>
            <a:r>
              <a:rPr lang="en-AU" dirty="0">
                <a:solidFill>
                  <a:srgbClr val="0033CC"/>
                </a:solidFill>
              </a:rPr>
              <a:t>), UPPER(</a:t>
            </a:r>
            <a:r>
              <a:rPr lang="en-AU" dirty="0" err="1">
                <a:solidFill>
                  <a:srgbClr val="0033CC"/>
                </a:solidFill>
              </a:rPr>
              <a:t>fname</a:t>
            </a:r>
            <a:r>
              <a:rPr lang="en-AU" dirty="0">
                <a:solidFill>
                  <a:srgbClr val="0033CC"/>
                </a:solidFill>
              </a:rPr>
              <a:t>), </a:t>
            </a:r>
            <a:br>
              <a:rPr lang="en-AU" dirty="0">
                <a:solidFill>
                  <a:srgbClr val="0033CC"/>
                </a:solidFill>
              </a:rPr>
            </a:br>
            <a:r>
              <a:rPr lang="en-AU" dirty="0">
                <a:solidFill>
                  <a:srgbClr val="0033CC"/>
                </a:solidFill>
              </a:rPr>
              <a:t>       UPPER(</a:t>
            </a:r>
            <a:r>
              <a:rPr lang="en-AU" dirty="0" err="1">
                <a:solidFill>
                  <a:srgbClr val="0033CC"/>
                </a:solidFill>
              </a:rPr>
              <a:t>sname</a:t>
            </a:r>
            <a:r>
              <a:rPr lang="en-AU" dirty="0">
                <a:solidFill>
                  <a:srgbClr val="0033CC"/>
                </a:solidFill>
              </a:rPr>
              <a:t>), UPPER(address) </a:t>
            </a:r>
          </a:p>
          <a:p>
            <a:pPr marL="933450" lvl="1" indent="-457200">
              <a:buNone/>
            </a:pPr>
            <a:r>
              <a:rPr lang="en-AU" dirty="0">
                <a:solidFill>
                  <a:srgbClr val="0033CC"/>
                </a:solidFill>
              </a:rPr>
              <a:t>FROM	employee</a:t>
            </a:r>
          </a:p>
          <a:p>
            <a:pPr marL="933450" lvl="1" indent="-457200">
              <a:buNone/>
            </a:pPr>
            <a:endParaRPr lang="en-AU" sz="1000" dirty="0">
              <a:solidFill>
                <a:srgbClr val="0033CC"/>
              </a:solidFill>
            </a:endParaRPr>
          </a:p>
          <a:p>
            <a:pPr marL="933450" lvl="1" indent="-457200">
              <a:buNone/>
            </a:pPr>
            <a:endParaRPr lang="en-AU" dirty="0">
              <a:solidFill>
                <a:srgbClr val="0033CC"/>
              </a:solidFill>
            </a:endParaRPr>
          </a:p>
          <a:p>
            <a:pPr marL="933450" lvl="1" indent="-457200">
              <a:buNone/>
            </a:pPr>
            <a:endParaRPr lang="en-AU" dirty="0">
              <a:solidFill>
                <a:srgbClr val="0033CC"/>
              </a:solidFill>
            </a:endParaRPr>
          </a:p>
          <a:p>
            <a:pPr marL="933450" lvl="1" indent="-457200">
              <a:buNone/>
            </a:pPr>
            <a:endParaRPr lang="en-AU" dirty="0">
              <a:solidFill>
                <a:srgbClr val="0033CC"/>
              </a:solidFill>
            </a:endParaRPr>
          </a:p>
          <a:p>
            <a:pPr marL="933450" lvl="1" indent="-457200">
              <a:buNone/>
            </a:pPr>
            <a:endParaRPr lang="en-AU" dirty="0">
              <a:solidFill>
                <a:srgbClr val="0033CC"/>
              </a:solidFill>
            </a:endParaRPr>
          </a:p>
          <a:p>
            <a:pPr marL="457200" indent="-457200"/>
            <a:endParaRPr lang="en-AU" i="1" dirty="0"/>
          </a:p>
        </p:txBody>
      </p:sp>
      <p:graphicFrame>
        <p:nvGraphicFramePr>
          <p:cNvPr id="93205" name="Group 21"/>
          <p:cNvGraphicFramePr>
            <a:graphicFrameLocks noGrp="1"/>
          </p:cNvGraphicFramePr>
          <p:nvPr/>
        </p:nvGraphicFramePr>
        <p:xfrm>
          <a:off x="4257676" y="2695096"/>
          <a:ext cx="6119812" cy="1254125"/>
        </p:xfrm>
        <a:graphic>
          <a:graphicData uri="http://schemas.openxmlformats.org/drawingml/2006/table">
            <a:tbl>
              <a:tblPr/>
              <a:tblGrid>
                <a:gridCol w="1223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3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A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EmpId</a:t>
                      </a:r>
                      <a:endParaRPr kumimoji="0" lang="en-A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Fname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Sname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Address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N98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Jenny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Smith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23 RED RD.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V123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Leonardo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DiCaprio  </a:t>
                      </a:r>
                      <a:endParaRPr kumimoji="0" lang="en-A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4 HIGH STREET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N226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Dave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Smith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unit 2, 7 green street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1934942" y="2836071"/>
            <a:ext cx="2159000" cy="227113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lIns="0" tIns="0" rIns="0" bIns="0">
            <a:spAutoFit/>
          </a:bodyPr>
          <a:lstStyle/>
          <a:p>
            <a:pPr marL="85725" algn="ctr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 dirty="0">
                <a:solidFill>
                  <a:srgbClr val="0C64A7"/>
                </a:solidFill>
                <a:latin typeface="Calibri"/>
              </a:rPr>
              <a:t>Table Data</a:t>
            </a:r>
          </a:p>
        </p:txBody>
      </p: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1814033" y="4519559"/>
            <a:ext cx="2159000" cy="227113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lIns="0" tIns="0" rIns="0" bIns="0">
            <a:spAutoFit/>
          </a:bodyPr>
          <a:lstStyle/>
          <a:p>
            <a:pPr marL="85725" algn="ctr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 dirty="0">
                <a:solidFill>
                  <a:srgbClr val="0C64A7"/>
                </a:solidFill>
                <a:latin typeface="Calibri"/>
              </a:rPr>
              <a:t>Result Set</a:t>
            </a:r>
          </a:p>
        </p:txBody>
      </p:sp>
      <p:graphicFrame>
        <p:nvGraphicFramePr>
          <p:cNvPr id="9" name="Group 21"/>
          <p:cNvGraphicFramePr>
            <a:graphicFrameLocks noGrp="1"/>
          </p:cNvGraphicFramePr>
          <p:nvPr/>
        </p:nvGraphicFramePr>
        <p:xfrm>
          <a:off x="4257676" y="4600928"/>
          <a:ext cx="6358158" cy="1254125"/>
        </p:xfrm>
        <a:graphic>
          <a:graphicData uri="http://schemas.openxmlformats.org/drawingml/2006/table">
            <a:tbl>
              <a:tblPr/>
              <a:tblGrid>
                <a:gridCol w="816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9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4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A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EmpId</a:t>
                      </a:r>
                      <a:endParaRPr kumimoji="0" lang="en-A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Fname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Sname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Address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N98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JENNY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SMITH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23 RED RD.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V123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LEONARDO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DICAPRIO  </a:t>
                      </a:r>
                      <a:endParaRPr kumimoji="0" lang="en-A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4 HIGH STREET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N226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DAVE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SMITH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UNIT 2, 7 GREEN STREET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697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199" y="105792"/>
            <a:ext cx="8229600" cy="1058799"/>
          </a:xfrm>
        </p:spPr>
        <p:txBody>
          <a:bodyPr anchor="t">
            <a:noAutofit/>
          </a:bodyPr>
          <a:lstStyle/>
          <a:p>
            <a:pPr marL="685800" indent="-685800"/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SQL: UPPER ( ) &amp; LOWER ( )</a:t>
            </a:r>
          </a:p>
        </p:txBody>
      </p:sp>
      <p:sp>
        <p:nvSpPr>
          <p:cNvPr id="9318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87600" y="765176"/>
            <a:ext cx="8280400" cy="53768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Example</a:t>
            </a:r>
            <a:endParaRPr lang="en-AU" b="1" dirty="0"/>
          </a:p>
          <a:p>
            <a:pPr marL="933450" lvl="1" indent="-457200"/>
            <a:endParaRPr lang="en-AU" sz="1000" dirty="0"/>
          </a:p>
          <a:p>
            <a:pPr marL="933450" lvl="1" indent="-457200">
              <a:buNone/>
            </a:pPr>
            <a:r>
              <a:rPr lang="en-AU" dirty="0">
                <a:solidFill>
                  <a:srgbClr val="0033CC"/>
                </a:solidFill>
              </a:rPr>
              <a:t>SELECT	LOWER(</a:t>
            </a:r>
            <a:r>
              <a:rPr lang="en-AU" dirty="0" err="1">
                <a:solidFill>
                  <a:srgbClr val="0033CC"/>
                </a:solidFill>
              </a:rPr>
              <a:t>empid</a:t>
            </a:r>
            <a:r>
              <a:rPr lang="en-AU" dirty="0">
                <a:solidFill>
                  <a:srgbClr val="0033CC"/>
                </a:solidFill>
              </a:rPr>
              <a:t>), LOWER(</a:t>
            </a:r>
            <a:r>
              <a:rPr lang="en-AU" dirty="0" err="1">
                <a:solidFill>
                  <a:srgbClr val="0033CC"/>
                </a:solidFill>
              </a:rPr>
              <a:t>fname</a:t>
            </a:r>
            <a:r>
              <a:rPr lang="en-AU" dirty="0">
                <a:solidFill>
                  <a:srgbClr val="0033CC"/>
                </a:solidFill>
              </a:rPr>
              <a:t>), </a:t>
            </a:r>
            <a:br>
              <a:rPr lang="en-AU" dirty="0">
                <a:solidFill>
                  <a:srgbClr val="0033CC"/>
                </a:solidFill>
              </a:rPr>
            </a:br>
            <a:r>
              <a:rPr lang="en-AU" dirty="0">
                <a:solidFill>
                  <a:srgbClr val="0033CC"/>
                </a:solidFill>
              </a:rPr>
              <a:t>       LOWER (</a:t>
            </a:r>
            <a:r>
              <a:rPr lang="en-AU" dirty="0" err="1">
                <a:solidFill>
                  <a:srgbClr val="0033CC"/>
                </a:solidFill>
              </a:rPr>
              <a:t>sname</a:t>
            </a:r>
            <a:r>
              <a:rPr lang="en-AU" dirty="0">
                <a:solidFill>
                  <a:srgbClr val="0033CC"/>
                </a:solidFill>
              </a:rPr>
              <a:t>), LOWER(address) </a:t>
            </a:r>
          </a:p>
          <a:p>
            <a:pPr marL="933450" lvl="1" indent="-457200">
              <a:buNone/>
            </a:pPr>
            <a:r>
              <a:rPr lang="en-AU" dirty="0">
                <a:solidFill>
                  <a:srgbClr val="0033CC"/>
                </a:solidFill>
              </a:rPr>
              <a:t>FROM	employee</a:t>
            </a:r>
          </a:p>
          <a:p>
            <a:pPr marL="933450" lvl="1" indent="-457200">
              <a:buNone/>
            </a:pPr>
            <a:endParaRPr lang="en-AU" sz="1000" dirty="0">
              <a:solidFill>
                <a:srgbClr val="0033CC"/>
              </a:solidFill>
            </a:endParaRPr>
          </a:p>
          <a:p>
            <a:pPr marL="933450" lvl="1" indent="-457200">
              <a:buNone/>
            </a:pPr>
            <a:endParaRPr lang="en-AU" dirty="0">
              <a:solidFill>
                <a:srgbClr val="0033CC"/>
              </a:solidFill>
            </a:endParaRPr>
          </a:p>
          <a:p>
            <a:pPr marL="933450" lvl="1" indent="-457200">
              <a:buNone/>
            </a:pPr>
            <a:endParaRPr lang="en-AU" dirty="0">
              <a:solidFill>
                <a:srgbClr val="0033CC"/>
              </a:solidFill>
            </a:endParaRPr>
          </a:p>
          <a:p>
            <a:pPr marL="933450" lvl="1" indent="-457200">
              <a:buNone/>
            </a:pPr>
            <a:endParaRPr lang="en-AU" dirty="0">
              <a:solidFill>
                <a:srgbClr val="0033CC"/>
              </a:solidFill>
            </a:endParaRPr>
          </a:p>
          <a:p>
            <a:pPr marL="933450" lvl="1" indent="-457200">
              <a:buNone/>
            </a:pPr>
            <a:endParaRPr lang="en-AU" dirty="0">
              <a:solidFill>
                <a:srgbClr val="0033CC"/>
              </a:solidFill>
            </a:endParaRPr>
          </a:p>
          <a:p>
            <a:pPr marL="457200" indent="-457200"/>
            <a:endParaRPr lang="en-AU" i="1" dirty="0"/>
          </a:p>
        </p:txBody>
      </p:sp>
      <p:graphicFrame>
        <p:nvGraphicFramePr>
          <p:cNvPr id="93205" name="Group 21"/>
          <p:cNvGraphicFramePr>
            <a:graphicFrameLocks noGrp="1"/>
          </p:cNvGraphicFramePr>
          <p:nvPr/>
        </p:nvGraphicFramePr>
        <p:xfrm>
          <a:off x="4257676" y="2695096"/>
          <a:ext cx="6119812" cy="1254125"/>
        </p:xfrm>
        <a:graphic>
          <a:graphicData uri="http://schemas.openxmlformats.org/drawingml/2006/table">
            <a:tbl>
              <a:tblPr/>
              <a:tblGrid>
                <a:gridCol w="1223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3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A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EmpId</a:t>
                      </a:r>
                      <a:endParaRPr kumimoji="0" lang="en-A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Fname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Sname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Address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N98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Jenny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Smith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23 RED RD.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V123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Leonardo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DiCaprio  </a:t>
                      </a:r>
                      <a:endParaRPr kumimoji="0" lang="en-A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4 HIGH STREET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N226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Dave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Smith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unit 2, 7 green street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1934942" y="2836071"/>
            <a:ext cx="2159000" cy="227113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lIns="0" tIns="0" rIns="0" bIns="0">
            <a:spAutoFit/>
          </a:bodyPr>
          <a:lstStyle/>
          <a:p>
            <a:pPr marL="85725" algn="ctr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 dirty="0">
                <a:solidFill>
                  <a:srgbClr val="0C64A7"/>
                </a:solidFill>
                <a:latin typeface="Calibri"/>
              </a:rPr>
              <a:t>Table Data</a:t>
            </a:r>
          </a:p>
        </p:txBody>
      </p: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1814033" y="4519559"/>
            <a:ext cx="2159000" cy="227113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lIns="0" tIns="0" rIns="0" bIns="0">
            <a:spAutoFit/>
          </a:bodyPr>
          <a:lstStyle/>
          <a:p>
            <a:pPr marL="85725" algn="ctr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 dirty="0">
                <a:solidFill>
                  <a:srgbClr val="0C64A7"/>
                </a:solidFill>
                <a:latin typeface="Calibri"/>
              </a:rPr>
              <a:t>Result Set</a:t>
            </a:r>
          </a:p>
        </p:txBody>
      </p:sp>
      <p:graphicFrame>
        <p:nvGraphicFramePr>
          <p:cNvPr id="9" name="Group 21"/>
          <p:cNvGraphicFramePr>
            <a:graphicFrameLocks noGrp="1"/>
          </p:cNvGraphicFramePr>
          <p:nvPr/>
        </p:nvGraphicFramePr>
        <p:xfrm>
          <a:off x="4257676" y="4600928"/>
          <a:ext cx="6358158" cy="1254125"/>
        </p:xfrm>
        <a:graphic>
          <a:graphicData uri="http://schemas.openxmlformats.org/drawingml/2006/table">
            <a:tbl>
              <a:tblPr/>
              <a:tblGrid>
                <a:gridCol w="816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9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4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A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EmpId</a:t>
                      </a:r>
                      <a:endParaRPr kumimoji="0" lang="en-A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Fname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Sname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Address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n98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jenny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smith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23 red rd.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v123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A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leonardo</a:t>
                      </a:r>
                      <a:endParaRPr kumimoji="0" lang="en-A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dicaprio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</a:t>
                      </a:r>
                      <a:endParaRPr kumimoji="0" lang="en-A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4 high street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n226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A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dave</a:t>
                      </a:r>
                      <a:endParaRPr kumimoji="0" lang="en-A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smith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unit 2, 7 green street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682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0"/>
          <p:cNvSpPr>
            <a:spLocks noChangeArrowheads="1"/>
          </p:cNvSpPr>
          <p:nvPr/>
        </p:nvSpPr>
        <p:spPr bwMode="auto">
          <a:xfrm>
            <a:off x="8929281" y="5904043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9421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199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SQL: UPPER() in where clause</a:t>
            </a:r>
          </a:p>
        </p:txBody>
      </p:sp>
      <p:sp>
        <p:nvSpPr>
          <p:cNvPr id="9421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35188" y="908050"/>
            <a:ext cx="8532812" cy="523398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The </a:t>
            </a:r>
            <a:r>
              <a:rPr lang="en-AU" sz="2000" b="1" dirty="0"/>
              <a:t>Upper() and Lower() </a:t>
            </a:r>
            <a:r>
              <a:rPr lang="en-AU" sz="2000" dirty="0"/>
              <a:t>functions are often used in the </a:t>
            </a:r>
            <a:r>
              <a:rPr lang="en-AU" sz="2000" b="1" dirty="0"/>
              <a:t>Where</a:t>
            </a:r>
            <a:r>
              <a:rPr lang="en-AU" sz="2000" dirty="0"/>
              <a:t> clause.</a:t>
            </a:r>
          </a:p>
          <a:p>
            <a:pPr marL="457200" indent="-457200"/>
            <a:endParaRPr lang="en-AU" sz="700" dirty="0"/>
          </a:p>
          <a:p>
            <a:pPr marL="933450" lvl="1" indent="-457200">
              <a:buNone/>
            </a:pPr>
            <a:r>
              <a:rPr lang="en-AU" sz="2000" dirty="0">
                <a:solidFill>
                  <a:srgbClr val="0033CC"/>
                </a:solidFill>
              </a:rPr>
              <a:t>SELECT	* </a:t>
            </a:r>
          </a:p>
          <a:p>
            <a:pPr marL="933450" lvl="1" indent="-457200">
              <a:buNone/>
            </a:pPr>
            <a:r>
              <a:rPr lang="en-AU" sz="2000" dirty="0">
                <a:solidFill>
                  <a:srgbClr val="0033CC"/>
                </a:solidFill>
              </a:rPr>
              <a:t>FROM	employee</a:t>
            </a:r>
            <a:r>
              <a:rPr lang="en-AU" sz="2000" b="1" dirty="0">
                <a:solidFill>
                  <a:srgbClr val="0033CC"/>
                </a:solidFill>
              </a:rPr>
              <a:t>	</a:t>
            </a:r>
          </a:p>
          <a:p>
            <a:pPr marL="933450" lvl="1" indent="-457200">
              <a:buNone/>
            </a:pPr>
            <a:r>
              <a:rPr lang="en-AU" sz="2000" dirty="0">
                <a:solidFill>
                  <a:srgbClr val="0033CC"/>
                </a:solidFill>
              </a:rPr>
              <a:t>WHERE	UPPER(</a:t>
            </a:r>
            <a:r>
              <a:rPr lang="en-AU" sz="2000" dirty="0" err="1">
                <a:solidFill>
                  <a:srgbClr val="0033CC"/>
                </a:solidFill>
              </a:rPr>
              <a:t>sname</a:t>
            </a:r>
            <a:r>
              <a:rPr lang="en-AU" sz="2000" dirty="0">
                <a:solidFill>
                  <a:srgbClr val="0033CC"/>
                </a:solidFill>
              </a:rPr>
              <a:t>) = 'SMITH';</a:t>
            </a:r>
          </a:p>
          <a:p>
            <a:pPr marL="933450" lvl="1" indent="-457200">
              <a:buNone/>
            </a:pPr>
            <a:endParaRPr lang="en-AU" sz="2000" dirty="0">
              <a:solidFill>
                <a:srgbClr val="0033CC"/>
              </a:solidFill>
            </a:endParaRPr>
          </a:p>
          <a:p>
            <a:pPr marL="933450" lvl="1" indent="-457200">
              <a:buNone/>
            </a:pPr>
            <a:endParaRPr lang="en-AU" sz="2000" dirty="0">
              <a:solidFill>
                <a:srgbClr val="0033CC"/>
              </a:solidFill>
            </a:endParaRPr>
          </a:p>
          <a:p>
            <a:pPr marL="457200" indent="-457200"/>
            <a:endParaRPr lang="en-AU" sz="2000" b="1" dirty="0"/>
          </a:p>
          <a:p>
            <a:pPr marL="457200" indent="-457200"/>
            <a:endParaRPr lang="en-AU" sz="2000" b="1" dirty="0"/>
          </a:p>
          <a:p>
            <a:pPr marL="457200" indent="-457200"/>
            <a:endParaRPr lang="en-AU" sz="2000" b="1" dirty="0"/>
          </a:p>
          <a:p>
            <a:pPr marL="457200" indent="-457200"/>
            <a:endParaRPr lang="en-AU" sz="2000" b="1" dirty="0"/>
          </a:p>
          <a:p>
            <a:pPr marL="457200" indent="-457200"/>
            <a:endParaRPr lang="en-AU" sz="2000" b="1" dirty="0"/>
          </a:p>
          <a:p>
            <a:pPr marL="457200" indent="-457200"/>
            <a:endParaRPr lang="en-AU" sz="2000" b="1" dirty="0"/>
          </a:p>
          <a:p>
            <a:pPr marL="933450" lvl="1" indent="-457200">
              <a:buNone/>
            </a:pPr>
            <a:r>
              <a:rPr lang="en-AU" sz="2000" b="1" dirty="0"/>
              <a:t>Note:  </a:t>
            </a:r>
            <a:r>
              <a:rPr lang="en-AU" sz="2000" b="1" dirty="0">
                <a:solidFill>
                  <a:srgbClr val="0033CC"/>
                </a:solidFill>
              </a:rPr>
              <a:t> …WHERE UPPER(</a:t>
            </a:r>
            <a:r>
              <a:rPr lang="en-AU" sz="2000" b="1" dirty="0" err="1">
                <a:solidFill>
                  <a:srgbClr val="0033CC"/>
                </a:solidFill>
              </a:rPr>
              <a:t>sname</a:t>
            </a:r>
            <a:r>
              <a:rPr lang="en-AU" sz="2000" b="1" dirty="0">
                <a:solidFill>
                  <a:srgbClr val="0033CC"/>
                </a:solidFill>
              </a:rPr>
              <a:t>) = 'Smith' </a:t>
            </a:r>
            <a:r>
              <a:rPr lang="en-AU" sz="4000" b="1" dirty="0">
                <a:solidFill>
                  <a:schemeClr val="tx1"/>
                </a:solidFill>
                <a:sym typeface="Wingdings" pitchFamily="2" charset="2"/>
              </a:rPr>
              <a:t></a:t>
            </a:r>
            <a:r>
              <a:rPr lang="en-AU" sz="2000" b="1" dirty="0">
                <a:solidFill>
                  <a:schemeClr val="accent2"/>
                </a:solidFill>
              </a:rPr>
              <a:t>    -   </a:t>
            </a:r>
            <a:r>
              <a:rPr lang="en-AU" sz="2000" b="1" i="1" dirty="0">
                <a:solidFill>
                  <a:schemeClr val="accent2"/>
                </a:solidFill>
              </a:rPr>
              <a:t>wrong!</a:t>
            </a:r>
          </a:p>
          <a:p>
            <a:pPr marL="933450" lvl="1" indent="-457200">
              <a:buNone/>
            </a:pPr>
            <a:r>
              <a:rPr lang="en-AU" sz="2000" b="1" dirty="0">
                <a:solidFill>
                  <a:schemeClr val="accent2"/>
                </a:solidFill>
              </a:rPr>
              <a:t>The result of UPPER(</a:t>
            </a:r>
            <a:r>
              <a:rPr lang="en-AU" sz="2000" b="1" dirty="0" err="1">
                <a:solidFill>
                  <a:schemeClr val="accent2"/>
                </a:solidFill>
              </a:rPr>
              <a:t>sname</a:t>
            </a:r>
            <a:r>
              <a:rPr lang="en-AU" sz="2000" b="1" dirty="0">
                <a:solidFill>
                  <a:schemeClr val="accent2"/>
                </a:solidFill>
              </a:rPr>
              <a:t>) can </a:t>
            </a:r>
            <a:r>
              <a:rPr lang="en-AU" sz="2000" b="1" u="sng" dirty="0">
                <a:solidFill>
                  <a:schemeClr val="accent2"/>
                </a:solidFill>
              </a:rPr>
              <a:t>NEVER</a:t>
            </a:r>
            <a:r>
              <a:rPr lang="en-AU" sz="2000" b="1" dirty="0">
                <a:solidFill>
                  <a:schemeClr val="accent2"/>
                </a:solidFill>
              </a:rPr>
              <a:t> match lowercase letters</a:t>
            </a:r>
            <a:endParaRPr lang="en-AU" sz="2000" dirty="0">
              <a:solidFill>
                <a:schemeClr val="accent2"/>
              </a:solidFill>
            </a:endParaRPr>
          </a:p>
        </p:txBody>
      </p:sp>
      <p:graphicFrame>
        <p:nvGraphicFramePr>
          <p:cNvPr id="8" name="Group 21"/>
          <p:cNvGraphicFramePr>
            <a:graphicFrameLocks noGrp="1"/>
          </p:cNvGraphicFramePr>
          <p:nvPr/>
        </p:nvGraphicFramePr>
        <p:xfrm>
          <a:off x="4343695" y="2687379"/>
          <a:ext cx="6119812" cy="1254125"/>
        </p:xfrm>
        <a:graphic>
          <a:graphicData uri="http://schemas.openxmlformats.org/drawingml/2006/table">
            <a:tbl>
              <a:tblPr/>
              <a:tblGrid>
                <a:gridCol w="1223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3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A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EmpId</a:t>
                      </a:r>
                      <a:endParaRPr kumimoji="0" lang="en-A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Fname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Sname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Address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N98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Jenny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Smith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23 Red Rd.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V123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Leonardo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DiCaprio  </a:t>
                      </a:r>
                      <a:endParaRPr kumimoji="0" lang="en-A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4 High street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N226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Dave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Smith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Unit 2, 7 Green Street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2020961" y="2828354"/>
            <a:ext cx="2159000" cy="227113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lIns="0" tIns="0" rIns="0" bIns="0">
            <a:spAutoFit/>
          </a:bodyPr>
          <a:lstStyle/>
          <a:p>
            <a:pPr marL="85725" algn="ctr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 dirty="0">
                <a:solidFill>
                  <a:srgbClr val="0C64A7"/>
                </a:solidFill>
                <a:latin typeface="Calibri"/>
              </a:rPr>
              <a:t>Table Data</a:t>
            </a: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2178050" y="4299190"/>
            <a:ext cx="2159000" cy="227113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lIns="0" tIns="0" rIns="0" bIns="0">
            <a:spAutoFit/>
          </a:bodyPr>
          <a:lstStyle/>
          <a:p>
            <a:pPr marL="85725" algn="ctr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 dirty="0">
                <a:solidFill>
                  <a:srgbClr val="0C64A7"/>
                </a:solidFill>
                <a:latin typeface="Calibri"/>
              </a:rPr>
              <a:t>Result Set</a:t>
            </a:r>
          </a:p>
        </p:txBody>
      </p:sp>
      <p:graphicFrame>
        <p:nvGraphicFramePr>
          <p:cNvPr id="12" name="Group 21"/>
          <p:cNvGraphicFramePr>
            <a:graphicFrameLocks noGrp="1"/>
          </p:cNvGraphicFramePr>
          <p:nvPr/>
        </p:nvGraphicFramePr>
        <p:xfrm>
          <a:off x="4337050" y="4341813"/>
          <a:ext cx="6119812" cy="936625"/>
        </p:xfrm>
        <a:graphic>
          <a:graphicData uri="http://schemas.openxmlformats.org/drawingml/2006/table">
            <a:tbl>
              <a:tblPr/>
              <a:tblGrid>
                <a:gridCol w="1223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3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A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EmpId</a:t>
                      </a:r>
                      <a:endParaRPr kumimoji="0" lang="en-A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Fname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Sname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Address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N98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Jenny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Smith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23 Red Rd.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N226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Dave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Smith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  Unit 2, 7 Green Street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641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4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SQL:</a:t>
            </a:r>
            <a:r>
              <a:rPr lang="en-US" dirty="0"/>
              <a:t>Between Operator </a:t>
            </a:r>
            <a:endParaRPr lang="en-AU" dirty="0"/>
          </a:p>
        </p:txBody>
      </p:sp>
      <p:sp>
        <p:nvSpPr>
          <p:cNvPr id="32772" name="Rectangle 3"/>
          <p:cNvSpPr>
            <a:spLocks noGrp="1" noChangeArrowheads="1"/>
          </p:cNvSpPr>
          <p:nvPr>
            <p:ph idx="1"/>
          </p:nvPr>
        </p:nvSpPr>
        <p:spPr>
          <a:xfrm>
            <a:off x="1703389" y="836614"/>
            <a:ext cx="8785225" cy="5176837"/>
          </a:xfrm>
        </p:spPr>
        <p:txBody>
          <a:bodyPr>
            <a:normAutofit/>
          </a:bodyPr>
          <a:lstStyle/>
          <a:p>
            <a:pPr lvl="1">
              <a:buFont typeface="Arial Narrow" pitchFamily="34" charset="0"/>
              <a:buNone/>
            </a:pPr>
            <a:r>
              <a:rPr lang="en-US" sz="2000" dirty="0"/>
              <a:t>[NOT] &lt;column-name&gt; </a:t>
            </a:r>
            <a:r>
              <a:rPr lang="en-US" sz="2000" b="1" dirty="0"/>
              <a:t>BETWEEN</a:t>
            </a:r>
            <a:r>
              <a:rPr lang="en-US" sz="2000" dirty="0"/>
              <a:t> &lt;value/</a:t>
            </a:r>
            <a:r>
              <a:rPr lang="en-US" sz="2000" dirty="0" err="1"/>
              <a:t>exp</a:t>
            </a:r>
            <a:r>
              <a:rPr lang="en-US" sz="2000" dirty="0"/>
              <a:t>&gt; AND &lt;value/</a:t>
            </a:r>
            <a:r>
              <a:rPr lang="en-US" sz="2000" dirty="0" err="1"/>
              <a:t>exp</a:t>
            </a:r>
            <a:r>
              <a:rPr lang="en-US" sz="2000" dirty="0"/>
              <a:t>&gt;  </a:t>
            </a:r>
          </a:p>
          <a:p>
            <a:pPr lvl="1">
              <a:buFont typeface="Arial Narrow" pitchFamily="34" charset="0"/>
              <a:buNone/>
            </a:pPr>
            <a:r>
              <a:rPr lang="en-US" sz="2000" b="1" dirty="0">
                <a:solidFill>
                  <a:srgbClr val="0033CC"/>
                </a:solidFill>
              </a:rPr>
              <a:t>     WHERE age BETWEEN 30 and 40</a:t>
            </a:r>
          </a:p>
          <a:p>
            <a:pPr lvl="1">
              <a:buFont typeface="Arial Narrow" pitchFamily="34" charset="0"/>
              <a:buNone/>
            </a:pPr>
            <a:endParaRPr lang="en-AU" sz="2000" b="1" dirty="0">
              <a:solidFill>
                <a:srgbClr val="0033CC"/>
              </a:solidFill>
            </a:endParaRPr>
          </a:p>
          <a:p>
            <a:pPr lvl="1">
              <a:buFont typeface="Arial Narrow" pitchFamily="34" charset="0"/>
              <a:buNone/>
            </a:pPr>
            <a:r>
              <a:rPr lang="en-AU" sz="2000" b="1" dirty="0">
                <a:solidFill>
                  <a:srgbClr val="0033CC"/>
                </a:solidFill>
              </a:rPr>
              <a:t>     </a:t>
            </a:r>
            <a:r>
              <a:rPr lang="en-AU" sz="2000" b="1" dirty="0">
                <a:solidFill>
                  <a:srgbClr val="5F5F5F"/>
                </a:solidFill>
              </a:rPr>
              <a:t>Equivalent of WHERE age &gt;= 30</a:t>
            </a:r>
          </a:p>
          <a:p>
            <a:pPr lvl="1">
              <a:buFont typeface="Arial Narrow" pitchFamily="34" charset="0"/>
              <a:buNone/>
            </a:pPr>
            <a:r>
              <a:rPr lang="en-AU" sz="2000" b="1" dirty="0">
                <a:solidFill>
                  <a:srgbClr val="5F5F5F"/>
                </a:solidFill>
              </a:rPr>
              <a:t>                             AND      age &lt;= 40</a:t>
            </a:r>
          </a:p>
          <a:p>
            <a:pPr lvl="1">
              <a:buFont typeface="Arial Narrow" pitchFamily="34" charset="0"/>
              <a:buNone/>
            </a:pPr>
            <a:endParaRPr lang="en-AU" sz="2000" b="1" dirty="0">
              <a:solidFill>
                <a:srgbClr val="5F5F5F"/>
              </a:solidFill>
            </a:endParaRPr>
          </a:p>
          <a:p>
            <a:pPr marL="342900" lvl="1" indent="0">
              <a:buNone/>
            </a:pPr>
            <a:r>
              <a:rPr lang="en-A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AU" sz="2000" dirty="0">
                <a:solidFill>
                  <a:schemeClr val="tx2"/>
                </a:solidFill>
              </a:rPr>
              <a:t>The range in </a:t>
            </a:r>
            <a:r>
              <a:rPr lang="en-AU" sz="2000" b="1" dirty="0">
                <a:solidFill>
                  <a:schemeClr val="tx2"/>
                </a:solidFill>
              </a:rPr>
              <a:t>inclusive</a:t>
            </a:r>
            <a:r>
              <a:rPr lang="en-AU" sz="2000" dirty="0">
                <a:solidFill>
                  <a:schemeClr val="tx2"/>
                </a:solidFill>
              </a:rPr>
              <a:t> (includes 30 and 40)</a:t>
            </a:r>
          </a:p>
          <a:p>
            <a:pPr lvl="1"/>
            <a:endParaRPr lang="en-AU" sz="2000" dirty="0">
              <a:solidFill>
                <a:schemeClr val="tx2"/>
              </a:solidFill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tx2"/>
                </a:solidFill>
              </a:rPr>
              <a:t>Not widely used</a:t>
            </a:r>
            <a:r>
              <a:rPr lang="en-AU" sz="2000" dirty="0">
                <a:solidFill>
                  <a:schemeClr val="tx2"/>
                </a:solidFill>
              </a:rPr>
              <a:t>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tx2"/>
                </a:solidFill>
              </a:rPr>
              <a:t>Doesn't have equivalent command in most other programming languages.</a:t>
            </a:r>
          </a:p>
          <a:p>
            <a:pPr marL="1047750" lvl="2" indent="0">
              <a:buNone/>
            </a:pPr>
            <a:endParaRPr lang="en-AU" sz="2000" b="1" dirty="0">
              <a:solidFill>
                <a:schemeClr val="tx2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sz="2000" b="1" dirty="0">
              <a:solidFill>
                <a:schemeClr val="tx2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sz="2000" b="1" dirty="0">
              <a:solidFill>
                <a:srgbClr val="0033CC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sz="2000" b="1" dirty="0">
              <a:solidFill>
                <a:srgbClr val="0033CC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sz="2000" b="1" dirty="0">
              <a:solidFill>
                <a:srgbClr val="0033CC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4289526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4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SQL: </a:t>
            </a:r>
            <a:r>
              <a:rPr lang="en-US" dirty="0"/>
              <a:t>Like Operator </a:t>
            </a:r>
            <a:endParaRPr lang="en-AU" dirty="0"/>
          </a:p>
        </p:txBody>
      </p:sp>
      <p:sp>
        <p:nvSpPr>
          <p:cNvPr id="32772" name="Rectangle 3"/>
          <p:cNvSpPr>
            <a:spLocks noGrp="1" noChangeArrowheads="1"/>
          </p:cNvSpPr>
          <p:nvPr>
            <p:ph idx="1"/>
          </p:nvPr>
        </p:nvSpPr>
        <p:spPr>
          <a:xfrm>
            <a:off x="1703389" y="836614"/>
            <a:ext cx="8785225" cy="5176837"/>
          </a:xfrm>
        </p:spPr>
        <p:txBody>
          <a:bodyPr>
            <a:normAutofit/>
          </a:bodyPr>
          <a:lstStyle/>
          <a:p>
            <a:pPr lvl="1">
              <a:buFont typeface="Arial Narrow" pitchFamily="34" charset="0"/>
              <a:buNone/>
            </a:pPr>
            <a:r>
              <a:rPr lang="en-AU" sz="2000" dirty="0">
                <a:solidFill>
                  <a:schemeClr val="tx2"/>
                </a:solidFill>
              </a:rPr>
              <a:t>The like operator allows you to have </a:t>
            </a:r>
            <a:r>
              <a:rPr lang="en-AU" sz="2000" b="1" dirty="0">
                <a:solidFill>
                  <a:schemeClr val="tx2"/>
                </a:solidFill>
              </a:rPr>
              <a:t>partial matches</a:t>
            </a:r>
            <a:r>
              <a:rPr lang="en-AU" sz="2000" dirty="0">
                <a:solidFill>
                  <a:schemeClr val="tx2"/>
                </a:solidFill>
              </a:rPr>
              <a:t> for text values</a:t>
            </a:r>
          </a:p>
          <a:p>
            <a:pPr lvl="1">
              <a:buFont typeface="Arial Narrow" pitchFamily="34" charset="0"/>
              <a:buNone/>
            </a:pPr>
            <a:endParaRPr lang="en-AU" sz="2000" dirty="0">
              <a:solidFill>
                <a:schemeClr val="tx2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tx2"/>
                </a:solidFill>
              </a:rPr>
              <a:t>You must use the </a:t>
            </a:r>
            <a:r>
              <a:rPr lang="en-AU" sz="2000" b="1" dirty="0">
                <a:solidFill>
                  <a:schemeClr val="tx2"/>
                </a:solidFill>
              </a:rPr>
              <a:t>Like</a:t>
            </a:r>
            <a:r>
              <a:rPr lang="en-AU" sz="2000" dirty="0">
                <a:solidFill>
                  <a:schemeClr val="tx2"/>
                </a:solidFill>
              </a:rPr>
              <a:t> keyword	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tx2"/>
                </a:solidFill>
              </a:rPr>
              <a:t>Do </a:t>
            </a:r>
            <a:r>
              <a:rPr lang="en-AU" sz="2000" b="1" u="sng" dirty="0">
                <a:solidFill>
                  <a:schemeClr val="tx2"/>
                </a:solidFill>
              </a:rPr>
              <a:t>not</a:t>
            </a:r>
            <a:r>
              <a:rPr lang="en-AU" sz="2000" dirty="0">
                <a:solidFill>
                  <a:schemeClr val="tx2"/>
                </a:solidFill>
              </a:rPr>
              <a:t> use the = operator.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tx2"/>
                </a:solidFill>
              </a:rPr>
              <a:t> The % can substitute for 1 or more character(s)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tx2"/>
                </a:solidFill>
              </a:rPr>
              <a:t>You can use more than one % symbol in your expression</a:t>
            </a:r>
          </a:p>
          <a:p>
            <a:pPr lvl="1">
              <a:buFont typeface="Arial Narrow" pitchFamily="34" charset="0"/>
              <a:buNone/>
            </a:pPr>
            <a:endParaRPr lang="en-US" sz="1200" b="1" dirty="0">
              <a:solidFill>
                <a:schemeClr val="tx2"/>
              </a:solidFill>
            </a:endParaRPr>
          </a:p>
          <a:p>
            <a:pPr lvl="1">
              <a:buFont typeface="Arial Narrow" pitchFamily="34" charset="0"/>
              <a:buNone/>
            </a:pPr>
            <a:r>
              <a:rPr lang="en-AU" sz="2000" b="1" dirty="0">
                <a:solidFill>
                  <a:schemeClr val="tx2"/>
                </a:solidFill>
              </a:rPr>
              <a:t>[NOT] &lt; </a:t>
            </a:r>
            <a:r>
              <a:rPr lang="en-US" sz="2000" b="1" dirty="0">
                <a:solidFill>
                  <a:schemeClr val="tx2"/>
                </a:solidFill>
              </a:rPr>
              <a:t>column-name</a:t>
            </a:r>
            <a:r>
              <a:rPr lang="en-AU" sz="2000" b="1" dirty="0">
                <a:solidFill>
                  <a:schemeClr val="tx2"/>
                </a:solidFill>
              </a:rPr>
              <a:t> &gt; LIKE &lt;string with % wildcards&gt;</a:t>
            </a:r>
          </a:p>
          <a:p>
            <a:pPr lvl="1">
              <a:buFont typeface="Arial Narrow" pitchFamily="34" charset="0"/>
              <a:buNone/>
            </a:pPr>
            <a:r>
              <a:rPr lang="en-AU" sz="1100" dirty="0">
                <a:solidFill>
                  <a:schemeClr val="tx2"/>
                </a:solidFill>
              </a:rPr>
              <a:t>   </a:t>
            </a:r>
          </a:p>
          <a:p>
            <a:pPr lvl="1">
              <a:buFont typeface="Arial Narrow" pitchFamily="34" charset="0"/>
              <a:buNone/>
            </a:pPr>
            <a:r>
              <a:rPr lang="en-US" sz="2000" b="1" dirty="0">
                <a:solidFill>
                  <a:schemeClr val="tx2"/>
                </a:solidFill>
              </a:rPr>
              <a:t>     … WHERE UPPER(name) LIKE 'J%'</a:t>
            </a:r>
          </a:p>
          <a:p>
            <a:pPr lvl="1">
              <a:buFont typeface="Arial Narrow" pitchFamily="34" charset="0"/>
              <a:buNone/>
            </a:pPr>
            <a:endParaRPr lang="en-AU" sz="2000" b="1" dirty="0">
              <a:solidFill>
                <a:schemeClr val="tx2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sz="2000" b="1" dirty="0">
              <a:solidFill>
                <a:schemeClr val="tx2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sz="2000" b="1" dirty="0">
              <a:solidFill>
                <a:schemeClr val="tx2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sz="2000" dirty="0">
              <a:solidFill>
                <a:schemeClr val="tx2"/>
              </a:solidFill>
            </a:endParaRPr>
          </a:p>
        </p:txBody>
      </p:sp>
      <p:graphicFrame>
        <p:nvGraphicFramePr>
          <p:cNvPr id="32995" name="Group 227"/>
          <p:cNvGraphicFramePr>
            <a:graphicFrameLocks noGrp="1"/>
          </p:cNvGraphicFramePr>
          <p:nvPr/>
        </p:nvGraphicFramePr>
        <p:xfrm>
          <a:off x="2263184" y="4286250"/>
          <a:ext cx="7272338" cy="2133600"/>
        </p:xfrm>
        <a:graphic>
          <a:graphicData uri="http://schemas.openxmlformats.org/drawingml/2006/table">
            <a:tbl>
              <a:tblPr/>
              <a:tblGrid>
                <a:gridCol w="1770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7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5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+mn-lt"/>
                          <a:cs typeface="Arial" charset="0"/>
                        </a:rPr>
                        <a:t>'J%';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+mn-lt"/>
                          <a:cs typeface="Arial" charset="0"/>
                        </a:rPr>
                        <a:t>'%J'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+mn-lt"/>
                          <a:cs typeface="Arial" charset="0"/>
                        </a:rPr>
                        <a:t>'%J%'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+mn-lt"/>
                          <a:cs typeface="Arial" charset="0"/>
                        </a:rPr>
                        <a:t>'%JO%'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+mn-lt"/>
                          <a:cs typeface="Arial" charset="0"/>
                        </a:rPr>
                        <a:t>'%JON%'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+mn-lt"/>
                          <a:cs typeface="Arial" charset="0"/>
                        </a:rPr>
                        <a:t>'%J%-%'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Johnson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Wingdings" pitchFamily="2" charset="2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Jonas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Jones-Taylor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Taylor-Jones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Major-Timms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en-AU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Pankaj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itchFamily="2" charset="2"/>
                        </a:rPr>
                        <a:t>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Wingdings" pitchFamily="2" charset="2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Wingdings" pitchFamily="2" charset="2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3322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761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199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SQL:</a:t>
            </a:r>
            <a:r>
              <a:rPr lang="en-US" dirty="0">
                <a:solidFill>
                  <a:srgbClr val="D1161E"/>
                </a:solidFill>
                <a:latin typeface="Calibri" panose="020F0502020204030204" pitchFamily="34" charset="0"/>
              </a:rPr>
              <a:t>Special Operators </a:t>
            </a:r>
            <a:endParaRPr lang="en-AU" dirty="0">
              <a:solidFill>
                <a:srgbClr val="D1161E"/>
              </a:solidFill>
              <a:latin typeface="Calibri" panose="020F0502020204030204" pitchFamily="34" charset="0"/>
            </a:endParaRPr>
          </a:p>
        </p:txBody>
      </p:sp>
      <p:sp>
        <p:nvSpPr>
          <p:cNvPr id="1761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836614"/>
            <a:ext cx="9144000" cy="5936327"/>
          </a:xfrm>
        </p:spPr>
        <p:txBody>
          <a:bodyPr/>
          <a:lstStyle/>
          <a:p>
            <a:pPr marL="342900" lvl="1" indent="0">
              <a:buNone/>
            </a:pPr>
            <a:r>
              <a:rPr lang="en-AU" dirty="0">
                <a:solidFill>
                  <a:schemeClr val="tx2"/>
                </a:solidFill>
              </a:rPr>
              <a:t>The IN operator allows you to specify a </a:t>
            </a:r>
            <a:r>
              <a:rPr lang="en-AU" b="1" dirty="0">
                <a:solidFill>
                  <a:schemeClr val="tx2"/>
                </a:solidFill>
              </a:rPr>
              <a:t>list of values </a:t>
            </a:r>
            <a:r>
              <a:rPr lang="en-AU" dirty="0">
                <a:solidFill>
                  <a:schemeClr val="tx2"/>
                </a:solidFill>
              </a:rPr>
              <a:t>that </a:t>
            </a:r>
            <a:br>
              <a:rPr lang="en-AU" dirty="0">
                <a:solidFill>
                  <a:schemeClr val="tx2"/>
                </a:solidFill>
              </a:rPr>
            </a:br>
            <a:r>
              <a:rPr lang="en-AU" dirty="0">
                <a:solidFill>
                  <a:schemeClr val="tx2"/>
                </a:solidFill>
              </a:rPr>
              <a:t>may match values in the database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2"/>
                </a:solidFill>
              </a:rPr>
              <a:t>Each value is separated by a comma</a:t>
            </a:r>
          </a:p>
          <a:p>
            <a:pPr lvl="1">
              <a:buFont typeface="Arial Narrow" pitchFamily="34" charset="0"/>
              <a:buNone/>
            </a:pPr>
            <a:endParaRPr lang="en-AU" sz="900" dirty="0"/>
          </a:p>
          <a:p>
            <a:pPr lvl="1">
              <a:buFont typeface="Arial Narrow" pitchFamily="34" charset="0"/>
              <a:buNone/>
            </a:pPr>
            <a:endParaRPr lang="en-AU" sz="900" dirty="0"/>
          </a:p>
          <a:p>
            <a:pPr lvl="1">
              <a:buFont typeface="Arial Narrow" pitchFamily="34" charset="0"/>
              <a:buNone/>
            </a:pPr>
            <a:r>
              <a:rPr lang="en-AU" dirty="0">
                <a:solidFill>
                  <a:srgbClr val="009900"/>
                </a:solidFill>
              </a:rPr>
              <a:t>[NOT] &lt; </a:t>
            </a:r>
            <a:r>
              <a:rPr lang="en-US" dirty="0">
                <a:solidFill>
                  <a:srgbClr val="009900"/>
                </a:solidFill>
              </a:rPr>
              <a:t>column-name</a:t>
            </a:r>
            <a:r>
              <a:rPr lang="en-AU" dirty="0">
                <a:solidFill>
                  <a:srgbClr val="009900"/>
                </a:solidFill>
              </a:rPr>
              <a:t> &gt; </a:t>
            </a:r>
            <a:r>
              <a:rPr lang="en-AU" b="1" dirty="0">
                <a:solidFill>
                  <a:srgbClr val="009900"/>
                </a:solidFill>
              </a:rPr>
              <a:t>IN</a:t>
            </a:r>
            <a:r>
              <a:rPr lang="en-AU" dirty="0">
                <a:solidFill>
                  <a:srgbClr val="009900"/>
                </a:solidFill>
              </a:rPr>
              <a:t> (&lt;expression1&gt; [,…] )</a:t>
            </a:r>
          </a:p>
          <a:p>
            <a:pPr lvl="1">
              <a:buFont typeface="Arial Narrow" pitchFamily="34" charset="0"/>
              <a:buNone/>
            </a:pPr>
            <a:endParaRPr lang="en-AU" dirty="0"/>
          </a:p>
          <a:p>
            <a:pPr lvl="1">
              <a:buFont typeface="Arial Narrow" pitchFamily="34" charset="0"/>
              <a:buNone/>
            </a:pPr>
            <a:r>
              <a:rPr lang="en-US" b="1" dirty="0">
                <a:solidFill>
                  <a:srgbClr val="0033CC"/>
                </a:solidFill>
              </a:rPr>
              <a:t>     WHERE upper(name) IN ('JONES', 'BROWN', 'LEE', '</a:t>
            </a:r>
            <a:r>
              <a:rPr lang="en-US" b="1" dirty="0" err="1">
                <a:solidFill>
                  <a:srgbClr val="0033CC"/>
                </a:solidFill>
              </a:rPr>
              <a:t>SOO</a:t>
            </a:r>
            <a:r>
              <a:rPr lang="en-US" b="1" dirty="0">
                <a:solidFill>
                  <a:srgbClr val="0033CC"/>
                </a:solidFill>
              </a:rPr>
              <a:t>')</a:t>
            </a:r>
          </a:p>
          <a:p>
            <a:pPr lvl="1">
              <a:buFont typeface="Arial Narrow" pitchFamily="34" charset="0"/>
              <a:buNone/>
            </a:pPr>
            <a:r>
              <a:rPr lang="en-AU" sz="2000" i="1" dirty="0"/>
              <a:t>   same as WHERE upper(name) = 'JONES'   OR   upper(name) = 'BROWN'   OR  </a:t>
            </a:r>
            <a:r>
              <a:rPr lang="en-AU" sz="1400" i="1" dirty="0"/>
              <a:t>. . .</a:t>
            </a:r>
            <a:endParaRPr lang="en-US" b="1" dirty="0">
              <a:solidFill>
                <a:srgbClr val="0033CC"/>
              </a:solidFill>
            </a:endParaRPr>
          </a:p>
          <a:p>
            <a:pPr lvl="1">
              <a:buFont typeface="Arial Narrow" pitchFamily="34" charset="0"/>
              <a:buNone/>
            </a:pPr>
            <a:r>
              <a:rPr lang="en-US" b="1" dirty="0">
                <a:solidFill>
                  <a:srgbClr val="0033CC"/>
                </a:solidFill>
              </a:rPr>
              <a:t>     </a:t>
            </a:r>
          </a:p>
          <a:p>
            <a:pPr lvl="1">
              <a:buFont typeface="Arial Narrow" pitchFamily="34" charset="0"/>
              <a:buNone/>
            </a:pPr>
            <a:r>
              <a:rPr lang="en-US" b="1" dirty="0">
                <a:solidFill>
                  <a:srgbClr val="0033CC"/>
                </a:solidFill>
              </a:rPr>
              <a:t>     WHERE age IN (24, 26, 28, 30)</a:t>
            </a:r>
          </a:p>
          <a:p>
            <a:pPr lvl="1">
              <a:buFont typeface="Arial Narrow" pitchFamily="34" charset="0"/>
              <a:buNone/>
            </a:pPr>
            <a:r>
              <a:rPr lang="en-AU" sz="2000" dirty="0"/>
              <a:t>   </a:t>
            </a:r>
            <a:r>
              <a:rPr lang="en-AU" sz="2000" i="1" dirty="0"/>
              <a:t>same as WHERE age = 24 OR age = 26 OR age = 28 OR age = 30</a:t>
            </a:r>
          </a:p>
          <a:p>
            <a:pPr lvl="1">
              <a:buFont typeface="Arial Narrow" pitchFamily="34" charset="0"/>
              <a:buNone/>
            </a:pPr>
            <a:endParaRPr lang="en-AU" sz="2000" i="1" dirty="0"/>
          </a:p>
          <a:p>
            <a:pPr lvl="1">
              <a:buFont typeface="Arial Narrow" pitchFamily="34" charset="0"/>
              <a:buNone/>
            </a:pPr>
            <a:endParaRPr lang="en-AU" sz="2000" i="1" dirty="0"/>
          </a:p>
          <a:p>
            <a:pPr lvl="1">
              <a:buFont typeface="Arial Narrow" pitchFamily="34" charset="0"/>
              <a:buNone/>
            </a:pPr>
            <a:endParaRPr lang="en-AU" sz="2000" i="1" dirty="0"/>
          </a:p>
          <a:p>
            <a:pPr lvl="1">
              <a:buFont typeface="Arial Narrow" pitchFamily="34" charset="0"/>
              <a:buNone/>
            </a:pPr>
            <a:endParaRPr lang="en-US" sz="2000" i="1" dirty="0"/>
          </a:p>
          <a:p>
            <a:pPr lvl="1">
              <a:buFont typeface="Arial Narrow" pitchFamily="34" charset="0"/>
              <a:buNone/>
            </a:pPr>
            <a:endParaRPr lang="en-AU" sz="1000" dirty="0"/>
          </a:p>
        </p:txBody>
      </p:sp>
    </p:spTree>
    <p:extLst>
      <p:ext uri="{BB962C8B-B14F-4D97-AF65-F5344CB8AC3E}">
        <p14:creationId xmlns:p14="http://schemas.microsoft.com/office/powerpoint/2010/main" val="4108779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ChangeArrowheads="1"/>
          </p:cNvSpPr>
          <p:nvPr/>
        </p:nvSpPr>
        <p:spPr bwMode="auto">
          <a:xfrm>
            <a:off x="8934450" y="5867972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761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199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SQL:</a:t>
            </a:r>
            <a:r>
              <a:rPr lang="en-US" dirty="0">
                <a:solidFill>
                  <a:srgbClr val="D1161E"/>
                </a:solidFill>
                <a:latin typeface="Calibri" panose="020F0502020204030204" pitchFamily="34" charset="0"/>
              </a:rPr>
              <a:t>Special Operators </a:t>
            </a:r>
            <a:endParaRPr lang="en-AU" dirty="0">
              <a:solidFill>
                <a:srgbClr val="D1161E"/>
              </a:solidFill>
              <a:latin typeface="Calibri" panose="020F0502020204030204" pitchFamily="34" charset="0"/>
            </a:endParaRPr>
          </a:p>
        </p:txBody>
      </p:sp>
      <p:sp>
        <p:nvSpPr>
          <p:cNvPr id="1761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836613"/>
            <a:ext cx="8496300" cy="5744940"/>
          </a:xfrm>
        </p:spPr>
        <p:txBody>
          <a:bodyPr>
            <a:normAutofit/>
          </a:bodyPr>
          <a:lstStyle/>
          <a:p>
            <a:pPr marL="342900" lvl="1" indent="0">
              <a:buNone/>
            </a:pPr>
            <a:r>
              <a:rPr lang="en-AU" sz="2000" dirty="0">
                <a:solidFill>
                  <a:schemeClr val="tx2"/>
                </a:solidFill>
              </a:rPr>
              <a:t>The </a:t>
            </a:r>
            <a:r>
              <a:rPr lang="en-AU" sz="2000" b="1" dirty="0">
                <a:solidFill>
                  <a:schemeClr val="tx2"/>
                </a:solidFill>
              </a:rPr>
              <a:t>IS NULL </a:t>
            </a:r>
            <a:r>
              <a:rPr lang="en-AU" sz="2000" dirty="0">
                <a:solidFill>
                  <a:schemeClr val="tx2"/>
                </a:solidFill>
              </a:rPr>
              <a:t>operator allows you search for rows that have a value that contains a NULL value </a:t>
            </a:r>
          </a:p>
          <a:p>
            <a:pPr lvl="1">
              <a:buFont typeface="Arial Narrow" pitchFamily="34" charset="0"/>
              <a:buNone/>
            </a:pPr>
            <a:endParaRPr lang="en-AU" sz="2000" dirty="0"/>
          </a:p>
          <a:p>
            <a:pPr lvl="1">
              <a:buFont typeface="Arial Narrow" pitchFamily="34" charset="0"/>
              <a:buNone/>
            </a:pPr>
            <a:r>
              <a:rPr lang="en-AU" sz="2000" dirty="0">
                <a:solidFill>
                  <a:srgbClr val="009900"/>
                </a:solidFill>
              </a:rPr>
              <a:t>[NOT] &lt; </a:t>
            </a:r>
            <a:r>
              <a:rPr lang="en-US" sz="2000" dirty="0">
                <a:solidFill>
                  <a:srgbClr val="009900"/>
                </a:solidFill>
              </a:rPr>
              <a:t>column-name</a:t>
            </a:r>
            <a:r>
              <a:rPr lang="en-AU" sz="2000" dirty="0">
                <a:solidFill>
                  <a:srgbClr val="009900"/>
                </a:solidFill>
              </a:rPr>
              <a:t> &gt; </a:t>
            </a:r>
            <a:r>
              <a:rPr lang="en-AU" sz="2000" b="1" dirty="0">
                <a:solidFill>
                  <a:srgbClr val="009900"/>
                </a:solidFill>
              </a:rPr>
              <a:t>IS NULL  /  IS NOT NULL</a:t>
            </a:r>
            <a:r>
              <a:rPr lang="en-AU" sz="2000" dirty="0">
                <a:solidFill>
                  <a:srgbClr val="009900"/>
                </a:solidFill>
              </a:rPr>
              <a:t> </a:t>
            </a:r>
          </a:p>
          <a:p>
            <a:pPr lvl="1">
              <a:buFont typeface="Arial Narrow" pitchFamily="34" charset="0"/>
              <a:buNone/>
            </a:pPr>
            <a:endParaRPr lang="en-AU" sz="2000" dirty="0">
              <a:solidFill>
                <a:srgbClr val="009900"/>
              </a:solidFill>
            </a:endParaRPr>
          </a:p>
          <a:p>
            <a:pPr lvl="1">
              <a:buFont typeface="Arial Narrow" pitchFamily="34" charset="0"/>
              <a:buNone/>
            </a:pPr>
            <a:r>
              <a:rPr lang="en-US" sz="2000" b="1" dirty="0">
                <a:solidFill>
                  <a:srgbClr val="0033CC"/>
                </a:solidFill>
              </a:rPr>
              <a:t>     WHERE height IS NULL </a:t>
            </a:r>
          </a:p>
          <a:p>
            <a:pPr lvl="1">
              <a:buFont typeface="Arial Narrow" pitchFamily="34" charset="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lvl="1">
              <a:buFont typeface="Arial Narrow" pitchFamily="34" charset="0"/>
              <a:buNone/>
            </a:pPr>
            <a:r>
              <a:rPr lang="en-US" sz="2000" b="1" dirty="0">
                <a:solidFill>
                  <a:srgbClr val="0033CC"/>
                </a:solidFill>
              </a:rPr>
              <a:t>     WHERE name IS NOT NULL</a:t>
            </a:r>
          </a:p>
          <a:p>
            <a:pPr lvl="1">
              <a:buFont typeface="Arial Narrow" pitchFamily="34" charset="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tx2"/>
                </a:solidFill>
              </a:rPr>
              <a:t>Do NOT use  the equals sign      	where height = Null</a:t>
            </a:r>
            <a:r>
              <a:rPr lang="en-A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en-AU" sz="3200" dirty="0">
                <a:solidFill>
                  <a:srgbClr val="FF0000"/>
                </a:solidFill>
                <a:latin typeface="Wingdings 2" pitchFamily="18" charset="2"/>
                <a:sym typeface="Wingdings 2"/>
              </a:rPr>
              <a:t></a:t>
            </a:r>
            <a:r>
              <a:rPr lang="en-A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tx2"/>
                </a:solidFill>
              </a:rPr>
              <a:t>Do NOT use  quotes      				where height Is </a:t>
            </a:r>
            <a:r>
              <a:rPr lang="en-AU" sz="2000" b="1" dirty="0">
                <a:solidFill>
                  <a:schemeClr val="tx2"/>
                </a:solidFill>
              </a:rPr>
              <a:t>'</a:t>
            </a:r>
            <a:r>
              <a:rPr lang="en-AU" sz="2000" dirty="0">
                <a:solidFill>
                  <a:schemeClr val="tx2"/>
                </a:solidFill>
              </a:rPr>
              <a:t>Null</a:t>
            </a:r>
            <a:r>
              <a:rPr lang="en-AU" sz="2000" b="1" dirty="0">
                <a:solidFill>
                  <a:schemeClr val="tx2"/>
                </a:solidFill>
              </a:rPr>
              <a:t>'</a:t>
            </a:r>
            <a:r>
              <a:rPr lang="en-A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</a:t>
            </a:r>
            <a:r>
              <a:rPr lang="en-AU" sz="3200" dirty="0">
                <a:solidFill>
                  <a:srgbClr val="FF0000"/>
                </a:solidFill>
                <a:latin typeface="Wingdings 2" pitchFamily="18" charset="2"/>
                <a:sym typeface="Wingdings 2"/>
              </a:rPr>
              <a:t></a:t>
            </a:r>
            <a:r>
              <a:rPr lang="en-A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 lvl="1">
              <a:buFont typeface="Arial Narrow" pitchFamily="34" charset="0"/>
              <a:buNone/>
            </a:pPr>
            <a:endParaRPr lang="en-AU" sz="2000" b="1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819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ChangeArrowheads="1"/>
          </p:cNvSpPr>
          <p:nvPr/>
        </p:nvSpPr>
        <p:spPr bwMode="auto">
          <a:xfrm>
            <a:off x="8934450" y="5528930"/>
            <a:ext cx="1733550" cy="1295038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7817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199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SQL:</a:t>
            </a:r>
            <a:r>
              <a:rPr lang="en-US" dirty="0">
                <a:solidFill>
                  <a:srgbClr val="D1161E"/>
                </a:solidFill>
                <a:latin typeface="Calibri" panose="020F0502020204030204" pitchFamily="34" charset="0"/>
              </a:rPr>
              <a:t> Distinct / Unique keyword </a:t>
            </a:r>
            <a:endParaRPr lang="en-AU" dirty="0">
              <a:solidFill>
                <a:srgbClr val="D1161E"/>
              </a:solidFill>
              <a:latin typeface="Calibri" panose="020F0502020204030204" pitchFamily="34" charset="0"/>
            </a:endParaRPr>
          </a:p>
        </p:txBody>
      </p:sp>
      <p:sp>
        <p:nvSpPr>
          <p:cNvPr id="17818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03387" y="836614"/>
            <a:ext cx="8785225" cy="5939283"/>
          </a:xfrm>
        </p:spPr>
        <p:txBody>
          <a:bodyPr/>
          <a:lstStyle/>
          <a:p>
            <a:pPr lvl="1">
              <a:buFont typeface="Arial Narrow" pitchFamily="34" charset="0"/>
              <a:buNone/>
            </a:pPr>
            <a:r>
              <a:rPr lang="en-AU" b="1" dirty="0">
                <a:solidFill>
                  <a:srgbClr val="0033CC"/>
                </a:solidFill>
              </a:rPr>
              <a:t>Student Table contents:</a:t>
            </a:r>
          </a:p>
          <a:p>
            <a:pPr lvl="1">
              <a:buFont typeface="Arial Narrow" pitchFamily="34" charset="0"/>
              <a:buNone/>
            </a:pPr>
            <a:endParaRPr lang="en-AU" b="1" dirty="0">
              <a:solidFill>
                <a:srgbClr val="0033CC"/>
              </a:solidFill>
            </a:endParaRPr>
          </a:p>
          <a:p>
            <a:pPr lvl="1">
              <a:buFont typeface="Arial Narrow" pitchFamily="34" charset="0"/>
              <a:buNone/>
            </a:pPr>
            <a:r>
              <a:rPr lang="en-AU" b="1" dirty="0" err="1">
                <a:solidFill>
                  <a:srgbClr val="0033CC"/>
                </a:solidFill>
              </a:rPr>
              <a:t>firstname</a:t>
            </a:r>
            <a:r>
              <a:rPr lang="en-AU" b="1" dirty="0">
                <a:solidFill>
                  <a:srgbClr val="0033CC"/>
                </a:solidFill>
              </a:rPr>
              <a:t>	country</a:t>
            </a:r>
          </a:p>
          <a:p>
            <a:pPr lvl="1">
              <a:buFont typeface="Arial Narrow" pitchFamily="34" charset="0"/>
              <a:buNone/>
            </a:pPr>
            <a:r>
              <a:rPr lang="en-AU" dirty="0">
                <a:solidFill>
                  <a:srgbClr val="0033CC"/>
                </a:solidFill>
              </a:rPr>
              <a:t>Dave			Australia</a:t>
            </a:r>
          </a:p>
          <a:p>
            <a:pPr lvl="1">
              <a:buFont typeface="Arial Narrow" pitchFamily="34" charset="0"/>
              <a:buNone/>
            </a:pPr>
            <a:r>
              <a:rPr lang="en-AU" dirty="0">
                <a:solidFill>
                  <a:srgbClr val="0033CC"/>
                </a:solidFill>
              </a:rPr>
              <a:t>Peter			England</a:t>
            </a:r>
          </a:p>
          <a:p>
            <a:pPr lvl="1">
              <a:buFont typeface="Arial Narrow" pitchFamily="34" charset="0"/>
              <a:buNone/>
            </a:pPr>
            <a:r>
              <a:rPr lang="en-AU" dirty="0">
                <a:solidFill>
                  <a:srgbClr val="0033CC"/>
                </a:solidFill>
              </a:rPr>
              <a:t>Daniel		USA</a:t>
            </a:r>
          </a:p>
          <a:p>
            <a:pPr lvl="1">
              <a:buFont typeface="Arial Narrow" pitchFamily="34" charset="0"/>
              <a:buNone/>
            </a:pPr>
            <a:r>
              <a:rPr lang="en-AU" dirty="0">
                <a:solidFill>
                  <a:srgbClr val="0033CC"/>
                </a:solidFill>
              </a:rPr>
              <a:t>Sue			China</a:t>
            </a:r>
          </a:p>
          <a:p>
            <a:pPr lvl="1">
              <a:buFont typeface="Arial Narrow" pitchFamily="34" charset="0"/>
              <a:buNone/>
            </a:pPr>
            <a:r>
              <a:rPr lang="en-AU" dirty="0">
                <a:solidFill>
                  <a:srgbClr val="0033CC"/>
                </a:solidFill>
              </a:rPr>
              <a:t>Dave			Australia</a:t>
            </a:r>
          </a:p>
          <a:p>
            <a:pPr lvl="1">
              <a:buFont typeface="Arial Narrow" pitchFamily="34" charset="0"/>
              <a:buNone/>
            </a:pPr>
            <a:r>
              <a:rPr lang="en-AU" dirty="0">
                <a:solidFill>
                  <a:srgbClr val="0033CC"/>
                </a:solidFill>
              </a:rPr>
              <a:t>Raj				India</a:t>
            </a:r>
          </a:p>
          <a:p>
            <a:pPr lvl="1">
              <a:buFont typeface="Arial Narrow" pitchFamily="34" charset="0"/>
              <a:buNone/>
            </a:pPr>
            <a:r>
              <a:rPr lang="en-AU" dirty="0">
                <a:solidFill>
                  <a:srgbClr val="0033CC"/>
                </a:solidFill>
              </a:rPr>
              <a:t>Jim			Australia</a:t>
            </a:r>
          </a:p>
          <a:p>
            <a:pPr lvl="1">
              <a:buFont typeface="Arial Narrow" pitchFamily="34" charset="0"/>
              <a:buNone/>
            </a:pPr>
            <a:r>
              <a:rPr lang="en-AU" dirty="0">
                <a:solidFill>
                  <a:srgbClr val="0033CC"/>
                </a:solidFill>
              </a:rPr>
              <a:t>Helen			India</a:t>
            </a:r>
          </a:p>
          <a:p>
            <a:pPr lvl="1">
              <a:buFont typeface="Arial Narrow" pitchFamily="34" charset="0"/>
              <a:buNone/>
            </a:pPr>
            <a:r>
              <a:rPr lang="en-AU" dirty="0">
                <a:solidFill>
                  <a:srgbClr val="0033CC"/>
                </a:solidFill>
              </a:rPr>
              <a:t>Tina			China</a:t>
            </a:r>
          </a:p>
          <a:p>
            <a:pPr lvl="1">
              <a:buFont typeface="Arial Narrow" pitchFamily="34" charset="0"/>
              <a:buNone/>
            </a:pPr>
            <a:r>
              <a:rPr lang="en-AU" dirty="0">
                <a:solidFill>
                  <a:srgbClr val="0033CC"/>
                </a:solidFill>
              </a:rPr>
              <a:t>Sue			China</a:t>
            </a:r>
          </a:p>
          <a:p>
            <a:pPr lvl="1">
              <a:buFont typeface="Arial Narrow" pitchFamily="34" charset="0"/>
              <a:buNone/>
            </a:pPr>
            <a:r>
              <a:rPr lang="en-AU" dirty="0">
                <a:solidFill>
                  <a:srgbClr val="0033CC"/>
                </a:solidFill>
              </a:rPr>
              <a:t>Dave			Australia</a:t>
            </a:r>
          </a:p>
        </p:txBody>
      </p:sp>
      <p:sp>
        <p:nvSpPr>
          <p:cNvPr id="178181" name="Text Box 5"/>
          <p:cNvSpPr txBox="1">
            <a:spLocks noChangeArrowheads="1"/>
          </p:cNvSpPr>
          <p:nvPr/>
        </p:nvSpPr>
        <p:spPr bwMode="auto">
          <a:xfrm>
            <a:off x="6284913" y="822325"/>
            <a:ext cx="4032250" cy="49859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 defTabSz="457200"/>
            <a:r>
              <a:rPr lang="en-AU" sz="2000" dirty="0">
                <a:solidFill>
                  <a:srgbClr val="D1161E"/>
                </a:solidFill>
                <a:latin typeface="Calibri"/>
              </a:rPr>
              <a:t>SELECT  country</a:t>
            </a:r>
          </a:p>
          <a:p>
            <a:pPr lvl="1" defTabSz="457200"/>
            <a:r>
              <a:rPr lang="en-AU" sz="2000" dirty="0">
                <a:solidFill>
                  <a:srgbClr val="D1161E"/>
                </a:solidFill>
                <a:latin typeface="Calibri"/>
              </a:rPr>
              <a:t>FROM     student</a:t>
            </a:r>
          </a:p>
          <a:p>
            <a:pPr lvl="1" defTabSz="457200"/>
            <a:endParaRPr lang="en-AU" sz="2000" dirty="0">
              <a:solidFill>
                <a:srgbClr val="009900"/>
              </a:solidFill>
              <a:latin typeface="Calibri"/>
            </a:endParaRPr>
          </a:p>
          <a:p>
            <a:pPr lvl="1" defTabSz="457200"/>
            <a:r>
              <a:rPr lang="en-AU" sz="2000" dirty="0">
                <a:solidFill>
                  <a:srgbClr val="009900"/>
                </a:solidFill>
                <a:latin typeface="Calibri"/>
              </a:rPr>
              <a:t>Result Set:</a:t>
            </a:r>
          </a:p>
          <a:p>
            <a:pPr lvl="1" defTabSz="457200"/>
            <a:r>
              <a:rPr lang="en-AU" sz="2000" dirty="0">
                <a:solidFill>
                  <a:srgbClr val="009900"/>
                </a:solidFill>
                <a:latin typeface="Calibri"/>
              </a:rPr>
              <a:t>country</a:t>
            </a:r>
          </a:p>
          <a:p>
            <a:pPr lvl="1" defTabSz="457200"/>
            <a:r>
              <a:rPr lang="en-AU" sz="2000" dirty="0">
                <a:solidFill>
                  <a:srgbClr val="009900"/>
                </a:solidFill>
                <a:latin typeface="Calibri"/>
              </a:rPr>
              <a:t>Australia</a:t>
            </a:r>
          </a:p>
          <a:p>
            <a:pPr lvl="1" defTabSz="457200"/>
            <a:r>
              <a:rPr lang="en-AU" sz="2000" dirty="0">
                <a:solidFill>
                  <a:srgbClr val="009900"/>
                </a:solidFill>
                <a:latin typeface="Calibri"/>
              </a:rPr>
              <a:t>England</a:t>
            </a:r>
          </a:p>
          <a:p>
            <a:pPr lvl="1" defTabSz="457200"/>
            <a:r>
              <a:rPr lang="en-AU" sz="2000" dirty="0">
                <a:solidFill>
                  <a:srgbClr val="009900"/>
                </a:solidFill>
                <a:latin typeface="Calibri"/>
              </a:rPr>
              <a:t>USA</a:t>
            </a:r>
          </a:p>
          <a:p>
            <a:pPr lvl="1" defTabSz="457200"/>
            <a:r>
              <a:rPr lang="en-AU" sz="2000" dirty="0">
                <a:solidFill>
                  <a:srgbClr val="009900"/>
                </a:solidFill>
                <a:latin typeface="Calibri"/>
              </a:rPr>
              <a:t>China</a:t>
            </a:r>
          </a:p>
          <a:p>
            <a:pPr lvl="1" defTabSz="457200"/>
            <a:r>
              <a:rPr lang="en-AU" sz="2000" dirty="0">
                <a:solidFill>
                  <a:srgbClr val="FF0000"/>
                </a:solidFill>
                <a:latin typeface="Calibri"/>
              </a:rPr>
              <a:t>Australia</a:t>
            </a:r>
          </a:p>
          <a:p>
            <a:pPr lvl="1" defTabSz="457200"/>
            <a:r>
              <a:rPr lang="en-AU" sz="2000" dirty="0">
                <a:solidFill>
                  <a:srgbClr val="009900"/>
                </a:solidFill>
                <a:latin typeface="Calibri"/>
              </a:rPr>
              <a:t>India</a:t>
            </a:r>
          </a:p>
          <a:p>
            <a:pPr lvl="1" defTabSz="457200"/>
            <a:r>
              <a:rPr lang="en-AU" sz="2000" dirty="0">
                <a:solidFill>
                  <a:srgbClr val="FF0000"/>
                </a:solidFill>
                <a:latin typeface="Calibri"/>
              </a:rPr>
              <a:t>Australia</a:t>
            </a:r>
          </a:p>
          <a:p>
            <a:pPr lvl="1" defTabSz="457200"/>
            <a:r>
              <a:rPr lang="en-AU" sz="2000" dirty="0">
                <a:solidFill>
                  <a:srgbClr val="FF0000"/>
                </a:solidFill>
                <a:latin typeface="Calibri"/>
              </a:rPr>
              <a:t>India</a:t>
            </a:r>
          </a:p>
          <a:p>
            <a:pPr lvl="1" defTabSz="457200"/>
            <a:r>
              <a:rPr lang="en-AU" sz="2000" dirty="0">
                <a:solidFill>
                  <a:srgbClr val="FF0000"/>
                </a:solidFill>
                <a:latin typeface="Calibri"/>
              </a:rPr>
              <a:t>China</a:t>
            </a:r>
          </a:p>
          <a:p>
            <a:pPr lvl="1" defTabSz="457200"/>
            <a:r>
              <a:rPr lang="en-AU" sz="2000" dirty="0">
                <a:solidFill>
                  <a:srgbClr val="FF0000"/>
                </a:solidFill>
                <a:latin typeface="Calibri"/>
              </a:rPr>
              <a:t>China</a:t>
            </a:r>
          </a:p>
          <a:p>
            <a:pPr lvl="1" defTabSz="457200"/>
            <a:r>
              <a:rPr lang="en-AU" sz="2000" dirty="0">
                <a:solidFill>
                  <a:srgbClr val="FF0000"/>
                </a:solidFill>
                <a:latin typeface="Calibri"/>
              </a:rPr>
              <a:t>Australia</a:t>
            </a:r>
            <a:r>
              <a:rPr lang="en-AU" sz="2000" dirty="0">
                <a:solidFill>
                  <a:srgbClr val="009900"/>
                </a:solidFill>
                <a:latin typeface="Calibri"/>
              </a:rPr>
              <a:t>	</a:t>
            </a:r>
            <a:endParaRPr lang="en-US" sz="2000" dirty="0">
              <a:solidFill>
                <a:srgbClr val="009900"/>
              </a:solidFill>
              <a:latin typeface="Calibri"/>
            </a:endParaRPr>
          </a:p>
        </p:txBody>
      </p:sp>
      <p:sp>
        <p:nvSpPr>
          <p:cNvPr id="178193" name="Text Box 13"/>
          <p:cNvSpPr txBox="1">
            <a:spLocks noChangeArrowheads="1"/>
          </p:cNvSpPr>
          <p:nvPr/>
        </p:nvSpPr>
        <p:spPr bwMode="auto">
          <a:xfrm>
            <a:off x="7854950" y="4425707"/>
            <a:ext cx="2159000" cy="670312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lIns="0" tIns="0" rIns="0" bIns="0">
            <a:spAutoFit/>
          </a:bodyPr>
          <a:lstStyle/>
          <a:p>
            <a:pPr marL="85725" algn="ctr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 dirty="0">
                <a:solidFill>
                  <a:srgbClr val="0C64A7"/>
                </a:solidFill>
                <a:latin typeface="Calibri"/>
              </a:rPr>
              <a:t>Some rows in the result set are duplicated</a:t>
            </a:r>
          </a:p>
        </p:txBody>
      </p:sp>
      <p:sp>
        <p:nvSpPr>
          <p:cNvPr id="178194" name="Line 18"/>
          <p:cNvSpPr>
            <a:spLocks noChangeShapeType="1"/>
          </p:cNvSpPr>
          <p:nvPr/>
        </p:nvSpPr>
        <p:spPr bwMode="auto">
          <a:xfrm flipH="1">
            <a:off x="5691704" y="870396"/>
            <a:ext cx="0" cy="59055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" name="Right Brace 1"/>
          <p:cNvSpPr/>
          <p:nvPr/>
        </p:nvSpPr>
        <p:spPr>
          <a:xfrm>
            <a:off x="7861300" y="3695700"/>
            <a:ext cx="190500" cy="20066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6458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ChangeArrowheads="1"/>
          </p:cNvSpPr>
          <p:nvPr/>
        </p:nvSpPr>
        <p:spPr bwMode="auto">
          <a:xfrm>
            <a:off x="8934450" y="5709685"/>
            <a:ext cx="1733550" cy="1081111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792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199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SQL:</a:t>
            </a:r>
            <a:r>
              <a:rPr lang="en-US" dirty="0">
                <a:solidFill>
                  <a:srgbClr val="D1161E"/>
                </a:solidFill>
                <a:latin typeface="Calibri" panose="020F0502020204030204" pitchFamily="34" charset="0"/>
              </a:rPr>
              <a:t> Distinct / Unique keyword </a:t>
            </a:r>
            <a:endParaRPr lang="en-AU" dirty="0">
              <a:solidFill>
                <a:srgbClr val="D1161E"/>
              </a:solidFill>
              <a:latin typeface="Calibri" panose="020F0502020204030204" pitchFamily="34" charset="0"/>
            </a:endParaRPr>
          </a:p>
        </p:txBody>
      </p:sp>
      <p:sp>
        <p:nvSpPr>
          <p:cNvPr id="17920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1" y="836614"/>
            <a:ext cx="9016409" cy="5740033"/>
          </a:xfrm>
        </p:spPr>
        <p:txBody>
          <a:bodyPr>
            <a:normAutofit/>
          </a:bodyPr>
          <a:lstStyle/>
          <a:p>
            <a:pPr lvl="1">
              <a:buFont typeface="Arial Narrow" pitchFamily="34" charset="0"/>
              <a:buNone/>
            </a:pPr>
            <a:r>
              <a:rPr lang="en-AU" dirty="0">
                <a:solidFill>
                  <a:schemeClr val="tx2"/>
                </a:solidFill>
              </a:rPr>
              <a:t>The keyword </a:t>
            </a:r>
            <a:r>
              <a:rPr lang="en-AU" b="1" dirty="0">
                <a:solidFill>
                  <a:schemeClr val="tx2"/>
                </a:solidFill>
              </a:rPr>
              <a:t>DISTINCT (or UNIQUE) </a:t>
            </a:r>
            <a:r>
              <a:rPr lang="en-AU" dirty="0">
                <a:solidFill>
                  <a:schemeClr val="tx2"/>
                </a:solidFill>
              </a:rPr>
              <a:t>removes </a:t>
            </a:r>
            <a:r>
              <a:rPr lang="en-AU" b="1" dirty="0">
                <a:solidFill>
                  <a:schemeClr val="tx2"/>
                </a:solidFill>
              </a:rPr>
              <a:t>duplicate</a:t>
            </a:r>
            <a:r>
              <a:rPr lang="en-AU" dirty="0">
                <a:solidFill>
                  <a:schemeClr val="tx2"/>
                </a:solidFill>
              </a:rPr>
              <a:t> rows from a </a:t>
            </a:r>
            <a:r>
              <a:rPr lang="en-AU" b="1" dirty="0">
                <a:solidFill>
                  <a:schemeClr val="tx2"/>
                </a:solidFill>
              </a:rPr>
              <a:t>result set</a:t>
            </a:r>
          </a:p>
          <a:p>
            <a:pPr lvl="1">
              <a:buFont typeface="Arial Narrow" pitchFamily="34" charset="0"/>
              <a:buNone/>
            </a:pPr>
            <a:endParaRPr lang="en-AU" b="1" dirty="0">
              <a:solidFill>
                <a:schemeClr val="tx2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b="1" dirty="0">
              <a:solidFill>
                <a:schemeClr val="tx2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b="1" dirty="0">
              <a:solidFill>
                <a:schemeClr val="tx2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b="1" dirty="0">
              <a:solidFill>
                <a:schemeClr val="tx2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b="1" dirty="0">
              <a:solidFill>
                <a:schemeClr val="tx2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b="1" dirty="0">
              <a:solidFill>
                <a:schemeClr val="tx2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b="1" dirty="0">
              <a:solidFill>
                <a:schemeClr val="tx2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b="1" dirty="0">
              <a:solidFill>
                <a:schemeClr val="tx2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b="1" dirty="0">
              <a:solidFill>
                <a:schemeClr val="tx2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b="1" dirty="0">
              <a:solidFill>
                <a:schemeClr val="tx2"/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b="1" dirty="0">
              <a:solidFill>
                <a:schemeClr val="tx2"/>
              </a:solidFill>
            </a:endParaRPr>
          </a:p>
          <a:p>
            <a:pPr lvl="1">
              <a:buFont typeface="Arial Narrow" pitchFamily="34" charset="0"/>
              <a:buNone/>
            </a:pPr>
            <a:r>
              <a:rPr lang="en-AU" sz="1800" dirty="0">
                <a:solidFill>
                  <a:schemeClr val="tx2"/>
                </a:solidFill>
              </a:rPr>
              <a:t>Many Oracle professionals prefer to use </a:t>
            </a:r>
            <a:r>
              <a:rPr lang="en-AU" sz="1800" b="1" dirty="0">
                <a:solidFill>
                  <a:schemeClr val="tx2"/>
                </a:solidFill>
              </a:rPr>
              <a:t>DISTINCT</a:t>
            </a:r>
            <a:r>
              <a:rPr lang="en-AU" sz="1800" dirty="0">
                <a:solidFill>
                  <a:schemeClr val="tx2"/>
                </a:solidFill>
              </a:rPr>
              <a:t> </a:t>
            </a:r>
            <a:r>
              <a:rPr lang="en-AU" sz="1800" b="1" dirty="0">
                <a:solidFill>
                  <a:schemeClr val="tx2"/>
                </a:solidFill>
              </a:rPr>
              <a:t>instead</a:t>
            </a:r>
            <a:r>
              <a:rPr lang="en-AU" sz="1800" dirty="0">
                <a:solidFill>
                  <a:schemeClr val="tx2"/>
                </a:solidFill>
              </a:rPr>
              <a:t> </a:t>
            </a:r>
            <a:r>
              <a:rPr lang="en-AU" sz="1800" b="1" dirty="0">
                <a:solidFill>
                  <a:schemeClr val="tx2"/>
                </a:solidFill>
              </a:rPr>
              <a:t>of</a:t>
            </a:r>
            <a:r>
              <a:rPr lang="en-AU" sz="1800" dirty="0">
                <a:solidFill>
                  <a:schemeClr val="tx2"/>
                </a:solidFill>
              </a:rPr>
              <a:t> </a:t>
            </a:r>
            <a:r>
              <a:rPr lang="en-AU" sz="1800" b="1" dirty="0">
                <a:solidFill>
                  <a:schemeClr val="tx2"/>
                </a:solidFill>
              </a:rPr>
              <a:t>UNIQUE</a:t>
            </a:r>
            <a:r>
              <a:rPr lang="en-AU" sz="1800" dirty="0">
                <a:solidFill>
                  <a:schemeClr val="tx2"/>
                </a:solidFill>
              </a:rPr>
              <a:t>.</a:t>
            </a:r>
          </a:p>
          <a:p>
            <a:pPr lvl="1">
              <a:buFont typeface="Arial Narrow" pitchFamily="34" charset="0"/>
              <a:buNone/>
            </a:pPr>
            <a:r>
              <a:rPr lang="en-AU" sz="1800" dirty="0">
                <a:solidFill>
                  <a:schemeClr val="tx2"/>
                </a:solidFill>
              </a:rPr>
              <a:t>The word UNIQUE has multiple meanings in Oracle that can lead to confusion.</a:t>
            </a:r>
          </a:p>
          <a:p>
            <a:pPr lvl="1">
              <a:buFont typeface="Arial Narrow" pitchFamily="34" charset="0"/>
              <a:buNone/>
            </a:pPr>
            <a:r>
              <a:rPr lang="en-AU" sz="1800" dirty="0">
                <a:solidFill>
                  <a:schemeClr val="tx2"/>
                </a:solidFill>
              </a:rPr>
              <a:t>(e.g. unique constraints discussed later in this subject)</a:t>
            </a:r>
          </a:p>
          <a:p>
            <a:pPr lvl="1">
              <a:buFont typeface="Arial Narrow" pitchFamily="34" charset="0"/>
              <a:buNone/>
            </a:pPr>
            <a:endParaRPr lang="en-AU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>
              <a:buFont typeface="Arial Narrow" pitchFamily="34" charset="0"/>
              <a:buNone/>
            </a:pPr>
            <a:endParaRPr lang="en-AU" b="1" dirty="0">
              <a:solidFill>
                <a:schemeClr val="tx2"/>
              </a:solidFill>
            </a:endParaRPr>
          </a:p>
        </p:txBody>
      </p:sp>
      <p:sp>
        <p:nvSpPr>
          <p:cNvPr id="179205" name="Text Box 5"/>
          <p:cNvSpPr txBox="1">
            <a:spLocks noChangeArrowheads="1"/>
          </p:cNvSpPr>
          <p:nvPr/>
        </p:nvSpPr>
        <p:spPr bwMode="auto">
          <a:xfrm>
            <a:off x="5105401" y="1215003"/>
            <a:ext cx="5435009" cy="2031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 defTabSz="457200"/>
            <a:r>
              <a:rPr lang="en-AU" dirty="0">
                <a:solidFill>
                  <a:srgbClr val="0000FF"/>
                </a:solidFill>
                <a:latin typeface="Calibri"/>
              </a:rPr>
              <a:t>SELECT  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DISTINCT </a:t>
            </a:r>
            <a:r>
              <a:rPr lang="en-AU" dirty="0">
                <a:solidFill>
                  <a:srgbClr val="0000FF"/>
                </a:solidFill>
                <a:latin typeface="Calibri"/>
              </a:rPr>
              <a:t>country  FROM student</a:t>
            </a:r>
          </a:p>
          <a:p>
            <a:pPr lvl="1" defTabSz="457200"/>
            <a:r>
              <a:rPr lang="en-AU" dirty="0">
                <a:solidFill>
                  <a:srgbClr val="7030A0"/>
                </a:solidFill>
                <a:latin typeface="Calibri"/>
              </a:rPr>
              <a:t>country</a:t>
            </a:r>
          </a:p>
          <a:p>
            <a:pPr lvl="1" defTabSz="457200"/>
            <a:r>
              <a:rPr lang="en-AU" dirty="0">
                <a:solidFill>
                  <a:srgbClr val="7030A0"/>
                </a:solidFill>
                <a:latin typeface="Calibri"/>
              </a:rPr>
              <a:t>Australia</a:t>
            </a:r>
          </a:p>
          <a:p>
            <a:pPr lvl="1" defTabSz="457200"/>
            <a:r>
              <a:rPr lang="en-AU" dirty="0">
                <a:solidFill>
                  <a:srgbClr val="7030A0"/>
                </a:solidFill>
                <a:latin typeface="Calibri"/>
              </a:rPr>
              <a:t>England</a:t>
            </a:r>
          </a:p>
          <a:p>
            <a:pPr lvl="1" defTabSz="457200"/>
            <a:r>
              <a:rPr lang="en-AU" dirty="0">
                <a:solidFill>
                  <a:srgbClr val="7030A0"/>
                </a:solidFill>
                <a:latin typeface="Calibri"/>
              </a:rPr>
              <a:t>USA</a:t>
            </a:r>
          </a:p>
          <a:p>
            <a:pPr lvl="1" defTabSz="457200"/>
            <a:r>
              <a:rPr lang="en-AU" dirty="0">
                <a:solidFill>
                  <a:srgbClr val="7030A0"/>
                </a:solidFill>
                <a:latin typeface="Calibri"/>
              </a:rPr>
              <a:t>China</a:t>
            </a:r>
          </a:p>
          <a:p>
            <a:pPr lvl="1" defTabSz="457200"/>
            <a:r>
              <a:rPr lang="en-AU" dirty="0">
                <a:solidFill>
                  <a:srgbClr val="7030A0"/>
                </a:solidFill>
                <a:latin typeface="Calibri"/>
              </a:rPr>
              <a:t>India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524000" y="1215002"/>
            <a:ext cx="2857500" cy="39703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 defTabSz="457200"/>
            <a:r>
              <a:rPr lang="en-AU" dirty="0">
                <a:solidFill>
                  <a:srgbClr val="0000FF"/>
                </a:solidFill>
                <a:latin typeface="Calibri"/>
              </a:rPr>
              <a:t>SELECT  country </a:t>
            </a:r>
          </a:p>
          <a:p>
            <a:pPr lvl="1" defTabSz="457200"/>
            <a:r>
              <a:rPr lang="en-AU" dirty="0">
                <a:solidFill>
                  <a:srgbClr val="0000FF"/>
                </a:solidFill>
                <a:latin typeface="Calibri"/>
              </a:rPr>
              <a:t>FROM     student</a:t>
            </a:r>
          </a:p>
          <a:p>
            <a:pPr lvl="1" defTabSz="457200"/>
            <a:r>
              <a:rPr lang="en-AU" dirty="0">
                <a:solidFill>
                  <a:srgbClr val="009900"/>
                </a:solidFill>
                <a:latin typeface="Calibri"/>
              </a:rPr>
              <a:t>country</a:t>
            </a:r>
          </a:p>
          <a:p>
            <a:pPr lvl="1" defTabSz="457200"/>
            <a:r>
              <a:rPr lang="en-AU" dirty="0">
                <a:solidFill>
                  <a:srgbClr val="009900"/>
                </a:solidFill>
                <a:latin typeface="Calibri"/>
              </a:rPr>
              <a:t>Australia</a:t>
            </a:r>
          </a:p>
          <a:p>
            <a:pPr lvl="1" defTabSz="457200"/>
            <a:r>
              <a:rPr lang="en-AU" dirty="0">
                <a:solidFill>
                  <a:srgbClr val="009900"/>
                </a:solidFill>
                <a:latin typeface="Calibri"/>
              </a:rPr>
              <a:t>England</a:t>
            </a:r>
          </a:p>
          <a:p>
            <a:pPr lvl="1" defTabSz="457200"/>
            <a:r>
              <a:rPr lang="en-AU" dirty="0">
                <a:solidFill>
                  <a:srgbClr val="009900"/>
                </a:solidFill>
                <a:latin typeface="Calibri"/>
              </a:rPr>
              <a:t>USA</a:t>
            </a:r>
          </a:p>
          <a:p>
            <a:pPr lvl="1" defTabSz="457200"/>
            <a:r>
              <a:rPr lang="en-AU" dirty="0">
                <a:solidFill>
                  <a:srgbClr val="009900"/>
                </a:solidFill>
                <a:latin typeface="Calibri"/>
              </a:rPr>
              <a:t>China</a:t>
            </a:r>
          </a:p>
          <a:p>
            <a:pPr lvl="1" defTabSz="457200"/>
            <a:r>
              <a:rPr lang="en-AU" dirty="0">
                <a:solidFill>
                  <a:srgbClr val="009900"/>
                </a:solidFill>
                <a:latin typeface="Calibri"/>
              </a:rPr>
              <a:t>Australia</a:t>
            </a:r>
          </a:p>
          <a:p>
            <a:pPr lvl="1" defTabSz="457200"/>
            <a:r>
              <a:rPr lang="en-AU" dirty="0">
                <a:solidFill>
                  <a:srgbClr val="009900"/>
                </a:solidFill>
                <a:latin typeface="Calibri"/>
              </a:rPr>
              <a:t>India</a:t>
            </a:r>
          </a:p>
          <a:p>
            <a:pPr lvl="1" defTabSz="457200"/>
            <a:r>
              <a:rPr lang="en-AU" dirty="0">
                <a:solidFill>
                  <a:srgbClr val="009900"/>
                </a:solidFill>
                <a:latin typeface="Calibri"/>
              </a:rPr>
              <a:t>Australia</a:t>
            </a:r>
          </a:p>
          <a:p>
            <a:pPr lvl="1" defTabSz="457200"/>
            <a:r>
              <a:rPr lang="en-AU" dirty="0">
                <a:solidFill>
                  <a:srgbClr val="009900"/>
                </a:solidFill>
                <a:latin typeface="Calibri"/>
              </a:rPr>
              <a:t>India</a:t>
            </a:r>
          </a:p>
          <a:p>
            <a:pPr lvl="1" defTabSz="457200"/>
            <a:r>
              <a:rPr lang="en-AU" dirty="0">
                <a:solidFill>
                  <a:srgbClr val="009900"/>
                </a:solidFill>
                <a:latin typeface="Calibri"/>
              </a:rPr>
              <a:t>China</a:t>
            </a:r>
          </a:p>
          <a:p>
            <a:pPr lvl="1" defTabSz="457200"/>
            <a:r>
              <a:rPr lang="en-AU" dirty="0">
                <a:solidFill>
                  <a:srgbClr val="009900"/>
                </a:solidFill>
                <a:latin typeface="Calibri"/>
              </a:rPr>
              <a:t>China</a:t>
            </a:r>
          </a:p>
          <a:p>
            <a:pPr lvl="1" defTabSz="457200"/>
            <a:r>
              <a:rPr lang="en-AU" dirty="0">
                <a:solidFill>
                  <a:srgbClr val="009900"/>
                </a:solidFill>
                <a:latin typeface="Calibri"/>
              </a:rPr>
              <a:t>Australia	</a:t>
            </a:r>
            <a:endParaRPr lang="en-US" dirty="0">
              <a:solidFill>
                <a:srgbClr val="009900"/>
              </a:solidFill>
              <a:latin typeface="Calibri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5105401" y="3355136"/>
            <a:ext cx="5435009" cy="2031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 defTabSz="457200"/>
            <a:r>
              <a:rPr lang="en-AU" dirty="0">
                <a:solidFill>
                  <a:srgbClr val="0000FF"/>
                </a:solidFill>
                <a:latin typeface="Calibri"/>
              </a:rPr>
              <a:t>SELECT  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UNIQUE </a:t>
            </a:r>
            <a:r>
              <a:rPr lang="en-AU" dirty="0">
                <a:solidFill>
                  <a:srgbClr val="0000FF"/>
                </a:solidFill>
                <a:latin typeface="Calibri"/>
              </a:rPr>
              <a:t>country  FROM student</a:t>
            </a:r>
          </a:p>
          <a:p>
            <a:pPr lvl="1" defTabSz="457200"/>
            <a:r>
              <a:rPr lang="en-AU" dirty="0">
                <a:solidFill>
                  <a:srgbClr val="7030A0"/>
                </a:solidFill>
                <a:latin typeface="Calibri"/>
              </a:rPr>
              <a:t>country</a:t>
            </a:r>
          </a:p>
          <a:p>
            <a:pPr lvl="1" defTabSz="457200"/>
            <a:r>
              <a:rPr lang="en-AU" dirty="0">
                <a:solidFill>
                  <a:srgbClr val="7030A0"/>
                </a:solidFill>
                <a:latin typeface="Calibri"/>
              </a:rPr>
              <a:t>Australia</a:t>
            </a:r>
          </a:p>
          <a:p>
            <a:pPr lvl="1" defTabSz="457200"/>
            <a:r>
              <a:rPr lang="en-AU" dirty="0">
                <a:solidFill>
                  <a:srgbClr val="7030A0"/>
                </a:solidFill>
                <a:latin typeface="Calibri"/>
              </a:rPr>
              <a:t>England</a:t>
            </a:r>
          </a:p>
          <a:p>
            <a:pPr lvl="1" defTabSz="457200"/>
            <a:r>
              <a:rPr lang="en-AU" dirty="0">
                <a:solidFill>
                  <a:srgbClr val="7030A0"/>
                </a:solidFill>
                <a:latin typeface="Calibri"/>
              </a:rPr>
              <a:t>USA</a:t>
            </a:r>
          </a:p>
          <a:p>
            <a:pPr lvl="1" defTabSz="457200"/>
            <a:r>
              <a:rPr lang="en-AU" dirty="0">
                <a:solidFill>
                  <a:srgbClr val="7030A0"/>
                </a:solidFill>
                <a:latin typeface="Calibri"/>
              </a:rPr>
              <a:t>China</a:t>
            </a:r>
          </a:p>
          <a:p>
            <a:pPr lvl="1" defTabSz="457200"/>
            <a:r>
              <a:rPr lang="en-AU" dirty="0">
                <a:solidFill>
                  <a:srgbClr val="7030A0"/>
                </a:solidFill>
                <a:latin typeface="Calibri"/>
              </a:rPr>
              <a:t>India</a:t>
            </a:r>
          </a:p>
        </p:txBody>
      </p:sp>
    </p:spTree>
    <p:extLst>
      <p:ext uri="{BB962C8B-B14F-4D97-AF65-F5344CB8AC3E}">
        <p14:creationId xmlns:p14="http://schemas.microsoft.com/office/powerpoint/2010/main" val="4155363413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6843</TotalTime>
  <Words>1545</Words>
  <Application>Microsoft Office PowerPoint</Application>
  <PresentationFormat>Widescreen</PresentationFormat>
  <Paragraphs>435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Narrow</vt:lpstr>
      <vt:lpstr>Calibri</vt:lpstr>
      <vt:lpstr>Open Sans</vt:lpstr>
      <vt:lpstr>Wingdings</vt:lpstr>
      <vt:lpstr>Wingdings 2</vt:lpstr>
      <vt:lpstr>Swinburne_Tiles</vt:lpstr>
      <vt:lpstr>INF10025 Data Management and Analytics Lecture 6 – Part 4</vt:lpstr>
      <vt:lpstr>Parentheses (  )</vt:lpstr>
      <vt:lpstr>Parentheses (2) </vt:lpstr>
      <vt:lpstr>NOT Operator</vt:lpstr>
      <vt:lpstr>NOT Operator and parentheses</vt:lpstr>
      <vt:lpstr>SQL: Order of precedence</vt:lpstr>
      <vt:lpstr>SQL: UPPER ( ) &amp; LOWER ( )</vt:lpstr>
      <vt:lpstr>SQL: UPPER ( ) &amp; LOWER ( )</vt:lpstr>
      <vt:lpstr>SQL: UPPER ( ) &amp; LOWER ( )</vt:lpstr>
      <vt:lpstr>SQL: UPPER() in where clause</vt:lpstr>
      <vt:lpstr>SQL:Between Operator </vt:lpstr>
      <vt:lpstr>SQL: Like Operator </vt:lpstr>
      <vt:lpstr>SQL:Special Operators </vt:lpstr>
      <vt:lpstr>SQL:Special Operators </vt:lpstr>
      <vt:lpstr>SQL: Distinct / Unique keyword </vt:lpstr>
      <vt:lpstr>SQL: Distinct / Unique keyword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Data Management and Analytics Lecture 6</dc:title>
  <dc:creator>Robert Tipping</dc:creator>
  <cp:lastModifiedBy>Robert Tipping</cp:lastModifiedBy>
  <cp:revision>2</cp:revision>
  <dcterms:created xsi:type="dcterms:W3CDTF">2023-03-22T21:35:04Z</dcterms:created>
  <dcterms:modified xsi:type="dcterms:W3CDTF">2023-03-28T22:25:34Z</dcterms:modified>
</cp:coreProperties>
</file>