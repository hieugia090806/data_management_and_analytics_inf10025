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7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34" r:id="rId17"/>
    <p:sldId id="331" r:id="rId18"/>
    <p:sldId id="335" r:id="rId19"/>
    <p:sldId id="336" r:id="rId20"/>
    <p:sldId id="337" r:id="rId21"/>
    <p:sldId id="333" r:id="rId22"/>
    <p:sldId id="30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54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903F7-9310-41FD-BBBD-A58F9106FBE5}" type="datetimeFigureOut">
              <a:rPr lang="en-AU" smtClean="0"/>
              <a:t>23/03/2023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16F0A-57A2-4ACE-8D0D-A44970CC58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9799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02990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89575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0" y="4718050"/>
            <a:ext cx="5435600" cy="4468813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18050"/>
            <a:ext cx="5435600" cy="4468813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41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12848"/>
            <a:ext cx="10363200" cy="1470025"/>
          </a:xfrm>
        </p:spPr>
        <p:txBody>
          <a:bodyPr anchor="b" anchorCtr="0">
            <a:normAutofit/>
          </a:bodyPr>
          <a:lstStyle>
            <a:lvl1pPr algn="ctr">
              <a:defRPr sz="3600" b="0">
                <a:latin typeface="Open Sans"/>
                <a:cs typeface="Open Sans"/>
              </a:defRPr>
            </a:lvl1pPr>
          </a:lstStyle>
          <a:p>
            <a:r>
              <a:rPr lang="en-AU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4008"/>
            <a:ext cx="85344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Open Sans"/>
                <a:cs typeface="Open 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  <p:pic>
        <p:nvPicPr>
          <p:cNvPr id="5" name="Picture 7" descr="corpV_3 300_lzw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880784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A1D595-1EAF-B3CA-096B-6E72AE9C4578}"/>
              </a:ext>
            </a:extLst>
          </p:cNvPr>
          <p:cNvSpPr/>
          <p:nvPr userDrawn="1"/>
        </p:nvSpPr>
        <p:spPr>
          <a:xfrm rot="18000966">
            <a:off x="11208029" y="-5226"/>
            <a:ext cx="681371" cy="960987"/>
          </a:xfrm>
          <a:prstGeom prst="rect">
            <a:avLst/>
          </a:prstGeom>
          <a:noFill/>
        </p:spPr>
        <p:txBody>
          <a:bodyPr spcFirstLastPara="1" wrap="none" lIns="68580" tIns="34290" rIns="68580" bIns="34290" numCol="1">
            <a:prstTxWarp prst="textCircle">
              <a:avLst/>
            </a:prstTxWarp>
            <a:spAutoFit/>
          </a:bodyPr>
          <a:lstStyle/>
          <a:p>
            <a:pPr algn="ctr"/>
            <a:r>
              <a:rPr lang="en-US" sz="4050" b="0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Management &amp; Analytics   </a:t>
            </a:r>
            <a:endParaRPr lang="en-US" sz="405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Picture 5" descr="KNOWING Logo RGB.png">
            <a:extLst>
              <a:ext uri="{FF2B5EF4-FFF2-40B4-BE49-F238E27FC236}">
                <a16:creationId xmlns:a16="http://schemas.microsoft.com/office/drawing/2014/main" id="{D562B274-86C5-1054-ACF2-497295C868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516" y="5573716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53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5880"/>
            <a:ext cx="10972800" cy="1058779"/>
          </a:xfrm>
        </p:spPr>
        <p:txBody>
          <a:bodyPr anchor="t">
            <a:normAutofit/>
          </a:bodyPr>
          <a:lstStyle>
            <a:lvl1pPr>
              <a:defRPr sz="3300" b="0">
                <a:latin typeface="+mn-lt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87655"/>
            <a:ext cx="10680835" cy="3917482"/>
          </a:xfrm>
          <a:noFill/>
        </p:spPr>
        <p:txBody>
          <a:bodyPr/>
          <a:lstStyle>
            <a:lvl1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1pPr>
            <a:lvl2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2pPr>
            <a:lvl3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+mn-lt"/>
                <a:cs typeface="Open San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 rot="18000966">
            <a:off x="11208029" y="-5226"/>
            <a:ext cx="681371" cy="960987"/>
          </a:xfrm>
          <a:prstGeom prst="rect">
            <a:avLst/>
          </a:prstGeom>
          <a:noFill/>
        </p:spPr>
        <p:txBody>
          <a:bodyPr spcFirstLastPara="1" wrap="none" lIns="68580" tIns="34290" rIns="68580" bIns="34290" numCol="1">
            <a:prstTxWarp prst="textCircle">
              <a:avLst/>
            </a:prstTxWarp>
            <a:spAutoFit/>
          </a:bodyPr>
          <a:lstStyle/>
          <a:p>
            <a:pPr algn="ctr"/>
            <a:r>
              <a:rPr lang="en-US" sz="405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  <a:r>
              <a:rPr lang="en-US" sz="4050" b="0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Analysis and Design   </a:t>
            </a:r>
            <a:endParaRPr lang="en-US" sz="405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Line 22"/>
          <p:cNvSpPr>
            <a:spLocks noChangeShapeType="1"/>
          </p:cNvSpPr>
          <p:nvPr userDrawn="1"/>
        </p:nvSpPr>
        <p:spPr bwMode="auto">
          <a:xfrm flipV="1">
            <a:off x="283634" y="857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AU" sz="1800">
              <a:solidFill>
                <a:schemeClr val="tx1"/>
              </a:solidFill>
            </a:endParaRPr>
          </a:p>
        </p:txBody>
      </p:sp>
      <p:sp>
        <p:nvSpPr>
          <p:cNvPr id="8" name="Line 23"/>
          <p:cNvSpPr>
            <a:spLocks noChangeShapeType="1"/>
          </p:cNvSpPr>
          <p:nvPr userDrawn="1"/>
        </p:nvSpPr>
        <p:spPr bwMode="auto">
          <a:xfrm flipV="1">
            <a:off x="334434" y="984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AU" sz="18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1" y="85725"/>
            <a:ext cx="6223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r"/>
            <a:fld id="{A0B7F734-0547-4653-B8DE-E21D4CE8AB45}" type="slidenum">
              <a:rPr lang="en-AU" sz="1800" i="0">
                <a:solidFill>
                  <a:schemeClr val="tx1"/>
                </a:solidFill>
              </a:rPr>
              <a:pPr algn="r"/>
              <a:t>‹#›</a:t>
            </a:fld>
            <a:endParaRPr lang="en-AU" sz="1800" i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55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33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3844703"/>
          </a:xfrm>
        </p:spPr>
        <p:txBody>
          <a:bodyPr/>
          <a:lstStyle>
            <a:lvl1pPr>
              <a:defRPr sz="21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15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3844703"/>
          </a:xfrm>
        </p:spPr>
        <p:txBody>
          <a:bodyPr/>
          <a:lstStyle>
            <a:lvl1pPr>
              <a:defRPr sz="21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15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35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KNOWING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32070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2" y="1344618"/>
            <a:ext cx="9487359" cy="1465609"/>
          </a:xfrm>
        </p:spPr>
        <p:txBody>
          <a:bodyPr anchor="b" anchorCtr="0">
            <a:normAutofit/>
          </a:bodyPr>
          <a:lstStyle>
            <a:lvl1pPr>
              <a:defRPr sz="3000" b="0">
                <a:latin typeface="Open Sans"/>
                <a:cs typeface="Open Sans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2" y="2927805"/>
            <a:ext cx="9487359" cy="2563256"/>
          </a:xfrm>
          <a:noFill/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rgbClr val="000000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Sub-heading</a:t>
            </a:r>
          </a:p>
        </p:txBody>
      </p:sp>
      <p:pic>
        <p:nvPicPr>
          <p:cNvPr id="6" name="Picture 5" descr="Swinburne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7" name="Picture 6" descr="KNOWING Logo 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97027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KNOWING Logo RGB.png">
            <a:extLst>
              <a:ext uri="{FF2B5EF4-FFF2-40B4-BE49-F238E27FC236}">
                <a16:creationId xmlns:a16="http://schemas.microsoft.com/office/drawing/2014/main" id="{76A2C585-110A-9CEF-DC80-A478B0B3BE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5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9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7641"/>
            <a:ext cx="10972800" cy="3991833"/>
          </a:xfrm>
          <a:prstGeom prst="rect">
            <a:avLst/>
          </a:prstGeom>
          <a:solidFill>
            <a:srgbClr val="F6F6F6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15" y="5866083"/>
            <a:ext cx="1219200" cy="9144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206368" y="6710785"/>
            <a:ext cx="9549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Line 22"/>
          <p:cNvSpPr>
            <a:spLocks noChangeShapeType="1"/>
          </p:cNvSpPr>
          <p:nvPr userDrawn="1"/>
        </p:nvSpPr>
        <p:spPr bwMode="auto">
          <a:xfrm flipV="1">
            <a:off x="283634" y="857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AU" sz="1800">
              <a:solidFill>
                <a:schemeClr val="tx1"/>
              </a:solidFill>
            </a:endParaRPr>
          </a:p>
        </p:txBody>
      </p:sp>
      <p:sp>
        <p:nvSpPr>
          <p:cNvPr id="8" name="Line 23"/>
          <p:cNvSpPr>
            <a:spLocks noChangeShapeType="1"/>
          </p:cNvSpPr>
          <p:nvPr userDrawn="1"/>
        </p:nvSpPr>
        <p:spPr bwMode="auto">
          <a:xfrm flipV="1">
            <a:off x="334434" y="98425"/>
            <a:ext cx="575733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endParaRPr lang="en-AU" sz="18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1" y="85725"/>
            <a:ext cx="6223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lnSpc>
                <a:spcPct val="80000"/>
              </a:lnSpc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5000"/>
              <a:buFont typeface="Wingdings" pitchFamily="2" charset="2"/>
              <a:defRPr sz="2400" b="1" i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r"/>
            <a:fld id="{A0B7F734-0547-4653-B8DE-E21D4CE8AB45}" type="slidenum">
              <a:rPr lang="en-AU" sz="1800" i="0">
                <a:solidFill>
                  <a:schemeClr val="tx1"/>
                </a:solidFill>
              </a:rPr>
              <a:pPr algn="r"/>
              <a:t>‹#›</a:t>
            </a:fld>
            <a:endParaRPr lang="en-AU" sz="1800" i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rot="18000966">
            <a:off x="11299700" y="-55435"/>
            <a:ext cx="565401" cy="960987"/>
          </a:xfrm>
          <a:prstGeom prst="rect">
            <a:avLst/>
          </a:prstGeom>
          <a:noFill/>
        </p:spPr>
        <p:txBody>
          <a:bodyPr spcFirstLastPara="1" wrap="none" lIns="68580" tIns="34290" rIns="68580" bIns="34290" numCol="1">
            <a:prstTxWarp prst="textCircle">
              <a:avLst/>
            </a:prstTxWarp>
            <a:spAutoFit/>
          </a:bodyPr>
          <a:lstStyle/>
          <a:p>
            <a:pPr algn="ctr"/>
            <a:r>
              <a:rPr lang="en-US" sz="405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Database</a:t>
            </a:r>
            <a:r>
              <a:rPr lang="en-US" sz="4050" b="0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Analysis and Design   </a:t>
            </a:r>
            <a:endParaRPr lang="en-US" sz="405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924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3300" b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rgbClr val="000000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rgbClr val="000000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rgbClr val="000000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Grp="1" noChangeArrowheads="1"/>
          </p:cNvSpPr>
          <p:nvPr>
            <p:ph type="ctrTitle"/>
          </p:nvPr>
        </p:nvSpPr>
        <p:spPr>
          <a:xfrm>
            <a:off x="3753275" y="1981500"/>
            <a:ext cx="6534798" cy="1143000"/>
          </a:xfrm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tx1"/>
                </a:solidFill>
              </a:rPr>
              <a:t>INF10025</a:t>
            </a:r>
            <a:br>
              <a:rPr lang="en-AU" dirty="0">
                <a:solidFill>
                  <a:schemeClr val="tx1"/>
                </a:solidFill>
              </a:rPr>
            </a:br>
            <a:r>
              <a:rPr lang="en-AU" dirty="0">
                <a:solidFill>
                  <a:schemeClr val="tx1"/>
                </a:solidFill>
              </a:rPr>
              <a:t>Data Management and Analytics</a:t>
            </a:r>
            <a:br>
              <a:rPr lang="en-AU" dirty="0">
                <a:solidFill>
                  <a:schemeClr val="tx1"/>
                </a:solidFill>
              </a:rPr>
            </a:br>
            <a:r>
              <a:rPr lang="en-AU" dirty="0">
                <a:solidFill>
                  <a:schemeClr val="tx1"/>
                </a:solidFill>
              </a:rPr>
              <a:t>Lecture 6 – Part 3</a:t>
            </a:r>
          </a:p>
        </p:txBody>
      </p:sp>
      <p:sp>
        <p:nvSpPr>
          <p:cNvPr id="5122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3836988" y="3636335"/>
            <a:ext cx="6021388" cy="1719890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AU" b="1" dirty="0"/>
              <a:t>And, &amp; Or Operators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4"/>
          <p:cNvSpPr>
            <a:spLocks noChangeArrowheads="1"/>
          </p:cNvSpPr>
          <p:nvPr/>
        </p:nvSpPr>
        <p:spPr bwMode="auto">
          <a:xfrm>
            <a:off x="1524001" y="5949950"/>
            <a:ext cx="1763713" cy="9080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669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199" y="105792"/>
            <a:ext cx="8229600" cy="1058799"/>
          </a:xfrm>
        </p:spPr>
        <p:txBody>
          <a:bodyPr anchor="t">
            <a:noAutofit/>
          </a:bodyPr>
          <a:lstStyle/>
          <a:p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SQL: Complex Queries</a:t>
            </a:r>
          </a:p>
        </p:txBody>
      </p:sp>
      <p:sp>
        <p:nvSpPr>
          <p:cNvPr id="16691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43138" y="765176"/>
            <a:ext cx="8424862" cy="60928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000" dirty="0"/>
              <a:t>Shortly we will write SQL Queries with complex </a:t>
            </a:r>
            <a:r>
              <a:rPr lang="en-AU" sz="2000" b="1" dirty="0"/>
              <a:t>Where</a:t>
            </a:r>
            <a:r>
              <a:rPr lang="en-AU" sz="2000" dirty="0"/>
              <a:t> criteria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Usually these queries use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AU" sz="2000" dirty="0"/>
              <a:t>The </a:t>
            </a:r>
            <a:r>
              <a:rPr lang="en-AU" sz="2000" b="1" dirty="0"/>
              <a:t>AND</a:t>
            </a:r>
            <a:r>
              <a:rPr lang="en-AU" sz="2000" dirty="0"/>
              <a:t> operator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AU" sz="2000" dirty="0"/>
              <a:t>The </a:t>
            </a:r>
            <a:r>
              <a:rPr lang="en-AU" sz="2000" b="1" dirty="0"/>
              <a:t>OR</a:t>
            </a:r>
            <a:r>
              <a:rPr lang="en-AU" sz="2000" dirty="0"/>
              <a:t> operator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AU" sz="2000" dirty="0"/>
              <a:t>A </a:t>
            </a:r>
            <a:r>
              <a:rPr lang="en-AU" sz="2000" b="1" dirty="0"/>
              <a:t>combination</a:t>
            </a:r>
            <a:r>
              <a:rPr lang="en-AU" sz="2000" dirty="0"/>
              <a:t> of AND &amp; OR operators</a:t>
            </a:r>
          </a:p>
          <a:p>
            <a:endParaRPr lang="en-AU" sz="1000" dirty="0"/>
          </a:p>
          <a:p>
            <a:pPr lvl="1">
              <a:buFont typeface="Arial Narrow" pitchFamily="34" charset="0"/>
              <a:buNone/>
            </a:pPr>
            <a:r>
              <a:rPr lang="en-AU" sz="2000" i="1" dirty="0" err="1"/>
              <a:t>Eg</a:t>
            </a:r>
            <a:r>
              <a:rPr lang="en-AU" sz="2000" dirty="0"/>
              <a:t>:   </a:t>
            </a:r>
            <a:r>
              <a:rPr lang="en-AU" sz="2000" dirty="0">
                <a:solidFill>
                  <a:srgbClr val="0033CC"/>
                </a:solidFill>
              </a:rPr>
              <a:t> SELECT    * FROM Lecturer </a:t>
            </a:r>
          </a:p>
          <a:p>
            <a:pPr lvl="1">
              <a:buFont typeface="Arial Narrow" pitchFamily="34" charset="0"/>
              <a:buNone/>
            </a:pPr>
            <a:r>
              <a:rPr lang="en-AU" sz="2000" dirty="0">
                <a:solidFill>
                  <a:srgbClr val="0033CC"/>
                </a:solidFill>
              </a:rPr>
              <a:t>          WHERE    Age &gt;= 20 </a:t>
            </a:r>
          </a:p>
          <a:p>
            <a:pPr lvl="1">
              <a:buFont typeface="Arial Narrow" pitchFamily="34" charset="0"/>
              <a:buNone/>
            </a:pPr>
            <a:r>
              <a:rPr lang="en-AU" sz="2000" dirty="0">
                <a:solidFill>
                  <a:srgbClr val="0033CC"/>
                </a:solidFill>
              </a:rPr>
              <a:t>		          </a:t>
            </a:r>
            <a:r>
              <a:rPr lang="en-AU" sz="2000" b="1" dirty="0">
                <a:solidFill>
                  <a:srgbClr val="0033CC"/>
                </a:solidFill>
              </a:rPr>
              <a:t>AND</a:t>
            </a:r>
            <a:r>
              <a:rPr lang="en-AU" sz="2000" dirty="0">
                <a:solidFill>
                  <a:srgbClr val="0033CC"/>
                </a:solidFill>
              </a:rPr>
              <a:t>   Age &lt;= 29  ;</a:t>
            </a:r>
          </a:p>
          <a:p>
            <a:pPr lvl="1">
              <a:buFont typeface="Arial Narrow" pitchFamily="34" charset="0"/>
              <a:buNone/>
            </a:pPr>
            <a:endParaRPr lang="en-AU" sz="1000" dirty="0"/>
          </a:p>
          <a:p>
            <a:pPr lvl="1">
              <a:buFont typeface="Arial Narrow" pitchFamily="34" charset="0"/>
              <a:buNone/>
            </a:pPr>
            <a:r>
              <a:rPr lang="en-AU" sz="2000" dirty="0"/>
              <a:t>         </a:t>
            </a:r>
            <a:r>
              <a:rPr lang="en-AU" sz="2000" dirty="0">
                <a:solidFill>
                  <a:srgbClr val="0033CC"/>
                </a:solidFill>
              </a:rPr>
              <a:t>SELECT    * FROM Lecturer </a:t>
            </a:r>
          </a:p>
          <a:p>
            <a:pPr lvl="1">
              <a:buFont typeface="Arial Narrow" pitchFamily="34" charset="0"/>
              <a:buNone/>
            </a:pPr>
            <a:r>
              <a:rPr lang="en-AU" sz="2000" dirty="0">
                <a:solidFill>
                  <a:srgbClr val="0033CC"/>
                </a:solidFill>
              </a:rPr>
              <a:t>          WHERE    </a:t>
            </a:r>
            <a:r>
              <a:rPr lang="en-AU" sz="2000" dirty="0" err="1">
                <a:solidFill>
                  <a:srgbClr val="0033CC"/>
                </a:solidFill>
              </a:rPr>
              <a:t>LecName</a:t>
            </a:r>
            <a:r>
              <a:rPr lang="en-AU" sz="2000" dirty="0">
                <a:solidFill>
                  <a:srgbClr val="0033CC"/>
                </a:solidFill>
              </a:rPr>
              <a:t> = 'John Smith' </a:t>
            </a:r>
          </a:p>
          <a:p>
            <a:pPr lvl="1">
              <a:buFont typeface="Arial Narrow" pitchFamily="34" charset="0"/>
              <a:buNone/>
            </a:pPr>
            <a:r>
              <a:rPr lang="en-AU" sz="2000" dirty="0">
                <a:solidFill>
                  <a:srgbClr val="0033CC"/>
                </a:solidFill>
              </a:rPr>
              <a:t>  		            </a:t>
            </a:r>
            <a:r>
              <a:rPr lang="en-AU" sz="2000" b="1" dirty="0">
                <a:solidFill>
                  <a:srgbClr val="0033CC"/>
                </a:solidFill>
              </a:rPr>
              <a:t>OR</a:t>
            </a:r>
            <a:r>
              <a:rPr lang="en-AU" sz="2000" dirty="0">
                <a:solidFill>
                  <a:srgbClr val="0033CC"/>
                </a:solidFill>
              </a:rPr>
              <a:t>   </a:t>
            </a:r>
            <a:r>
              <a:rPr lang="en-AU" sz="2000" dirty="0" err="1">
                <a:solidFill>
                  <a:srgbClr val="0033CC"/>
                </a:solidFill>
              </a:rPr>
              <a:t>LecName</a:t>
            </a:r>
            <a:r>
              <a:rPr lang="en-AU" sz="2000" dirty="0">
                <a:solidFill>
                  <a:srgbClr val="0033CC"/>
                </a:solidFill>
              </a:rPr>
              <a:t> = 'Jack Smith' </a:t>
            </a:r>
          </a:p>
          <a:p>
            <a:pPr lvl="1">
              <a:buFont typeface="Arial Narrow" pitchFamily="34" charset="0"/>
              <a:buNone/>
            </a:pPr>
            <a:r>
              <a:rPr lang="en-AU" sz="1200" dirty="0">
                <a:solidFill>
                  <a:srgbClr val="0033CC"/>
                </a:solidFill>
              </a:rPr>
              <a:t> </a:t>
            </a:r>
          </a:p>
          <a:p>
            <a:pPr lvl="1">
              <a:buFont typeface="Arial Narrow" pitchFamily="34" charset="0"/>
              <a:buNone/>
            </a:pPr>
            <a:r>
              <a:rPr lang="en-AU" sz="2000" dirty="0"/>
              <a:t>         </a:t>
            </a:r>
            <a:r>
              <a:rPr lang="en-AU" sz="2000" dirty="0">
                <a:solidFill>
                  <a:srgbClr val="0033CC"/>
                </a:solidFill>
              </a:rPr>
              <a:t>SELECT    * FROM Lecturer </a:t>
            </a:r>
          </a:p>
          <a:p>
            <a:pPr lvl="1">
              <a:buFont typeface="Arial Narrow" pitchFamily="34" charset="0"/>
              <a:buNone/>
            </a:pPr>
            <a:r>
              <a:rPr lang="en-AU" sz="2000" dirty="0">
                <a:solidFill>
                  <a:srgbClr val="0033CC"/>
                </a:solidFill>
              </a:rPr>
              <a:t>          WHERE    Age &gt;= 20 </a:t>
            </a:r>
            <a:r>
              <a:rPr lang="en-AU" sz="2000" b="1" dirty="0">
                <a:solidFill>
                  <a:srgbClr val="0033CC"/>
                </a:solidFill>
              </a:rPr>
              <a:t>AND</a:t>
            </a:r>
            <a:r>
              <a:rPr lang="en-AU" sz="2000" dirty="0">
                <a:solidFill>
                  <a:srgbClr val="0033CC"/>
                </a:solidFill>
              </a:rPr>
              <a:t>   Age &lt;= 29</a:t>
            </a:r>
          </a:p>
          <a:p>
            <a:pPr lvl="1">
              <a:buFont typeface="Arial Narrow" pitchFamily="34" charset="0"/>
              <a:buNone/>
            </a:pPr>
            <a:r>
              <a:rPr lang="en-AU" sz="2000" dirty="0">
                <a:solidFill>
                  <a:srgbClr val="0033CC"/>
                </a:solidFill>
              </a:rPr>
              <a:t>  		            </a:t>
            </a:r>
            <a:r>
              <a:rPr lang="en-AU" sz="2000" b="1" dirty="0">
                <a:solidFill>
                  <a:srgbClr val="0033CC"/>
                </a:solidFill>
              </a:rPr>
              <a:t>OR</a:t>
            </a:r>
            <a:r>
              <a:rPr lang="en-AU" sz="2000" dirty="0">
                <a:solidFill>
                  <a:srgbClr val="0033CC"/>
                </a:solidFill>
              </a:rPr>
              <a:t>   </a:t>
            </a:r>
            <a:r>
              <a:rPr lang="en-AU" sz="2000" dirty="0" err="1">
                <a:solidFill>
                  <a:srgbClr val="0033CC"/>
                </a:solidFill>
              </a:rPr>
              <a:t>LecId</a:t>
            </a:r>
            <a:r>
              <a:rPr lang="en-AU" sz="2000" dirty="0">
                <a:solidFill>
                  <a:srgbClr val="0033CC"/>
                </a:solidFill>
              </a:rPr>
              <a:t> &gt; 500</a:t>
            </a:r>
          </a:p>
        </p:txBody>
      </p:sp>
    </p:spTree>
    <p:extLst>
      <p:ext uri="{BB962C8B-B14F-4D97-AF65-F5344CB8AC3E}">
        <p14:creationId xmlns:p14="http://schemas.microsoft.com/office/powerpoint/2010/main" val="2400810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9" name="Rectangle 4"/>
          <p:cNvSpPr>
            <a:spLocks noChangeArrowheads="1"/>
          </p:cNvSpPr>
          <p:nvPr/>
        </p:nvSpPr>
        <p:spPr bwMode="auto">
          <a:xfrm>
            <a:off x="1524001" y="5949950"/>
            <a:ext cx="1763713" cy="9080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sz="3200" dirty="0"/>
              <a:t>SQL: AND  &amp;  OR operators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2135188" y="908050"/>
            <a:ext cx="8532812" cy="52339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/>
              <a:t>Each</a:t>
            </a:r>
            <a:r>
              <a:rPr lang="en-AU" sz="2000" dirty="0"/>
              <a:t> row in the table is </a:t>
            </a:r>
            <a:r>
              <a:rPr lang="en-AU" sz="2000" b="1" dirty="0"/>
              <a:t>evaluated</a:t>
            </a:r>
            <a:r>
              <a:rPr lang="en-AU" sz="2000" dirty="0"/>
              <a:t> against the criteria. </a:t>
            </a:r>
            <a:br>
              <a:rPr lang="en-AU" sz="2000" dirty="0"/>
            </a:br>
            <a:r>
              <a:rPr lang="en-AU" sz="2000" dirty="0"/>
              <a:t>Only rows that </a:t>
            </a:r>
            <a:r>
              <a:rPr lang="en-AU" sz="2000" b="1" dirty="0"/>
              <a:t>satisfy</a:t>
            </a:r>
            <a:r>
              <a:rPr lang="en-AU" sz="2000" dirty="0"/>
              <a:t> the criteria are </a:t>
            </a:r>
            <a:r>
              <a:rPr lang="en-AU" sz="2000" b="1" dirty="0"/>
              <a:t>returned</a:t>
            </a:r>
            <a:r>
              <a:rPr lang="en-AU" sz="2000" dirty="0"/>
              <a:t> in the Result Set.</a:t>
            </a:r>
          </a:p>
          <a:p>
            <a:endParaRPr lang="en-AU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Many people (especially non-programmers) are often </a:t>
            </a:r>
            <a:r>
              <a:rPr lang="en-AU" sz="2000" b="1" dirty="0"/>
              <a:t>confused</a:t>
            </a:r>
            <a:r>
              <a:rPr lang="en-AU" sz="2000" dirty="0"/>
              <a:t> about whether to use an </a:t>
            </a:r>
            <a:r>
              <a:rPr lang="en-AU" sz="2000" b="1" dirty="0"/>
              <a:t>AND</a:t>
            </a:r>
            <a:r>
              <a:rPr lang="en-AU" sz="2000" dirty="0"/>
              <a:t> or an </a:t>
            </a:r>
            <a:r>
              <a:rPr lang="en-AU" sz="2000" b="1" dirty="0"/>
              <a:t>OR</a:t>
            </a:r>
            <a:r>
              <a:rPr lang="en-AU" sz="2000" dirty="0"/>
              <a:t> operator</a:t>
            </a:r>
          </a:p>
          <a:p>
            <a:endParaRPr lang="en-AU" sz="2000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FF0000"/>
                </a:solidFill>
              </a:rPr>
              <a:t>Requirement: 'Look through all of our employee surnames. </a:t>
            </a:r>
            <a:br>
              <a:rPr lang="en-AU" sz="2000" dirty="0">
                <a:solidFill>
                  <a:srgbClr val="FF0000"/>
                </a:solidFill>
              </a:rPr>
            </a:br>
            <a:r>
              <a:rPr lang="en-AU" sz="2000" dirty="0">
                <a:solidFill>
                  <a:srgbClr val="FF0000"/>
                </a:solidFill>
              </a:rPr>
              <a:t>		 List all the Smiths and </a:t>
            </a:r>
            <a:r>
              <a:rPr lang="en-AU" sz="2000" dirty="0" err="1">
                <a:solidFill>
                  <a:srgbClr val="FF0000"/>
                </a:solidFill>
              </a:rPr>
              <a:t>Nguyens</a:t>
            </a:r>
            <a:r>
              <a:rPr lang="en-AU" sz="2000" dirty="0">
                <a:solidFill>
                  <a:srgbClr val="FF0000"/>
                </a:solidFill>
              </a:rPr>
              <a:t>"</a:t>
            </a:r>
          </a:p>
          <a:p>
            <a:endParaRPr lang="en-A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Which is the </a:t>
            </a:r>
            <a:r>
              <a:rPr lang="en-AU" sz="2000" b="1" dirty="0"/>
              <a:t>correct</a:t>
            </a:r>
            <a:r>
              <a:rPr lang="en-AU" sz="2000" dirty="0"/>
              <a:t> statement?</a:t>
            </a:r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1703389" y="4684714"/>
            <a:ext cx="4105275" cy="13234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57200">
              <a:tabLst>
                <a:tab pos="1076325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SELECT	Id, 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Firstname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, Surname </a:t>
            </a:r>
          </a:p>
          <a:p>
            <a:pPr defTabSz="457200">
              <a:tabLst>
                <a:tab pos="1076325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FROM	Employee</a:t>
            </a:r>
          </a:p>
          <a:p>
            <a:pPr defTabSz="457200">
              <a:tabLst>
                <a:tab pos="1076325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WHERE	Surname = 'Smith'</a:t>
            </a:r>
          </a:p>
          <a:p>
            <a:pPr defTabSz="457200">
              <a:tabLst>
                <a:tab pos="1076325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        OR	Surname = 'Nguyen'</a:t>
            </a: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6383339" y="4684714"/>
            <a:ext cx="4105275" cy="13234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57200">
              <a:tabLst>
                <a:tab pos="1076325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SELECT	Id, </a:t>
            </a:r>
            <a:r>
              <a:rPr lang="en-AU" sz="2000" dirty="0" err="1">
                <a:solidFill>
                  <a:srgbClr val="0033CC"/>
                </a:solidFill>
                <a:latin typeface="Calibri"/>
              </a:rPr>
              <a:t>Firstname</a:t>
            </a:r>
            <a:r>
              <a:rPr lang="en-AU" sz="2000" dirty="0">
                <a:solidFill>
                  <a:srgbClr val="0033CC"/>
                </a:solidFill>
                <a:latin typeface="Calibri"/>
              </a:rPr>
              <a:t>, Surname </a:t>
            </a:r>
          </a:p>
          <a:p>
            <a:pPr defTabSz="457200">
              <a:tabLst>
                <a:tab pos="1076325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FROM	Employee</a:t>
            </a:r>
          </a:p>
          <a:p>
            <a:pPr defTabSz="457200">
              <a:tabLst>
                <a:tab pos="1076325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WHERE	Surname = 'Smith'</a:t>
            </a:r>
          </a:p>
          <a:p>
            <a:pPr defTabSz="457200">
              <a:tabLst>
                <a:tab pos="1076325" algn="l"/>
              </a:tabLst>
            </a:pPr>
            <a:r>
              <a:rPr lang="en-AU" sz="2000" dirty="0">
                <a:solidFill>
                  <a:srgbClr val="0033CC"/>
                </a:solidFill>
                <a:latin typeface="Calibri"/>
              </a:rPr>
              <a:t>      AND	Surname = 'Nguyen'</a:t>
            </a:r>
          </a:p>
        </p:txBody>
      </p:sp>
    </p:spTree>
    <p:extLst>
      <p:ext uri="{BB962C8B-B14F-4D97-AF65-F5344CB8AC3E}">
        <p14:creationId xmlns:p14="http://schemas.microsoft.com/office/powerpoint/2010/main" val="922920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81199" y="105792"/>
            <a:ext cx="8229600" cy="1058799"/>
          </a:xfrm>
        </p:spPr>
        <p:txBody>
          <a:bodyPr anchor="t">
            <a:noAutofit/>
          </a:bodyPr>
          <a:lstStyle/>
          <a:p>
            <a:r>
              <a:rPr lang="en-AU" dirty="0">
                <a:solidFill>
                  <a:srgbClr val="D1161E"/>
                </a:solidFill>
                <a:latin typeface="Calibri" panose="020F0502020204030204" pitchFamily="34" charset="0"/>
              </a:rPr>
              <a:t>SQL: AND  &amp;  OR operators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35188" y="908050"/>
            <a:ext cx="8532812" cy="52339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/>
              <a:t>When dealing with an SQL statement with AND  OR  operators</a:t>
            </a:r>
          </a:p>
          <a:p>
            <a:pPr marL="1081088" lvl="1" indent="-45720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accent2"/>
                </a:solidFill>
              </a:rPr>
              <a:t>Do not</a:t>
            </a:r>
            <a:r>
              <a:rPr lang="en-AU" dirty="0"/>
              <a:t> consider the </a:t>
            </a:r>
            <a:r>
              <a:rPr lang="en-AU" b="1" dirty="0"/>
              <a:t>entire</a:t>
            </a:r>
            <a:r>
              <a:rPr lang="en-AU" dirty="0"/>
              <a:t> employee table.</a:t>
            </a:r>
          </a:p>
          <a:p>
            <a:pPr marL="1081088" lvl="1" indent="-457200">
              <a:buFont typeface="Arial" panose="020B0604020202020204" pitchFamily="34" charset="0"/>
              <a:buChar char="•"/>
            </a:pPr>
            <a:r>
              <a:rPr lang="en-AU" dirty="0"/>
              <a:t>Only </a:t>
            </a:r>
            <a:r>
              <a:rPr lang="en-AU" b="1" dirty="0"/>
              <a:t>consider</a:t>
            </a:r>
            <a:r>
              <a:rPr lang="en-AU" dirty="0"/>
              <a:t> a </a:t>
            </a:r>
            <a:r>
              <a:rPr lang="en-AU" b="1" dirty="0">
                <a:solidFill>
                  <a:srgbClr val="009900"/>
                </a:solidFill>
              </a:rPr>
              <a:t>single row</a:t>
            </a:r>
            <a:r>
              <a:rPr lang="en-AU" dirty="0"/>
              <a:t> of the table.</a:t>
            </a:r>
          </a:p>
          <a:p>
            <a:endParaRPr lang="en-AU" dirty="0"/>
          </a:p>
          <a:p>
            <a:pPr marL="0" indent="0">
              <a:buNone/>
            </a:pPr>
            <a:r>
              <a:rPr lang="en-AU" dirty="0"/>
              <a:t>Suggestion: Consider only the </a:t>
            </a:r>
            <a:r>
              <a:rPr lang="en-AU" b="1" dirty="0"/>
              <a:t>first row </a:t>
            </a:r>
            <a:r>
              <a:rPr lang="en-AU" dirty="0"/>
              <a:t>in the table:</a:t>
            </a:r>
          </a:p>
          <a:p>
            <a:endParaRPr lang="en-AU" dirty="0"/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    Can the </a:t>
            </a:r>
            <a:r>
              <a:rPr lang="en-AU" b="1" dirty="0"/>
              <a:t>first row have a surname</a:t>
            </a:r>
            <a:r>
              <a:rPr lang="en-AU" dirty="0"/>
              <a:t> that meets the criteria</a:t>
            </a:r>
          </a:p>
          <a:p>
            <a:pPr marL="1081088" lvl="1" indent="-457200">
              <a:buNone/>
            </a:pPr>
            <a:r>
              <a:rPr lang="en-AU" b="1" dirty="0">
                <a:solidFill>
                  <a:srgbClr val="0033CC"/>
                </a:solidFill>
              </a:rPr>
              <a:t>Surname = 'Smith'      AND     Surname = 'Nguyen'</a:t>
            </a:r>
          </a:p>
          <a:p>
            <a:pPr marL="1081088" lvl="1" indent="-457200">
              <a:buNone/>
            </a:pPr>
            <a:r>
              <a:rPr lang="en-AU" b="1" dirty="0">
                <a:solidFill>
                  <a:srgbClr val="0033CC"/>
                </a:solidFill>
              </a:rPr>
              <a:t>	</a:t>
            </a:r>
            <a:r>
              <a:rPr lang="en-AU" dirty="0">
                <a:solidFill>
                  <a:srgbClr val="0033CC"/>
                </a:solidFill>
              </a:rPr>
              <a:t>No.   Surname can only store a single value, it can never be both</a:t>
            </a:r>
          </a:p>
          <a:p>
            <a:pPr marL="1081088" lvl="1" indent="-457200"/>
            <a:endParaRPr lang="en-AU" dirty="0"/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    Can the </a:t>
            </a:r>
            <a:r>
              <a:rPr lang="en-AU" b="1" dirty="0"/>
              <a:t>first row have a surname</a:t>
            </a:r>
            <a:r>
              <a:rPr lang="en-AU" dirty="0"/>
              <a:t> that meets the criteria</a:t>
            </a:r>
          </a:p>
          <a:p>
            <a:pPr marL="1081088" lvl="1" indent="-457200">
              <a:buNone/>
            </a:pPr>
            <a:r>
              <a:rPr lang="en-AU" b="1" dirty="0">
                <a:solidFill>
                  <a:srgbClr val="0033CC"/>
                </a:solidFill>
              </a:rPr>
              <a:t>Surname = 'Smith'      OR      Surname = 'Nguyen'</a:t>
            </a:r>
          </a:p>
          <a:p>
            <a:pPr marL="1081088" lvl="1" indent="-457200">
              <a:buNone/>
            </a:pPr>
            <a:r>
              <a:rPr lang="en-AU" b="1" dirty="0">
                <a:solidFill>
                  <a:srgbClr val="0033CC"/>
                </a:solidFill>
              </a:rPr>
              <a:t>	</a:t>
            </a:r>
            <a:r>
              <a:rPr lang="en-AU" dirty="0">
                <a:solidFill>
                  <a:srgbClr val="0033CC"/>
                </a:solidFill>
              </a:rPr>
              <a:t>Yes.   The Surname could be </a:t>
            </a:r>
            <a:r>
              <a:rPr lang="en-AU" b="1" dirty="0">
                <a:solidFill>
                  <a:srgbClr val="0033CC"/>
                </a:solidFill>
              </a:rPr>
              <a:t>one</a:t>
            </a:r>
            <a:r>
              <a:rPr lang="en-AU" dirty="0">
                <a:solidFill>
                  <a:srgbClr val="0033CC"/>
                </a:solidFill>
              </a:rPr>
              <a:t> of these values</a:t>
            </a:r>
          </a:p>
          <a:p>
            <a:pPr marL="2057400" lvl="4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66597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0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SQL: AND operator and numeric ranges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idx="1"/>
          </p:nvPr>
        </p:nvSpPr>
        <p:spPr>
          <a:xfrm>
            <a:off x="2135188" y="765175"/>
            <a:ext cx="8532812" cy="523398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AU" sz="2000" dirty="0"/>
              <a:t>Sometimes a criteria will cover a range of values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AU" sz="2000" dirty="0"/>
              <a:t>'List employees whose salary is in the range 20000 to 30000'</a:t>
            </a:r>
          </a:p>
          <a:p>
            <a:pPr>
              <a:buFont typeface="Arial" panose="020B0604020202020204" pitchFamily="34" charset="0"/>
              <a:buChar char="•"/>
            </a:pPr>
            <a:endParaRPr lang="en-AU" sz="10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Which set of values is covered by: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0033CC"/>
                </a:solidFill>
              </a:rPr>
              <a:t>salary &gt; 20000  AND  salary &lt; 30000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0033CC"/>
                </a:solidFill>
              </a:rPr>
              <a:t>salary &gt; 20000  OR  salary &lt; 30000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AU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A diagram may help</a:t>
            </a:r>
          </a:p>
          <a:p>
            <a:pPr>
              <a:buFont typeface="Arial" panose="020B0604020202020204" pitchFamily="34" charset="0"/>
              <a:buChar char="•"/>
            </a:pPr>
            <a:endParaRPr lang="en-AU" sz="1000" dirty="0"/>
          </a:p>
          <a:p>
            <a:pPr>
              <a:buFont typeface="Arial" panose="020B0604020202020204" pitchFamily="34" charset="0"/>
              <a:buChar char="•"/>
            </a:pPr>
            <a:endParaRPr lang="en-AU" sz="1000" dirty="0"/>
          </a:p>
          <a:p>
            <a:pPr>
              <a:buFont typeface="Arial" panose="020B0604020202020204" pitchFamily="34" charset="0"/>
              <a:buChar char="•"/>
            </a:pPr>
            <a:endParaRPr lang="en-AU" dirty="0"/>
          </a:p>
          <a:p>
            <a:pPr>
              <a:buFont typeface="Arial" panose="020B0604020202020204" pitchFamily="34" charset="0"/>
              <a:buChar char="•"/>
            </a:pPr>
            <a:endParaRPr lang="en-AU" dirty="0"/>
          </a:p>
          <a:p>
            <a:pPr>
              <a:buFont typeface="Arial" panose="020B0604020202020204" pitchFamily="34" charset="0"/>
              <a:buChar char="•"/>
            </a:pPr>
            <a:endParaRPr lang="en-AU" dirty="0"/>
          </a:p>
          <a:p>
            <a:pPr>
              <a:buFont typeface="Arial" panose="020B0604020202020204" pitchFamily="34" charset="0"/>
              <a:buChar char="•"/>
            </a:pPr>
            <a:endParaRPr lang="en-AU" dirty="0"/>
          </a:p>
          <a:p>
            <a:pPr>
              <a:buFont typeface="Arial" panose="020B0604020202020204" pitchFamily="34" charset="0"/>
              <a:buChar char="•"/>
            </a:pPr>
            <a:endParaRPr lang="en-AU" dirty="0"/>
          </a:p>
          <a:p>
            <a:pPr>
              <a:buFont typeface="Arial" panose="020B0604020202020204" pitchFamily="34" charset="0"/>
              <a:buChar char="•"/>
            </a:pPr>
            <a:endParaRPr lang="en-AU" dirty="0"/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The </a:t>
            </a:r>
            <a:r>
              <a:rPr lang="en-AU" b="1" dirty="0"/>
              <a:t>AND</a:t>
            </a:r>
            <a:r>
              <a:rPr lang="en-AU" dirty="0"/>
              <a:t> alternative includes the range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AU" dirty="0"/>
              <a:t> </a:t>
            </a:r>
            <a:r>
              <a:rPr lang="en-AU" b="1" u="sng" dirty="0"/>
              <a:t>common</a:t>
            </a:r>
            <a:r>
              <a:rPr lang="en-AU" b="1" dirty="0"/>
              <a:t> to both lines </a:t>
            </a:r>
            <a:r>
              <a:rPr lang="en-AU" dirty="0"/>
              <a:t>  </a:t>
            </a:r>
          </a:p>
          <a:p>
            <a:pPr>
              <a:buFont typeface="Arial" panose="020B0604020202020204" pitchFamily="34" charset="0"/>
              <a:buChar char="•"/>
            </a:pPr>
            <a:endParaRPr lang="en-AU" sz="1200" dirty="0"/>
          </a:p>
          <a:p>
            <a:pPr>
              <a:buFont typeface="Arial" panose="020B0604020202020204" pitchFamily="34" charset="0"/>
              <a:buChar char="•"/>
            </a:pPr>
            <a:endParaRPr lang="en-AU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The </a:t>
            </a:r>
            <a:r>
              <a:rPr lang="en-AU" b="1" dirty="0"/>
              <a:t>OR</a:t>
            </a:r>
            <a:r>
              <a:rPr lang="en-AU" dirty="0"/>
              <a:t> alternative includes range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AU" b="1" dirty="0"/>
              <a:t>covered by </a:t>
            </a:r>
            <a:r>
              <a:rPr lang="en-AU" b="1" u="sng" dirty="0"/>
              <a:t>either</a:t>
            </a:r>
            <a:r>
              <a:rPr lang="en-AU" b="1" dirty="0"/>
              <a:t> line</a:t>
            </a:r>
            <a:r>
              <a:rPr lang="en-AU" dirty="0"/>
              <a:t>. </a:t>
            </a:r>
          </a:p>
        </p:txBody>
      </p:sp>
      <p:sp>
        <p:nvSpPr>
          <p:cNvPr id="11270" name="Line 4"/>
          <p:cNvSpPr>
            <a:spLocks noChangeShapeType="1"/>
          </p:cNvSpPr>
          <p:nvPr/>
        </p:nvSpPr>
        <p:spPr bwMode="auto">
          <a:xfrm>
            <a:off x="2208214" y="3711989"/>
            <a:ext cx="8027987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/>
          </a:ln>
        </p:spPr>
        <p:txBody>
          <a:bodyPr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1271" name="Text Box 5"/>
          <p:cNvSpPr txBox="1">
            <a:spLocks noChangeArrowheads="1"/>
          </p:cNvSpPr>
          <p:nvPr/>
        </p:nvSpPr>
        <p:spPr bwMode="auto">
          <a:xfrm>
            <a:off x="3640138" y="3280189"/>
            <a:ext cx="74771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457200"/>
            <a:r>
              <a:rPr lang="en-AU" sz="1600">
                <a:solidFill>
                  <a:srgbClr val="0033CC"/>
                </a:solidFill>
                <a:latin typeface="Arial" charset="0"/>
              </a:rPr>
              <a:t>10000</a:t>
            </a:r>
            <a:endParaRPr lang="en-US" sz="1600">
              <a:solidFill>
                <a:srgbClr val="0033CC"/>
              </a:solidFill>
              <a:latin typeface="Arial" charset="0"/>
            </a:endParaRPr>
          </a:p>
        </p:txBody>
      </p:sp>
      <p:sp>
        <p:nvSpPr>
          <p:cNvPr id="11272" name="Text Box 6"/>
          <p:cNvSpPr txBox="1">
            <a:spLocks noChangeArrowheads="1"/>
          </p:cNvSpPr>
          <p:nvPr/>
        </p:nvSpPr>
        <p:spPr bwMode="auto">
          <a:xfrm>
            <a:off x="2343151" y="3280189"/>
            <a:ext cx="29686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457200"/>
            <a:r>
              <a:rPr lang="en-AU" sz="1600">
                <a:solidFill>
                  <a:srgbClr val="0033CC"/>
                </a:solidFill>
                <a:latin typeface="Arial" charset="0"/>
              </a:rPr>
              <a:t>0</a:t>
            </a:r>
            <a:endParaRPr lang="en-US" sz="1600">
              <a:solidFill>
                <a:srgbClr val="0033CC"/>
              </a:solidFill>
              <a:latin typeface="Arial" charset="0"/>
            </a:endParaRPr>
          </a:p>
        </p:txBody>
      </p:sp>
      <p:sp>
        <p:nvSpPr>
          <p:cNvPr id="11273" name="Text Box 7"/>
          <p:cNvSpPr txBox="1">
            <a:spLocks noChangeArrowheads="1"/>
          </p:cNvSpPr>
          <p:nvPr/>
        </p:nvSpPr>
        <p:spPr bwMode="auto">
          <a:xfrm>
            <a:off x="5295901" y="3280189"/>
            <a:ext cx="74771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457200"/>
            <a:r>
              <a:rPr lang="en-AU" sz="1600">
                <a:solidFill>
                  <a:srgbClr val="0033CC"/>
                </a:solidFill>
                <a:latin typeface="Arial" charset="0"/>
              </a:rPr>
              <a:t>20000</a:t>
            </a:r>
            <a:endParaRPr lang="en-US" sz="1600">
              <a:solidFill>
                <a:srgbClr val="0033CC"/>
              </a:solidFill>
              <a:latin typeface="Arial" charset="0"/>
            </a:endParaRPr>
          </a:p>
        </p:txBody>
      </p:sp>
      <p:sp>
        <p:nvSpPr>
          <p:cNvPr id="11274" name="Text Box 8"/>
          <p:cNvSpPr txBox="1">
            <a:spLocks noChangeArrowheads="1"/>
          </p:cNvSpPr>
          <p:nvPr/>
        </p:nvSpPr>
        <p:spPr bwMode="auto">
          <a:xfrm>
            <a:off x="7024688" y="3280189"/>
            <a:ext cx="74771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457200"/>
            <a:r>
              <a:rPr lang="en-AU" sz="1600">
                <a:solidFill>
                  <a:srgbClr val="0033CC"/>
                </a:solidFill>
                <a:latin typeface="Arial" charset="0"/>
              </a:rPr>
              <a:t>30000</a:t>
            </a:r>
            <a:endParaRPr lang="en-US" sz="1600">
              <a:solidFill>
                <a:srgbClr val="0033CC"/>
              </a:solidFill>
              <a:latin typeface="Arial" charset="0"/>
            </a:endParaRPr>
          </a:p>
        </p:txBody>
      </p:sp>
      <p:sp>
        <p:nvSpPr>
          <p:cNvPr id="11275" name="Text Box 9"/>
          <p:cNvSpPr txBox="1">
            <a:spLocks noChangeArrowheads="1"/>
          </p:cNvSpPr>
          <p:nvPr/>
        </p:nvSpPr>
        <p:spPr bwMode="auto">
          <a:xfrm>
            <a:off x="8609013" y="3280189"/>
            <a:ext cx="74771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457200"/>
            <a:r>
              <a:rPr lang="en-AU" sz="1600">
                <a:solidFill>
                  <a:srgbClr val="0033CC"/>
                </a:solidFill>
                <a:latin typeface="Arial" charset="0"/>
              </a:rPr>
              <a:t>40000</a:t>
            </a:r>
            <a:endParaRPr lang="en-US" sz="1600">
              <a:solidFill>
                <a:srgbClr val="0033CC"/>
              </a:solidFill>
              <a:latin typeface="Arial" charset="0"/>
            </a:endParaRPr>
          </a:p>
        </p:txBody>
      </p:sp>
      <p:sp>
        <p:nvSpPr>
          <p:cNvPr id="11277" name="Line 11"/>
          <p:cNvSpPr>
            <a:spLocks noChangeShapeType="1"/>
          </p:cNvSpPr>
          <p:nvPr/>
        </p:nvSpPr>
        <p:spPr bwMode="auto">
          <a:xfrm flipV="1">
            <a:off x="5656263" y="4072352"/>
            <a:ext cx="4545012" cy="3175"/>
          </a:xfrm>
          <a:prstGeom prst="line">
            <a:avLst/>
          </a:prstGeom>
          <a:noFill/>
          <a:ln w="38100">
            <a:solidFill>
              <a:srgbClr val="FF33CC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1278" name="Text Box 12"/>
          <p:cNvSpPr txBox="1">
            <a:spLocks noChangeArrowheads="1"/>
          </p:cNvSpPr>
          <p:nvPr/>
        </p:nvSpPr>
        <p:spPr bwMode="auto">
          <a:xfrm>
            <a:off x="2487613" y="3927889"/>
            <a:ext cx="982662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457200"/>
            <a:r>
              <a:rPr lang="en-AU" sz="1600">
                <a:solidFill>
                  <a:srgbClr val="009900"/>
                </a:solidFill>
                <a:latin typeface="Arial" charset="0"/>
              </a:rPr>
              <a:t>&lt; 30000</a:t>
            </a:r>
            <a:endParaRPr lang="en-US" sz="1600">
              <a:solidFill>
                <a:srgbClr val="009900"/>
              </a:solidFill>
              <a:latin typeface="Arial" charset="0"/>
            </a:endParaRPr>
          </a:p>
        </p:txBody>
      </p:sp>
      <p:sp>
        <p:nvSpPr>
          <p:cNvPr id="11279" name="Line 13"/>
          <p:cNvSpPr>
            <a:spLocks noChangeShapeType="1"/>
          </p:cNvSpPr>
          <p:nvPr/>
        </p:nvSpPr>
        <p:spPr bwMode="auto">
          <a:xfrm flipH="1">
            <a:off x="2173288" y="4272376"/>
            <a:ext cx="5149850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1280" name="Line 14"/>
          <p:cNvSpPr>
            <a:spLocks noChangeShapeType="1"/>
          </p:cNvSpPr>
          <p:nvPr/>
        </p:nvSpPr>
        <p:spPr bwMode="auto">
          <a:xfrm>
            <a:off x="2511425" y="3542126"/>
            <a:ext cx="0" cy="173038"/>
          </a:xfrm>
          <a:prstGeom prst="line">
            <a:avLst/>
          </a:prstGeom>
          <a:noFill/>
          <a:ln w="12700">
            <a:solidFill>
              <a:srgbClr val="0033CC"/>
            </a:solidFill>
            <a:round/>
            <a:headEnd/>
            <a:tailEnd/>
          </a:ln>
        </p:spPr>
        <p:txBody>
          <a:bodyPr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1281" name="Line 15"/>
          <p:cNvSpPr>
            <a:spLocks noChangeShapeType="1"/>
          </p:cNvSpPr>
          <p:nvPr/>
        </p:nvSpPr>
        <p:spPr bwMode="auto">
          <a:xfrm>
            <a:off x="4024313" y="3542126"/>
            <a:ext cx="0" cy="173038"/>
          </a:xfrm>
          <a:prstGeom prst="line">
            <a:avLst/>
          </a:prstGeom>
          <a:noFill/>
          <a:ln w="12700">
            <a:solidFill>
              <a:srgbClr val="0033CC"/>
            </a:solidFill>
            <a:round/>
            <a:headEnd/>
            <a:tailEnd/>
          </a:ln>
        </p:spPr>
        <p:txBody>
          <a:bodyPr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1282" name="Line 16"/>
          <p:cNvSpPr>
            <a:spLocks noChangeShapeType="1"/>
          </p:cNvSpPr>
          <p:nvPr/>
        </p:nvSpPr>
        <p:spPr bwMode="auto">
          <a:xfrm>
            <a:off x="5691188" y="3542126"/>
            <a:ext cx="0" cy="173038"/>
          </a:xfrm>
          <a:prstGeom prst="line">
            <a:avLst/>
          </a:prstGeom>
          <a:noFill/>
          <a:ln w="12700">
            <a:solidFill>
              <a:srgbClr val="0033CC"/>
            </a:solidFill>
            <a:round/>
            <a:headEnd/>
            <a:tailEnd/>
          </a:ln>
        </p:spPr>
        <p:txBody>
          <a:bodyPr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1283" name="Line 17"/>
          <p:cNvSpPr>
            <a:spLocks noChangeShapeType="1"/>
          </p:cNvSpPr>
          <p:nvPr/>
        </p:nvSpPr>
        <p:spPr bwMode="auto">
          <a:xfrm>
            <a:off x="7358063" y="3542126"/>
            <a:ext cx="0" cy="173038"/>
          </a:xfrm>
          <a:prstGeom prst="line">
            <a:avLst/>
          </a:prstGeom>
          <a:noFill/>
          <a:ln w="12700">
            <a:solidFill>
              <a:srgbClr val="0033CC"/>
            </a:solidFill>
            <a:round/>
            <a:headEnd/>
            <a:tailEnd/>
          </a:ln>
        </p:spPr>
        <p:txBody>
          <a:bodyPr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1284" name="Line 18"/>
          <p:cNvSpPr>
            <a:spLocks noChangeShapeType="1"/>
          </p:cNvSpPr>
          <p:nvPr/>
        </p:nvSpPr>
        <p:spPr bwMode="auto">
          <a:xfrm>
            <a:off x="9023350" y="3542126"/>
            <a:ext cx="0" cy="173038"/>
          </a:xfrm>
          <a:prstGeom prst="line">
            <a:avLst/>
          </a:prstGeom>
          <a:noFill/>
          <a:ln w="12700">
            <a:solidFill>
              <a:srgbClr val="0033CC"/>
            </a:solidFill>
            <a:round/>
            <a:headEnd/>
            <a:tailEnd/>
          </a:ln>
        </p:spPr>
        <p:txBody>
          <a:bodyPr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1286" name="Rectangle 22"/>
          <p:cNvSpPr>
            <a:spLocks noChangeArrowheads="1"/>
          </p:cNvSpPr>
          <p:nvPr/>
        </p:nvSpPr>
        <p:spPr bwMode="auto">
          <a:xfrm>
            <a:off x="7391401" y="3927889"/>
            <a:ext cx="1152525" cy="2159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1276" name="Text Box 10"/>
          <p:cNvSpPr txBox="1">
            <a:spLocks noChangeArrowheads="1"/>
          </p:cNvSpPr>
          <p:nvPr/>
        </p:nvSpPr>
        <p:spPr bwMode="auto">
          <a:xfrm>
            <a:off x="7535864" y="3856451"/>
            <a:ext cx="9239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457200"/>
            <a:r>
              <a:rPr lang="en-AU" sz="1600">
                <a:solidFill>
                  <a:srgbClr val="FF33CC"/>
                </a:solidFill>
                <a:latin typeface="Arial" charset="0"/>
              </a:rPr>
              <a:t>&gt; 20000</a:t>
            </a:r>
            <a:endParaRPr lang="en-US" sz="1600">
              <a:solidFill>
                <a:srgbClr val="FF33CC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50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524000" y="5826642"/>
            <a:ext cx="2052084" cy="103135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457200" indent="-4572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1161E"/>
              </a:buClr>
              <a:buSzPct val="85000"/>
            </a:pPr>
            <a:endParaRPr lang="en-AU" sz="2400" b="1" i="1">
              <a:solidFill>
                <a:srgbClr val="D1161E"/>
              </a:solidFill>
              <a:latin typeface="Arial Narrow" pitchFamily="34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SQL:Basic Operators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2192338" y="908050"/>
            <a:ext cx="8475662" cy="523398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  <a:tabLst>
                <a:tab pos="1619250" algn="l"/>
              </a:tabLst>
            </a:pPr>
            <a:r>
              <a:rPr lang="en-AU" sz="2000" dirty="0"/>
              <a:t>These are the basic </a:t>
            </a:r>
            <a:r>
              <a:rPr lang="en-AU" sz="2000" b="1" dirty="0"/>
              <a:t>operators</a:t>
            </a:r>
            <a:r>
              <a:rPr lang="en-AU" sz="2000" dirty="0"/>
              <a:t> that may be used in the WHERE clause</a:t>
            </a:r>
          </a:p>
          <a:p>
            <a:pPr marL="1504950" lvl="2" indent="-457200">
              <a:lnSpc>
                <a:spcPct val="150000"/>
              </a:lnSpc>
              <a:buNone/>
              <a:tabLst>
                <a:tab pos="1619250" algn="l"/>
              </a:tabLst>
            </a:pPr>
            <a:r>
              <a:rPr lang="en-AU" sz="2000" dirty="0"/>
              <a:t>=		equals</a:t>
            </a:r>
          </a:p>
          <a:p>
            <a:pPr marL="1504950" lvl="2" indent="-457200">
              <a:lnSpc>
                <a:spcPct val="150000"/>
              </a:lnSpc>
              <a:buNone/>
              <a:tabLst>
                <a:tab pos="1619250" algn="l"/>
              </a:tabLst>
            </a:pPr>
            <a:r>
              <a:rPr lang="en-AU" sz="2000" dirty="0"/>
              <a:t>&lt;&gt;	 not equals</a:t>
            </a:r>
          </a:p>
          <a:p>
            <a:pPr marL="1504950" lvl="2" indent="-457200">
              <a:lnSpc>
                <a:spcPct val="150000"/>
              </a:lnSpc>
              <a:buNone/>
              <a:tabLst>
                <a:tab pos="1619250" algn="l"/>
              </a:tabLst>
            </a:pPr>
            <a:r>
              <a:rPr lang="en-AU" sz="2000" dirty="0"/>
              <a:t>!=		not equals</a:t>
            </a:r>
          </a:p>
          <a:p>
            <a:pPr marL="1504950" lvl="2" indent="-457200">
              <a:lnSpc>
                <a:spcPct val="150000"/>
              </a:lnSpc>
              <a:buNone/>
              <a:tabLst>
                <a:tab pos="1619250" algn="l"/>
              </a:tabLst>
            </a:pPr>
            <a:r>
              <a:rPr lang="en-AU" sz="2000" dirty="0"/>
              <a:t>&lt;		less than</a:t>
            </a:r>
          </a:p>
          <a:p>
            <a:pPr marL="1504950" lvl="2" indent="-457200">
              <a:lnSpc>
                <a:spcPct val="150000"/>
              </a:lnSpc>
              <a:buNone/>
              <a:tabLst>
                <a:tab pos="1619250" algn="l"/>
              </a:tabLst>
            </a:pPr>
            <a:r>
              <a:rPr lang="en-AU" sz="2000" dirty="0"/>
              <a:t>&lt;=    less than or equal to </a:t>
            </a:r>
          </a:p>
          <a:p>
            <a:pPr marL="1504950" lvl="2" indent="-457200">
              <a:lnSpc>
                <a:spcPct val="150000"/>
              </a:lnSpc>
              <a:buNone/>
              <a:tabLst>
                <a:tab pos="1619250" algn="l"/>
              </a:tabLst>
            </a:pPr>
            <a:r>
              <a:rPr lang="en-AU" sz="2000" dirty="0"/>
              <a:t>&gt;		greater than </a:t>
            </a:r>
          </a:p>
          <a:p>
            <a:pPr marL="1504950" lvl="2" indent="-457200">
              <a:lnSpc>
                <a:spcPct val="150000"/>
              </a:lnSpc>
              <a:buNone/>
              <a:tabLst>
                <a:tab pos="1619250" algn="l"/>
              </a:tabLst>
            </a:pPr>
            <a:r>
              <a:rPr lang="en-AU" sz="2000" dirty="0"/>
              <a:t>&gt;=    greater than or equal to</a:t>
            </a:r>
          </a:p>
          <a:p>
            <a:pPr marL="457200" indent="-457200">
              <a:lnSpc>
                <a:spcPct val="90000"/>
              </a:lnSpc>
              <a:tabLst>
                <a:tab pos="1619250" algn="l"/>
              </a:tabLst>
            </a:pP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84524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66"/>
          <p:cNvSpPr>
            <a:spLocks noChangeArrowheads="1"/>
          </p:cNvSpPr>
          <p:nvPr/>
        </p:nvSpPr>
        <p:spPr bwMode="auto">
          <a:xfrm>
            <a:off x="8970963" y="5656522"/>
            <a:ext cx="1733550" cy="1201479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SQL: Recap of WHERE clause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idx="1"/>
          </p:nvPr>
        </p:nvSpPr>
        <p:spPr>
          <a:xfrm>
            <a:off x="2135188" y="908050"/>
            <a:ext cx="8280400" cy="5545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WHERE clause has the syntax	</a:t>
            </a:r>
            <a:r>
              <a:rPr lang="en-US" sz="2000" dirty="0">
                <a:solidFill>
                  <a:srgbClr val="0033CC"/>
                </a:solidFill>
              </a:rPr>
              <a:t>WHERE &lt;</a:t>
            </a:r>
            <a:r>
              <a:rPr lang="en-US" sz="2000" i="1" dirty="0">
                <a:solidFill>
                  <a:srgbClr val="0033CC"/>
                </a:solidFill>
              </a:rPr>
              <a:t>condition</a:t>
            </a:r>
            <a:r>
              <a:rPr lang="en-US" sz="2000" dirty="0">
                <a:solidFill>
                  <a:srgbClr val="0033CC"/>
                </a:solidFill>
              </a:rPr>
              <a:t>&gt; 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 </a:t>
            </a:r>
            <a:r>
              <a:rPr lang="en-US" sz="2000" i="1" dirty="0"/>
              <a:t>condition</a:t>
            </a:r>
            <a:r>
              <a:rPr lang="en-US" sz="2000" dirty="0"/>
              <a:t> is an expression that evaluates to either </a:t>
            </a:r>
            <a:r>
              <a:rPr lang="en-US" sz="2000" b="1" dirty="0"/>
              <a:t>TRUE</a:t>
            </a:r>
            <a:r>
              <a:rPr lang="en-US" sz="2000" dirty="0"/>
              <a:t> or </a:t>
            </a:r>
            <a:r>
              <a:rPr lang="en-US" sz="2000" b="1" dirty="0"/>
              <a:t>FALSE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Whenever the WHERE clause is used in a query:</a:t>
            </a:r>
          </a:p>
          <a:p>
            <a:pPr marL="811213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The WHERE condition is evaluated for </a:t>
            </a:r>
            <a:r>
              <a:rPr lang="en-US" sz="2000" b="1" dirty="0"/>
              <a:t>each row</a:t>
            </a:r>
            <a:r>
              <a:rPr lang="en-US" sz="2000" dirty="0"/>
              <a:t> of the table</a:t>
            </a:r>
          </a:p>
          <a:p>
            <a:pPr marL="811213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If the condition evaluates to </a:t>
            </a:r>
            <a:r>
              <a:rPr lang="en-US" sz="2000" b="1" dirty="0"/>
              <a:t>TRUE</a:t>
            </a:r>
            <a:r>
              <a:rPr lang="en-US" sz="2000" dirty="0"/>
              <a:t> then that row is added to the result set</a:t>
            </a:r>
          </a:p>
          <a:p>
            <a:pPr marL="457200" indent="-457200"/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Consider the statement:</a:t>
            </a:r>
            <a:r>
              <a:rPr lang="en-AU" sz="2000" b="1" dirty="0"/>
              <a:t> </a:t>
            </a:r>
          </a:p>
          <a:p>
            <a:pPr marL="811213" lvl="1" indent="-457200">
              <a:buNone/>
            </a:pPr>
            <a:r>
              <a:rPr lang="en-AU" sz="2000" b="1" dirty="0">
                <a:solidFill>
                  <a:srgbClr val="0033CC"/>
                </a:solidFill>
              </a:rPr>
              <a:t> SELECT *  FROM employee </a:t>
            </a:r>
            <a:r>
              <a:rPr lang="en-US" sz="2000" b="1" dirty="0">
                <a:solidFill>
                  <a:srgbClr val="0033CC"/>
                </a:solidFill>
              </a:rPr>
              <a:t> WHERE age &gt;20</a:t>
            </a:r>
          </a:p>
        </p:txBody>
      </p:sp>
      <p:graphicFrame>
        <p:nvGraphicFramePr>
          <p:cNvPr id="17465" name="Group 57"/>
          <p:cNvGraphicFramePr>
            <a:graphicFrameLocks noGrp="1"/>
          </p:cNvGraphicFramePr>
          <p:nvPr/>
        </p:nvGraphicFramePr>
        <p:xfrm>
          <a:off x="2424113" y="4365625"/>
          <a:ext cx="7848600" cy="2286000"/>
        </p:xfrm>
        <a:graphic>
          <a:graphicData uri="http://schemas.openxmlformats.org/drawingml/2006/table">
            <a:tbl>
              <a:tblPr/>
              <a:tblGrid>
                <a:gridCol w="731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1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41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Row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Name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Branch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Gender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Condition</a:t>
                      </a:r>
                    </a:p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True or False?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Is the row in the Result Set?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1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Dave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Haw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2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Sue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City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3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Rob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City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19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4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Jack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Kew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9738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191"/>
          <p:cNvSpPr>
            <a:spLocks noChangeArrowheads="1"/>
          </p:cNvSpPr>
          <p:nvPr/>
        </p:nvSpPr>
        <p:spPr bwMode="auto">
          <a:xfrm>
            <a:off x="8934450" y="5635256"/>
            <a:ext cx="1733550" cy="1222744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AND Operator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When an </a:t>
            </a:r>
            <a:r>
              <a:rPr lang="en-US" sz="2000" b="1" dirty="0"/>
              <a:t>AND</a:t>
            </a:r>
            <a:r>
              <a:rPr lang="en-US" sz="2000" dirty="0"/>
              <a:t> operator is used, SQL evaluates the condition to the left and the condition to the right of the AND </a:t>
            </a:r>
          </a:p>
          <a:p>
            <a:pPr marL="731838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A row is selected only when </a:t>
            </a:r>
            <a:r>
              <a:rPr lang="en-US" sz="2000" b="1" dirty="0"/>
              <a:t>BOTH</a:t>
            </a:r>
            <a:r>
              <a:rPr lang="en-US" sz="2000" dirty="0"/>
              <a:t> Conditions are </a:t>
            </a:r>
            <a:r>
              <a:rPr lang="en-US" sz="2000" b="1" dirty="0"/>
              <a:t>TRUE</a:t>
            </a:r>
            <a:endParaRPr lang="en-US" sz="2000" dirty="0"/>
          </a:p>
          <a:p>
            <a:pPr marL="731838" lvl="1" indent="-457200"/>
            <a:endParaRPr lang="en-US" dirty="0"/>
          </a:p>
          <a:p>
            <a:pPr marL="457200" indent="-457200"/>
            <a:endParaRPr lang="en-US" sz="2000" dirty="0"/>
          </a:p>
          <a:p>
            <a:pPr marL="457200" indent="-457200"/>
            <a:endParaRPr lang="en-AU" sz="2000" dirty="0"/>
          </a:p>
          <a:p>
            <a:pPr marL="457200" indent="-457200"/>
            <a:endParaRPr lang="en-AU" sz="2000" dirty="0"/>
          </a:p>
          <a:p>
            <a:pPr marL="457200" indent="-457200"/>
            <a:endParaRPr lang="en-A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 Consider the clause:</a:t>
            </a:r>
            <a:r>
              <a:rPr lang="en-AU" dirty="0">
                <a:solidFill>
                  <a:srgbClr val="0033CC"/>
                </a:solidFill>
              </a:rPr>
              <a:t>  </a:t>
            </a:r>
            <a:r>
              <a:rPr lang="en-US" b="1" dirty="0">
                <a:solidFill>
                  <a:srgbClr val="0033CC"/>
                </a:solidFill>
              </a:rPr>
              <a:t>…WHERE gender = 'M'  AND  age &gt;20    </a:t>
            </a:r>
          </a:p>
        </p:txBody>
      </p:sp>
      <p:graphicFrame>
        <p:nvGraphicFramePr>
          <p:cNvPr id="474301" name="Group 189"/>
          <p:cNvGraphicFramePr>
            <a:graphicFrameLocks noGrp="1"/>
          </p:cNvGraphicFramePr>
          <p:nvPr/>
        </p:nvGraphicFramePr>
        <p:xfrm>
          <a:off x="2208214" y="2276475"/>
          <a:ext cx="7991475" cy="1189990"/>
        </p:xfrm>
        <a:graphic>
          <a:graphicData uri="http://schemas.openxmlformats.org/drawingml/2006/table">
            <a:tbl>
              <a:tblPr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AND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Condition1 = TRUE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Condition1 = FALSE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Condition2 = TRUE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TRUE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FALSE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Condition2 = FALSE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FALSE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FALSE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618" name="Group 186"/>
          <p:cNvGraphicFramePr>
            <a:graphicFrameLocks noGrp="1"/>
          </p:cNvGraphicFramePr>
          <p:nvPr/>
        </p:nvGraphicFramePr>
        <p:xfrm>
          <a:off x="1992314" y="4365626"/>
          <a:ext cx="7488237" cy="2287905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Row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Name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Branch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Gender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gender='M'</a:t>
                      </a:r>
                    </a:p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age&gt;20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Comment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1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Dave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Haw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True AND True is     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2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Sue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City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False AND any value is 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3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Rob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City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19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True AND False is     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4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Jack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Kew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True AND True is     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616" name="Group 184"/>
          <p:cNvGraphicFramePr>
            <a:graphicFrameLocks noGrp="1"/>
          </p:cNvGraphicFramePr>
          <p:nvPr/>
        </p:nvGraphicFramePr>
        <p:xfrm>
          <a:off x="9551989" y="4365625"/>
          <a:ext cx="936625" cy="2280920"/>
        </p:xfrm>
        <a:graphic>
          <a:graphicData uri="http://schemas.openxmlformats.org/drawingml/2006/table">
            <a:tbl>
              <a:tblPr/>
              <a:tblGrid>
                <a:gridCol w="93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 Result Set?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N</a:t>
                      </a:r>
                      <a:endParaRPr kumimoji="0" lang="en-AU" sz="12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N</a:t>
                      </a:r>
                      <a:endParaRPr kumimoji="0" lang="en-AU" sz="12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Y</a:t>
                      </a:r>
                      <a:endParaRPr kumimoji="0" lang="en-AU" sz="12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9511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21"/>
          <p:cNvSpPr>
            <a:spLocks noChangeArrowheads="1"/>
          </p:cNvSpPr>
          <p:nvPr/>
        </p:nvSpPr>
        <p:spPr bwMode="auto">
          <a:xfrm>
            <a:off x="8934450" y="5805378"/>
            <a:ext cx="1733550" cy="1015635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Multiple AND Operators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idx="1"/>
          </p:nvPr>
        </p:nvSpPr>
        <p:spPr>
          <a:xfrm>
            <a:off x="1774826" y="908050"/>
            <a:ext cx="8893175" cy="52339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When more than one </a:t>
            </a:r>
            <a:r>
              <a:rPr lang="en-US" sz="2000" b="1" dirty="0"/>
              <a:t>AND</a:t>
            </a:r>
            <a:r>
              <a:rPr lang="en-US" sz="2000" dirty="0"/>
              <a:t> operator is used, deal with </a:t>
            </a:r>
            <a:br>
              <a:rPr lang="en-US" sz="2000" dirty="0"/>
            </a:br>
            <a:r>
              <a:rPr lang="en-US" sz="2000" b="1" dirty="0"/>
              <a:t>one pair of conditions</a:t>
            </a:r>
            <a:r>
              <a:rPr lang="en-US" sz="2000" dirty="0"/>
              <a:t> at a time. </a:t>
            </a:r>
            <a:br>
              <a:rPr lang="en-US" sz="2000" dirty="0"/>
            </a:br>
            <a:endParaRPr lang="en-US" sz="2000" dirty="0"/>
          </a:p>
          <a:p>
            <a:pPr marL="457200" indent="-457200">
              <a:buNone/>
            </a:pPr>
            <a:r>
              <a:rPr lang="en-US" sz="2000" b="1" dirty="0">
                <a:solidFill>
                  <a:srgbClr val="0033CC"/>
                </a:solidFill>
              </a:rPr>
              <a:t>…WHERE     age &gt;20     AND      gender = 'M'       AND      branch = 'Haw'</a:t>
            </a:r>
          </a:p>
          <a:p>
            <a:pPr marL="457200" indent="-457200"/>
            <a:endParaRPr lang="en-US" sz="2000" b="1" dirty="0"/>
          </a:p>
          <a:p>
            <a:pPr marL="457200" indent="-457200"/>
            <a:endParaRPr lang="en-AU" sz="2000" dirty="0"/>
          </a:p>
          <a:p>
            <a:pPr marL="457200" indent="-457200"/>
            <a:endParaRPr lang="en-AU" sz="2000" dirty="0"/>
          </a:p>
          <a:p>
            <a:pPr marL="457200" indent="-457200"/>
            <a:endParaRPr lang="en-AU" sz="2000" dirty="0"/>
          </a:p>
          <a:p>
            <a:pPr marL="457200" indent="-457200">
              <a:buNone/>
            </a:pPr>
            <a:r>
              <a:rPr lang="en-US" sz="2000" b="1" dirty="0">
                <a:solidFill>
                  <a:srgbClr val="0033CC"/>
                </a:solidFill>
              </a:rPr>
              <a:t>…WHERE                </a:t>
            </a:r>
            <a:r>
              <a:rPr lang="en-US" sz="2000" b="1" dirty="0">
                <a:solidFill>
                  <a:schemeClr val="accent2"/>
                </a:solidFill>
              </a:rPr>
              <a:t>TRUE / FALSE</a:t>
            </a:r>
            <a:r>
              <a:rPr lang="en-US" sz="2000" b="1" dirty="0">
                <a:solidFill>
                  <a:srgbClr val="0033CC"/>
                </a:solidFill>
              </a:rPr>
              <a:t>                        AND      branch = 'Haw'</a:t>
            </a:r>
            <a:endParaRPr lang="en-AU" sz="2000" dirty="0"/>
          </a:p>
          <a:p>
            <a:pPr marL="457200" indent="-457200">
              <a:buSzPct val="40000"/>
            </a:pPr>
            <a:r>
              <a:rPr lang="en-AU" sz="2000" dirty="0"/>
              <a:t> </a:t>
            </a:r>
            <a:endParaRPr lang="en-US" sz="2000" dirty="0"/>
          </a:p>
        </p:txBody>
      </p:sp>
      <p:graphicFrame>
        <p:nvGraphicFramePr>
          <p:cNvPr id="19588" name="Group 132"/>
          <p:cNvGraphicFramePr>
            <a:graphicFrameLocks noGrp="1"/>
          </p:cNvGraphicFramePr>
          <p:nvPr/>
        </p:nvGraphicFramePr>
        <p:xfrm>
          <a:off x="1992314" y="4581525"/>
          <a:ext cx="8207375" cy="2042160"/>
        </p:xfrm>
        <a:graphic>
          <a:graphicData uri="http://schemas.openxmlformats.org/drawingml/2006/table">
            <a:tbl>
              <a:tblPr/>
              <a:tblGrid>
                <a:gridCol w="719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6557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55588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Row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Name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Branch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Gender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Age&gt;20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'M'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Result</a:t>
                      </a:r>
                    </a:p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'Haw'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Result</a:t>
                      </a:r>
                    </a:p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 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Selected?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1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Dave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Haw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2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Sue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City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3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Rob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City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19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4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Jack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Kew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552" name="Rectangle 96"/>
          <p:cNvSpPr>
            <a:spLocks noChangeArrowheads="1"/>
          </p:cNvSpPr>
          <p:nvPr/>
        </p:nvSpPr>
        <p:spPr bwMode="auto">
          <a:xfrm>
            <a:off x="3033823" y="1844676"/>
            <a:ext cx="3561906" cy="576263"/>
          </a:xfrm>
          <a:prstGeom prst="rect">
            <a:avLst/>
          </a:prstGeom>
          <a:noFill/>
          <a:ln w="9525" algn="ctr">
            <a:solidFill>
              <a:schemeClr val="accent2"/>
            </a:solidFill>
            <a:miter lim="800000"/>
            <a:headEnd type="none" w="sm" len="sm"/>
            <a:tailEnd/>
          </a:ln>
          <a:effectLst/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9553" name="Line 97"/>
          <p:cNvSpPr>
            <a:spLocks noChangeShapeType="1"/>
          </p:cNvSpPr>
          <p:nvPr/>
        </p:nvSpPr>
        <p:spPr bwMode="auto">
          <a:xfrm>
            <a:off x="4943475" y="2420939"/>
            <a:ext cx="0" cy="11525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none" w="sm" len="sm"/>
            <a:tailEnd type="triangle" w="med" len="med"/>
          </a:ln>
          <a:effectLst/>
        </p:spPr>
        <p:txBody>
          <a:bodyPr lIns="0" tIns="0" rIns="0" bIns="0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9554" name="Rectangle 98"/>
          <p:cNvSpPr>
            <a:spLocks noChangeArrowheads="1"/>
          </p:cNvSpPr>
          <p:nvPr/>
        </p:nvSpPr>
        <p:spPr bwMode="auto">
          <a:xfrm>
            <a:off x="3463925" y="3557515"/>
            <a:ext cx="6337300" cy="481653"/>
          </a:xfrm>
          <a:prstGeom prst="rect">
            <a:avLst/>
          </a:prstGeom>
          <a:noFill/>
          <a:ln w="9525" algn="ctr">
            <a:solidFill>
              <a:schemeClr val="accent2"/>
            </a:solidFill>
            <a:miter lim="800000"/>
            <a:headEnd type="none" w="sm" len="sm"/>
            <a:tailEnd/>
          </a:ln>
          <a:effectLst/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19555" name="Text Box 99"/>
          <p:cNvSpPr txBox="1">
            <a:spLocks noChangeArrowheads="1"/>
          </p:cNvSpPr>
          <p:nvPr/>
        </p:nvSpPr>
        <p:spPr bwMode="auto">
          <a:xfrm>
            <a:off x="5016500" y="2492376"/>
            <a:ext cx="3296352" cy="227113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marL="457200" indent="-457200" defTabSz="457200">
              <a:lnSpc>
                <a:spcPct val="80000"/>
              </a:lnSpc>
              <a:buClr>
                <a:srgbClr val="D1161E"/>
              </a:buClr>
              <a:buSzPct val="85000"/>
            </a:pPr>
            <a:r>
              <a:rPr lang="en-AU">
                <a:solidFill>
                  <a:srgbClr val="009900"/>
                </a:solidFill>
                <a:latin typeface="Calibri"/>
              </a:rPr>
              <a:t>Evaluate this pair of conditions first</a:t>
            </a:r>
            <a:endParaRPr lang="en-US">
              <a:solidFill>
                <a:srgbClr val="009900"/>
              </a:solidFill>
              <a:latin typeface="Calibri"/>
            </a:endParaRPr>
          </a:p>
        </p:txBody>
      </p:sp>
      <p:sp>
        <p:nvSpPr>
          <p:cNvPr id="19556" name="Text Box 100"/>
          <p:cNvSpPr txBox="1">
            <a:spLocks noChangeArrowheads="1"/>
          </p:cNvSpPr>
          <p:nvPr/>
        </p:nvSpPr>
        <p:spPr bwMode="auto">
          <a:xfrm>
            <a:off x="5808664" y="4076701"/>
            <a:ext cx="3599127" cy="227113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marL="457200" indent="-457200" defTabSz="457200">
              <a:lnSpc>
                <a:spcPct val="80000"/>
              </a:lnSpc>
              <a:buClr>
                <a:srgbClr val="D1161E"/>
              </a:buClr>
              <a:buSzPct val="85000"/>
            </a:pPr>
            <a:r>
              <a:rPr lang="en-AU">
                <a:solidFill>
                  <a:srgbClr val="009900"/>
                </a:solidFill>
                <a:latin typeface="Calibri"/>
              </a:rPr>
              <a:t>Evaluate this pair of conditions second</a:t>
            </a:r>
            <a:endParaRPr lang="en-US">
              <a:solidFill>
                <a:srgbClr val="0099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581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18"/>
          <p:cNvSpPr>
            <a:spLocks noChangeArrowheads="1"/>
          </p:cNvSpPr>
          <p:nvPr/>
        </p:nvSpPr>
        <p:spPr bwMode="auto">
          <a:xfrm>
            <a:off x="8934450" y="5803332"/>
            <a:ext cx="1733550" cy="1054668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xfrm>
            <a:off x="2165350" y="188913"/>
            <a:ext cx="7471292" cy="576262"/>
          </a:xfrm>
        </p:spPr>
        <p:txBody>
          <a:bodyPr>
            <a:normAutofit fontScale="90000"/>
          </a:bodyPr>
          <a:lstStyle/>
          <a:p>
            <a:r>
              <a:rPr lang="en-AU" dirty="0"/>
              <a:t>SQL: OR Operator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When an </a:t>
            </a:r>
            <a:r>
              <a:rPr lang="en-US" sz="2000" b="1" dirty="0"/>
              <a:t>OR</a:t>
            </a:r>
            <a:r>
              <a:rPr lang="en-US" sz="2000" dirty="0"/>
              <a:t> operator is used, SQL evaluates the condition to the left and the condition to the right of the OR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A row is selected if </a:t>
            </a:r>
            <a:r>
              <a:rPr lang="en-US" sz="2000" b="1" dirty="0"/>
              <a:t>either</a:t>
            </a:r>
            <a:r>
              <a:rPr lang="en-US" sz="2000" dirty="0"/>
              <a:t> of the two Conditions is </a:t>
            </a:r>
            <a:r>
              <a:rPr lang="en-US" sz="2000" b="1" dirty="0"/>
              <a:t>TRUE</a:t>
            </a:r>
            <a:endParaRPr lang="en-US" sz="2000" dirty="0"/>
          </a:p>
          <a:p>
            <a:pPr marL="933450" lvl="1" indent="-457200"/>
            <a:endParaRPr lang="en-US" sz="2000" dirty="0"/>
          </a:p>
          <a:p>
            <a:pPr marL="457200" indent="-457200"/>
            <a:endParaRPr lang="en-US" sz="2000" dirty="0"/>
          </a:p>
          <a:p>
            <a:pPr marL="457200" indent="-457200"/>
            <a:endParaRPr lang="en-AU" sz="2000" dirty="0"/>
          </a:p>
          <a:p>
            <a:pPr marL="457200" indent="-457200"/>
            <a:endParaRPr lang="en-AU" sz="2000" dirty="0"/>
          </a:p>
          <a:p>
            <a:pPr marL="457200" indent="-457200"/>
            <a:endParaRPr lang="en-AU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2000" dirty="0"/>
              <a:t>Consider the clause:     </a:t>
            </a:r>
            <a:r>
              <a:rPr lang="en-US" sz="2000" b="1" dirty="0">
                <a:solidFill>
                  <a:srgbClr val="0033CC"/>
                </a:solidFill>
              </a:rPr>
              <a:t>…WHERE  gender = 'F'    OR   age &gt;20    …</a:t>
            </a:r>
          </a:p>
          <a:p>
            <a:pPr marL="457200" indent="-457200"/>
            <a:endParaRPr lang="en-US" sz="2000" dirty="0">
              <a:solidFill>
                <a:srgbClr val="0033CC"/>
              </a:solidFill>
            </a:endParaRPr>
          </a:p>
        </p:txBody>
      </p:sp>
      <p:graphicFrame>
        <p:nvGraphicFramePr>
          <p:cNvPr id="20561" name="Group 81"/>
          <p:cNvGraphicFramePr>
            <a:graphicFrameLocks noGrp="1"/>
          </p:cNvGraphicFramePr>
          <p:nvPr/>
        </p:nvGraphicFramePr>
        <p:xfrm>
          <a:off x="2279651" y="2349500"/>
          <a:ext cx="7991475" cy="121793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5588"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OR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Condition1 = TRUE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Condition1 = FALSE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Condition2 = TRUE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TRUE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TRUE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Condition2 = FALSE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TRUE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Narrow" pitchFamily="34" charset="0"/>
                        </a:rPr>
                        <a:t>FALSE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615" name="Group 135"/>
          <p:cNvGraphicFramePr>
            <a:graphicFrameLocks noGrp="1"/>
          </p:cNvGraphicFramePr>
          <p:nvPr/>
        </p:nvGraphicFramePr>
        <p:xfrm>
          <a:off x="1919288" y="4365626"/>
          <a:ext cx="8640762" cy="2287905"/>
        </p:xfrm>
        <a:graphic>
          <a:graphicData uri="http://schemas.openxmlformats.org/drawingml/2006/table">
            <a:tbl>
              <a:tblPr/>
              <a:tblGrid>
                <a:gridCol w="725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85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907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0167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Row</a:t>
                      </a:r>
                      <a:endParaRPr kumimoji="0" 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Name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Branch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Gender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gender=F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 &gt; 20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comment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</a:t>
                      </a:r>
                    </a:p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Result Set?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1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Dave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Haw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False or True is     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2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Sue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City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True or any value </a:t>
                      </a:r>
                      <a:r>
                        <a:rPr kumimoji="0" lang="en-AU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is TRUE</a:t>
                      </a:r>
                      <a:endParaRPr kumimoji="0" lang="en-AU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3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Rob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City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19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False  or False is 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4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Jack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Kew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False  or True  is 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2119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182"/>
          <p:cNvSpPr>
            <a:spLocks noChangeArrowheads="1"/>
          </p:cNvSpPr>
          <p:nvPr/>
        </p:nvSpPr>
        <p:spPr bwMode="auto">
          <a:xfrm>
            <a:off x="8934450" y="5752214"/>
            <a:ext cx="1733550" cy="1105786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SQL: OR Operator (2)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idx="1"/>
          </p:nvPr>
        </p:nvSpPr>
        <p:spPr>
          <a:xfrm>
            <a:off x="2135188" y="908050"/>
            <a:ext cx="8532812" cy="52339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When more than one </a:t>
            </a:r>
            <a:r>
              <a:rPr lang="en-US" sz="2000" b="1" dirty="0"/>
              <a:t>OR</a:t>
            </a:r>
            <a:r>
              <a:rPr lang="en-US" sz="2000" dirty="0"/>
              <a:t> operator is used, the system deals</a:t>
            </a:r>
            <a:br>
              <a:rPr lang="en-US" sz="2000" dirty="0"/>
            </a:br>
            <a:r>
              <a:rPr lang="en-US" sz="2000" dirty="0"/>
              <a:t>with one pair of conditions at a time. </a:t>
            </a:r>
            <a:br>
              <a:rPr lang="en-US" sz="2000" dirty="0"/>
            </a:br>
            <a:br>
              <a:rPr lang="en-US" sz="2000" b="1" dirty="0"/>
            </a:br>
            <a:r>
              <a:rPr lang="en-US" sz="2000" b="1" dirty="0">
                <a:solidFill>
                  <a:srgbClr val="0033CC"/>
                </a:solidFill>
              </a:rPr>
              <a:t>…WHERE  age &lt; 20      OR       gender = 'F'       OR      branch = 'Kew'</a:t>
            </a:r>
          </a:p>
          <a:p>
            <a:pPr marL="457200" indent="-457200"/>
            <a:endParaRPr lang="en-US" sz="2000" b="1" dirty="0">
              <a:solidFill>
                <a:srgbClr val="0033CC"/>
              </a:solidFill>
            </a:endParaRPr>
          </a:p>
          <a:p>
            <a:pPr marL="457200" indent="-457200"/>
            <a:endParaRPr lang="en-AU" sz="2000" b="1" dirty="0">
              <a:solidFill>
                <a:srgbClr val="0033CC"/>
              </a:solidFill>
            </a:endParaRPr>
          </a:p>
          <a:p>
            <a:pPr marL="457200" indent="-457200"/>
            <a:endParaRPr lang="en-AU" sz="2000" b="1" dirty="0">
              <a:solidFill>
                <a:srgbClr val="0033CC"/>
              </a:solidFill>
            </a:endParaRPr>
          </a:p>
          <a:p>
            <a:pPr marL="457200" indent="-457200"/>
            <a:endParaRPr lang="en-US" sz="2000" b="1" dirty="0">
              <a:solidFill>
                <a:srgbClr val="0033CC"/>
              </a:solidFill>
            </a:endParaRPr>
          </a:p>
          <a:p>
            <a:pPr marL="457200" indent="-457200">
              <a:buNone/>
            </a:pPr>
            <a:r>
              <a:rPr lang="en-US" sz="2000" b="1" dirty="0">
                <a:solidFill>
                  <a:srgbClr val="0033CC"/>
                </a:solidFill>
              </a:rPr>
              <a:t>    …WHERE             </a:t>
            </a:r>
            <a:r>
              <a:rPr lang="en-US" sz="2000" b="1" dirty="0">
                <a:solidFill>
                  <a:schemeClr val="accent2"/>
                </a:solidFill>
              </a:rPr>
              <a:t>TRUE / FALSE</a:t>
            </a:r>
            <a:r>
              <a:rPr lang="en-US" sz="2000" b="1" dirty="0">
                <a:solidFill>
                  <a:srgbClr val="0033CC"/>
                </a:solidFill>
              </a:rPr>
              <a:t>                          OR      branch = 'Kew'</a:t>
            </a:r>
          </a:p>
          <a:p>
            <a:pPr marL="457200" indent="-457200"/>
            <a:endParaRPr lang="en-AU" sz="2000" dirty="0"/>
          </a:p>
          <a:p>
            <a:pPr marL="457200" indent="-457200"/>
            <a:endParaRPr lang="en-AU" sz="2000" dirty="0"/>
          </a:p>
          <a:p>
            <a:pPr marL="457200" indent="-457200">
              <a:buSzPct val="40000"/>
              <a:buNone/>
            </a:pPr>
            <a:r>
              <a:rPr lang="en-AU" sz="2000" dirty="0"/>
              <a:t> </a:t>
            </a:r>
            <a:endParaRPr lang="en-US" sz="2000" dirty="0"/>
          </a:p>
        </p:txBody>
      </p:sp>
      <p:graphicFrame>
        <p:nvGraphicFramePr>
          <p:cNvPr id="21645" name="Group 141"/>
          <p:cNvGraphicFramePr>
            <a:graphicFrameLocks noGrp="1"/>
          </p:cNvGraphicFramePr>
          <p:nvPr/>
        </p:nvGraphicFramePr>
        <p:xfrm>
          <a:off x="1847850" y="4508500"/>
          <a:ext cx="8135938" cy="2286000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3668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5826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Row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Name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Branch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Gender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Age&lt;20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'F'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Result</a:t>
                      </a:r>
                    </a:p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'Kew'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Result</a:t>
                      </a:r>
                    </a:p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</a:t>
                      </a:r>
                    </a:p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Result Set?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1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Dave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Haw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2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Sue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City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</a:t>
                      </a: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3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Rob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City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19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</a:t>
                      </a: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4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Jack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Kew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610" name="Rectangle 106"/>
          <p:cNvSpPr>
            <a:spLocks noChangeArrowheads="1"/>
          </p:cNvSpPr>
          <p:nvPr/>
        </p:nvSpPr>
        <p:spPr bwMode="auto">
          <a:xfrm>
            <a:off x="3257551" y="1821011"/>
            <a:ext cx="3497669" cy="431800"/>
          </a:xfrm>
          <a:prstGeom prst="rect">
            <a:avLst/>
          </a:prstGeom>
          <a:noFill/>
          <a:ln w="9525" algn="ctr">
            <a:solidFill>
              <a:schemeClr val="accent2"/>
            </a:solidFill>
            <a:miter lim="800000"/>
            <a:headEnd type="none" w="sm" len="sm"/>
            <a:tailEnd/>
          </a:ln>
          <a:effectLst/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1611" name="Line 107"/>
          <p:cNvSpPr>
            <a:spLocks noChangeShapeType="1"/>
          </p:cNvSpPr>
          <p:nvPr/>
        </p:nvSpPr>
        <p:spPr bwMode="auto">
          <a:xfrm>
            <a:off x="4943475" y="2205039"/>
            <a:ext cx="0" cy="13684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none" w="sm" len="sm"/>
            <a:tailEnd type="triangle" w="med" len="med"/>
          </a:ln>
          <a:effectLst/>
        </p:spPr>
        <p:txBody>
          <a:bodyPr lIns="0" tIns="0" rIns="0" bIns="0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1612" name="Rectangle 108"/>
          <p:cNvSpPr>
            <a:spLocks noChangeArrowheads="1"/>
          </p:cNvSpPr>
          <p:nvPr/>
        </p:nvSpPr>
        <p:spPr bwMode="auto">
          <a:xfrm>
            <a:off x="4075814" y="3429001"/>
            <a:ext cx="6484236" cy="576263"/>
          </a:xfrm>
          <a:prstGeom prst="rect">
            <a:avLst/>
          </a:prstGeom>
          <a:noFill/>
          <a:ln w="9525" algn="ctr">
            <a:solidFill>
              <a:schemeClr val="accent2"/>
            </a:solidFill>
            <a:miter lim="800000"/>
            <a:headEnd type="none" w="sm" len="sm"/>
            <a:tailEnd/>
          </a:ln>
          <a:effectLst/>
        </p:spPr>
        <p:txBody>
          <a:bodyPr wrap="none" lIns="0" tIns="0" rIns="0" bIns="0" anchor="ctr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1613" name="Text Box 109"/>
          <p:cNvSpPr txBox="1">
            <a:spLocks noChangeArrowheads="1"/>
          </p:cNvSpPr>
          <p:nvPr/>
        </p:nvSpPr>
        <p:spPr bwMode="auto">
          <a:xfrm>
            <a:off x="5016500" y="2276476"/>
            <a:ext cx="3296352" cy="227113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marL="457200" indent="-457200" defTabSz="457200">
              <a:lnSpc>
                <a:spcPct val="80000"/>
              </a:lnSpc>
              <a:buClr>
                <a:srgbClr val="D1161E"/>
              </a:buClr>
              <a:buSzPct val="85000"/>
            </a:pPr>
            <a:r>
              <a:rPr lang="en-AU">
                <a:solidFill>
                  <a:srgbClr val="009900"/>
                </a:solidFill>
                <a:latin typeface="Calibri"/>
              </a:rPr>
              <a:t>Evaluate this pair of conditions first</a:t>
            </a:r>
            <a:endParaRPr lang="en-US">
              <a:solidFill>
                <a:srgbClr val="009900"/>
              </a:solidFill>
              <a:latin typeface="Calibri"/>
            </a:endParaRPr>
          </a:p>
        </p:txBody>
      </p:sp>
      <p:sp>
        <p:nvSpPr>
          <p:cNvPr id="21614" name="Text Box 110"/>
          <p:cNvSpPr txBox="1">
            <a:spLocks noChangeArrowheads="1"/>
          </p:cNvSpPr>
          <p:nvPr/>
        </p:nvSpPr>
        <p:spPr bwMode="auto">
          <a:xfrm>
            <a:off x="5808664" y="4076701"/>
            <a:ext cx="3599127" cy="227113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marL="457200" indent="-457200" defTabSz="457200">
              <a:lnSpc>
                <a:spcPct val="80000"/>
              </a:lnSpc>
              <a:buClr>
                <a:srgbClr val="D1161E"/>
              </a:buClr>
              <a:buSzPct val="85000"/>
            </a:pPr>
            <a:r>
              <a:rPr lang="en-AU">
                <a:solidFill>
                  <a:srgbClr val="009900"/>
                </a:solidFill>
                <a:latin typeface="Calibri"/>
              </a:rPr>
              <a:t>Evaluate this pair of conditions second</a:t>
            </a:r>
            <a:endParaRPr lang="en-US">
              <a:solidFill>
                <a:srgbClr val="0099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5690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8" name="Rectangle 18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Mixing AND and OR operators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AU" sz="2000" dirty="0"/>
              <a:t>Consider: </a:t>
            </a:r>
            <a:br>
              <a:rPr lang="en-AU" sz="2000" dirty="0"/>
            </a:br>
            <a:r>
              <a:rPr lang="en-US" sz="2000" b="1" dirty="0">
                <a:solidFill>
                  <a:srgbClr val="0033CC"/>
                </a:solidFill>
              </a:rPr>
              <a:t>…WHERE   branch = 'City'  OR  branch = 'Haw'  AND gender = 'M'</a:t>
            </a:r>
          </a:p>
          <a:p>
            <a:pPr marL="457200" indent="-457200"/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How many rows are in the result set?</a:t>
            </a:r>
          </a:p>
          <a:p>
            <a:pPr marL="457200" indent="-457200"/>
            <a:endParaRPr lang="en-AU" sz="2000" b="1" dirty="0"/>
          </a:p>
          <a:p>
            <a:pPr marL="457200" indent="-457200"/>
            <a:endParaRPr lang="en-AU" sz="2000" b="1" dirty="0"/>
          </a:p>
          <a:p>
            <a:pPr marL="457200" indent="-457200"/>
            <a:endParaRPr lang="en-AU" sz="2000" b="1" dirty="0"/>
          </a:p>
          <a:p>
            <a:pPr marL="457200" indent="-457200"/>
            <a:endParaRPr lang="en-AU" sz="2000" b="1" dirty="0"/>
          </a:p>
          <a:p>
            <a:pPr marL="457200" indent="-457200"/>
            <a:endParaRPr lang="en-AU" sz="2000" b="1" dirty="0"/>
          </a:p>
          <a:p>
            <a:pPr marL="457200" indent="-457200"/>
            <a:endParaRPr lang="en-AU" sz="2000" b="1" dirty="0"/>
          </a:p>
          <a:p>
            <a:pPr marL="457200" indent="-457200"/>
            <a:endParaRPr lang="en-AU" sz="2000" b="1" dirty="0"/>
          </a:p>
          <a:p>
            <a:pPr marL="457200" indent="-457200"/>
            <a:endParaRPr lang="en-AU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When a WHERE clause contains both an AND &amp; OR operator then</a:t>
            </a:r>
            <a:br>
              <a:rPr lang="en-US" sz="2000" dirty="0"/>
            </a:br>
            <a:r>
              <a:rPr lang="en-US" sz="2000" dirty="0"/>
              <a:t>the </a:t>
            </a:r>
            <a:r>
              <a:rPr lang="en-US" sz="2000" b="1" dirty="0"/>
              <a:t>AND</a:t>
            </a:r>
            <a:r>
              <a:rPr lang="en-US" sz="2000" dirty="0"/>
              <a:t> operators take precedence and must be evaluated first.</a:t>
            </a:r>
          </a:p>
          <a:p>
            <a:pPr marL="457200" indent="-457200"/>
            <a:endParaRPr lang="en-US" sz="2000" b="1" dirty="0"/>
          </a:p>
          <a:p>
            <a:pPr marL="457200" indent="-457200">
              <a:lnSpc>
                <a:spcPct val="120000"/>
              </a:lnSpc>
            </a:pPr>
            <a:endParaRPr lang="en-AU" sz="2000" b="1" dirty="0"/>
          </a:p>
        </p:txBody>
      </p:sp>
      <p:graphicFrame>
        <p:nvGraphicFramePr>
          <p:cNvPr id="569451" name="Group 107"/>
          <p:cNvGraphicFramePr>
            <a:graphicFrameLocks noGrp="1"/>
          </p:cNvGraphicFramePr>
          <p:nvPr/>
        </p:nvGraphicFramePr>
        <p:xfrm>
          <a:off x="3359150" y="2636839"/>
          <a:ext cx="5759450" cy="2168843"/>
        </p:xfrm>
        <a:graphic>
          <a:graphicData uri="http://schemas.openxmlformats.org/drawingml/2006/table">
            <a:tbl>
              <a:tblPr/>
              <a:tblGrid>
                <a:gridCol w="78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5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4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2613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Row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Name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Branch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Gender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Selected?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1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Dave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Haw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2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Sue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City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3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Rob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City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19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4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Jack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Kew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63525" marR="0" lvl="0" indent="-263525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172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103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Mixing AND and OR operators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idx="1"/>
          </p:nvPr>
        </p:nvSpPr>
        <p:spPr>
          <a:xfrm>
            <a:off x="2192338" y="908050"/>
            <a:ext cx="8475662" cy="5233988"/>
          </a:xfrm>
        </p:spPr>
        <p:txBody>
          <a:bodyPr>
            <a:noAutofit/>
          </a:bodyPr>
          <a:lstStyle/>
          <a:p>
            <a:pPr marL="933450" lvl="1" indent="-457200">
              <a:lnSpc>
                <a:spcPct val="80000"/>
              </a:lnSpc>
              <a:buSzPct val="85000"/>
              <a:buNone/>
            </a:pPr>
            <a:r>
              <a:rPr lang="en-US" sz="2000" b="1" dirty="0">
                <a:solidFill>
                  <a:srgbClr val="0033CC"/>
                </a:solidFill>
              </a:rPr>
              <a:t>…WHERE   branch = 'City'  OR  branch = 'Haw'  AND gender = 'M'</a:t>
            </a:r>
          </a:p>
          <a:p>
            <a:pPr marL="457200" indent="-457200">
              <a:lnSpc>
                <a:spcPct val="80000"/>
              </a:lnSpc>
              <a:buSzPct val="85000"/>
              <a:buFont typeface="Wingdings" pitchFamily="2" charset="2"/>
              <a:buAutoNum type="arabicPeriod"/>
            </a:pP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Does this mean 'select any males who live in Hawthorn or City'.     </a:t>
            </a:r>
            <a:r>
              <a:rPr lang="en-US" sz="2000" dirty="0">
                <a:solidFill>
                  <a:srgbClr val="FF6600"/>
                </a:solidFill>
              </a:rPr>
              <a:t>NO</a:t>
            </a:r>
          </a:p>
          <a:p>
            <a:pPr marL="457200" indent="-457200"/>
            <a:endParaRPr lang="en-US" sz="2000" dirty="0">
              <a:solidFill>
                <a:srgbClr val="FF66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Does this mean 'select </a:t>
            </a:r>
            <a:r>
              <a:rPr lang="en-US" sz="2000" b="1" dirty="0"/>
              <a:t>any</a:t>
            </a:r>
            <a:r>
              <a:rPr lang="en-US" sz="2000" dirty="0"/>
              <a:t> City person  OR</a:t>
            </a:r>
            <a:br>
              <a:rPr lang="en-US" sz="2000" dirty="0"/>
            </a:br>
            <a:r>
              <a:rPr lang="en-US" sz="2000" b="1" dirty="0"/>
              <a:t>any</a:t>
            </a:r>
            <a:r>
              <a:rPr lang="en-US" sz="2000" dirty="0"/>
              <a:t> males in Hawthorn'                                                         	     </a:t>
            </a:r>
            <a:r>
              <a:rPr lang="en-US" sz="2000" dirty="0">
                <a:solidFill>
                  <a:srgbClr val="FF6600"/>
                </a:solidFill>
              </a:rPr>
              <a:t>YES</a:t>
            </a:r>
          </a:p>
          <a:p>
            <a:pPr marL="457200" indent="-457200"/>
            <a:endParaRPr lang="en-US" sz="2000" dirty="0">
              <a:solidFill>
                <a:srgbClr val="FF66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AND operator</a:t>
            </a:r>
            <a:r>
              <a:rPr lang="en-US" sz="2000" dirty="0"/>
              <a:t> always </a:t>
            </a:r>
            <a:r>
              <a:rPr lang="en-US" sz="2000" b="1" dirty="0"/>
              <a:t>takes precedence</a:t>
            </a:r>
            <a:r>
              <a:rPr lang="en-US" sz="2000" dirty="0"/>
              <a:t>.</a:t>
            </a:r>
          </a:p>
          <a:p>
            <a:pPr marL="457200" indent="-457200"/>
            <a:endParaRPr lang="en-US" sz="2000" dirty="0"/>
          </a:p>
          <a:p>
            <a:pPr marL="933450" lvl="1" indent="-457200">
              <a:buNone/>
            </a:pPr>
            <a:r>
              <a:rPr lang="en-US" sz="2000" b="1" dirty="0"/>
              <a:t>WHERE   </a:t>
            </a:r>
            <a:r>
              <a:rPr lang="en-US" sz="2000" b="1" dirty="0">
                <a:solidFill>
                  <a:srgbClr val="0033CC"/>
                </a:solidFill>
              </a:rPr>
              <a:t>branch = 'City'</a:t>
            </a:r>
            <a:r>
              <a:rPr lang="en-US" sz="2000" b="1" dirty="0"/>
              <a:t>  OR  </a:t>
            </a:r>
            <a:r>
              <a:rPr lang="en-US" sz="2000" b="1" dirty="0">
                <a:solidFill>
                  <a:srgbClr val="0033CC"/>
                </a:solidFill>
              </a:rPr>
              <a:t>branch = 'Haw'</a:t>
            </a:r>
            <a:r>
              <a:rPr lang="en-US" sz="2000" b="1" dirty="0"/>
              <a:t>  AND   </a:t>
            </a:r>
            <a:r>
              <a:rPr lang="en-US" sz="2000" b="1" dirty="0">
                <a:solidFill>
                  <a:srgbClr val="0033CC"/>
                </a:solidFill>
              </a:rPr>
              <a:t>gender = 'M'</a:t>
            </a:r>
          </a:p>
          <a:p>
            <a:pPr marL="933450" lvl="1" indent="-457200">
              <a:buNone/>
            </a:pP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conditions on either side of the </a:t>
            </a:r>
            <a:r>
              <a:rPr lang="en-US" sz="2000" b="1" dirty="0"/>
              <a:t>AND</a:t>
            </a:r>
            <a:r>
              <a:rPr lang="en-US" sz="2000" dirty="0"/>
              <a:t> are paired together as though there are parentheses surrounding the two conditions.   </a:t>
            </a:r>
          </a:p>
          <a:p>
            <a:pPr marL="457200" indent="-457200"/>
            <a:endParaRPr lang="en-US" sz="2000" dirty="0"/>
          </a:p>
          <a:p>
            <a:pPr marL="933450" lvl="1" indent="-457200">
              <a:buNone/>
            </a:pPr>
            <a:r>
              <a:rPr lang="en-US" sz="2000" b="1" dirty="0">
                <a:solidFill>
                  <a:srgbClr val="0033CC"/>
                </a:solidFill>
              </a:rPr>
              <a:t>WHERE   branch = 'City'  OR </a:t>
            </a:r>
            <a:r>
              <a:rPr lang="en-US" sz="2000" b="1" dirty="0">
                <a:solidFill>
                  <a:srgbClr val="009900"/>
                </a:solidFill>
              </a:rPr>
              <a:t> ( branch = 'Haw'  AND gender = 'M' )</a:t>
            </a:r>
          </a:p>
          <a:p>
            <a:pPr marL="457200" indent="-457200"/>
            <a:endParaRPr lang="en-US" sz="2000" dirty="0">
              <a:solidFill>
                <a:srgbClr val="009900"/>
              </a:solidFill>
            </a:endParaRPr>
          </a:p>
        </p:txBody>
      </p:sp>
      <p:sp>
        <p:nvSpPr>
          <p:cNvPr id="23558" name="Rectangle 100"/>
          <p:cNvSpPr>
            <a:spLocks noChangeArrowheads="1"/>
          </p:cNvSpPr>
          <p:nvPr/>
        </p:nvSpPr>
        <p:spPr bwMode="auto">
          <a:xfrm>
            <a:off x="3648076" y="3933825"/>
            <a:ext cx="1629218" cy="503238"/>
          </a:xfrm>
          <a:prstGeom prst="rect">
            <a:avLst/>
          </a:prstGeom>
          <a:noFill/>
          <a:ln w="28575" algn="ctr">
            <a:solidFill>
              <a:schemeClr val="accent2"/>
            </a:solidFill>
            <a:prstDash val="dash"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3559" name="Rectangle 101"/>
          <p:cNvSpPr>
            <a:spLocks noChangeArrowheads="1"/>
          </p:cNvSpPr>
          <p:nvPr/>
        </p:nvSpPr>
        <p:spPr bwMode="auto">
          <a:xfrm>
            <a:off x="5713229" y="3933825"/>
            <a:ext cx="3848986" cy="503238"/>
          </a:xfrm>
          <a:prstGeom prst="rect">
            <a:avLst/>
          </a:prstGeom>
          <a:noFill/>
          <a:ln w="28575" algn="ctr">
            <a:solidFill>
              <a:schemeClr val="accent2"/>
            </a:solidFill>
            <a:prstDash val="dash"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3560" name="Line 102"/>
          <p:cNvSpPr>
            <a:spLocks noChangeShapeType="1"/>
          </p:cNvSpPr>
          <p:nvPr/>
        </p:nvSpPr>
        <p:spPr bwMode="auto">
          <a:xfrm>
            <a:off x="2063750" y="3284538"/>
            <a:ext cx="80645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/>
          </a:ln>
        </p:spPr>
        <p:txBody>
          <a:bodyPr lIns="0" tIns="0" rIns="0" bIns="0"/>
          <a:lstStyle/>
          <a:p>
            <a:pPr defTabSz="457200"/>
            <a:endParaRPr lang="en-AU">
              <a:solidFill>
                <a:srgbClr val="D1161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7182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109"/>
          <p:cNvSpPr>
            <a:spLocks noChangeArrowheads="1"/>
          </p:cNvSpPr>
          <p:nvPr/>
        </p:nvSpPr>
        <p:spPr bwMode="auto">
          <a:xfrm>
            <a:off x="8903033" y="5837274"/>
            <a:ext cx="1733550" cy="99853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4580" name="Rectangle 2"/>
          <p:cNvSpPr>
            <a:spLocks noChangeArrowheads="1"/>
          </p:cNvSpPr>
          <p:nvPr/>
        </p:nvSpPr>
        <p:spPr bwMode="auto">
          <a:xfrm>
            <a:off x="1812925" y="5373688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Mixing AND and OR operators</a:t>
            </a:r>
          </a:p>
        </p:txBody>
      </p:sp>
      <p:sp>
        <p:nvSpPr>
          <p:cNvPr id="24582" name="Rectangle 4"/>
          <p:cNvSpPr>
            <a:spLocks noGrp="1" noChangeArrowheads="1"/>
          </p:cNvSpPr>
          <p:nvPr>
            <p:ph idx="1"/>
          </p:nvPr>
        </p:nvSpPr>
        <p:spPr>
          <a:xfrm>
            <a:off x="2135188" y="908050"/>
            <a:ext cx="8532812" cy="5233988"/>
          </a:xfrm>
        </p:spPr>
        <p:txBody>
          <a:bodyPr/>
          <a:lstStyle/>
          <a:p>
            <a:pPr marL="933450" lvl="1" indent="-457200">
              <a:buNone/>
            </a:pPr>
            <a:r>
              <a:rPr lang="en-US" sz="2000" dirty="0">
                <a:solidFill>
                  <a:srgbClr val="009900"/>
                </a:solidFill>
              </a:rPr>
              <a:t> </a:t>
            </a:r>
          </a:p>
          <a:p>
            <a:pPr marL="933450" lvl="1" indent="-457200">
              <a:buNone/>
            </a:pPr>
            <a:r>
              <a:rPr lang="en-US" sz="2000" b="1" dirty="0">
                <a:solidFill>
                  <a:srgbClr val="0033CC"/>
                </a:solidFill>
              </a:rPr>
              <a:t>WHERE   branch = 'City'  OR   branch = 'Haw'  AND gender = 'M'</a:t>
            </a:r>
            <a:r>
              <a:rPr lang="en-US" sz="2000" b="1" dirty="0">
                <a:solidFill>
                  <a:srgbClr val="009900"/>
                </a:solidFill>
              </a:rPr>
              <a:t> </a:t>
            </a:r>
            <a:endParaRPr lang="en-US" sz="2000" b="1" dirty="0"/>
          </a:p>
          <a:p>
            <a:pPr marL="933450" lvl="1" indent="-457200">
              <a:buNone/>
            </a:pPr>
            <a:endParaRPr lang="en-US" sz="2000" b="1" dirty="0"/>
          </a:p>
          <a:p>
            <a:pPr marL="933450" lvl="1" indent="-457200">
              <a:buNone/>
            </a:pPr>
            <a:endParaRPr lang="en-US" sz="2000" b="1" dirty="0"/>
          </a:p>
          <a:p>
            <a:pPr marL="457200" indent="-457200"/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This is now treated exactly the same as the OR example shown earlier</a:t>
            </a:r>
          </a:p>
          <a:p>
            <a:pPr marL="457200" indent="-457200"/>
            <a:endParaRPr lang="en-US" sz="2000" dirty="0"/>
          </a:p>
          <a:p>
            <a:pPr marL="933450" lvl="1" indent="-457200">
              <a:buNone/>
            </a:pPr>
            <a:r>
              <a:rPr lang="en-US" sz="2000" dirty="0"/>
              <a:t>If either </a:t>
            </a:r>
            <a:r>
              <a:rPr lang="en-US" sz="2000" b="1" dirty="0"/>
              <a:t>Part1 is True</a:t>
            </a:r>
            <a:r>
              <a:rPr lang="en-US" sz="2000" dirty="0"/>
              <a:t>   OR  </a:t>
            </a:r>
            <a:r>
              <a:rPr lang="en-US" sz="2000" b="1" dirty="0"/>
              <a:t>Part2 is True</a:t>
            </a:r>
            <a:r>
              <a:rPr lang="en-US" sz="2000" dirty="0"/>
              <a:t>, then the row is </a:t>
            </a:r>
            <a:r>
              <a:rPr lang="en-US" sz="2000" b="1" dirty="0"/>
              <a:t>selected</a:t>
            </a:r>
            <a:r>
              <a:rPr lang="en-US" sz="2000" dirty="0"/>
              <a:t>.</a:t>
            </a:r>
          </a:p>
          <a:p>
            <a:pPr marL="933450" lvl="1" indent="-457200">
              <a:buNone/>
            </a:pPr>
            <a:r>
              <a:rPr lang="en-US" b="1" dirty="0">
                <a:solidFill>
                  <a:srgbClr val="009900"/>
                </a:solidFill>
              </a:rPr>
              <a:t> </a:t>
            </a:r>
          </a:p>
          <a:p>
            <a:pPr marL="457200" indent="-457200"/>
            <a:endParaRPr lang="en-US" dirty="0">
              <a:solidFill>
                <a:srgbClr val="009900"/>
              </a:solidFill>
            </a:endParaRPr>
          </a:p>
        </p:txBody>
      </p:sp>
      <p:sp>
        <p:nvSpPr>
          <p:cNvPr id="24583" name="Freeform 8"/>
          <p:cNvSpPr>
            <a:spLocks/>
          </p:cNvSpPr>
          <p:nvPr/>
        </p:nvSpPr>
        <p:spPr bwMode="auto">
          <a:xfrm>
            <a:off x="5610152" y="1164659"/>
            <a:ext cx="144463" cy="576263"/>
          </a:xfrm>
          <a:custGeom>
            <a:avLst/>
            <a:gdLst>
              <a:gd name="T0" fmla="*/ 91 w 91"/>
              <a:gd name="T1" fmla="*/ 0 h 363"/>
              <a:gd name="T2" fmla="*/ 0 w 91"/>
              <a:gd name="T3" fmla="*/ 181 h 363"/>
              <a:gd name="T4" fmla="*/ 91 w 91"/>
              <a:gd name="T5" fmla="*/ 363 h 363"/>
              <a:gd name="T6" fmla="*/ 0 60000 65536"/>
              <a:gd name="T7" fmla="*/ 0 60000 65536"/>
              <a:gd name="T8" fmla="*/ 0 60000 65536"/>
              <a:gd name="T9" fmla="*/ 0 w 91"/>
              <a:gd name="T10" fmla="*/ 0 h 363"/>
              <a:gd name="T11" fmla="*/ 91 w 91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1" h="363">
                <a:moveTo>
                  <a:pt x="91" y="0"/>
                </a:moveTo>
                <a:cubicBezTo>
                  <a:pt x="45" y="60"/>
                  <a:pt x="0" y="121"/>
                  <a:pt x="0" y="181"/>
                </a:cubicBezTo>
                <a:cubicBezTo>
                  <a:pt x="0" y="241"/>
                  <a:pt x="76" y="333"/>
                  <a:pt x="91" y="363"/>
                </a:cubicBezTo>
              </a:path>
            </a:pathLst>
          </a:custGeom>
          <a:noFill/>
          <a:ln w="28575">
            <a:solidFill>
              <a:srgbClr val="009900"/>
            </a:solidFill>
            <a:prstDash val="dash"/>
            <a:round/>
            <a:headEnd type="none" w="sm" len="sm"/>
            <a:tailEnd/>
          </a:ln>
        </p:spPr>
        <p:txBody>
          <a:bodyPr lIns="0" tIns="0" rIns="0" bIns="0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4584" name="Freeform 9"/>
          <p:cNvSpPr>
            <a:spLocks/>
          </p:cNvSpPr>
          <p:nvPr/>
        </p:nvSpPr>
        <p:spPr bwMode="auto">
          <a:xfrm>
            <a:off x="9282040" y="1178127"/>
            <a:ext cx="142875" cy="576263"/>
          </a:xfrm>
          <a:custGeom>
            <a:avLst/>
            <a:gdLst>
              <a:gd name="T0" fmla="*/ 0 w 90"/>
              <a:gd name="T1" fmla="*/ 0 h 363"/>
              <a:gd name="T2" fmla="*/ 90 w 90"/>
              <a:gd name="T3" fmla="*/ 181 h 363"/>
              <a:gd name="T4" fmla="*/ 0 w 90"/>
              <a:gd name="T5" fmla="*/ 363 h 363"/>
              <a:gd name="T6" fmla="*/ 0 60000 65536"/>
              <a:gd name="T7" fmla="*/ 0 60000 65536"/>
              <a:gd name="T8" fmla="*/ 0 60000 65536"/>
              <a:gd name="T9" fmla="*/ 0 w 90"/>
              <a:gd name="T10" fmla="*/ 0 h 363"/>
              <a:gd name="T11" fmla="*/ 90 w 90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0" h="363">
                <a:moveTo>
                  <a:pt x="0" y="0"/>
                </a:moveTo>
                <a:cubicBezTo>
                  <a:pt x="45" y="60"/>
                  <a:pt x="90" y="121"/>
                  <a:pt x="90" y="181"/>
                </a:cubicBezTo>
                <a:cubicBezTo>
                  <a:pt x="90" y="241"/>
                  <a:pt x="45" y="302"/>
                  <a:pt x="0" y="363"/>
                </a:cubicBezTo>
              </a:path>
            </a:pathLst>
          </a:custGeom>
          <a:noFill/>
          <a:ln w="28575">
            <a:solidFill>
              <a:srgbClr val="009900"/>
            </a:solidFill>
            <a:prstDash val="dash"/>
            <a:round/>
            <a:headEnd type="none" w="sm" len="sm"/>
            <a:tailEnd/>
          </a:ln>
        </p:spPr>
        <p:txBody>
          <a:bodyPr lIns="0" tIns="0" rIns="0" bIns="0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4585" name="Text Box 10"/>
          <p:cNvSpPr txBox="1">
            <a:spLocks noChangeArrowheads="1"/>
          </p:cNvSpPr>
          <p:nvPr/>
        </p:nvSpPr>
        <p:spPr bwMode="auto">
          <a:xfrm>
            <a:off x="7205109" y="2205039"/>
            <a:ext cx="551305" cy="227113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>
            <a:spAutoFit/>
          </a:bodyPr>
          <a:lstStyle/>
          <a:p>
            <a:pPr marL="457200" indent="-457200" defTabSz="457200">
              <a:lnSpc>
                <a:spcPct val="80000"/>
              </a:lnSpc>
              <a:buClr>
                <a:srgbClr val="D1161E"/>
              </a:buClr>
              <a:buSzPct val="85000"/>
            </a:pPr>
            <a:r>
              <a:rPr lang="en-AU" dirty="0">
                <a:solidFill>
                  <a:srgbClr val="0C64A7"/>
                </a:solidFill>
                <a:latin typeface="Calibri"/>
              </a:rPr>
              <a:t>Part 2</a:t>
            </a:r>
          </a:p>
        </p:txBody>
      </p:sp>
      <p:sp>
        <p:nvSpPr>
          <p:cNvPr id="24586" name="AutoShape 11"/>
          <p:cNvSpPr>
            <a:spLocks/>
          </p:cNvSpPr>
          <p:nvPr/>
        </p:nvSpPr>
        <p:spPr bwMode="auto">
          <a:xfrm rot="5400000">
            <a:off x="7389813" y="117531"/>
            <a:ext cx="287338" cy="3671888"/>
          </a:xfrm>
          <a:prstGeom prst="rightBrace">
            <a:avLst>
              <a:gd name="adj1" fmla="val 106492"/>
              <a:gd name="adj2" fmla="val 50000"/>
            </a:avLst>
          </a:prstGeom>
          <a:noFill/>
          <a:ln w="9525">
            <a:solidFill>
              <a:schemeClr val="accent2"/>
            </a:solidFill>
            <a:round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4587" name="AutoShape 12"/>
          <p:cNvSpPr>
            <a:spLocks/>
          </p:cNvSpPr>
          <p:nvPr/>
        </p:nvSpPr>
        <p:spPr bwMode="auto">
          <a:xfrm rot="5400000">
            <a:off x="4403725" y="1160463"/>
            <a:ext cx="287338" cy="1655762"/>
          </a:xfrm>
          <a:prstGeom prst="rightBrace">
            <a:avLst>
              <a:gd name="adj1" fmla="val 48020"/>
              <a:gd name="adj2" fmla="val 50000"/>
            </a:avLst>
          </a:prstGeom>
          <a:noFill/>
          <a:ln w="9525">
            <a:solidFill>
              <a:schemeClr val="accent2"/>
            </a:solidFill>
            <a:round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4588" name="Text Box 13"/>
          <p:cNvSpPr txBox="1">
            <a:spLocks noChangeArrowheads="1"/>
          </p:cNvSpPr>
          <p:nvPr/>
        </p:nvSpPr>
        <p:spPr bwMode="auto">
          <a:xfrm>
            <a:off x="4224339" y="2205039"/>
            <a:ext cx="551305" cy="227113"/>
          </a:xfrm>
          <a:prstGeom prst="rect">
            <a:avLst/>
          </a:prstGeom>
          <a:noFill/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>
            <a:spAutoFit/>
          </a:bodyPr>
          <a:lstStyle/>
          <a:p>
            <a:pPr marL="457200" indent="-457200" defTabSz="457200">
              <a:lnSpc>
                <a:spcPct val="80000"/>
              </a:lnSpc>
              <a:buClr>
                <a:srgbClr val="D1161E"/>
              </a:buClr>
              <a:buSzPct val="85000"/>
            </a:pPr>
            <a:r>
              <a:rPr lang="en-AU">
                <a:solidFill>
                  <a:srgbClr val="0C64A7"/>
                </a:solidFill>
                <a:latin typeface="Calibri"/>
              </a:rPr>
              <a:t>Part 1</a:t>
            </a:r>
          </a:p>
        </p:txBody>
      </p:sp>
      <p:graphicFrame>
        <p:nvGraphicFramePr>
          <p:cNvPr id="24659" name="Group 83"/>
          <p:cNvGraphicFramePr>
            <a:graphicFrameLocks noGrp="1"/>
          </p:cNvGraphicFramePr>
          <p:nvPr/>
        </p:nvGraphicFramePr>
        <p:xfrm>
          <a:off x="1992313" y="4149725"/>
          <a:ext cx="8280400" cy="1985010"/>
        </p:xfrm>
        <a:graphic>
          <a:graphicData uri="http://schemas.openxmlformats.org/drawingml/2006/table">
            <a:tbl>
              <a:tblPr/>
              <a:tblGrid>
                <a:gridCol w="80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51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21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97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81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Row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Name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Branch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Gender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Part1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Part2  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Part2 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Part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Selected?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1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Dave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Haw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2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Sue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City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3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Rob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City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19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  <a:sym typeface="Wingdings" pitchFamily="2" charset="2"/>
                        </a:rPr>
                        <a:t>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4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Jack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Kew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9527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1812925" y="4076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560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Mixed AND </a:t>
            </a:r>
            <a:r>
              <a:rPr lang="en-AU" dirty="0" err="1"/>
              <a:t>and</a:t>
            </a:r>
            <a:r>
              <a:rPr lang="en-AU" dirty="0"/>
              <a:t> OR operators</a:t>
            </a:r>
          </a:p>
        </p:txBody>
      </p:sp>
      <p:sp>
        <p:nvSpPr>
          <p:cNvPr id="25606" name="Rectangle 5"/>
          <p:cNvSpPr>
            <a:spLocks noGrp="1" noChangeArrowheads="1"/>
          </p:cNvSpPr>
          <p:nvPr>
            <p:ph idx="1"/>
          </p:nvPr>
        </p:nvSpPr>
        <p:spPr>
          <a:xfrm>
            <a:off x="2135188" y="908050"/>
            <a:ext cx="8532812" cy="52339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9900"/>
                </a:solidFill>
              </a:rPr>
              <a:t>Statements with ANDs &amp; ORs are confusing.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9900"/>
                </a:solidFill>
              </a:rPr>
              <a:t>Follow these steps to reduce confusion.</a:t>
            </a:r>
          </a:p>
          <a:p>
            <a:pPr marL="457200" indent="-457200"/>
            <a:endParaRPr lang="en-US" sz="2000" dirty="0">
              <a:solidFill>
                <a:srgbClr val="009900"/>
              </a:solidFill>
            </a:endParaRPr>
          </a:p>
          <a:p>
            <a:pPr marL="457200" indent="-457200">
              <a:buClr>
                <a:srgbClr val="009900"/>
              </a:buClr>
              <a:buSzPct val="120000"/>
              <a:buFont typeface="+mj-lt"/>
              <a:buAutoNum type="arabicPeriod"/>
            </a:pPr>
            <a:r>
              <a:rPr lang="en-US" sz="2000" dirty="0">
                <a:solidFill>
                  <a:srgbClr val="009900"/>
                </a:solidFill>
              </a:rPr>
              <a:t>Decide if the select statement has a </a:t>
            </a:r>
            <a:r>
              <a:rPr lang="en-US" sz="2000" b="1" dirty="0">
                <a:solidFill>
                  <a:srgbClr val="009900"/>
                </a:solidFill>
              </a:rPr>
              <a:t>mixture</a:t>
            </a:r>
            <a:r>
              <a:rPr lang="en-US" sz="2000" dirty="0">
                <a:solidFill>
                  <a:srgbClr val="009900"/>
                </a:solidFill>
              </a:rPr>
              <a:t> of AND </a:t>
            </a:r>
            <a:r>
              <a:rPr lang="en-US" sz="2000" dirty="0" err="1">
                <a:solidFill>
                  <a:srgbClr val="009900"/>
                </a:solidFill>
              </a:rPr>
              <a:t>and</a:t>
            </a:r>
            <a:r>
              <a:rPr lang="en-US" sz="2000" dirty="0">
                <a:solidFill>
                  <a:srgbClr val="009900"/>
                </a:solidFill>
              </a:rPr>
              <a:t> ORs</a:t>
            </a:r>
            <a:br>
              <a:rPr lang="en-US" sz="2000" dirty="0">
                <a:solidFill>
                  <a:srgbClr val="009900"/>
                </a:solidFill>
              </a:rPr>
            </a:br>
            <a:r>
              <a:rPr lang="en-US" sz="2000" dirty="0">
                <a:solidFill>
                  <a:srgbClr val="009900"/>
                </a:solidFill>
              </a:rPr>
              <a:t>If NO, then apply the truth tables as previously discussed.</a:t>
            </a:r>
          </a:p>
          <a:p>
            <a:pPr marL="457200" indent="-457200">
              <a:buClr>
                <a:srgbClr val="009900"/>
              </a:buClr>
              <a:buSzPct val="120000"/>
              <a:buFont typeface="+mj-lt"/>
              <a:buAutoNum type="arabicPeriod"/>
            </a:pPr>
            <a:endParaRPr lang="en-US" sz="2000" dirty="0">
              <a:solidFill>
                <a:srgbClr val="009900"/>
              </a:solidFill>
            </a:endParaRPr>
          </a:p>
          <a:p>
            <a:pPr marL="457200" lvl="1" indent="0">
              <a:buClr>
                <a:srgbClr val="009900"/>
              </a:buClr>
              <a:buSzPct val="120000"/>
              <a:buNone/>
            </a:pPr>
            <a:r>
              <a:rPr lang="en-US" sz="2000" dirty="0">
                <a:solidFill>
                  <a:srgbClr val="0000FF"/>
                </a:solidFill>
              </a:rPr>
              <a:t>WHERE    Gender = 'F'  OR  Gender = 'M' AND  Branch = 'City'</a:t>
            </a:r>
          </a:p>
          <a:p>
            <a:pPr marL="914400" lvl="1" indent="-457200"/>
            <a:endParaRPr lang="en-US" sz="2000" dirty="0">
              <a:solidFill>
                <a:srgbClr val="009900"/>
              </a:solidFill>
            </a:endParaRPr>
          </a:p>
          <a:p>
            <a:pPr marL="457200" indent="-457200">
              <a:buClr>
                <a:srgbClr val="009900"/>
              </a:buClr>
              <a:buSzPct val="120000"/>
              <a:buFont typeface="+mj-lt"/>
              <a:buAutoNum type="arabicPeriod"/>
            </a:pPr>
            <a:r>
              <a:rPr lang="en-US" sz="2000" dirty="0">
                <a:solidFill>
                  <a:srgbClr val="009900"/>
                </a:solidFill>
              </a:rPr>
              <a:t>Find an AND clause in the statement</a:t>
            </a:r>
          </a:p>
          <a:p>
            <a:pPr marL="457200" indent="-457200">
              <a:buClr>
                <a:srgbClr val="009900"/>
              </a:buClr>
              <a:buSzPct val="120000"/>
              <a:buFont typeface="+mj-lt"/>
              <a:buAutoNum type="arabicPeriod"/>
            </a:pPr>
            <a:endParaRPr lang="en-US" sz="2000" dirty="0">
              <a:solidFill>
                <a:srgbClr val="009900"/>
              </a:solidFill>
            </a:endParaRPr>
          </a:p>
          <a:p>
            <a:pPr marL="457200" indent="-457200">
              <a:buClr>
                <a:srgbClr val="009900"/>
              </a:buClr>
              <a:buSzPct val="120000"/>
              <a:buFont typeface="+mj-lt"/>
              <a:buAutoNum type="arabicPeriod"/>
            </a:pPr>
            <a:r>
              <a:rPr lang="en-US" sz="2000" dirty="0">
                <a:solidFill>
                  <a:srgbClr val="009900"/>
                </a:solidFill>
              </a:rPr>
              <a:t>Find the expression to the </a:t>
            </a:r>
            <a:r>
              <a:rPr lang="en-US" sz="2000" b="1" dirty="0">
                <a:solidFill>
                  <a:srgbClr val="009900"/>
                </a:solidFill>
              </a:rPr>
              <a:t>left</a:t>
            </a:r>
            <a:r>
              <a:rPr lang="en-US" sz="2000" dirty="0">
                <a:solidFill>
                  <a:srgbClr val="009900"/>
                </a:solidFill>
              </a:rPr>
              <a:t> of the AND clause</a:t>
            </a:r>
          </a:p>
          <a:p>
            <a:pPr marL="457200" indent="-457200">
              <a:buClr>
                <a:srgbClr val="009900"/>
              </a:buClr>
              <a:buSzPct val="120000"/>
              <a:buFont typeface="+mj-lt"/>
              <a:buAutoNum type="arabicPeriod"/>
            </a:pPr>
            <a:endParaRPr lang="en-US" sz="2000" dirty="0">
              <a:solidFill>
                <a:srgbClr val="009900"/>
              </a:solidFill>
            </a:endParaRPr>
          </a:p>
          <a:p>
            <a:pPr marL="457200" indent="-457200">
              <a:buClr>
                <a:srgbClr val="009900"/>
              </a:buClr>
              <a:buSzPct val="120000"/>
              <a:buFont typeface="+mj-lt"/>
              <a:buAutoNum type="arabicPeriod"/>
            </a:pPr>
            <a:r>
              <a:rPr lang="en-US" sz="2000" dirty="0">
                <a:solidFill>
                  <a:srgbClr val="009900"/>
                </a:solidFill>
              </a:rPr>
              <a:t>Insert a </a:t>
            </a:r>
            <a:r>
              <a:rPr lang="en-US" sz="2000" b="1" dirty="0">
                <a:solidFill>
                  <a:srgbClr val="009900"/>
                </a:solidFill>
              </a:rPr>
              <a:t>open</a:t>
            </a:r>
            <a:r>
              <a:rPr lang="en-US" sz="2000" dirty="0">
                <a:solidFill>
                  <a:srgbClr val="009900"/>
                </a:solidFill>
              </a:rPr>
              <a:t> </a:t>
            </a:r>
            <a:r>
              <a:rPr lang="en-US" sz="2000" b="1" dirty="0">
                <a:solidFill>
                  <a:srgbClr val="009900"/>
                </a:solidFill>
              </a:rPr>
              <a:t>bracket</a:t>
            </a:r>
            <a:r>
              <a:rPr lang="en-US" sz="2000" dirty="0">
                <a:solidFill>
                  <a:srgbClr val="009900"/>
                </a:solidFill>
              </a:rPr>
              <a:t> to the </a:t>
            </a:r>
            <a:r>
              <a:rPr lang="en-US" sz="2000" b="1" dirty="0">
                <a:solidFill>
                  <a:srgbClr val="009900"/>
                </a:solidFill>
              </a:rPr>
              <a:t>left</a:t>
            </a:r>
            <a:r>
              <a:rPr lang="en-US" sz="2000" dirty="0">
                <a:solidFill>
                  <a:srgbClr val="009900"/>
                </a:solidFill>
              </a:rPr>
              <a:t> of the expression</a:t>
            </a:r>
          </a:p>
          <a:p>
            <a:pPr marL="457200" indent="-457200">
              <a:buClr>
                <a:srgbClr val="009900"/>
              </a:buClr>
              <a:buSzPct val="120000"/>
              <a:buFont typeface="+mj-lt"/>
              <a:buAutoNum type="arabicPeriod"/>
            </a:pPr>
            <a:endParaRPr lang="en-US" sz="2000" dirty="0">
              <a:solidFill>
                <a:srgbClr val="009900"/>
              </a:solidFill>
            </a:endParaRPr>
          </a:p>
          <a:p>
            <a:pPr marL="555625" lvl="2" indent="0">
              <a:buClr>
                <a:srgbClr val="009900"/>
              </a:buClr>
              <a:buSzPct val="120000"/>
              <a:buNone/>
            </a:pPr>
            <a:r>
              <a:rPr lang="en-US" sz="2000" dirty="0">
                <a:solidFill>
                  <a:srgbClr val="0000FF"/>
                </a:solidFill>
              </a:rPr>
              <a:t>WHERE    Gender = 'F'  OR  </a:t>
            </a:r>
            <a:r>
              <a:rPr lang="en-US" sz="2000" b="1" dirty="0">
                <a:solidFill>
                  <a:srgbClr val="FF0000"/>
                </a:solidFill>
                <a:latin typeface="Arial Black" pitchFamily="34" charset="0"/>
              </a:rPr>
              <a:t>(</a:t>
            </a:r>
            <a:r>
              <a:rPr lang="en-US" sz="2000" dirty="0">
                <a:solidFill>
                  <a:srgbClr val="0000FF"/>
                </a:solidFill>
              </a:rPr>
              <a:t> Gender = 'M' </a:t>
            </a:r>
            <a:r>
              <a:rPr lang="en-US" sz="2000" dirty="0">
                <a:solidFill>
                  <a:srgbClr val="FF0000"/>
                </a:solidFill>
              </a:rPr>
              <a:t>AND</a:t>
            </a:r>
            <a:r>
              <a:rPr lang="en-US" sz="2000" dirty="0">
                <a:solidFill>
                  <a:srgbClr val="0000FF"/>
                </a:solidFill>
              </a:rPr>
              <a:t>  Branch = 'City'</a:t>
            </a:r>
          </a:p>
          <a:p>
            <a:pPr marL="0" indent="0">
              <a:buClr>
                <a:srgbClr val="009900"/>
              </a:buClr>
              <a:buSzPct val="120000"/>
              <a:buNone/>
            </a:pPr>
            <a:br>
              <a:rPr lang="en-US" sz="2000" dirty="0">
                <a:solidFill>
                  <a:srgbClr val="009900"/>
                </a:solidFill>
              </a:rPr>
            </a:br>
            <a:br>
              <a:rPr lang="en-US" sz="2000" dirty="0">
                <a:solidFill>
                  <a:srgbClr val="009900"/>
                </a:solidFill>
              </a:rPr>
            </a:br>
            <a:endParaRPr lang="en-US" sz="2000" dirty="0">
              <a:solidFill>
                <a:srgbClr val="00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195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1812925" y="4076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560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Mixed AND </a:t>
            </a:r>
            <a:r>
              <a:rPr lang="en-AU" dirty="0" err="1"/>
              <a:t>and</a:t>
            </a:r>
            <a:r>
              <a:rPr lang="en-AU" dirty="0"/>
              <a:t> OR operators</a:t>
            </a:r>
          </a:p>
        </p:txBody>
      </p:sp>
      <p:sp>
        <p:nvSpPr>
          <p:cNvPr id="25606" name="Rectangle 5"/>
          <p:cNvSpPr>
            <a:spLocks noGrp="1" noChangeArrowheads="1"/>
          </p:cNvSpPr>
          <p:nvPr>
            <p:ph idx="1"/>
          </p:nvPr>
        </p:nvSpPr>
        <p:spPr>
          <a:xfrm>
            <a:off x="2135188" y="908050"/>
            <a:ext cx="8532812" cy="5233988"/>
          </a:xfrm>
        </p:spPr>
        <p:txBody>
          <a:bodyPr>
            <a:noAutofit/>
          </a:bodyPr>
          <a:lstStyle/>
          <a:p>
            <a:pPr marL="457200" indent="-457200">
              <a:buClr>
                <a:srgbClr val="009900"/>
              </a:buClr>
              <a:buSzPct val="120000"/>
              <a:buFont typeface="+mj-lt"/>
              <a:buAutoNum type="arabicPeriod" startAt="5"/>
            </a:pPr>
            <a:r>
              <a:rPr lang="en-US" sz="2000" dirty="0">
                <a:solidFill>
                  <a:srgbClr val="009900"/>
                </a:solidFill>
              </a:rPr>
              <a:t>Find the expression to the </a:t>
            </a:r>
            <a:r>
              <a:rPr lang="en-US" sz="2000" b="1" dirty="0">
                <a:solidFill>
                  <a:srgbClr val="009900"/>
                </a:solidFill>
              </a:rPr>
              <a:t>right </a:t>
            </a:r>
            <a:r>
              <a:rPr lang="en-US" sz="2000" dirty="0">
                <a:solidFill>
                  <a:srgbClr val="009900"/>
                </a:solidFill>
              </a:rPr>
              <a:t>of the AND clause</a:t>
            </a:r>
          </a:p>
          <a:p>
            <a:pPr marL="457200" indent="-457200">
              <a:buClr>
                <a:srgbClr val="009900"/>
              </a:buClr>
              <a:buSzPct val="120000"/>
              <a:buFont typeface="+mj-lt"/>
              <a:buAutoNum type="arabicPeriod" startAt="5"/>
            </a:pPr>
            <a:endParaRPr lang="en-US" sz="2000" dirty="0">
              <a:solidFill>
                <a:srgbClr val="009900"/>
              </a:solidFill>
            </a:endParaRPr>
          </a:p>
          <a:p>
            <a:pPr marL="457200" indent="-457200">
              <a:buClr>
                <a:srgbClr val="009900"/>
              </a:buClr>
              <a:buSzPct val="120000"/>
              <a:buFont typeface="+mj-lt"/>
              <a:buAutoNum type="arabicPeriod" startAt="5"/>
            </a:pPr>
            <a:r>
              <a:rPr lang="en-US" sz="2000" dirty="0">
                <a:solidFill>
                  <a:srgbClr val="009900"/>
                </a:solidFill>
              </a:rPr>
              <a:t>Insert a </a:t>
            </a:r>
            <a:r>
              <a:rPr lang="en-US" sz="2000" b="1" dirty="0">
                <a:solidFill>
                  <a:srgbClr val="009900"/>
                </a:solidFill>
              </a:rPr>
              <a:t>close</a:t>
            </a:r>
            <a:r>
              <a:rPr lang="en-US" sz="2000" dirty="0">
                <a:solidFill>
                  <a:srgbClr val="009900"/>
                </a:solidFill>
              </a:rPr>
              <a:t> </a:t>
            </a:r>
            <a:r>
              <a:rPr lang="en-US" sz="2000" b="1" dirty="0">
                <a:solidFill>
                  <a:srgbClr val="009900"/>
                </a:solidFill>
              </a:rPr>
              <a:t>bracket</a:t>
            </a:r>
            <a:r>
              <a:rPr lang="en-US" sz="2000" dirty="0">
                <a:solidFill>
                  <a:srgbClr val="009900"/>
                </a:solidFill>
              </a:rPr>
              <a:t> to the </a:t>
            </a:r>
            <a:r>
              <a:rPr lang="en-US" sz="2000" b="1" dirty="0">
                <a:solidFill>
                  <a:srgbClr val="009900"/>
                </a:solidFill>
              </a:rPr>
              <a:t>right</a:t>
            </a:r>
            <a:r>
              <a:rPr lang="en-US" sz="2000" dirty="0">
                <a:solidFill>
                  <a:srgbClr val="009900"/>
                </a:solidFill>
              </a:rPr>
              <a:t> of the expression</a:t>
            </a:r>
          </a:p>
          <a:p>
            <a:pPr marL="457200" indent="-457200">
              <a:buClr>
                <a:srgbClr val="009900"/>
              </a:buClr>
              <a:buSzPct val="120000"/>
              <a:buFont typeface="+mj-lt"/>
              <a:buAutoNum type="arabicPeriod" startAt="5"/>
            </a:pPr>
            <a:endParaRPr lang="en-US" sz="2000" dirty="0">
              <a:solidFill>
                <a:srgbClr val="009900"/>
              </a:solidFill>
            </a:endParaRPr>
          </a:p>
          <a:p>
            <a:pPr marL="555625" lvl="2" indent="0">
              <a:buClr>
                <a:srgbClr val="009900"/>
              </a:buClr>
              <a:buSzPct val="120000"/>
              <a:buNone/>
            </a:pPr>
            <a:r>
              <a:rPr lang="en-US" sz="2000" dirty="0">
                <a:solidFill>
                  <a:srgbClr val="0000FF"/>
                </a:solidFill>
              </a:rPr>
              <a:t>WHERE    Gender = 'F'  OR  </a:t>
            </a:r>
            <a:r>
              <a:rPr lang="en-US" sz="2000" b="1" dirty="0">
                <a:solidFill>
                  <a:srgbClr val="FF0000"/>
                </a:solidFill>
                <a:latin typeface="Arial Black" pitchFamily="34" charset="0"/>
              </a:rPr>
              <a:t>(</a:t>
            </a:r>
            <a:r>
              <a:rPr lang="en-US" sz="2000" dirty="0">
                <a:solidFill>
                  <a:srgbClr val="0000FF"/>
                </a:solidFill>
              </a:rPr>
              <a:t> Gender = 'M' </a:t>
            </a:r>
            <a:r>
              <a:rPr lang="en-US" sz="2000" dirty="0">
                <a:solidFill>
                  <a:srgbClr val="FF0000"/>
                </a:solidFill>
              </a:rPr>
              <a:t>AND</a:t>
            </a:r>
            <a:r>
              <a:rPr lang="en-US" sz="2000" dirty="0">
                <a:solidFill>
                  <a:srgbClr val="0000FF"/>
                </a:solidFill>
              </a:rPr>
              <a:t>  Branch = 'City'  </a:t>
            </a:r>
            <a:r>
              <a:rPr lang="en-US" sz="2000" b="1" dirty="0">
                <a:solidFill>
                  <a:srgbClr val="FF0000"/>
                </a:solidFill>
                <a:latin typeface="Arial Black" pitchFamily="34" charset="0"/>
              </a:rPr>
              <a:t>)</a:t>
            </a:r>
          </a:p>
          <a:p>
            <a:pPr marL="555625" lvl="2" indent="0">
              <a:buClr>
                <a:srgbClr val="009900"/>
              </a:buClr>
              <a:buSzPct val="120000"/>
              <a:buNone/>
            </a:pPr>
            <a:endParaRPr lang="en-US" sz="2000" b="1" dirty="0">
              <a:solidFill>
                <a:srgbClr val="FF0000"/>
              </a:solidFill>
              <a:latin typeface="Arial Black" pitchFamily="34" charset="0"/>
            </a:endParaRPr>
          </a:p>
          <a:p>
            <a:pPr marL="457200" indent="-457200">
              <a:buClr>
                <a:srgbClr val="009900"/>
              </a:buClr>
              <a:buSzPct val="120000"/>
              <a:buFont typeface="+mj-lt"/>
              <a:buAutoNum type="arabicPeriod" startAt="5"/>
            </a:pPr>
            <a:r>
              <a:rPr lang="en-US" sz="2000" dirty="0">
                <a:solidFill>
                  <a:srgbClr val="009900"/>
                </a:solidFill>
              </a:rPr>
              <a:t>For each additional AND operator in the statement, repeat steps 2 – 6.</a:t>
            </a:r>
          </a:p>
          <a:p>
            <a:pPr marL="457200" indent="-457200">
              <a:buClr>
                <a:srgbClr val="009900"/>
              </a:buClr>
              <a:buSzPct val="120000"/>
              <a:buFont typeface="+mj-lt"/>
              <a:buAutoNum type="arabicPeriod" startAt="5"/>
            </a:pPr>
            <a:endParaRPr lang="en-US" sz="2000" dirty="0">
              <a:solidFill>
                <a:srgbClr val="009900"/>
              </a:solidFill>
            </a:endParaRPr>
          </a:p>
          <a:p>
            <a:pPr marL="457200" indent="-457200">
              <a:buClr>
                <a:srgbClr val="009900"/>
              </a:buClr>
              <a:buSzPct val="120000"/>
              <a:buFont typeface="+mj-lt"/>
              <a:buAutoNum type="arabicPeriod" startAt="5"/>
            </a:pPr>
            <a:r>
              <a:rPr lang="en-US" sz="2000" dirty="0">
                <a:solidFill>
                  <a:srgbClr val="009900"/>
                </a:solidFill>
              </a:rPr>
              <a:t>Now treat all bracketed expressions as a single expression</a:t>
            </a:r>
          </a:p>
          <a:p>
            <a:pPr marL="457200" indent="-457200">
              <a:buClr>
                <a:srgbClr val="009900"/>
              </a:buClr>
              <a:buSzPct val="120000"/>
              <a:buFont typeface="+mj-lt"/>
              <a:buAutoNum type="arabicPeriod" startAt="5"/>
            </a:pPr>
            <a:endParaRPr lang="en-US" sz="2000" dirty="0">
              <a:solidFill>
                <a:srgbClr val="009900"/>
              </a:solidFill>
            </a:endParaRPr>
          </a:p>
          <a:p>
            <a:pPr marL="419100" lvl="4" indent="0">
              <a:buClr>
                <a:srgbClr val="009900"/>
              </a:buClr>
              <a:buSzPct val="120000"/>
              <a:buNone/>
            </a:pPr>
            <a:r>
              <a:rPr lang="en-US" sz="2000" dirty="0">
                <a:solidFill>
                  <a:srgbClr val="0000FF"/>
                </a:solidFill>
              </a:rPr>
              <a:t>WHERE    </a:t>
            </a:r>
            <a:r>
              <a:rPr lang="en-US" sz="2000" dirty="0">
                <a:solidFill>
                  <a:srgbClr val="FF0000"/>
                </a:solidFill>
              </a:rPr>
              <a:t>Gender = 'F'  </a:t>
            </a:r>
            <a:r>
              <a:rPr lang="en-US" sz="2000" b="1" dirty="0">
                <a:solidFill>
                  <a:srgbClr val="0000FF"/>
                </a:solidFill>
                <a:latin typeface="Arial Black" pitchFamily="34" charset="0"/>
              </a:rPr>
              <a:t>OR</a:t>
            </a:r>
            <a:r>
              <a:rPr lang="en-US" sz="2000" dirty="0">
                <a:solidFill>
                  <a:srgbClr val="0000FF"/>
                </a:solidFill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Arial Black" pitchFamily="34" charset="0"/>
              </a:rPr>
              <a:t>(</a:t>
            </a:r>
            <a:r>
              <a:rPr lang="en-US" sz="2000" dirty="0">
                <a:solidFill>
                  <a:srgbClr val="FF0000"/>
                </a:solidFill>
              </a:rPr>
              <a:t> Gender = 'M' AND  Branch = 'City'  </a:t>
            </a:r>
            <a:r>
              <a:rPr lang="en-US" sz="2000" b="1" dirty="0">
                <a:solidFill>
                  <a:srgbClr val="FF0000"/>
                </a:solidFill>
                <a:latin typeface="Arial Black" pitchFamily="34" charset="0"/>
              </a:rPr>
              <a:t>)</a:t>
            </a:r>
          </a:p>
          <a:p>
            <a:pPr marL="457200" indent="-457200">
              <a:buClr>
                <a:srgbClr val="009900"/>
              </a:buClr>
              <a:buSzPct val="120000"/>
              <a:buFont typeface="+mj-lt"/>
              <a:buAutoNum type="arabicPeriod" startAt="5"/>
            </a:pPr>
            <a:endParaRPr lang="en-US" sz="2000" dirty="0">
              <a:solidFill>
                <a:srgbClr val="009900"/>
              </a:solidFill>
            </a:endParaRPr>
          </a:p>
          <a:p>
            <a:pPr marL="0" indent="0">
              <a:buClr>
                <a:srgbClr val="009900"/>
              </a:buClr>
              <a:buSzPct val="120000"/>
              <a:buNone/>
            </a:pPr>
            <a:r>
              <a:rPr lang="en-US" sz="2000" dirty="0">
                <a:solidFill>
                  <a:srgbClr val="009900"/>
                </a:solidFill>
              </a:rPr>
              <a:t>The statement now has all expressions are separated by OR operators.</a:t>
            </a:r>
          </a:p>
          <a:p>
            <a:pPr marL="0" indent="0">
              <a:buClr>
                <a:srgbClr val="009900"/>
              </a:buClr>
              <a:buSzPct val="120000"/>
              <a:buNone/>
            </a:pPr>
            <a:endParaRPr lang="en-US" sz="2000" dirty="0">
              <a:solidFill>
                <a:srgbClr val="009900"/>
              </a:solidFill>
            </a:endParaRPr>
          </a:p>
          <a:p>
            <a:pPr marL="0" indent="0">
              <a:buClr>
                <a:srgbClr val="009900"/>
              </a:buClr>
              <a:buSzPct val="120000"/>
              <a:buNone/>
            </a:pPr>
            <a:r>
              <a:rPr lang="en-US" sz="2000" dirty="0">
                <a:solidFill>
                  <a:srgbClr val="009900"/>
                </a:solidFill>
              </a:rPr>
              <a:t>If any expression is True, then the row will be selected.</a:t>
            </a:r>
          </a:p>
          <a:p>
            <a:pPr marL="0" indent="0">
              <a:buClr>
                <a:srgbClr val="009900"/>
              </a:buClr>
              <a:buSzPct val="120000"/>
              <a:buNone/>
            </a:pPr>
            <a:br>
              <a:rPr lang="en-US" sz="2000" dirty="0">
                <a:solidFill>
                  <a:srgbClr val="009900"/>
                </a:solidFill>
              </a:rPr>
            </a:br>
            <a:br>
              <a:rPr lang="en-US" sz="2000" dirty="0">
                <a:solidFill>
                  <a:srgbClr val="009900"/>
                </a:solidFill>
              </a:rPr>
            </a:br>
            <a:endParaRPr lang="en-US" sz="2000" dirty="0">
              <a:solidFill>
                <a:srgbClr val="00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304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1812925" y="4076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560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Mixing AND and OR operators</a:t>
            </a:r>
          </a:p>
        </p:txBody>
      </p:sp>
      <p:sp>
        <p:nvSpPr>
          <p:cNvPr id="25606" name="Rectangle 5"/>
          <p:cNvSpPr>
            <a:spLocks noGrp="1" noChangeArrowheads="1"/>
          </p:cNvSpPr>
          <p:nvPr>
            <p:ph idx="1"/>
          </p:nvPr>
        </p:nvSpPr>
        <p:spPr>
          <a:xfrm>
            <a:off x="2135188" y="908050"/>
            <a:ext cx="8532812" cy="52339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9900"/>
                </a:solidFill>
              </a:rPr>
              <a:t> </a:t>
            </a:r>
            <a:r>
              <a:rPr lang="en-US" sz="2000" dirty="0"/>
              <a:t>Consider this statement:</a:t>
            </a:r>
            <a:br>
              <a:rPr lang="en-US" sz="2000" dirty="0"/>
            </a:br>
            <a:endParaRPr lang="en-US" sz="2000" dirty="0">
              <a:solidFill>
                <a:srgbClr val="009900"/>
              </a:solidFill>
            </a:endParaRPr>
          </a:p>
          <a:p>
            <a:pPr marL="1031875" lvl="2" indent="-457200">
              <a:buSzPct val="75000"/>
              <a:buNone/>
            </a:pPr>
            <a:r>
              <a:rPr lang="en-US" sz="2000" b="1" dirty="0">
                <a:solidFill>
                  <a:srgbClr val="0033CC"/>
                </a:solidFill>
              </a:rPr>
              <a:t>WHERE   gender = 'F'</a:t>
            </a:r>
            <a:r>
              <a:rPr lang="en-US" sz="2000" b="1" dirty="0">
                <a:solidFill>
                  <a:srgbClr val="009900"/>
                </a:solidFill>
              </a:rPr>
              <a:t> </a:t>
            </a:r>
            <a:r>
              <a:rPr lang="en-US" sz="2000" b="1" dirty="0">
                <a:solidFill>
                  <a:srgbClr val="0033CC"/>
                </a:solidFill>
              </a:rPr>
              <a:t>  OR  gender = 'M'</a:t>
            </a:r>
            <a:r>
              <a:rPr lang="en-US" sz="2000" b="1" dirty="0">
                <a:solidFill>
                  <a:srgbClr val="009900"/>
                </a:solidFill>
              </a:rPr>
              <a:t>  </a:t>
            </a:r>
            <a:r>
              <a:rPr lang="en-US" sz="2000" b="1" dirty="0">
                <a:solidFill>
                  <a:srgbClr val="0033CC"/>
                </a:solidFill>
              </a:rPr>
              <a:t>AND </a:t>
            </a:r>
            <a:r>
              <a:rPr lang="en-US" sz="2000" b="1" dirty="0">
                <a:solidFill>
                  <a:srgbClr val="009900"/>
                </a:solidFill>
              </a:rPr>
              <a:t> </a:t>
            </a:r>
            <a:r>
              <a:rPr lang="en-US" sz="2000" b="1" dirty="0">
                <a:solidFill>
                  <a:srgbClr val="0033CC"/>
                </a:solidFill>
              </a:rPr>
              <a:t>age &lt; 23</a:t>
            </a:r>
          </a:p>
          <a:p>
            <a:pPr marL="476250" lvl="1" indent="-457200">
              <a:buSzPct val="75000"/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009900"/>
                </a:solidFill>
              </a:rPr>
              <a:t>Does the statement have a mixture of ANDs and ORs?</a:t>
            </a:r>
          </a:p>
          <a:p>
            <a:pPr marL="476250" lvl="1" indent="-457200">
              <a:buSzPct val="100000"/>
              <a:buFont typeface="+mj-lt"/>
              <a:buAutoNum type="arabicPeriod"/>
            </a:pPr>
            <a:endParaRPr lang="en-US" sz="2000" dirty="0">
              <a:solidFill>
                <a:srgbClr val="009900"/>
              </a:solidFill>
            </a:endParaRPr>
          </a:p>
          <a:p>
            <a:pPr marL="574675" lvl="2" indent="0">
              <a:buSzPct val="100000"/>
              <a:buNone/>
            </a:pPr>
            <a:r>
              <a:rPr lang="en-US" sz="2000" dirty="0">
                <a:solidFill>
                  <a:srgbClr val="009900"/>
                </a:solidFill>
              </a:rPr>
              <a:t>Yes</a:t>
            </a:r>
          </a:p>
          <a:p>
            <a:pPr marL="476250" lvl="1" indent="-457200">
              <a:buSzPct val="100000"/>
              <a:buFont typeface="+mj-lt"/>
              <a:buAutoNum type="arabicPeriod"/>
            </a:pPr>
            <a:endParaRPr lang="en-US" sz="2000" dirty="0">
              <a:solidFill>
                <a:srgbClr val="009900"/>
              </a:solidFill>
            </a:endParaRPr>
          </a:p>
          <a:p>
            <a:pPr marL="476250" lvl="1" indent="-457200"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009900"/>
                </a:solidFill>
              </a:rPr>
              <a:t>Where do the brackets have to be placed?</a:t>
            </a:r>
          </a:p>
          <a:p>
            <a:pPr marL="476250" lvl="1" indent="-457200">
              <a:buSzPct val="75000"/>
              <a:buAutoNum type="arabicPeriod"/>
            </a:pPr>
            <a:endParaRPr lang="en-US" sz="2000" b="1" dirty="0">
              <a:solidFill>
                <a:srgbClr val="0033CC"/>
              </a:solidFill>
            </a:endParaRPr>
          </a:p>
          <a:p>
            <a:pPr marL="574675" lvl="2" indent="0">
              <a:buSzPct val="75000"/>
              <a:buNone/>
            </a:pPr>
            <a:r>
              <a:rPr lang="en-US" sz="2000" b="1" dirty="0">
                <a:solidFill>
                  <a:srgbClr val="0033CC"/>
                </a:solidFill>
              </a:rPr>
              <a:t>WHERE   gender = 'F'</a:t>
            </a:r>
            <a:r>
              <a:rPr lang="en-US" sz="2000" b="1" dirty="0">
                <a:solidFill>
                  <a:srgbClr val="009900"/>
                </a:solidFill>
              </a:rPr>
              <a:t> </a:t>
            </a:r>
            <a:r>
              <a:rPr lang="en-US" sz="2000" b="1" dirty="0">
                <a:solidFill>
                  <a:srgbClr val="0033CC"/>
                </a:solidFill>
              </a:rPr>
              <a:t>  OR  </a:t>
            </a:r>
            <a:r>
              <a:rPr lang="en-US" sz="2000" b="1" dirty="0">
                <a:solidFill>
                  <a:srgbClr val="FF0000"/>
                </a:solidFill>
              </a:rPr>
              <a:t>(</a:t>
            </a:r>
            <a:r>
              <a:rPr lang="en-US" sz="2000" b="1" dirty="0">
                <a:solidFill>
                  <a:srgbClr val="0033CC"/>
                </a:solidFill>
              </a:rPr>
              <a:t> gender = 'M'</a:t>
            </a:r>
            <a:r>
              <a:rPr lang="en-US" sz="2000" b="1" dirty="0">
                <a:solidFill>
                  <a:srgbClr val="009900"/>
                </a:solidFill>
              </a:rPr>
              <a:t>  </a:t>
            </a:r>
            <a:r>
              <a:rPr lang="en-US" sz="2000" b="1" dirty="0">
                <a:solidFill>
                  <a:srgbClr val="0033CC"/>
                </a:solidFill>
              </a:rPr>
              <a:t>AND </a:t>
            </a:r>
            <a:r>
              <a:rPr lang="en-US" sz="2000" b="1" dirty="0">
                <a:solidFill>
                  <a:srgbClr val="009900"/>
                </a:solidFill>
              </a:rPr>
              <a:t> </a:t>
            </a:r>
            <a:r>
              <a:rPr lang="en-US" sz="2000" b="1" dirty="0">
                <a:solidFill>
                  <a:srgbClr val="0033CC"/>
                </a:solidFill>
              </a:rPr>
              <a:t>age &lt; 23 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</a:p>
          <a:p>
            <a:pPr marL="476250" lvl="1" indent="-457200">
              <a:buSzPct val="75000"/>
              <a:buFont typeface="+mj-lt"/>
              <a:buAutoNum type="arabicPeriod"/>
            </a:pP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75000"/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75000"/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75000"/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75000"/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75000"/>
              <a:buNone/>
            </a:pPr>
            <a:endParaRPr lang="en-US" sz="2000" b="1" dirty="0"/>
          </a:p>
          <a:p>
            <a:pPr marL="933450" lvl="1" indent="-457200">
              <a:buNone/>
            </a:pPr>
            <a:r>
              <a:rPr lang="en-US" sz="2000" b="1" dirty="0">
                <a:solidFill>
                  <a:srgbClr val="009900"/>
                </a:solidFill>
              </a:rPr>
              <a:t> </a:t>
            </a:r>
          </a:p>
          <a:p>
            <a:pPr marL="457200" indent="-457200"/>
            <a:endParaRPr lang="en-US" sz="2000" dirty="0">
              <a:solidFill>
                <a:srgbClr val="00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626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1812925" y="4076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560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Mixing AND and OR operators</a:t>
            </a:r>
          </a:p>
        </p:txBody>
      </p:sp>
      <p:sp>
        <p:nvSpPr>
          <p:cNvPr id="25606" name="Rectangle 5"/>
          <p:cNvSpPr>
            <a:spLocks noGrp="1" noChangeArrowheads="1"/>
          </p:cNvSpPr>
          <p:nvPr>
            <p:ph idx="1"/>
          </p:nvPr>
        </p:nvSpPr>
        <p:spPr>
          <a:xfrm>
            <a:off x="2135188" y="908050"/>
            <a:ext cx="8532812" cy="52339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9900"/>
                </a:solidFill>
              </a:rPr>
              <a:t> </a:t>
            </a:r>
            <a:r>
              <a:rPr lang="en-US" sz="2000" dirty="0"/>
              <a:t>Consider this statement:</a:t>
            </a:r>
            <a:br>
              <a:rPr lang="en-US" sz="2000" dirty="0"/>
            </a:br>
            <a:endParaRPr lang="en-US" sz="2000" dirty="0">
              <a:solidFill>
                <a:srgbClr val="009900"/>
              </a:solidFill>
            </a:endParaRPr>
          </a:p>
          <a:p>
            <a:pPr marL="1031875" lvl="2" indent="-457200">
              <a:buSzPct val="75000"/>
              <a:buNone/>
            </a:pPr>
            <a:r>
              <a:rPr lang="en-US" sz="2000" b="1" dirty="0">
                <a:solidFill>
                  <a:srgbClr val="0033CC"/>
                </a:solidFill>
              </a:rPr>
              <a:t>WHERE     age &lt; 23</a:t>
            </a:r>
          </a:p>
          <a:p>
            <a:pPr marL="1031875" lvl="2" indent="-457200">
              <a:buSzPct val="75000"/>
              <a:buNone/>
            </a:pPr>
            <a:r>
              <a:rPr lang="en-US" sz="2000" b="1" dirty="0">
                <a:solidFill>
                  <a:srgbClr val="0033CC"/>
                </a:solidFill>
              </a:rPr>
              <a:t>        OR     age &gt; 30</a:t>
            </a:r>
            <a:br>
              <a:rPr lang="en-US" sz="2000" b="1" dirty="0">
                <a:solidFill>
                  <a:srgbClr val="009900"/>
                </a:solidFill>
              </a:rPr>
            </a:br>
            <a:r>
              <a:rPr lang="en-US" sz="2000" b="1" dirty="0">
                <a:solidFill>
                  <a:srgbClr val="0033CC"/>
                </a:solidFill>
              </a:rPr>
              <a:t>AND    gender = 'F'</a:t>
            </a:r>
            <a:r>
              <a:rPr lang="en-US" sz="2000" b="1" dirty="0">
                <a:solidFill>
                  <a:srgbClr val="009900"/>
                </a:solidFill>
              </a:rPr>
              <a:t> </a:t>
            </a: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009900"/>
                </a:solidFill>
              </a:rPr>
              <a:t>Does the statement have a mixture of ANDs and </a:t>
            </a:r>
            <a:r>
              <a:rPr lang="en-US" sz="2000" dirty="0" err="1">
                <a:solidFill>
                  <a:srgbClr val="009900"/>
                </a:solidFill>
              </a:rPr>
              <a:t>Ors</a:t>
            </a:r>
            <a:r>
              <a:rPr lang="en-US" sz="2000" dirty="0">
                <a:solidFill>
                  <a:srgbClr val="009900"/>
                </a:solidFill>
              </a:rPr>
              <a:t>?</a:t>
            </a:r>
          </a:p>
          <a:p>
            <a:pPr marL="476250" lvl="1" indent="-457200">
              <a:buSzPct val="100000"/>
              <a:buFont typeface="+mj-lt"/>
              <a:buAutoNum type="arabicPeriod"/>
            </a:pPr>
            <a:endParaRPr lang="en-US" sz="2000" dirty="0">
              <a:solidFill>
                <a:srgbClr val="009900"/>
              </a:solidFill>
            </a:endParaRPr>
          </a:p>
          <a:p>
            <a:pPr marL="574675" lvl="2" indent="0">
              <a:buSzPct val="100000"/>
              <a:buNone/>
            </a:pPr>
            <a:r>
              <a:rPr lang="en-US" sz="2000" dirty="0">
                <a:solidFill>
                  <a:srgbClr val="009900"/>
                </a:solidFill>
              </a:rPr>
              <a:t>Yes</a:t>
            </a:r>
          </a:p>
          <a:p>
            <a:pPr marL="476250" lvl="1" indent="-457200">
              <a:buSzPct val="100000"/>
              <a:buFont typeface="+mj-lt"/>
              <a:buAutoNum type="arabicPeriod"/>
            </a:pPr>
            <a:endParaRPr lang="en-US" sz="2000" dirty="0">
              <a:solidFill>
                <a:srgbClr val="009900"/>
              </a:solidFill>
            </a:endParaRPr>
          </a:p>
          <a:p>
            <a:pPr marL="476250" lvl="1" indent="-457200"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009900"/>
                </a:solidFill>
              </a:rPr>
              <a:t>Where do the brackets have to be placed?</a:t>
            </a:r>
          </a:p>
          <a:p>
            <a:pPr marL="476250" lvl="1" indent="-457200">
              <a:buSzPct val="75000"/>
              <a:buAutoNum type="arabicPeriod"/>
            </a:pPr>
            <a:endParaRPr lang="en-US" sz="2000" b="1" dirty="0">
              <a:solidFill>
                <a:srgbClr val="0033CC"/>
              </a:solidFill>
            </a:endParaRPr>
          </a:p>
          <a:p>
            <a:pPr marL="1031875" lvl="2" indent="-457200">
              <a:buSzPct val="75000"/>
              <a:buNone/>
            </a:pPr>
            <a:r>
              <a:rPr lang="en-US" sz="2000" b="1" dirty="0">
                <a:solidFill>
                  <a:srgbClr val="0033CC"/>
                </a:solidFill>
              </a:rPr>
              <a:t>WHERE     age &lt; 23</a:t>
            </a:r>
          </a:p>
          <a:p>
            <a:pPr marL="1031875" lvl="2" indent="-457200">
              <a:buSzPct val="75000"/>
              <a:buNone/>
            </a:pPr>
            <a:r>
              <a:rPr lang="en-US" sz="2000" b="1" dirty="0">
                <a:solidFill>
                  <a:srgbClr val="0033CC"/>
                </a:solidFill>
              </a:rPr>
              <a:t>        OR     </a:t>
            </a:r>
            <a:r>
              <a:rPr lang="en-US" sz="2000" b="1" dirty="0">
                <a:solidFill>
                  <a:srgbClr val="FF0000"/>
                </a:solidFill>
              </a:rPr>
              <a:t>(</a:t>
            </a:r>
            <a:r>
              <a:rPr lang="en-US" sz="2000" b="1" dirty="0">
                <a:solidFill>
                  <a:srgbClr val="0033CC"/>
                </a:solidFill>
              </a:rPr>
              <a:t> age &gt; 30</a:t>
            </a:r>
            <a:br>
              <a:rPr lang="en-US" sz="2000" b="1" dirty="0">
                <a:solidFill>
                  <a:srgbClr val="009900"/>
                </a:solidFill>
              </a:rPr>
            </a:br>
            <a:r>
              <a:rPr lang="en-US" sz="2000" b="1" dirty="0">
                <a:solidFill>
                  <a:srgbClr val="0033CC"/>
                </a:solidFill>
              </a:rPr>
              <a:t>AND      gender = 'F'</a:t>
            </a:r>
            <a:r>
              <a:rPr lang="en-US" sz="2000" b="1" dirty="0">
                <a:solidFill>
                  <a:srgbClr val="009900"/>
                </a:solidFill>
              </a:rPr>
              <a:t>  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</a:p>
          <a:p>
            <a:pPr marL="476250" lvl="1" indent="-457200">
              <a:buSzPct val="75000"/>
              <a:buFont typeface="+mj-lt"/>
              <a:buAutoNum type="arabicPeriod"/>
            </a:pP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75000"/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75000"/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75000"/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75000"/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75000"/>
              <a:buNone/>
            </a:pPr>
            <a:endParaRPr lang="en-US" sz="2000" b="1" dirty="0"/>
          </a:p>
          <a:p>
            <a:pPr marL="933450" lvl="1" indent="-457200">
              <a:buNone/>
            </a:pPr>
            <a:r>
              <a:rPr lang="en-US" sz="2000" b="1" dirty="0">
                <a:solidFill>
                  <a:srgbClr val="009900"/>
                </a:solidFill>
              </a:rPr>
              <a:t> </a:t>
            </a:r>
          </a:p>
          <a:p>
            <a:pPr marL="457200" indent="-457200"/>
            <a:endParaRPr lang="en-US" sz="2000" dirty="0">
              <a:solidFill>
                <a:srgbClr val="00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948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1812925" y="4076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560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Mixing AND and OR operators</a:t>
            </a:r>
          </a:p>
        </p:txBody>
      </p:sp>
      <p:sp>
        <p:nvSpPr>
          <p:cNvPr id="25606" name="Rectangle 5"/>
          <p:cNvSpPr>
            <a:spLocks noGrp="1" noChangeArrowheads="1"/>
          </p:cNvSpPr>
          <p:nvPr>
            <p:ph idx="1"/>
          </p:nvPr>
        </p:nvSpPr>
        <p:spPr>
          <a:xfrm>
            <a:off x="2135188" y="908050"/>
            <a:ext cx="8532812" cy="52339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9900"/>
                </a:solidFill>
              </a:rPr>
              <a:t> </a:t>
            </a:r>
            <a:r>
              <a:rPr lang="en-US" sz="2000" dirty="0"/>
              <a:t>Consider this statement:</a:t>
            </a:r>
            <a:br>
              <a:rPr lang="en-US" sz="2000" dirty="0"/>
            </a:br>
            <a:endParaRPr lang="en-US" sz="2000" dirty="0">
              <a:solidFill>
                <a:srgbClr val="009900"/>
              </a:solidFill>
            </a:endParaRPr>
          </a:p>
          <a:p>
            <a:pPr marL="1031875" lvl="2" indent="-457200">
              <a:buSzPct val="75000"/>
              <a:buNone/>
            </a:pPr>
            <a:r>
              <a:rPr lang="en-US" sz="2000" b="1" dirty="0">
                <a:solidFill>
                  <a:srgbClr val="0033CC"/>
                </a:solidFill>
              </a:rPr>
              <a:t>WHERE     </a:t>
            </a:r>
            <a:r>
              <a:rPr lang="en-US" sz="2000" b="1" dirty="0" err="1">
                <a:solidFill>
                  <a:srgbClr val="0033CC"/>
                </a:solidFill>
              </a:rPr>
              <a:t>dept</a:t>
            </a:r>
            <a:r>
              <a:rPr lang="en-US" sz="2000" b="1" dirty="0">
                <a:solidFill>
                  <a:srgbClr val="0033CC"/>
                </a:solidFill>
              </a:rPr>
              <a:t> = 'A'  OR   </a:t>
            </a:r>
            <a:r>
              <a:rPr lang="en-US" sz="2000" b="1" dirty="0" err="1">
                <a:solidFill>
                  <a:srgbClr val="0033CC"/>
                </a:solidFill>
              </a:rPr>
              <a:t>qty</a:t>
            </a:r>
            <a:r>
              <a:rPr lang="en-US" sz="2000" b="1" dirty="0">
                <a:solidFill>
                  <a:srgbClr val="0033CC"/>
                </a:solidFill>
              </a:rPr>
              <a:t> &gt;= 50 </a:t>
            </a:r>
          </a:p>
          <a:p>
            <a:pPr marL="1031875" lvl="2" indent="-457200">
              <a:buSzPct val="75000"/>
              <a:buNone/>
            </a:pPr>
            <a:r>
              <a:rPr lang="en-US" sz="2000" b="1" dirty="0">
                <a:solidFill>
                  <a:srgbClr val="0033CC"/>
                </a:solidFill>
              </a:rPr>
              <a:t>     AND     </a:t>
            </a:r>
            <a:r>
              <a:rPr lang="en-US" sz="2000" b="1" dirty="0" err="1">
                <a:solidFill>
                  <a:srgbClr val="0033CC"/>
                </a:solidFill>
              </a:rPr>
              <a:t>qty</a:t>
            </a:r>
            <a:r>
              <a:rPr lang="en-US" sz="2000" b="1" dirty="0">
                <a:solidFill>
                  <a:srgbClr val="0033CC"/>
                </a:solidFill>
              </a:rPr>
              <a:t> &lt;= 100  OR   branch = 'City'</a:t>
            </a:r>
            <a:r>
              <a:rPr lang="en-US" sz="2000" b="1" dirty="0">
                <a:solidFill>
                  <a:srgbClr val="009900"/>
                </a:solidFill>
              </a:rPr>
              <a:t> </a:t>
            </a: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009900"/>
                </a:solidFill>
              </a:rPr>
              <a:t>Does the statement have a mixture of ANDs and ORs?</a:t>
            </a:r>
          </a:p>
          <a:p>
            <a:pPr marL="476250" lvl="1" indent="-457200">
              <a:buSzPct val="100000"/>
              <a:buFont typeface="+mj-lt"/>
              <a:buAutoNum type="arabicPeriod"/>
            </a:pPr>
            <a:endParaRPr lang="en-US" sz="2000" dirty="0">
              <a:solidFill>
                <a:srgbClr val="009900"/>
              </a:solidFill>
            </a:endParaRPr>
          </a:p>
          <a:p>
            <a:pPr marL="574675" lvl="2" indent="0">
              <a:buSzPct val="100000"/>
              <a:buNone/>
            </a:pPr>
            <a:r>
              <a:rPr lang="en-US" sz="2000" dirty="0">
                <a:solidFill>
                  <a:srgbClr val="009900"/>
                </a:solidFill>
              </a:rPr>
              <a:t>Yes</a:t>
            </a:r>
          </a:p>
          <a:p>
            <a:pPr marL="476250" lvl="1" indent="-457200">
              <a:buSzPct val="100000"/>
              <a:buFont typeface="+mj-lt"/>
              <a:buAutoNum type="arabicPeriod"/>
            </a:pPr>
            <a:endParaRPr lang="en-US" sz="2000" dirty="0">
              <a:solidFill>
                <a:srgbClr val="009900"/>
              </a:solidFill>
            </a:endParaRPr>
          </a:p>
          <a:p>
            <a:pPr marL="476250" lvl="1" indent="-457200"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009900"/>
                </a:solidFill>
              </a:rPr>
              <a:t>Where do the brackets have to be placed?</a:t>
            </a:r>
          </a:p>
          <a:p>
            <a:pPr marL="476250" lvl="1" indent="-457200">
              <a:buSzPct val="75000"/>
              <a:buAutoNum type="arabicPeriod"/>
            </a:pPr>
            <a:endParaRPr lang="en-US" sz="2000" b="1" dirty="0">
              <a:solidFill>
                <a:srgbClr val="0033CC"/>
              </a:solidFill>
            </a:endParaRPr>
          </a:p>
          <a:p>
            <a:pPr marL="1031875" lvl="2" indent="-457200">
              <a:buSzPct val="75000"/>
              <a:buNone/>
            </a:pPr>
            <a:r>
              <a:rPr lang="en-US" sz="2000" b="1" dirty="0">
                <a:solidFill>
                  <a:srgbClr val="0033CC"/>
                </a:solidFill>
              </a:rPr>
              <a:t>WHERE     </a:t>
            </a:r>
            <a:r>
              <a:rPr lang="en-US" sz="2000" b="1" dirty="0" err="1">
                <a:solidFill>
                  <a:srgbClr val="0033CC"/>
                </a:solidFill>
              </a:rPr>
              <a:t>dept</a:t>
            </a:r>
            <a:r>
              <a:rPr lang="en-US" sz="2000" b="1" dirty="0">
                <a:solidFill>
                  <a:srgbClr val="0033CC"/>
                </a:solidFill>
              </a:rPr>
              <a:t> = 'A'  OR   </a:t>
            </a:r>
            <a:r>
              <a:rPr lang="en-US" sz="2000" b="1" dirty="0">
                <a:solidFill>
                  <a:srgbClr val="FF0000"/>
                </a:solidFill>
              </a:rPr>
              <a:t>(</a:t>
            </a:r>
            <a:r>
              <a:rPr lang="en-US" sz="2000" b="1" dirty="0">
                <a:solidFill>
                  <a:srgbClr val="0033CC"/>
                </a:solidFill>
              </a:rPr>
              <a:t> </a:t>
            </a:r>
            <a:r>
              <a:rPr lang="en-US" sz="2000" b="1" dirty="0" err="1">
                <a:solidFill>
                  <a:srgbClr val="0033CC"/>
                </a:solidFill>
              </a:rPr>
              <a:t>qty</a:t>
            </a:r>
            <a:r>
              <a:rPr lang="en-US" sz="2000" b="1" dirty="0">
                <a:solidFill>
                  <a:srgbClr val="0033CC"/>
                </a:solidFill>
              </a:rPr>
              <a:t> &gt;= 50 </a:t>
            </a:r>
          </a:p>
          <a:p>
            <a:pPr marL="1031875" lvl="2" indent="-457200">
              <a:buSzPct val="75000"/>
              <a:buNone/>
            </a:pPr>
            <a:r>
              <a:rPr lang="en-US" sz="2000" b="1" dirty="0">
                <a:solidFill>
                  <a:srgbClr val="0033CC"/>
                </a:solidFill>
              </a:rPr>
              <a:t>     AND     </a:t>
            </a:r>
            <a:r>
              <a:rPr lang="en-US" sz="2000" b="1" dirty="0" err="1">
                <a:solidFill>
                  <a:srgbClr val="0033CC"/>
                </a:solidFill>
              </a:rPr>
              <a:t>qty</a:t>
            </a:r>
            <a:r>
              <a:rPr lang="en-US" sz="2000" b="1" dirty="0">
                <a:solidFill>
                  <a:srgbClr val="0033CC"/>
                </a:solidFill>
              </a:rPr>
              <a:t> &lt;= 100   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r>
              <a:rPr lang="en-US" sz="2000" b="1" dirty="0">
                <a:solidFill>
                  <a:srgbClr val="0033CC"/>
                </a:solidFill>
              </a:rPr>
              <a:t>  OR   branch = 'City'</a:t>
            </a:r>
            <a:r>
              <a:rPr lang="en-US" sz="2000" b="1" dirty="0">
                <a:solidFill>
                  <a:srgbClr val="009900"/>
                </a:solidFill>
              </a:rPr>
              <a:t> </a:t>
            </a: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75000"/>
              <a:buFont typeface="+mj-lt"/>
              <a:buAutoNum type="arabicPeriod"/>
            </a:pP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75000"/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75000"/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75000"/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75000"/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75000"/>
              <a:buNone/>
            </a:pPr>
            <a:endParaRPr lang="en-US" sz="2000" b="1" dirty="0"/>
          </a:p>
          <a:p>
            <a:pPr marL="933450" lvl="1" indent="-457200">
              <a:buNone/>
            </a:pPr>
            <a:r>
              <a:rPr lang="en-US" sz="2000" b="1" dirty="0">
                <a:solidFill>
                  <a:srgbClr val="009900"/>
                </a:solidFill>
              </a:rPr>
              <a:t> </a:t>
            </a:r>
          </a:p>
          <a:p>
            <a:pPr marL="457200" indent="-457200"/>
            <a:endParaRPr lang="en-US" sz="2000" dirty="0">
              <a:solidFill>
                <a:srgbClr val="00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2915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1812925" y="4076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560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Mixing AND and OR operators</a:t>
            </a:r>
          </a:p>
        </p:txBody>
      </p:sp>
      <p:sp>
        <p:nvSpPr>
          <p:cNvPr id="25606" name="Rectangle 5"/>
          <p:cNvSpPr>
            <a:spLocks noGrp="1" noChangeArrowheads="1"/>
          </p:cNvSpPr>
          <p:nvPr>
            <p:ph idx="1"/>
          </p:nvPr>
        </p:nvSpPr>
        <p:spPr>
          <a:xfrm>
            <a:off x="2135188" y="908050"/>
            <a:ext cx="8532812" cy="52339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9900"/>
                </a:solidFill>
              </a:rPr>
              <a:t> </a:t>
            </a:r>
            <a:r>
              <a:rPr lang="en-US" sz="2000" dirty="0"/>
              <a:t>Consider this statement:</a:t>
            </a:r>
            <a:br>
              <a:rPr lang="en-US" sz="2000" dirty="0"/>
            </a:br>
            <a:endParaRPr lang="en-US" sz="2000" dirty="0">
              <a:solidFill>
                <a:srgbClr val="009900"/>
              </a:solidFill>
            </a:endParaRPr>
          </a:p>
          <a:p>
            <a:pPr marL="1031875" lvl="2" indent="-457200">
              <a:buSzPct val="75000"/>
              <a:buNone/>
            </a:pPr>
            <a:r>
              <a:rPr lang="en-US" sz="2000" b="1" dirty="0">
                <a:solidFill>
                  <a:srgbClr val="0033CC"/>
                </a:solidFill>
              </a:rPr>
              <a:t>WHERE     </a:t>
            </a:r>
            <a:r>
              <a:rPr lang="en-US" sz="2000" b="1" dirty="0" err="1">
                <a:solidFill>
                  <a:srgbClr val="0033CC"/>
                </a:solidFill>
              </a:rPr>
              <a:t>dept</a:t>
            </a:r>
            <a:r>
              <a:rPr lang="en-US" sz="2000" b="1" dirty="0">
                <a:solidFill>
                  <a:srgbClr val="0033CC"/>
                </a:solidFill>
              </a:rPr>
              <a:t> = 'B'  AND   </a:t>
            </a:r>
            <a:r>
              <a:rPr lang="en-US" sz="2000" b="1" dirty="0" err="1">
                <a:solidFill>
                  <a:srgbClr val="0033CC"/>
                </a:solidFill>
              </a:rPr>
              <a:t>qty</a:t>
            </a:r>
            <a:r>
              <a:rPr lang="en-US" sz="2000" b="1" dirty="0">
                <a:solidFill>
                  <a:srgbClr val="0033CC"/>
                </a:solidFill>
              </a:rPr>
              <a:t> &gt;= 100 </a:t>
            </a:r>
          </a:p>
          <a:p>
            <a:pPr marL="1031875" lvl="2" indent="-457200">
              <a:buSzPct val="75000"/>
              <a:buNone/>
            </a:pPr>
            <a:r>
              <a:rPr lang="en-US" sz="2000" b="1" dirty="0">
                <a:solidFill>
                  <a:srgbClr val="0033CC"/>
                </a:solidFill>
              </a:rPr>
              <a:t>     AND     </a:t>
            </a:r>
            <a:r>
              <a:rPr lang="en-US" sz="2000" b="1" dirty="0" err="1">
                <a:solidFill>
                  <a:srgbClr val="0033CC"/>
                </a:solidFill>
              </a:rPr>
              <a:t>qty</a:t>
            </a:r>
            <a:r>
              <a:rPr lang="en-US" sz="2000" b="1" dirty="0">
                <a:solidFill>
                  <a:srgbClr val="0033CC"/>
                </a:solidFill>
              </a:rPr>
              <a:t> &lt;= 200  OR   branch = 'Haw'</a:t>
            </a:r>
            <a:r>
              <a:rPr lang="en-US" sz="2000" b="1" dirty="0">
                <a:solidFill>
                  <a:srgbClr val="009900"/>
                </a:solidFill>
              </a:rPr>
              <a:t> </a:t>
            </a: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009900"/>
                </a:solidFill>
              </a:rPr>
              <a:t>Does the statement have a mixture of ANDs and ORs?</a:t>
            </a:r>
          </a:p>
          <a:p>
            <a:pPr marL="476250" lvl="1" indent="-457200">
              <a:buSzPct val="100000"/>
              <a:buFont typeface="+mj-lt"/>
              <a:buAutoNum type="arabicPeriod"/>
            </a:pPr>
            <a:endParaRPr lang="en-US" sz="2000" dirty="0">
              <a:solidFill>
                <a:srgbClr val="009900"/>
              </a:solidFill>
            </a:endParaRPr>
          </a:p>
          <a:p>
            <a:pPr marL="574675" lvl="2" indent="0">
              <a:buSzPct val="100000"/>
              <a:buNone/>
            </a:pPr>
            <a:r>
              <a:rPr lang="en-US" sz="2000" dirty="0">
                <a:solidFill>
                  <a:srgbClr val="009900"/>
                </a:solidFill>
              </a:rPr>
              <a:t>Yes</a:t>
            </a:r>
          </a:p>
          <a:p>
            <a:pPr marL="476250" lvl="1" indent="-457200">
              <a:buSzPct val="100000"/>
              <a:buFont typeface="+mj-lt"/>
              <a:buAutoNum type="arabicPeriod"/>
            </a:pPr>
            <a:endParaRPr lang="en-US" sz="2000" dirty="0">
              <a:solidFill>
                <a:srgbClr val="009900"/>
              </a:solidFill>
            </a:endParaRPr>
          </a:p>
          <a:p>
            <a:pPr marL="476250" lvl="1" indent="-457200"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009900"/>
                </a:solidFill>
              </a:rPr>
              <a:t>Where do the brackets have to be placed?</a:t>
            </a:r>
          </a:p>
          <a:p>
            <a:pPr marL="476250" lvl="1" indent="-457200">
              <a:buSzPct val="75000"/>
              <a:buAutoNum type="arabicPeriod"/>
            </a:pPr>
            <a:endParaRPr lang="en-US" sz="2000" b="1" dirty="0">
              <a:solidFill>
                <a:srgbClr val="0033CC"/>
              </a:solidFill>
            </a:endParaRPr>
          </a:p>
          <a:p>
            <a:pPr marL="1031875" lvl="2" indent="-457200">
              <a:buSzPct val="75000"/>
              <a:buNone/>
            </a:pPr>
            <a:r>
              <a:rPr lang="en-US" sz="2000" b="1" dirty="0">
                <a:solidFill>
                  <a:srgbClr val="0033CC"/>
                </a:solidFill>
              </a:rPr>
              <a:t>WHERE    </a:t>
            </a:r>
            <a:r>
              <a:rPr lang="en-US" sz="2000" b="1" dirty="0">
                <a:solidFill>
                  <a:srgbClr val="7030A0"/>
                </a:solidFill>
              </a:rPr>
              <a:t> </a:t>
            </a:r>
            <a:r>
              <a:rPr lang="en-US" sz="2000" b="1" dirty="0">
                <a:solidFill>
                  <a:srgbClr val="F98F1B"/>
                </a:solidFill>
              </a:rPr>
              <a:t>(</a:t>
            </a:r>
            <a:r>
              <a:rPr lang="en-US" sz="2000" b="1" dirty="0">
                <a:solidFill>
                  <a:srgbClr val="FF0000"/>
                </a:solidFill>
              </a:rPr>
              <a:t> ( </a:t>
            </a:r>
            <a:r>
              <a:rPr lang="en-US" sz="2000" b="1" dirty="0" err="1">
                <a:solidFill>
                  <a:srgbClr val="0033CC"/>
                </a:solidFill>
              </a:rPr>
              <a:t>dept</a:t>
            </a:r>
            <a:r>
              <a:rPr lang="en-US" sz="2000" b="1" dirty="0">
                <a:solidFill>
                  <a:srgbClr val="0033CC"/>
                </a:solidFill>
              </a:rPr>
              <a:t> = 'B'  AND   </a:t>
            </a:r>
            <a:r>
              <a:rPr lang="en-US" sz="2000" b="1" dirty="0" err="1">
                <a:solidFill>
                  <a:srgbClr val="0033CC"/>
                </a:solidFill>
              </a:rPr>
              <a:t>qty</a:t>
            </a:r>
            <a:r>
              <a:rPr lang="en-US" sz="2000" b="1" dirty="0">
                <a:solidFill>
                  <a:srgbClr val="0033CC"/>
                </a:solidFill>
              </a:rPr>
              <a:t> &gt;= 100 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r>
              <a:rPr lang="en-US" sz="2000" b="1" dirty="0">
                <a:solidFill>
                  <a:srgbClr val="0033CC"/>
                </a:solidFill>
              </a:rPr>
              <a:t> </a:t>
            </a:r>
          </a:p>
          <a:p>
            <a:pPr marL="1031875" lvl="2" indent="-457200">
              <a:buSzPct val="75000"/>
              <a:buNone/>
            </a:pPr>
            <a:r>
              <a:rPr lang="en-US" sz="2000" b="1" dirty="0">
                <a:solidFill>
                  <a:srgbClr val="0033CC"/>
                </a:solidFill>
              </a:rPr>
              <a:t>     AND     </a:t>
            </a:r>
            <a:r>
              <a:rPr lang="en-US" sz="2000" b="1" dirty="0" err="1">
                <a:solidFill>
                  <a:srgbClr val="0033CC"/>
                </a:solidFill>
              </a:rPr>
              <a:t>qty</a:t>
            </a:r>
            <a:r>
              <a:rPr lang="en-US" sz="2000" b="1" dirty="0">
                <a:solidFill>
                  <a:srgbClr val="0033CC"/>
                </a:solidFill>
              </a:rPr>
              <a:t> &lt;= 200 </a:t>
            </a:r>
            <a:r>
              <a:rPr lang="en-US" sz="2000" b="1" dirty="0">
                <a:solidFill>
                  <a:srgbClr val="F98F1B"/>
                </a:solidFill>
              </a:rPr>
              <a:t>)</a:t>
            </a:r>
            <a:r>
              <a:rPr lang="en-US" sz="2000" b="1" dirty="0">
                <a:solidFill>
                  <a:srgbClr val="0033CC"/>
                </a:solidFill>
              </a:rPr>
              <a:t> OR   branch = Haw'</a:t>
            </a:r>
            <a:r>
              <a:rPr lang="en-US" sz="2000" b="1" dirty="0">
                <a:solidFill>
                  <a:srgbClr val="009900"/>
                </a:solidFill>
              </a:rPr>
              <a:t> </a:t>
            </a: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75000"/>
              <a:buFont typeface="+mj-lt"/>
              <a:buAutoNum type="arabicPeriod"/>
            </a:pP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75000"/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75000"/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75000"/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75000"/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marL="476250" lvl="1" indent="-457200">
              <a:buSzPct val="75000"/>
              <a:buNone/>
            </a:pPr>
            <a:endParaRPr lang="en-US" sz="2000" b="1" dirty="0"/>
          </a:p>
          <a:p>
            <a:pPr marL="933450" lvl="1" indent="-457200">
              <a:buNone/>
            </a:pPr>
            <a:r>
              <a:rPr lang="en-US" sz="2000" b="1" dirty="0">
                <a:solidFill>
                  <a:srgbClr val="009900"/>
                </a:solidFill>
              </a:rPr>
              <a:t> </a:t>
            </a:r>
          </a:p>
          <a:p>
            <a:pPr marL="457200" indent="-457200"/>
            <a:endParaRPr lang="en-US" sz="2000" dirty="0">
              <a:solidFill>
                <a:srgbClr val="00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921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1812925" y="4076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560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Mixing AND and OR operators</a:t>
            </a:r>
          </a:p>
        </p:txBody>
      </p:sp>
      <p:sp>
        <p:nvSpPr>
          <p:cNvPr id="25606" name="Rectangle 5"/>
          <p:cNvSpPr>
            <a:spLocks noGrp="1" noChangeArrowheads="1"/>
          </p:cNvSpPr>
          <p:nvPr>
            <p:ph idx="1"/>
          </p:nvPr>
        </p:nvSpPr>
        <p:spPr>
          <a:xfrm>
            <a:off x="2135188" y="908050"/>
            <a:ext cx="8532812" cy="52339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9900"/>
                </a:solidFill>
              </a:rPr>
              <a:t> </a:t>
            </a:r>
            <a:r>
              <a:rPr lang="en-US" sz="2000" dirty="0"/>
              <a:t>How many rows are selected?</a:t>
            </a:r>
            <a:br>
              <a:rPr lang="en-US" sz="2000" dirty="0"/>
            </a:br>
            <a:endParaRPr lang="en-US" sz="2000" dirty="0">
              <a:solidFill>
                <a:srgbClr val="009900"/>
              </a:solidFill>
            </a:endParaRPr>
          </a:p>
          <a:p>
            <a:pPr marL="933450" lvl="1" indent="-457200">
              <a:buNone/>
            </a:pPr>
            <a:r>
              <a:rPr lang="en-US" sz="2000" b="1" dirty="0">
                <a:solidFill>
                  <a:srgbClr val="0033CC"/>
                </a:solidFill>
              </a:rPr>
              <a:t>WHERE   age =  21   AND   gender = 'M’</a:t>
            </a:r>
            <a:r>
              <a:rPr lang="en-US" sz="2000" b="1" dirty="0">
                <a:solidFill>
                  <a:srgbClr val="009900"/>
                </a:solidFill>
              </a:rPr>
              <a:t>  </a:t>
            </a:r>
            <a:r>
              <a:rPr lang="en-US" sz="2000" b="1" dirty="0">
                <a:solidFill>
                  <a:srgbClr val="0033CC"/>
                </a:solidFill>
              </a:rPr>
              <a:t>OR</a:t>
            </a:r>
          </a:p>
          <a:p>
            <a:pPr marL="933450" lvl="1" indent="-457200">
              <a:buNone/>
            </a:pPr>
            <a:r>
              <a:rPr lang="en-US" sz="2000" b="1">
                <a:solidFill>
                  <a:srgbClr val="009900"/>
                </a:solidFill>
              </a:rPr>
              <a:t>                 </a:t>
            </a:r>
            <a:r>
              <a:rPr lang="en-US" sz="2000" b="1">
                <a:solidFill>
                  <a:srgbClr val="0033CC"/>
                </a:solidFill>
              </a:rPr>
              <a:t>age </a:t>
            </a:r>
            <a:r>
              <a:rPr lang="en-US" sz="2000" b="1" dirty="0">
                <a:solidFill>
                  <a:srgbClr val="0033CC"/>
                </a:solidFill>
              </a:rPr>
              <a:t>=  23   AND   gender = 'F</a:t>
            </a:r>
            <a:r>
              <a:rPr lang="en-US" sz="2000" b="1">
                <a:solidFill>
                  <a:srgbClr val="0033CC"/>
                </a:solidFill>
              </a:rPr>
              <a:t>’</a:t>
            </a:r>
            <a:r>
              <a:rPr lang="en-US" sz="2000" b="1">
                <a:solidFill>
                  <a:srgbClr val="009900"/>
                </a:solidFill>
              </a:rPr>
              <a:t> </a:t>
            </a:r>
            <a:endParaRPr lang="en-US" sz="2000" b="1" dirty="0"/>
          </a:p>
          <a:p>
            <a:pPr marL="933450" lvl="1" indent="-457200">
              <a:buNone/>
            </a:pPr>
            <a:endParaRPr lang="en-US" sz="2000" b="1" dirty="0"/>
          </a:p>
          <a:p>
            <a:pPr marL="933450" lvl="1" indent="-457200">
              <a:buNone/>
            </a:pPr>
            <a:r>
              <a:rPr lang="en-US" sz="2000" b="1" dirty="0">
                <a:solidFill>
                  <a:srgbClr val="009900"/>
                </a:solidFill>
              </a:rPr>
              <a:t> </a:t>
            </a:r>
          </a:p>
          <a:p>
            <a:pPr marL="457200" indent="-457200"/>
            <a:endParaRPr lang="en-US" sz="2000" dirty="0">
              <a:solidFill>
                <a:srgbClr val="009900"/>
              </a:solidFill>
            </a:endParaRPr>
          </a:p>
        </p:txBody>
      </p:sp>
      <p:graphicFrame>
        <p:nvGraphicFramePr>
          <p:cNvPr id="581732" name="Group 100"/>
          <p:cNvGraphicFramePr>
            <a:graphicFrameLocks noGrp="1"/>
          </p:cNvGraphicFramePr>
          <p:nvPr/>
        </p:nvGraphicFramePr>
        <p:xfrm>
          <a:off x="1992313" y="2852738"/>
          <a:ext cx="8496300" cy="1985010"/>
        </p:xfrm>
        <a:graphic>
          <a:graphicData uri="http://schemas.openxmlformats.org/drawingml/2006/table">
            <a:tbl>
              <a:tblPr/>
              <a:tblGrid>
                <a:gridCol w="785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5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Row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Name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Branch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Gender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Selected?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1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Dave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Haw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2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Sue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City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3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Rob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City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19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4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Jack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Kew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094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1524000" y="5981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1812925" y="4076700"/>
            <a:ext cx="1733550" cy="87630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sm" len="sm"/>
            <a:tailEnd/>
          </a:ln>
        </p:spPr>
        <p:txBody>
          <a:bodyPr wrap="none" lIns="0" tIns="0" rIns="0" bIns="0" anchor="ctr"/>
          <a:lstStyle/>
          <a:p>
            <a:pPr defTabSz="457200">
              <a:lnSpc>
                <a:spcPct val="80000"/>
              </a:lnSpc>
              <a:buClr>
                <a:srgbClr val="D1161E"/>
              </a:buClr>
              <a:buSzPct val="85000"/>
              <a:buFont typeface="Wingdings" pitchFamily="2" charset="2"/>
              <a:buChar char="§"/>
            </a:pPr>
            <a:endParaRPr lang="en-AU">
              <a:solidFill>
                <a:srgbClr val="D1161E"/>
              </a:solidFill>
              <a:latin typeface="Calibri"/>
            </a:endParaRPr>
          </a:p>
        </p:txBody>
      </p:sp>
      <p:sp>
        <p:nvSpPr>
          <p:cNvPr id="2662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Mixing AND and OR operators</a:t>
            </a:r>
          </a:p>
        </p:txBody>
      </p:sp>
      <p:sp>
        <p:nvSpPr>
          <p:cNvPr id="26630" name="Rectangle 5"/>
          <p:cNvSpPr>
            <a:spLocks noGrp="1" noChangeArrowheads="1"/>
          </p:cNvSpPr>
          <p:nvPr>
            <p:ph idx="1"/>
          </p:nvPr>
        </p:nvSpPr>
        <p:spPr>
          <a:xfrm>
            <a:off x="2135188" y="908050"/>
            <a:ext cx="8532812" cy="52339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9900"/>
                </a:solidFill>
              </a:rPr>
              <a:t> </a:t>
            </a:r>
            <a:r>
              <a:rPr lang="en-US" sz="2000" dirty="0"/>
              <a:t>How many rows are selected?</a:t>
            </a:r>
            <a:br>
              <a:rPr lang="en-US" sz="2000" dirty="0"/>
            </a:br>
            <a:endParaRPr lang="en-US" sz="2000" dirty="0">
              <a:solidFill>
                <a:srgbClr val="009900"/>
              </a:solidFill>
            </a:endParaRPr>
          </a:p>
          <a:p>
            <a:pPr marL="933450" lvl="1" indent="-457200">
              <a:buNone/>
            </a:pPr>
            <a:r>
              <a:rPr lang="en-US" sz="2000" b="1" dirty="0">
                <a:solidFill>
                  <a:srgbClr val="0033CC"/>
                </a:solidFill>
              </a:rPr>
              <a:t>WHERE   age =  19   OR   branch = 'Haw'  AND  branch = 'Kew’ OR</a:t>
            </a:r>
          </a:p>
          <a:p>
            <a:pPr marL="933450" lvl="1" indent="-457200">
              <a:buNone/>
            </a:pPr>
            <a:r>
              <a:rPr lang="en-US" sz="2000" b="1" dirty="0">
                <a:solidFill>
                  <a:srgbClr val="0033CC"/>
                </a:solidFill>
              </a:rPr>
              <a:t>               age =  22   AND   gender = 'M’ OR gender = 'F'</a:t>
            </a:r>
          </a:p>
          <a:p>
            <a:pPr marL="933450" lvl="1" indent="-457200">
              <a:buNone/>
            </a:pPr>
            <a:endParaRPr lang="en-US" sz="2000" b="1" dirty="0">
              <a:solidFill>
                <a:srgbClr val="0033CC"/>
              </a:solidFill>
            </a:endParaRPr>
          </a:p>
          <a:p>
            <a:pPr marL="933450" lvl="1" indent="-457200">
              <a:buNone/>
            </a:pPr>
            <a:r>
              <a:rPr lang="en-US" sz="2000" b="1" dirty="0">
                <a:solidFill>
                  <a:srgbClr val="009900"/>
                </a:solidFill>
              </a:rPr>
              <a:t> </a:t>
            </a:r>
          </a:p>
          <a:p>
            <a:pPr marL="457200" indent="-457200"/>
            <a:endParaRPr lang="en-US" sz="2000" dirty="0">
              <a:solidFill>
                <a:srgbClr val="009900"/>
              </a:solidFill>
            </a:endParaRPr>
          </a:p>
        </p:txBody>
      </p:sp>
      <p:graphicFrame>
        <p:nvGraphicFramePr>
          <p:cNvPr id="582758" name="Group 102"/>
          <p:cNvGraphicFramePr>
            <a:graphicFrameLocks noGrp="1"/>
          </p:cNvGraphicFramePr>
          <p:nvPr/>
        </p:nvGraphicFramePr>
        <p:xfrm>
          <a:off x="1955800" y="2852738"/>
          <a:ext cx="8604250" cy="1985010"/>
        </p:xfrm>
        <a:graphic>
          <a:graphicData uri="http://schemas.openxmlformats.org/drawingml/2006/table">
            <a:tbl>
              <a:tblPr/>
              <a:tblGrid>
                <a:gridCol w="78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5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51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Row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Name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Branch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Gender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Age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Selected?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1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Dave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Haw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21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2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Sue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City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3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Rob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City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19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81000" marR="0" lvl="0" indent="-381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  <a:sym typeface="Wingdings" pitchFamily="2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4</a:t>
                      </a:r>
                      <a:endParaRPr kumimoji="0" 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Jack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Kew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Arial Narrow" pitchFamily="34" charset="0"/>
                        </a:rPr>
                        <a:t>23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1" i="0" u="none" strike="noStrike" cap="none" normalizeH="0" baseline="0">
                        <a:ln>
                          <a:noFill/>
                        </a:ln>
                        <a:solidFill>
                          <a:srgbClr val="0099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A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917860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_Tiles">
  <a:themeElements>
    <a:clrScheme name="Swinburne">
      <a:dk1>
        <a:srgbClr val="D1161E"/>
      </a:dk1>
      <a:lt1>
        <a:srgbClr val="FFFFFF"/>
      </a:lt1>
      <a:dk2>
        <a:srgbClr val="000000"/>
      </a:dk2>
      <a:lt2>
        <a:srgbClr val="FFFFFF"/>
      </a:lt2>
      <a:accent1>
        <a:srgbClr val="4A8E10"/>
      </a:accent1>
      <a:accent2>
        <a:srgbClr val="0C64A7"/>
      </a:accent2>
      <a:accent3>
        <a:srgbClr val="16B1CF"/>
      </a:accent3>
      <a:accent4>
        <a:srgbClr val="FEAE35"/>
      </a:accent4>
      <a:accent5>
        <a:srgbClr val="6C008D"/>
      </a:accent5>
      <a:accent6>
        <a:srgbClr val="6D6F72"/>
      </a:accent6>
      <a:hlink>
        <a:srgbClr val="6D6F72"/>
      </a:hlink>
      <a:folHlink>
        <a:srgbClr val="D116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1799</TotalTime>
  <Words>2054</Words>
  <Application>Microsoft Office PowerPoint</Application>
  <PresentationFormat>Widescreen</PresentationFormat>
  <Paragraphs>663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Black</vt:lpstr>
      <vt:lpstr>Arial Narrow</vt:lpstr>
      <vt:lpstr>Calibri</vt:lpstr>
      <vt:lpstr>Open Sans</vt:lpstr>
      <vt:lpstr>Wingdings</vt:lpstr>
      <vt:lpstr>Swinburne_Tiles</vt:lpstr>
      <vt:lpstr>INF10025 Data Management and Analytics Lecture 6 – Part 3</vt:lpstr>
      <vt:lpstr>SQL: Complex Queries</vt:lpstr>
      <vt:lpstr>SQL: AND  &amp;  OR operators</vt:lpstr>
      <vt:lpstr>SQL: AND  &amp;  OR operators</vt:lpstr>
      <vt:lpstr>SQL: AND operator and numeric ranges</vt:lpstr>
      <vt:lpstr>SQL:Basic Operators</vt:lpstr>
      <vt:lpstr>SQL: Recap of WHERE clause</vt:lpstr>
      <vt:lpstr>AND Operator</vt:lpstr>
      <vt:lpstr>Multiple AND Operators</vt:lpstr>
      <vt:lpstr>SQL: OR Operator</vt:lpstr>
      <vt:lpstr>SQL: OR Operator (2)</vt:lpstr>
      <vt:lpstr>Mixing AND and OR operators</vt:lpstr>
      <vt:lpstr>Mixing AND and OR operators</vt:lpstr>
      <vt:lpstr>Mixing AND and OR operators</vt:lpstr>
      <vt:lpstr>Mixed AND and OR operators</vt:lpstr>
      <vt:lpstr>Mixed AND and OR operators</vt:lpstr>
      <vt:lpstr>Mixing AND and OR operators</vt:lpstr>
      <vt:lpstr>Mixing AND and OR operators</vt:lpstr>
      <vt:lpstr>Mixing AND and OR operators</vt:lpstr>
      <vt:lpstr>Mixing AND and OR operators</vt:lpstr>
      <vt:lpstr>Mixing AND and OR operators</vt:lpstr>
      <vt:lpstr>Mixing AND and OR operators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Tipping</dc:creator>
  <cp:lastModifiedBy>Robert Tipping</cp:lastModifiedBy>
  <cp:revision>2</cp:revision>
  <dcterms:created xsi:type="dcterms:W3CDTF">2023-03-22T21:33:45Z</dcterms:created>
  <dcterms:modified xsi:type="dcterms:W3CDTF">2023-03-24T03:32:47Z</dcterms:modified>
</cp:coreProperties>
</file>