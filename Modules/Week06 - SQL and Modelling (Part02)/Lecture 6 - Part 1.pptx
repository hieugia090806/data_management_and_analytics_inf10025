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338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327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B01A8-99C1-494A-844D-1CF9D1B27749}" type="datetimeFigureOut">
              <a:rPr lang="en-AU" smtClean="0"/>
              <a:t>23/03/2023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74243-EABB-484C-AF70-7F6E06AD38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33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4391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3559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&amp; Analytics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8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750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326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235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6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625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753275" y="1981500"/>
            <a:ext cx="653479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Lecture 6 – Part 1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6021388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Foreign Key Constraints &amp; relationships</a:t>
            </a:r>
          </a:p>
          <a:p>
            <a:r>
              <a:rPr lang="en-AU" b="1" dirty="0"/>
              <a:t>	Participation Constraints</a:t>
            </a:r>
          </a:p>
          <a:p>
            <a:r>
              <a:rPr lang="en-AU" b="1" dirty="0"/>
              <a:t>Not Null constraints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Recap: Entity Relationship Diagrams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2165350" y="765176"/>
            <a:ext cx="5950836" cy="5376863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/>
              <a:t>ERDs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Based on </a:t>
            </a:r>
            <a:r>
              <a:rPr lang="en-AU" sz="2000" b="1" dirty="0"/>
              <a:t>Business Rules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Describes </a:t>
            </a:r>
            <a:r>
              <a:rPr lang="en-AU" sz="2000" b="1" dirty="0"/>
              <a:t>data</a:t>
            </a:r>
            <a:r>
              <a:rPr lang="en-AU" sz="2000" dirty="0"/>
              <a:t> that organisation want to store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Shows </a:t>
            </a:r>
            <a:r>
              <a:rPr lang="en-AU" sz="2000" b="1" dirty="0"/>
              <a:t>relationships</a:t>
            </a:r>
            <a:r>
              <a:rPr lang="en-AU" sz="2000" dirty="0"/>
              <a:t> between entities</a:t>
            </a:r>
            <a:endParaRPr lang="en-AU" sz="2000" b="1" dirty="0"/>
          </a:p>
          <a:p>
            <a:endParaRPr lang="en-AU" b="1" dirty="0"/>
          </a:p>
        </p:txBody>
      </p:sp>
      <p:sp>
        <p:nvSpPr>
          <p:cNvPr id="139328" name="Rectangle 64"/>
          <p:cNvSpPr>
            <a:spLocks noChangeArrowheads="1"/>
          </p:cNvSpPr>
          <p:nvPr/>
        </p:nvSpPr>
        <p:spPr bwMode="auto">
          <a:xfrm>
            <a:off x="1524000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39329" name="Object 65"/>
          <p:cNvGraphicFramePr>
            <a:graphicFrameLocks noChangeAspect="1"/>
          </p:cNvGraphicFramePr>
          <p:nvPr/>
        </p:nvGraphicFramePr>
        <p:xfrm>
          <a:off x="2855913" y="2597151"/>
          <a:ext cx="5651500" cy="249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3932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4476" b="38278"/>
                      <a:stretch>
                        <a:fillRect/>
                      </a:stretch>
                    </p:blipFill>
                    <p:spPr bwMode="auto">
                      <a:xfrm>
                        <a:off x="2855913" y="2597151"/>
                        <a:ext cx="5651500" cy="249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330" name="Text Box 8"/>
          <p:cNvSpPr txBox="1">
            <a:spLocks noChangeArrowheads="1"/>
          </p:cNvSpPr>
          <p:nvPr/>
        </p:nvSpPr>
        <p:spPr bwMode="auto">
          <a:xfrm>
            <a:off x="1703389" y="5764214"/>
            <a:ext cx="2447925" cy="78111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>
                <a:solidFill>
                  <a:srgbClr val="0C64A7"/>
                </a:solidFill>
                <a:latin typeface="Calibri"/>
              </a:rPr>
              <a:t>Entity</a:t>
            </a:r>
          </a:p>
          <a:p>
            <a:pPr marL="182563" algn="ctr" defTabSz="457200"/>
            <a:r>
              <a:rPr lang="en-AU">
                <a:solidFill>
                  <a:srgbClr val="0C64A7"/>
                </a:solidFill>
                <a:latin typeface="Calibri"/>
              </a:rPr>
              <a:t>(Real World Things)</a:t>
            </a:r>
          </a:p>
          <a:p>
            <a:pPr marL="18256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9331" name="Line 9"/>
          <p:cNvSpPr>
            <a:spLocks noChangeShapeType="1"/>
          </p:cNvSpPr>
          <p:nvPr/>
        </p:nvSpPr>
        <p:spPr bwMode="auto">
          <a:xfrm flipV="1">
            <a:off x="2927351" y="5116513"/>
            <a:ext cx="144463" cy="5762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triangle" w="lg" len="lg"/>
          </a:ln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9332" name="Text Box 8"/>
          <p:cNvSpPr txBox="1">
            <a:spLocks noChangeArrowheads="1"/>
          </p:cNvSpPr>
          <p:nvPr/>
        </p:nvSpPr>
        <p:spPr bwMode="auto">
          <a:xfrm>
            <a:off x="7716838" y="1557339"/>
            <a:ext cx="2951162" cy="78111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>
                <a:solidFill>
                  <a:srgbClr val="0033CC"/>
                </a:solidFill>
                <a:latin typeface="Calibri"/>
              </a:rPr>
              <a:t>Attribute</a:t>
            </a:r>
          </a:p>
          <a:p>
            <a:pPr marL="182563" algn="ctr" defTabSz="457200"/>
            <a:r>
              <a:rPr lang="en-AU" dirty="0">
                <a:solidFill>
                  <a:srgbClr val="0033CC"/>
                </a:solidFill>
                <a:latin typeface="Calibri"/>
              </a:rPr>
              <a:t>(Property of an Entity)</a:t>
            </a:r>
          </a:p>
          <a:p>
            <a:pPr marL="18256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9333" name="Line 9"/>
          <p:cNvSpPr>
            <a:spLocks noChangeShapeType="1"/>
          </p:cNvSpPr>
          <p:nvPr/>
        </p:nvSpPr>
        <p:spPr bwMode="auto">
          <a:xfrm flipH="1">
            <a:off x="8616951" y="2349501"/>
            <a:ext cx="792163" cy="79216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none" w="sm" len="sm"/>
            <a:tailEnd type="triangle" w="lg" len="lg"/>
          </a:ln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9334" name="Text Box 8"/>
          <p:cNvSpPr txBox="1">
            <a:spLocks noChangeArrowheads="1"/>
          </p:cNvSpPr>
          <p:nvPr/>
        </p:nvSpPr>
        <p:spPr bwMode="auto">
          <a:xfrm>
            <a:off x="7392988" y="6071084"/>
            <a:ext cx="2447925" cy="553998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 dirty="0">
                <a:solidFill>
                  <a:srgbClr val="339966"/>
                </a:solidFill>
                <a:latin typeface="Calibri"/>
              </a:rPr>
              <a:t>Relationship</a:t>
            </a:r>
          </a:p>
          <a:p>
            <a:pPr marL="182563" algn="ctr" defTabSz="457200"/>
            <a:r>
              <a:rPr lang="en-AU" dirty="0">
                <a:solidFill>
                  <a:srgbClr val="339966"/>
                </a:solidFill>
                <a:latin typeface="Calibri"/>
              </a:rPr>
              <a:t>(between entities)</a:t>
            </a:r>
          </a:p>
        </p:txBody>
      </p:sp>
      <p:sp>
        <p:nvSpPr>
          <p:cNvPr id="139335" name="Line 9"/>
          <p:cNvSpPr>
            <a:spLocks noChangeShapeType="1"/>
          </p:cNvSpPr>
          <p:nvPr/>
        </p:nvSpPr>
        <p:spPr bwMode="auto">
          <a:xfrm flipH="1" flipV="1">
            <a:off x="5808664" y="4613276"/>
            <a:ext cx="3024187" cy="1439863"/>
          </a:xfrm>
          <a:prstGeom prst="line">
            <a:avLst/>
          </a:prstGeom>
          <a:noFill/>
          <a:ln w="28575">
            <a:solidFill>
              <a:srgbClr val="339966"/>
            </a:solidFill>
            <a:round/>
            <a:headEnd type="none" w="sm" len="sm"/>
            <a:tailEnd type="triangle" w="lg" len="lg"/>
          </a:ln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018657"/>
      </p:ext>
    </p:extLst>
  </p:cSld>
  <p:clrMapOvr>
    <a:masterClrMapping/>
  </p:clrMapOvr>
  <p:transition>
    <p:cover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Recap: Convert ERD to Relational Model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2165350" y="908050"/>
            <a:ext cx="8502650" cy="5233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000" dirty="0"/>
              <a:t>The ERD is converted to a Relational Schema</a:t>
            </a:r>
          </a:p>
          <a:p>
            <a:pPr marL="476250" lvl="1" indent="0">
              <a:buNone/>
            </a:pPr>
            <a:r>
              <a:rPr lang="en-AU" sz="2000" b="1" dirty="0"/>
              <a:t>Step 1:</a:t>
            </a:r>
            <a:r>
              <a:rPr lang="en-AU" sz="2000" dirty="0"/>
              <a:t> Each Entity becomes a </a:t>
            </a:r>
            <a:r>
              <a:rPr lang="en-AU" sz="2000" b="1" dirty="0"/>
              <a:t>Relation</a:t>
            </a:r>
          </a:p>
          <a:p>
            <a:pPr marL="476250" lvl="1" indent="0">
              <a:buNone/>
            </a:pPr>
            <a:r>
              <a:rPr lang="en-AU" sz="2000" b="1" dirty="0"/>
              <a:t>Step 2:</a:t>
            </a:r>
            <a:r>
              <a:rPr lang="en-AU" sz="2000" dirty="0"/>
              <a:t> Add </a:t>
            </a:r>
            <a:r>
              <a:rPr lang="en-AU" sz="2000" b="1" dirty="0"/>
              <a:t>attributes</a:t>
            </a:r>
            <a:r>
              <a:rPr lang="en-AU" sz="2000" dirty="0"/>
              <a:t> to the relations</a:t>
            </a:r>
          </a:p>
          <a:p>
            <a:pPr marL="476250" lvl="1" indent="0">
              <a:buNone/>
            </a:pPr>
            <a:r>
              <a:rPr lang="en-AU" sz="2000" b="1" dirty="0"/>
              <a:t>Step 3: </a:t>
            </a:r>
            <a:r>
              <a:rPr lang="en-AU" sz="2000" dirty="0"/>
              <a:t>Identifiers become </a:t>
            </a:r>
            <a:r>
              <a:rPr lang="en-AU" sz="2000" b="1" dirty="0"/>
              <a:t>Primary Keys</a:t>
            </a:r>
            <a:r>
              <a:rPr lang="en-AU" sz="2000" dirty="0"/>
              <a:t> </a:t>
            </a:r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pPr>
              <a:buFont typeface="Wingdings" pitchFamily="2" charset="2"/>
              <a:buNone/>
            </a:pPr>
            <a:endParaRPr lang="en-AU" b="1" dirty="0">
              <a:solidFill>
                <a:srgbClr val="0000F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				LECTURER (</a:t>
            </a:r>
            <a:r>
              <a:rPr lang="en-AU" b="1" u="sng" dirty="0" err="1">
                <a:solidFill>
                  <a:srgbClr val="0000FF"/>
                </a:solidFill>
              </a:rPr>
              <a:t>LecId</a:t>
            </a:r>
            <a:r>
              <a:rPr lang="en-AU" b="1" dirty="0">
                <a:solidFill>
                  <a:srgbClr val="0000FF"/>
                </a:solidFill>
              </a:rPr>
              <a:t>, </a:t>
            </a:r>
            <a:r>
              <a:rPr lang="en-AU" b="1" dirty="0" err="1">
                <a:solidFill>
                  <a:srgbClr val="0000FF"/>
                </a:solidFill>
              </a:rPr>
              <a:t>LecName</a:t>
            </a:r>
            <a:r>
              <a:rPr lang="en-AU" b="1" dirty="0">
                <a:solidFill>
                  <a:srgbClr val="0000FF"/>
                </a:solidFill>
              </a:rPr>
              <a:t>, Age)</a:t>
            </a:r>
          </a:p>
          <a:p>
            <a:pPr>
              <a:buFont typeface="Wingdings" pitchFamily="2" charset="2"/>
              <a:buNone/>
            </a:pPr>
            <a:endParaRPr lang="en-AU" b="1" dirty="0">
              <a:solidFill>
                <a:srgbClr val="0000F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				SUBJECT(</a:t>
            </a:r>
            <a:r>
              <a:rPr lang="en-AU" b="1" u="sng" dirty="0" err="1">
                <a:solidFill>
                  <a:srgbClr val="0000FF"/>
                </a:solidFill>
              </a:rPr>
              <a:t>SubjectCode</a:t>
            </a:r>
            <a:r>
              <a:rPr lang="en-AU" b="1" dirty="0">
                <a:solidFill>
                  <a:srgbClr val="0000FF"/>
                </a:solidFill>
              </a:rPr>
              <a:t>, Title, </a:t>
            </a:r>
            <a:r>
              <a:rPr lang="en-AU" b="1" dirty="0" err="1">
                <a:solidFill>
                  <a:srgbClr val="0000FF"/>
                </a:solidFill>
              </a:rPr>
              <a:t>CreditPoints</a:t>
            </a:r>
            <a:r>
              <a:rPr lang="en-AU" b="1" dirty="0">
                <a:solidFill>
                  <a:srgbClr val="0000FF"/>
                </a:solidFill>
              </a:rPr>
              <a:t>   )</a:t>
            </a:r>
          </a:p>
          <a:p>
            <a:endParaRPr lang="en-AU" b="1" dirty="0"/>
          </a:p>
          <a:p>
            <a:endParaRPr lang="en-AU" b="1" dirty="0"/>
          </a:p>
        </p:txBody>
      </p:sp>
      <p:graphicFrame>
        <p:nvGraphicFramePr>
          <p:cNvPr id="137286" name="Object 70"/>
          <p:cNvGraphicFramePr>
            <a:graphicFrameLocks noChangeAspect="1"/>
          </p:cNvGraphicFramePr>
          <p:nvPr/>
        </p:nvGraphicFramePr>
        <p:xfrm>
          <a:off x="3193311" y="2436001"/>
          <a:ext cx="5651500" cy="249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595" imgH="3660526" progId="Visio.Drawing.11">
                  <p:embed/>
                </p:oleObj>
              </mc:Choice>
              <mc:Fallback>
                <p:oleObj name="Visio" r:id="rId3" imgW="8331595" imgH="3660526" progId="Visio.Drawing.11">
                  <p:embed/>
                  <p:pic>
                    <p:nvPicPr>
                      <p:cNvPr id="137286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4476" b="38278"/>
                      <a:stretch>
                        <a:fillRect/>
                      </a:stretch>
                    </p:blipFill>
                    <p:spPr bwMode="auto">
                      <a:xfrm>
                        <a:off x="3193311" y="2436001"/>
                        <a:ext cx="5651500" cy="249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6742590"/>
      </p:ext>
    </p:extLst>
  </p:cSld>
  <p:clrMapOvr>
    <a:masterClrMapping/>
  </p:clrMapOvr>
  <p:transition>
    <p:cover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Recap: Convert ERD to Relational Model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idx="1"/>
          </p:nvPr>
        </p:nvSpPr>
        <p:spPr>
          <a:xfrm>
            <a:off x="2268280" y="908050"/>
            <a:ext cx="4667509" cy="985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b="1" dirty="0"/>
              <a:t>Step 4:</a:t>
            </a:r>
            <a:r>
              <a:rPr lang="en-AU" sz="2000" dirty="0"/>
              <a:t> The entity at the </a:t>
            </a:r>
            <a:r>
              <a:rPr lang="en-AU" sz="2000" b="1" dirty="0"/>
              <a:t>Many</a:t>
            </a:r>
            <a:r>
              <a:rPr lang="en-AU" sz="2000" dirty="0"/>
              <a:t> end of the </a:t>
            </a:r>
            <a:r>
              <a:rPr lang="en-AU" sz="2000" dirty="0" err="1"/>
              <a:t>the</a:t>
            </a:r>
            <a:r>
              <a:rPr lang="en-AU" sz="2000" dirty="0"/>
              <a:t> M:1 relationship will give rise to a </a:t>
            </a:r>
            <a:r>
              <a:rPr lang="en-AU" sz="2000" b="1" dirty="0">
                <a:solidFill>
                  <a:srgbClr val="FF0066"/>
                </a:solidFill>
              </a:rPr>
              <a:t>Foreign Key</a:t>
            </a:r>
            <a:r>
              <a:rPr lang="en-AU" sz="2000" dirty="0">
                <a:solidFill>
                  <a:srgbClr val="FF0066"/>
                </a:solidFill>
              </a:rPr>
              <a:t> </a:t>
            </a:r>
            <a:r>
              <a:rPr lang="en-AU" sz="2000" dirty="0"/>
              <a:t>in the matching table</a:t>
            </a:r>
          </a:p>
          <a:p>
            <a:endParaRPr lang="en-AU" sz="900" dirty="0"/>
          </a:p>
          <a:p>
            <a:pPr marL="0" indent="0">
              <a:buNone/>
            </a:pPr>
            <a:r>
              <a:rPr lang="en-AU" sz="2000" dirty="0"/>
              <a:t>Foreign Key values must </a:t>
            </a:r>
            <a:r>
              <a:rPr lang="en-AU" sz="2000" b="1" dirty="0"/>
              <a:t>match</a:t>
            </a:r>
            <a:r>
              <a:rPr lang="en-AU" sz="2000" dirty="0"/>
              <a:t> </a:t>
            </a:r>
            <a:br>
              <a:rPr lang="en-AU" sz="2000" dirty="0"/>
            </a:br>
            <a:r>
              <a:rPr lang="en-AU" sz="2000" dirty="0"/>
              <a:t>Primary Key values (or be null)</a:t>
            </a:r>
            <a:endParaRPr lang="en-AU" sz="2000" b="1" dirty="0"/>
          </a:p>
        </p:txBody>
      </p:sp>
      <p:graphicFrame>
        <p:nvGraphicFramePr>
          <p:cNvPr id="138324" name="Group 84"/>
          <p:cNvGraphicFramePr>
            <a:graphicFrameLocks noGrp="1"/>
          </p:cNvGraphicFramePr>
          <p:nvPr/>
        </p:nvGraphicFramePr>
        <p:xfrm>
          <a:off x="4149725" y="5441792"/>
          <a:ext cx="5265738" cy="1159193"/>
        </p:xfrm>
        <a:graphic>
          <a:graphicData uri="http://schemas.openxmlformats.org/drawingml/2006/table">
            <a:tbl>
              <a:tblPr/>
              <a:tblGrid>
                <a:gridCol w="1366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8282" name="Rectangle 42"/>
          <p:cNvSpPr>
            <a:spLocks noChangeArrowheads="1"/>
          </p:cNvSpPr>
          <p:nvPr/>
        </p:nvSpPr>
        <p:spPr bwMode="auto">
          <a:xfrm>
            <a:off x="5500688" y="4943316"/>
            <a:ext cx="1725612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38283" name="Group 43"/>
          <p:cNvGraphicFramePr>
            <a:graphicFrameLocks noGrp="1"/>
          </p:cNvGraphicFramePr>
          <p:nvPr/>
        </p:nvGraphicFramePr>
        <p:xfrm>
          <a:off x="6985001" y="1712913"/>
          <a:ext cx="3508375" cy="1582104"/>
        </p:xfrm>
        <a:graphic>
          <a:graphicData uri="http://schemas.openxmlformats.org/drawingml/2006/table">
            <a:tbl>
              <a:tblPr/>
              <a:tblGrid>
                <a:gridCol w="998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8310" name="Text Box 70"/>
          <p:cNvSpPr txBox="1">
            <a:spLocks noChangeArrowheads="1"/>
          </p:cNvSpPr>
          <p:nvPr/>
        </p:nvSpPr>
        <p:spPr bwMode="auto">
          <a:xfrm>
            <a:off x="7434263" y="1160463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38313" name="Rectangle 73"/>
          <p:cNvSpPr>
            <a:spLocks noChangeArrowheads="1"/>
          </p:cNvSpPr>
          <p:nvPr/>
        </p:nvSpPr>
        <p:spPr bwMode="auto">
          <a:xfrm>
            <a:off x="2372520" y="3526203"/>
            <a:ext cx="6678613" cy="1107996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lIns="0" tIns="0" rIns="0" bIns="0">
            <a:spAutoFit/>
          </a:bodyPr>
          <a:lstStyle/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LECTURER (</a:t>
            </a:r>
            <a:r>
              <a:rPr lang="en-AU" sz="2000" u="sng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LecName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Age)</a:t>
            </a:r>
          </a:p>
          <a:p>
            <a:pPr marL="857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000" dirty="0">
              <a:solidFill>
                <a:srgbClr val="0000FF"/>
              </a:solidFill>
              <a:latin typeface="Calibri"/>
            </a:endParaRPr>
          </a:p>
          <a:p>
            <a:pPr marL="85725" defTabSz="457200"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SUBJECT(</a:t>
            </a:r>
            <a:r>
              <a:rPr lang="en-AU" sz="2000" u="sng" dirty="0" err="1">
                <a:solidFill>
                  <a:srgbClr val="0000FF"/>
                </a:solidFill>
                <a:latin typeface="Calibri"/>
              </a:rPr>
              <a:t>SubjectCode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Title, 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CreditPoints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FF0066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</a:t>
            </a:r>
          </a:p>
          <a:p>
            <a:pPr marL="85725" defTabSz="457200"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Foreign Key (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 References LECTURER</a:t>
            </a:r>
          </a:p>
        </p:txBody>
      </p:sp>
      <p:sp>
        <p:nvSpPr>
          <p:cNvPr id="138325" name="Freeform 85"/>
          <p:cNvSpPr>
            <a:spLocks/>
          </p:cNvSpPr>
          <p:nvPr/>
        </p:nvSpPr>
        <p:spPr bwMode="auto">
          <a:xfrm>
            <a:off x="6407150" y="2276476"/>
            <a:ext cx="2889250" cy="3744913"/>
          </a:xfrm>
          <a:custGeom>
            <a:avLst/>
            <a:gdLst/>
            <a:ahLst/>
            <a:cxnLst>
              <a:cxn ang="0">
                <a:pos x="2072" y="2359"/>
              </a:cxn>
              <a:cxn ang="0">
                <a:pos x="2344" y="1815"/>
              </a:cxn>
              <a:cxn ang="0">
                <a:pos x="1301" y="817"/>
              </a:cxn>
              <a:cxn ang="0">
                <a:pos x="212" y="726"/>
              </a:cxn>
              <a:cxn ang="0">
                <a:pos x="31" y="136"/>
              </a:cxn>
              <a:cxn ang="0">
                <a:pos x="303" y="0"/>
              </a:cxn>
            </a:cxnLst>
            <a:rect l="0" t="0" r="r" b="b"/>
            <a:pathLst>
              <a:path w="2472" h="2359">
                <a:moveTo>
                  <a:pt x="2072" y="2359"/>
                </a:moveTo>
                <a:cubicBezTo>
                  <a:pt x="2272" y="2215"/>
                  <a:pt x="2472" y="2072"/>
                  <a:pt x="2344" y="1815"/>
                </a:cubicBezTo>
                <a:cubicBezTo>
                  <a:pt x="2216" y="1558"/>
                  <a:pt x="1656" y="998"/>
                  <a:pt x="1301" y="817"/>
                </a:cubicBezTo>
                <a:cubicBezTo>
                  <a:pt x="946" y="636"/>
                  <a:pt x="424" y="839"/>
                  <a:pt x="212" y="726"/>
                </a:cubicBezTo>
                <a:cubicBezTo>
                  <a:pt x="0" y="613"/>
                  <a:pt x="16" y="257"/>
                  <a:pt x="31" y="136"/>
                </a:cubicBezTo>
                <a:cubicBezTo>
                  <a:pt x="46" y="15"/>
                  <a:pt x="174" y="7"/>
                  <a:pt x="303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lgDash"/>
            <a:round/>
            <a:headEnd type="none" w="sm" len="sm"/>
            <a:tailEnd type="triangle" w="lg" len="lg"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7677798"/>
      </p:ext>
    </p:extLst>
  </p:cSld>
  <p:clrMapOvr>
    <a:masterClrMapping/>
  </p:clrMapOvr>
  <p:transition>
    <p:cover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Recap: SQL DDL  Create Table</a:t>
            </a:r>
          </a:p>
        </p:txBody>
      </p:sp>
      <p:sp>
        <p:nvSpPr>
          <p:cNvPr id="140292" name="Rectangle 4"/>
          <p:cNvSpPr>
            <a:spLocks noGrp="1" noChangeArrowheads="1"/>
          </p:cNvSpPr>
          <p:nvPr>
            <p:ph idx="1"/>
          </p:nvPr>
        </p:nvSpPr>
        <p:spPr>
          <a:xfrm>
            <a:off x="2165350" y="765176"/>
            <a:ext cx="8358188" cy="5376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dirty="0"/>
              <a:t>The Relational Schema is the </a:t>
            </a:r>
            <a:r>
              <a:rPr lang="en-AU" sz="2000" b="1" dirty="0"/>
              <a:t>specification</a:t>
            </a:r>
            <a:r>
              <a:rPr lang="en-AU" sz="2000" dirty="0"/>
              <a:t> for the database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The tables are constructed using </a:t>
            </a:r>
            <a:r>
              <a:rPr lang="en-AU" sz="2000" b="1" dirty="0"/>
              <a:t>SQL DDL</a:t>
            </a:r>
            <a:r>
              <a:rPr lang="en-AU" sz="2000" dirty="0"/>
              <a:t> statements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Primary Key and Foreign Key </a:t>
            </a:r>
            <a:r>
              <a:rPr lang="en-AU" sz="2000" b="1" dirty="0"/>
              <a:t>constraints</a:t>
            </a:r>
            <a:r>
              <a:rPr lang="en-AU" sz="2000" dirty="0"/>
              <a:t> are implemented</a:t>
            </a:r>
            <a:r>
              <a:rPr lang="en-AU" sz="2000" b="1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sz="2000" b="1" dirty="0"/>
          </a:p>
          <a:p>
            <a:pPr lvl="1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Create Table LECTURER            (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 err="1">
                <a:solidFill>
                  <a:srgbClr val="FF0066"/>
                </a:solidFill>
              </a:rPr>
              <a:t>LecId</a:t>
            </a:r>
            <a:r>
              <a:rPr lang="en-AU" sz="2000" b="1" dirty="0">
                <a:solidFill>
                  <a:srgbClr val="FF0066"/>
                </a:solidFill>
              </a:rPr>
              <a:t> </a:t>
            </a:r>
            <a:r>
              <a:rPr lang="en-AU" sz="2000" b="1" dirty="0">
                <a:solidFill>
                  <a:srgbClr val="0000FF"/>
                </a:solidFill>
              </a:rPr>
              <a:t>            	number         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 err="1">
                <a:solidFill>
                  <a:srgbClr val="0000FF"/>
                </a:solidFill>
              </a:rPr>
              <a:t>LecName</a:t>
            </a:r>
            <a:r>
              <a:rPr lang="en-AU" sz="2000" b="1" dirty="0">
                <a:solidFill>
                  <a:srgbClr val="0000FF"/>
                </a:solidFill>
              </a:rPr>
              <a:t>      	varchar(50) 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Age			number         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Primary Key	(</a:t>
            </a:r>
            <a:r>
              <a:rPr lang="en-AU" sz="2000" b="1" dirty="0" err="1">
                <a:solidFill>
                  <a:srgbClr val="FF0066"/>
                </a:solidFill>
              </a:rPr>
              <a:t>LecId</a:t>
            </a:r>
            <a:r>
              <a:rPr lang="en-AU" sz="2000" b="1" dirty="0">
                <a:solidFill>
                  <a:srgbClr val="0000FF"/>
                </a:solidFill>
              </a:rPr>
              <a:t>)           )   ;</a:t>
            </a:r>
          </a:p>
          <a:p>
            <a:pPr lvl="2">
              <a:buFont typeface="Wingdings" pitchFamily="2" charset="2"/>
              <a:buNone/>
            </a:pPr>
            <a:endParaRPr lang="en-AU" sz="2000" b="1" dirty="0">
              <a:solidFill>
                <a:srgbClr val="0000FF"/>
              </a:solidFill>
            </a:endParaRPr>
          </a:p>
          <a:p>
            <a:pPr lvl="1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Create Table SUBJECT              (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 err="1">
                <a:solidFill>
                  <a:srgbClr val="0000FF"/>
                </a:solidFill>
              </a:rPr>
              <a:t>SubjectCode</a:t>
            </a:r>
            <a:r>
              <a:rPr lang="en-AU" sz="2000" b="1" dirty="0">
                <a:solidFill>
                  <a:srgbClr val="0000FF"/>
                </a:solidFill>
              </a:rPr>
              <a:t>	varchar(10)  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Title     		varchar(100)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 err="1">
                <a:solidFill>
                  <a:srgbClr val="0000FF"/>
                </a:solidFill>
              </a:rPr>
              <a:t>CreditPoints</a:t>
            </a:r>
            <a:r>
              <a:rPr lang="en-AU" sz="2000" b="1" dirty="0">
                <a:solidFill>
                  <a:srgbClr val="0000FF"/>
                </a:solidFill>
              </a:rPr>
              <a:t>	number          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 err="1">
                <a:solidFill>
                  <a:srgbClr val="FF0066"/>
                </a:solidFill>
              </a:rPr>
              <a:t>LecId</a:t>
            </a:r>
            <a:r>
              <a:rPr lang="en-AU" sz="2000" b="1" dirty="0">
                <a:solidFill>
                  <a:srgbClr val="FF0066"/>
                </a:solidFill>
              </a:rPr>
              <a:t>             	</a:t>
            </a:r>
            <a:r>
              <a:rPr lang="en-AU" sz="2000" b="1" dirty="0">
                <a:solidFill>
                  <a:srgbClr val="0000FF"/>
                </a:solidFill>
              </a:rPr>
              <a:t>number           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Primary Key	(</a:t>
            </a:r>
            <a:r>
              <a:rPr lang="en-AU" sz="2000" b="1" dirty="0" err="1">
                <a:solidFill>
                  <a:srgbClr val="0000FF"/>
                </a:solidFill>
              </a:rPr>
              <a:t>SubjectCode</a:t>
            </a:r>
            <a:r>
              <a:rPr lang="en-AU" sz="2000" b="1" dirty="0">
                <a:solidFill>
                  <a:srgbClr val="0000FF"/>
                </a:solidFill>
              </a:rPr>
              <a:t>)   ,</a:t>
            </a:r>
          </a:p>
          <a:p>
            <a:pPr lvl="2">
              <a:spcBef>
                <a:spcPts val="0"/>
              </a:spcBef>
              <a:buNone/>
            </a:pPr>
            <a:r>
              <a:rPr lang="en-AU" sz="2000" b="1" dirty="0">
                <a:solidFill>
                  <a:srgbClr val="0000FF"/>
                </a:solidFill>
              </a:rPr>
              <a:t>Foreign Key   (</a:t>
            </a:r>
            <a:r>
              <a:rPr lang="en-AU" sz="2000" b="1" dirty="0" err="1">
                <a:solidFill>
                  <a:srgbClr val="FF0066"/>
                </a:solidFill>
              </a:rPr>
              <a:t>LecId</a:t>
            </a:r>
            <a:r>
              <a:rPr lang="en-AU" sz="2000" b="1" dirty="0">
                <a:solidFill>
                  <a:srgbClr val="0000FF"/>
                </a:solidFill>
              </a:rPr>
              <a:t>)   References LECTURER      ) ;</a:t>
            </a:r>
          </a:p>
        </p:txBody>
      </p:sp>
    </p:spTree>
    <p:extLst>
      <p:ext uri="{BB962C8B-B14F-4D97-AF65-F5344CB8AC3E}">
        <p14:creationId xmlns:p14="http://schemas.microsoft.com/office/powerpoint/2010/main" val="3990878261"/>
      </p:ext>
    </p:extLst>
  </p:cSld>
  <p:clrMapOvr>
    <a:masterClrMapping/>
  </p:clrMapOvr>
  <p:transition>
    <p:cover dir="l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23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864" y="188913"/>
            <a:ext cx="8212137" cy="576262"/>
          </a:xfrm>
        </p:spPr>
        <p:txBody>
          <a:bodyPr>
            <a:normAutofit fontScale="90000"/>
          </a:bodyPr>
          <a:lstStyle/>
          <a:p>
            <a:pPr marL="609600" indent="-609600"/>
            <a:r>
              <a:rPr lang="en-AU" dirty="0">
                <a:solidFill>
                  <a:srgbClr val="00B050"/>
                </a:solidFill>
              </a:rPr>
              <a:t>Foreign Key Constraints</a:t>
            </a:r>
          </a:p>
        </p:txBody>
      </p:sp>
      <p:sp>
        <p:nvSpPr>
          <p:cNvPr id="1423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3138" y="908050"/>
            <a:ext cx="8424862" cy="5233988"/>
          </a:xfrm>
        </p:spPr>
        <p:txBody>
          <a:bodyPr/>
          <a:lstStyle/>
          <a:p>
            <a:endParaRPr lang="en-AU"/>
          </a:p>
          <a:p>
            <a:pPr lvl="1"/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</p:txBody>
      </p:sp>
      <p:sp>
        <p:nvSpPr>
          <p:cNvPr id="142342" name="Rectangle 3"/>
          <p:cNvSpPr>
            <a:spLocks noChangeArrowheads="1"/>
          </p:cNvSpPr>
          <p:nvPr/>
        </p:nvSpPr>
        <p:spPr bwMode="auto">
          <a:xfrm>
            <a:off x="2165351" y="765175"/>
            <a:ext cx="8323263" cy="544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In a FK – PK relationship</a:t>
            </a:r>
          </a:p>
          <a:p>
            <a:pPr marL="933450" lvl="1" indent="-457200" defTabSz="457200">
              <a:buSzPct val="80000"/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The Primary Key column is often referred to as the Parent </a:t>
            </a:r>
          </a:p>
          <a:p>
            <a:pPr marL="933450" lvl="1" indent="-457200" defTabSz="457200">
              <a:buSzPct val="80000"/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The Foreign Key column is often referred to as the Child</a:t>
            </a:r>
          </a:p>
          <a:p>
            <a:pPr marL="933450" lvl="1" indent="-457200" defTabSz="457200">
              <a:buClr>
                <a:srgbClr val="D1161E"/>
              </a:buClr>
              <a:buSzPct val="80000"/>
              <a:buFont typeface="Arial Narrow" pitchFamily="34" charset="0"/>
              <a:buChar char="●"/>
            </a:pPr>
            <a:endParaRPr lang="en-AU" sz="2000" dirty="0">
              <a:solidFill>
                <a:srgbClr val="0033CC"/>
              </a:solidFill>
              <a:latin typeface="Calibri"/>
            </a:endParaRPr>
          </a:p>
          <a:p>
            <a:pPr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The Parent is found at the One end </a:t>
            </a:r>
            <a:br>
              <a:rPr lang="en-AU" sz="2000" dirty="0">
                <a:solidFill>
                  <a:srgbClr val="0033CC"/>
                </a:solidFill>
                <a:latin typeface="Calibri"/>
              </a:rPr>
            </a:br>
            <a:r>
              <a:rPr lang="en-AU" sz="2000" dirty="0">
                <a:solidFill>
                  <a:srgbClr val="0033CC"/>
                </a:solidFill>
                <a:latin typeface="Calibri"/>
              </a:rPr>
              <a:t>of a M:1 relationship</a:t>
            </a:r>
          </a:p>
          <a:p>
            <a:pPr marL="933450" lvl="1" indent="-457200" defTabSz="457200">
              <a:buClr>
                <a:srgbClr val="D1161E"/>
              </a:buClr>
              <a:buSzPct val="80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- A child has one parent</a:t>
            </a:r>
          </a:p>
          <a:p>
            <a:pPr marL="457200" indent="-457200" defTabSz="457200">
              <a:buClr>
                <a:srgbClr val="D1161E"/>
              </a:buClr>
              <a:buSzPct val="75000"/>
              <a:buFont typeface="Wingdings" pitchFamily="2" charset="2"/>
              <a:buChar char="Ø"/>
            </a:pPr>
            <a:endParaRPr lang="en-AU" sz="2000" dirty="0">
              <a:solidFill>
                <a:srgbClr val="0033CC"/>
              </a:solidFill>
              <a:latin typeface="Calibri"/>
            </a:endParaRPr>
          </a:p>
          <a:p>
            <a:pPr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The Child is found at the Many end </a:t>
            </a:r>
            <a:br>
              <a:rPr lang="en-AU" sz="2000" dirty="0">
                <a:solidFill>
                  <a:srgbClr val="0033CC"/>
                </a:solidFill>
                <a:latin typeface="Calibri"/>
              </a:rPr>
            </a:br>
            <a:r>
              <a:rPr lang="en-AU" sz="2000" dirty="0">
                <a:solidFill>
                  <a:srgbClr val="0033CC"/>
                </a:solidFill>
                <a:latin typeface="Calibri"/>
              </a:rPr>
              <a:t>of a M:1 relationship </a:t>
            </a:r>
          </a:p>
          <a:p>
            <a:pPr marL="933450" lvl="1" indent="-457200" defTabSz="457200">
              <a:buClr>
                <a:srgbClr val="D1161E"/>
              </a:buClr>
              <a:buSzPct val="80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- A parent may have many children</a:t>
            </a:r>
          </a:p>
          <a:p>
            <a:pPr marL="457200" indent="-457200" defTabSz="457200">
              <a:buClr>
                <a:srgbClr val="D1161E"/>
              </a:buClr>
              <a:buSzPct val="75000"/>
              <a:buFont typeface="Wingdings" pitchFamily="2" charset="2"/>
              <a:buChar char="Ø"/>
            </a:pPr>
            <a:endParaRPr lang="en-AU" dirty="0">
              <a:solidFill>
                <a:srgbClr val="D1161E"/>
              </a:solidFill>
              <a:latin typeface="Calibri"/>
            </a:endParaRPr>
          </a:p>
          <a:p>
            <a:pPr marL="933450" lvl="1" indent="-457200" defTabSz="457200">
              <a:buClr>
                <a:srgbClr val="D1161E"/>
              </a:buClr>
              <a:buSzPct val="80000"/>
              <a:buFont typeface="Arial Narrow" pitchFamily="34" charset="0"/>
              <a:buChar char="●"/>
            </a:pP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42407" name="Group 71"/>
          <p:cNvGraphicFramePr>
            <a:graphicFrameLocks noGrp="1"/>
          </p:cNvGraphicFramePr>
          <p:nvPr/>
        </p:nvGraphicFramePr>
        <p:xfrm>
          <a:off x="1703388" y="5084764"/>
          <a:ext cx="5167312" cy="1555433"/>
        </p:xfrm>
        <a:graphic>
          <a:graphicData uri="http://schemas.openxmlformats.org/drawingml/2006/table">
            <a:tbl>
              <a:tblPr/>
              <a:tblGrid>
                <a:gridCol w="1350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SubjectCode</a:t>
                      </a:r>
                      <a:endParaRPr kumimoji="0" lang="en-AU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AST80016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Astrophysics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INF11011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Cobol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2366" name="Rectangle 30"/>
          <p:cNvSpPr>
            <a:spLocks noChangeArrowheads="1"/>
          </p:cNvSpPr>
          <p:nvPr/>
        </p:nvSpPr>
        <p:spPr bwMode="auto">
          <a:xfrm>
            <a:off x="3054351" y="4586288"/>
            <a:ext cx="1725613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42367" name="Group 31"/>
          <p:cNvGraphicFramePr>
            <a:graphicFrameLocks noGrp="1"/>
          </p:cNvGraphicFramePr>
          <p:nvPr/>
        </p:nvGraphicFramePr>
        <p:xfrm>
          <a:off x="6959601" y="2997200"/>
          <a:ext cx="3508375" cy="1582104"/>
        </p:xfrm>
        <a:graphic>
          <a:graphicData uri="http://schemas.openxmlformats.org/drawingml/2006/table">
            <a:tbl>
              <a:tblPr/>
              <a:tblGrid>
                <a:gridCol w="998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2394" name="Text Box 58"/>
          <p:cNvSpPr txBox="1">
            <a:spLocks noChangeArrowheads="1"/>
          </p:cNvSpPr>
          <p:nvPr/>
        </p:nvSpPr>
        <p:spPr bwMode="auto">
          <a:xfrm>
            <a:off x="7751763" y="2565400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42408" name="Text Box 8"/>
          <p:cNvSpPr txBox="1">
            <a:spLocks noChangeArrowheads="1"/>
          </p:cNvSpPr>
          <p:nvPr/>
        </p:nvSpPr>
        <p:spPr bwMode="auto">
          <a:xfrm>
            <a:off x="6096000" y="4797426"/>
            <a:ext cx="431800" cy="44807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7313" algn="ctr" defTabSz="457200"/>
            <a:r>
              <a:rPr lang="en-AU" sz="1600" dirty="0">
                <a:solidFill>
                  <a:srgbClr val="000000"/>
                </a:solidFill>
                <a:latin typeface="Calibri"/>
              </a:rPr>
              <a:t>FK</a:t>
            </a:r>
          </a:p>
          <a:p>
            <a:pPr marL="8731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16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409" name="Text Box 8"/>
          <p:cNvSpPr txBox="1">
            <a:spLocks noChangeArrowheads="1"/>
          </p:cNvSpPr>
          <p:nvPr/>
        </p:nvSpPr>
        <p:spPr bwMode="auto">
          <a:xfrm>
            <a:off x="7175500" y="2708276"/>
            <a:ext cx="431800" cy="44807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7313" algn="ctr" defTabSz="457200"/>
            <a:r>
              <a:rPr lang="en-AU" sz="1600">
                <a:solidFill>
                  <a:srgbClr val="000000"/>
                </a:solidFill>
                <a:latin typeface="Calibri"/>
              </a:rPr>
              <a:t>PK</a:t>
            </a:r>
          </a:p>
          <a:p>
            <a:pPr marL="8731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1600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42410" name="Object 74"/>
          <p:cNvGraphicFramePr>
            <a:graphicFrameLocks noChangeAspect="1"/>
          </p:cNvGraphicFramePr>
          <p:nvPr/>
        </p:nvGraphicFramePr>
        <p:xfrm>
          <a:off x="7464426" y="5229225"/>
          <a:ext cx="316706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4241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4476" b="38278"/>
                      <a:stretch>
                        <a:fillRect/>
                      </a:stretch>
                    </p:blipFill>
                    <p:spPr bwMode="auto">
                      <a:xfrm>
                        <a:off x="7464426" y="5229225"/>
                        <a:ext cx="316706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646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208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864" y="188913"/>
            <a:ext cx="8212137" cy="576262"/>
          </a:xfrm>
        </p:spPr>
        <p:txBody>
          <a:bodyPr>
            <a:normAutofit fontScale="90000"/>
          </a:bodyPr>
          <a:lstStyle/>
          <a:p>
            <a:pPr marL="609600" indent="-609600"/>
            <a:r>
              <a:rPr lang="en-AU" dirty="0">
                <a:solidFill>
                  <a:srgbClr val="00B050"/>
                </a:solidFill>
              </a:rPr>
              <a:t>Foreign Key Constraint</a:t>
            </a:r>
          </a:p>
        </p:txBody>
      </p:sp>
      <p:sp>
        <p:nvSpPr>
          <p:cNvPr id="1208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3138" y="908050"/>
            <a:ext cx="8424862" cy="5233988"/>
          </a:xfrm>
        </p:spPr>
        <p:txBody>
          <a:bodyPr/>
          <a:lstStyle/>
          <a:p>
            <a:endParaRPr lang="en-AU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20838" name="Rectangle 3"/>
          <p:cNvSpPr>
            <a:spLocks noChangeArrowheads="1"/>
          </p:cNvSpPr>
          <p:nvPr/>
        </p:nvSpPr>
        <p:spPr bwMode="auto">
          <a:xfrm>
            <a:off x="2165350" y="765175"/>
            <a:ext cx="8323263" cy="544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The FK constraint:</a:t>
            </a:r>
          </a:p>
          <a:p>
            <a:pPr marL="819150" lvl="1" indent="-342900" defTabSz="457200">
              <a:buSzPct val="80000"/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Forces the RDBMS to validate the value entered into </a:t>
            </a:r>
            <a:br>
              <a:rPr lang="en-AU" sz="2000" dirty="0">
                <a:solidFill>
                  <a:srgbClr val="0033CC"/>
                </a:solidFill>
                <a:latin typeface="Calibri"/>
              </a:rPr>
            </a:br>
            <a:r>
              <a:rPr lang="en-AU" sz="2000" dirty="0">
                <a:solidFill>
                  <a:srgbClr val="0033CC"/>
                </a:solidFill>
                <a:latin typeface="Calibri"/>
              </a:rPr>
              <a:t>the Foreign Key column</a:t>
            </a:r>
          </a:p>
          <a:p>
            <a:pPr marL="819150" lvl="1" indent="-342900" defTabSz="457200">
              <a:buSzPct val="80000"/>
              <a:buFont typeface="Arial" panose="020B0604020202020204" pitchFamily="34" charset="0"/>
              <a:buChar char="•"/>
            </a:pPr>
            <a:endParaRPr lang="en-AU" sz="2000" dirty="0">
              <a:solidFill>
                <a:srgbClr val="0033CC"/>
              </a:solidFill>
              <a:latin typeface="Calibri"/>
            </a:endParaRPr>
          </a:p>
          <a:p>
            <a:pPr marL="800100" lvl="1" indent="-342900" defTabSz="457200">
              <a:buSzPct val="85000"/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An error results if the Foreign Key </a:t>
            </a:r>
            <a:br>
              <a:rPr lang="en-AU" sz="2000" dirty="0">
                <a:solidFill>
                  <a:srgbClr val="0033CC"/>
                </a:solidFill>
                <a:latin typeface="Calibri"/>
              </a:rPr>
            </a:br>
            <a:r>
              <a:rPr lang="en-AU" sz="2000" dirty="0">
                <a:solidFill>
                  <a:srgbClr val="0033CC"/>
                </a:solidFill>
                <a:latin typeface="Calibri"/>
              </a:rPr>
              <a:t>value does not match the </a:t>
            </a:r>
            <a:br>
              <a:rPr lang="en-AU" sz="2000" dirty="0">
                <a:solidFill>
                  <a:srgbClr val="0033CC"/>
                </a:solidFill>
                <a:latin typeface="Calibri"/>
              </a:rPr>
            </a:br>
            <a:r>
              <a:rPr lang="en-AU" sz="2000" dirty="0">
                <a:solidFill>
                  <a:srgbClr val="0033CC"/>
                </a:solidFill>
                <a:latin typeface="Calibri"/>
              </a:rPr>
              <a:t>primary key of the related table</a:t>
            </a:r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20986" name="Group 154"/>
          <p:cNvGraphicFramePr>
            <a:graphicFrameLocks noGrp="1"/>
          </p:cNvGraphicFramePr>
          <p:nvPr/>
        </p:nvGraphicFramePr>
        <p:xfrm>
          <a:off x="1649413" y="5511801"/>
          <a:ext cx="5167312" cy="1159193"/>
        </p:xfrm>
        <a:graphic>
          <a:graphicData uri="http://schemas.openxmlformats.org/drawingml/2006/table">
            <a:tbl>
              <a:tblPr/>
              <a:tblGrid>
                <a:gridCol w="1350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AST80016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Astrophysics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877" name="Rectangle 45"/>
          <p:cNvSpPr>
            <a:spLocks noChangeArrowheads="1"/>
          </p:cNvSpPr>
          <p:nvPr/>
        </p:nvSpPr>
        <p:spPr bwMode="auto">
          <a:xfrm>
            <a:off x="3000376" y="5013325"/>
            <a:ext cx="1725613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20908" name="Group 76"/>
          <p:cNvGraphicFramePr>
            <a:graphicFrameLocks noGrp="1"/>
          </p:cNvGraphicFramePr>
          <p:nvPr/>
        </p:nvGraphicFramePr>
        <p:xfrm>
          <a:off x="6959601" y="3141663"/>
          <a:ext cx="3508375" cy="1582104"/>
        </p:xfrm>
        <a:graphic>
          <a:graphicData uri="http://schemas.openxmlformats.org/drawingml/2006/table">
            <a:tbl>
              <a:tblPr/>
              <a:tblGrid>
                <a:gridCol w="998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954" name="Text Box 122"/>
          <p:cNvSpPr txBox="1">
            <a:spLocks noChangeArrowheads="1"/>
          </p:cNvSpPr>
          <p:nvPr/>
        </p:nvSpPr>
        <p:spPr bwMode="auto">
          <a:xfrm>
            <a:off x="7751763" y="2565400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20977" name="Text Box 8"/>
          <p:cNvSpPr txBox="1">
            <a:spLocks noChangeArrowheads="1"/>
          </p:cNvSpPr>
          <p:nvPr/>
        </p:nvSpPr>
        <p:spPr bwMode="auto">
          <a:xfrm>
            <a:off x="5591176" y="5229226"/>
            <a:ext cx="1439863" cy="44807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7313" algn="ctr" defTabSz="457200"/>
            <a:r>
              <a:rPr lang="en-AU" sz="1600">
                <a:solidFill>
                  <a:srgbClr val="0C64A7"/>
                </a:solidFill>
                <a:latin typeface="Calibri"/>
              </a:rPr>
              <a:t>FK column</a:t>
            </a:r>
          </a:p>
          <a:p>
            <a:pPr marL="8731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160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20978" name="Text Box 8"/>
          <p:cNvSpPr txBox="1">
            <a:spLocks noChangeArrowheads="1"/>
          </p:cNvSpPr>
          <p:nvPr/>
        </p:nvSpPr>
        <p:spPr bwMode="auto">
          <a:xfrm>
            <a:off x="6888164" y="5949950"/>
            <a:ext cx="3671887" cy="940514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7313" defTabSz="457200"/>
            <a:r>
              <a:rPr lang="en-AU" sz="1600">
                <a:solidFill>
                  <a:srgbClr val="339966"/>
                </a:solidFill>
                <a:latin typeface="Calibri"/>
              </a:rPr>
              <a:t>… Inserted OK</a:t>
            </a:r>
          </a:p>
          <a:p>
            <a:pPr marL="87313" defTabSz="457200"/>
            <a:endParaRPr lang="en-AU" sz="1600">
              <a:solidFill>
                <a:srgbClr val="339966"/>
              </a:solidFill>
              <a:latin typeface="Calibri"/>
            </a:endParaRPr>
          </a:p>
          <a:p>
            <a:pPr marL="87313" defTabSz="457200"/>
            <a:r>
              <a:rPr lang="en-AU" sz="1600">
                <a:solidFill>
                  <a:srgbClr val="0C64A7"/>
                </a:solidFill>
                <a:latin typeface="Calibri"/>
              </a:rPr>
              <a:t>… Error – Parent Key not Found</a:t>
            </a:r>
          </a:p>
          <a:p>
            <a:pPr marL="8731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1600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945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Foreign Key constraints messages</a:t>
            </a:r>
          </a:p>
        </p:txBody>
      </p:sp>
      <p:sp>
        <p:nvSpPr>
          <p:cNvPr id="141316" name="Rectangle 4"/>
          <p:cNvSpPr>
            <a:spLocks noGrp="1" noChangeArrowheads="1"/>
          </p:cNvSpPr>
          <p:nvPr>
            <p:ph idx="1"/>
          </p:nvPr>
        </p:nvSpPr>
        <p:spPr>
          <a:xfrm>
            <a:off x="1790700" y="774700"/>
            <a:ext cx="8842375" cy="5367338"/>
          </a:xfrm>
        </p:spPr>
        <p:txBody>
          <a:bodyPr>
            <a:normAutofit lnSpcReduction="10000"/>
          </a:bodyPr>
          <a:lstStyle/>
          <a:p>
            <a:endParaRPr lang="en-AU" sz="800" b="1" dirty="0"/>
          </a:p>
          <a:p>
            <a:pPr lvl="1">
              <a:buFont typeface="Arial Narrow" pitchFamily="34" charset="0"/>
              <a:buNone/>
            </a:pPr>
            <a:r>
              <a:rPr lang="en-AU" sz="2000" dirty="0"/>
              <a:t>Sample results of validation of foreign key constraints in </a:t>
            </a:r>
            <a:r>
              <a:rPr lang="en-AU" sz="2000" b="1" dirty="0" err="1"/>
              <a:t>iSQL</a:t>
            </a:r>
            <a:r>
              <a:rPr lang="en-AU" sz="2000" b="1" dirty="0"/>
              <a:t> </a:t>
            </a:r>
            <a:r>
              <a:rPr lang="en-AU" sz="2000" b="1" dirty="0" err="1"/>
              <a:t>Jr</a:t>
            </a:r>
            <a:r>
              <a:rPr lang="en-AU" sz="2000" dirty="0"/>
              <a:t> :</a:t>
            </a:r>
          </a:p>
          <a:p>
            <a:pPr lvl="1">
              <a:buFont typeface="Arial Narrow" pitchFamily="34" charset="0"/>
              <a:buNone/>
            </a:pPr>
            <a:endParaRPr lang="en-AU" sz="2000" dirty="0"/>
          </a:p>
          <a:p>
            <a:pPr lvl="1">
              <a:buFont typeface="Arial Narrow" pitchFamily="34" charset="0"/>
              <a:buNone/>
            </a:pPr>
            <a:r>
              <a:rPr lang="en-AU" sz="2000" b="1" dirty="0"/>
              <a:t>INSERT INTO  SUBJECT ( </a:t>
            </a:r>
            <a:r>
              <a:rPr lang="en-AU" sz="2000" b="1" dirty="0" err="1"/>
              <a:t>SubjectCode</a:t>
            </a:r>
            <a:r>
              <a:rPr lang="en-AU" sz="2000" b="1" dirty="0"/>
              <a:t>,  Title , </a:t>
            </a:r>
            <a:r>
              <a:rPr lang="en-AU" sz="2000" b="1" dirty="0" err="1"/>
              <a:t>CreditPoints</a:t>
            </a:r>
            <a:r>
              <a:rPr lang="en-AU" sz="2000" b="1" dirty="0"/>
              <a:t>,  </a:t>
            </a:r>
            <a:r>
              <a:rPr lang="en-AU" sz="2000" b="1" dirty="0" err="1"/>
              <a:t>LecId</a:t>
            </a:r>
            <a:r>
              <a:rPr lang="en-AU" sz="2000" b="1" dirty="0"/>
              <a:t> ) </a:t>
            </a:r>
          </a:p>
          <a:p>
            <a:pPr lvl="2">
              <a:buFont typeface="Wingdings" pitchFamily="2" charset="2"/>
              <a:buNone/>
            </a:pPr>
            <a:r>
              <a:rPr lang="en-AU" sz="2000" b="1" dirty="0"/>
              <a:t>                         VALUES (</a:t>
            </a:r>
            <a:r>
              <a:rPr lang="en-AU" sz="2000" b="1" dirty="0">
                <a:solidFill>
                  <a:srgbClr val="0000FF"/>
                </a:solidFill>
              </a:rPr>
              <a:t>'INF11007',  'EBIS',  12.5,   345</a:t>
            </a:r>
            <a:r>
              <a:rPr lang="en-AU" sz="2000" b="1" dirty="0"/>
              <a:t>) ;</a:t>
            </a:r>
          </a:p>
          <a:p>
            <a:pPr lvl="2">
              <a:buFont typeface="Wingdings" pitchFamily="2" charset="2"/>
              <a:buNone/>
            </a:pPr>
            <a:endParaRPr lang="en-AU" sz="2000" b="1" dirty="0"/>
          </a:p>
          <a:p>
            <a:pPr lvl="1">
              <a:buFont typeface="Wingdings" pitchFamily="2" charset="2"/>
              <a:buNone/>
            </a:pPr>
            <a:r>
              <a:rPr lang="en-AU" sz="2000" b="1" dirty="0">
                <a:solidFill>
                  <a:srgbClr val="009900"/>
                </a:solidFill>
              </a:rPr>
              <a:t>OK. 1 rows  - </a:t>
            </a:r>
            <a:r>
              <a:rPr lang="en-AU" sz="2000" dirty="0">
                <a:solidFill>
                  <a:srgbClr val="009900"/>
                </a:solidFill>
              </a:rPr>
              <a:t>cryptic message than means 1 row added successfully</a:t>
            </a:r>
          </a:p>
          <a:p>
            <a:pPr lvl="2">
              <a:buFont typeface="Wingdings" pitchFamily="2" charset="2"/>
              <a:buNone/>
            </a:pPr>
            <a:endParaRPr lang="en-AU" b="1" dirty="0">
              <a:solidFill>
                <a:srgbClr val="009900"/>
              </a:solidFill>
            </a:endParaRPr>
          </a:p>
          <a:p>
            <a:pPr lvl="2">
              <a:buFont typeface="Wingdings" pitchFamily="2" charset="2"/>
              <a:buNone/>
            </a:pPr>
            <a:endParaRPr lang="en-AU" b="1" dirty="0"/>
          </a:p>
          <a:p>
            <a:pPr lvl="1">
              <a:buFont typeface="Arial Narrow" pitchFamily="34" charset="0"/>
              <a:buNone/>
            </a:pPr>
            <a:r>
              <a:rPr lang="en-AU" sz="2000" b="1" dirty="0"/>
              <a:t>INSERT INTO  SUBJECT ( </a:t>
            </a:r>
            <a:r>
              <a:rPr lang="en-AU" sz="2000" b="1" dirty="0" err="1"/>
              <a:t>SubjectCode</a:t>
            </a:r>
            <a:r>
              <a:rPr lang="en-AU" sz="2000" b="1" dirty="0"/>
              <a:t>,  Title , </a:t>
            </a:r>
            <a:r>
              <a:rPr lang="en-AU" sz="2000" b="1" dirty="0" err="1"/>
              <a:t>CreditPoints</a:t>
            </a:r>
            <a:r>
              <a:rPr lang="en-AU" sz="2000" b="1" dirty="0"/>
              <a:t>,  </a:t>
            </a:r>
            <a:r>
              <a:rPr lang="en-AU" sz="2000" b="1" dirty="0" err="1"/>
              <a:t>LecId</a:t>
            </a:r>
            <a:r>
              <a:rPr lang="en-AU" sz="2000" b="1" dirty="0"/>
              <a:t> ) </a:t>
            </a:r>
          </a:p>
          <a:p>
            <a:pPr lvl="2">
              <a:buFont typeface="Wingdings" pitchFamily="2" charset="2"/>
              <a:buNone/>
            </a:pPr>
            <a:r>
              <a:rPr lang="en-AU" sz="2000" b="1" dirty="0"/>
              <a:t>		                  VALUES (</a:t>
            </a:r>
            <a:r>
              <a:rPr lang="en-AU" sz="2000" b="1" dirty="0">
                <a:solidFill>
                  <a:srgbClr val="0000FF"/>
                </a:solidFill>
              </a:rPr>
              <a:t>'AST80016',  'Astrophysics',  12.5,   </a:t>
            </a:r>
            <a:r>
              <a:rPr lang="en-AU" sz="2000" b="1" dirty="0">
                <a:solidFill>
                  <a:schemeClr val="accent2"/>
                </a:solidFill>
              </a:rPr>
              <a:t>222 </a:t>
            </a:r>
            <a:r>
              <a:rPr lang="en-AU" sz="2000" b="1" dirty="0"/>
              <a:t>) ;</a:t>
            </a:r>
          </a:p>
          <a:p>
            <a:pPr lvl="1"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</a:rPr>
              <a:t>Error at line 1:</a:t>
            </a:r>
          </a:p>
          <a:p>
            <a:pPr lvl="1"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</a:rPr>
              <a:t>ORA-02291: integrity constraint (s1234567.SYS_C002969703)</a:t>
            </a:r>
          </a:p>
          <a:p>
            <a:pPr lvl="1"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</a:rPr>
              <a:t>violated - parent key not found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AU" sz="2000" dirty="0">
                <a:solidFill>
                  <a:srgbClr val="FF0000"/>
                </a:solidFill>
              </a:rPr>
              <a:t>		This message means that no parent (primary key)</a:t>
            </a:r>
          </a:p>
          <a:p>
            <a:pPr lvl="1">
              <a:buFont typeface="Wingdings" pitchFamily="2" charset="2"/>
              <a:buNone/>
            </a:pPr>
            <a:r>
              <a:rPr lang="en-AU" sz="2000" dirty="0">
                <a:solidFill>
                  <a:srgbClr val="FF0000"/>
                </a:solidFill>
              </a:rPr>
              <a:t>		value matched the value 222</a:t>
            </a:r>
            <a:endParaRPr lang="en-AU" sz="2000" b="1" dirty="0">
              <a:solidFill>
                <a:srgbClr val="FF0000"/>
              </a:solidFill>
            </a:endParaRPr>
          </a:p>
        </p:txBody>
      </p:sp>
      <p:sp>
        <p:nvSpPr>
          <p:cNvPr id="141318" name="Line 6"/>
          <p:cNvSpPr>
            <a:spLocks noChangeShapeType="1"/>
          </p:cNvSpPr>
          <p:nvPr/>
        </p:nvSpPr>
        <p:spPr bwMode="auto">
          <a:xfrm>
            <a:off x="1790700" y="3438489"/>
            <a:ext cx="8569325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none" w="sm" len="sm"/>
            <a:tailEnd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1319" name="Oval 7"/>
          <p:cNvSpPr>
            <a:spLocks noChangeArrowheads="1"/>
          </p:cNvSpPr>
          <p:nvPr/>
        </p:nvSpPr>
        <p:spPr bwMode="auto">
          <a:xfrm>
            <a:off x="8442817" y="3854899"/>
            <a:ext cx="513847" cy="458424"/>
          </a:xfrm>
          <a:prstGeom prst="ellipse">
            <a:avLst/>
          </a:prstGeom>
          <a:noFill/>
          <a:ln w="952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1320" name="Freeform 8"/>
          <p:cNvSpPr>
            <a:spLocks/>
          </p:cNvSpPr>
          <p:nvPr/>
        </p:nvSpPr>
        <p:spPr bwMode="auto">
          <a:xfrm>
            <a:off x="7826542" y="4385513"/>
            <a:ext cx="926432" cy="1082839"/>
          </a:xfrm>
          <a:custGeom>
            <a:avLst/>
            <a:gdLst/>
            <a:ahLst/>
            <a:cxnLst>
              <a:cxn ang="0">
                <a:pos x="1270" y="0"/>
              </a:cxn>
              <a:cxn ang="0">
                <a:pos x="1270" y="227"/>
              </a:cxn>
              <a:cxn ang="0">
                <a:pos x="1134" y="544"/>
              </a:cxn>
              <a:cxn ang="0">
                <a:pos x="499" y="998"/>
              </a:cxn>
              <a:cxn ang="0">
                <a:pos x="0" y="1134"/>
              </a:cxn>
            </a:cxnLst>
            <a:rect l="0" t="0" r="r" b="b"/>
            <a:pathLst>
              <a:path w="1293" h="1134">
                <a:moveTo>
                  <a:pt x="1270" y="0"/>
                </a:moveTo>
                <a:cubicBezTo>
                  <a:pt x="1281" y="68"/>
                  <a:pt x="1293" y="136"/>
                  <a:pt x="1270" y="227"/>
                </a:cubicBezTo>
                <a:cubicBezTo>
                  <a:pt x="1247" y="318"/>
                  <a:pt x="1262" y="416"/>
                  <a:pt x="1134" y="544"/>
                </a:cubicBezTo>
                <a:cubicBezTo>
                  <a:pt x="1006" y="672"/>
                  <a:pt x="688" y="900"/>
                  <a:pt x="499" y="998"/>
                </a:cubicBezTo>
                <a:cubicBezTo>
                  <a:pt x="310" y="1096"/>
                  <a:pt x="155" y="1115"/>
                  <a:pt x="0" y="1134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lgDash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148570"/>
      </p:ext>
    </p:extLst>
  </p:cSld>
  <p:clrMapOvr>
    <a:masterClrMapping/>
  </p:clrMapOvr>
  <p:transition>
    <p:cover dir="l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Parent / Child rules</a:t>
            </a:r>
          </a:p>
        </p:txBody>
      </p:sp>
      <p:sp>
        <p:nvSpPr>
          <p:cNvPr id="143364" name="Rectangle 4"/>
          <p:cNvSpPr>
            <a:spLocks noGrp="1" noChangeArrowheads="1"/>
          </p:cNvSpPr>
          <p:nvPr>
            <p:ph idx="1"/>
          </p:nvPr>
        </p:nvSpPr>
        <p:spPr>
          <a:xfrm>
            <a:off x="1917406" y="774700"/>
            <a:ext cx="8750595" cy="536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    The default situation in Oracle is that:</a:t>
            </a:r>
          </a:p>
          <a:p>
            <a:pPr marL="0" indent="0">
              <a:buNone/>
            </a:pPr>
            <a:endParaRPr lang="en-AU" sz="2000" dirty="0"/>
          </a:p>
          <a:p>
            <a:pPr marL="969962" lvl="1" indent="-342900">
              <a:buFont typeface="Arial" panose="020B0604020202020204" pitchFamily="34" charset="0"/>
              <a:buChar char="•"/>
            </a:pPr>
            <a:r>
              <a:rPr lang="en-AU" sz="2000" dirty="0"/>
              <a:t>A parent </a:t>
            </a:r>
            <a:r>
              <a:rPr lang="en-AU" sz="2000" b="1" dirty="0"/>
              <a:t>cannot be deleted</a:t>
            </a:r>
            <a:r>
              <a:rPr lang="en-AU" sz="2000" dirty="0"/>
              <a:t> if a child exists.  </a:t>
            </a:r>
          </a:p>
          <a:p>
            <a:pPr marL="809625" lvl="1" indent="-182563">
              <a:buNone/>
            </a:pPr>
            <a:r>
              <a:rPr lang="en-AU" sz="2000" dirty="0"/>
              <a:t>			I.e. A child </a:t>
            </a:r>
            <a:r>
              <a:rPr lang="en-AU" sz="2000" b="1" dirty="0"/>
              <a:t>cannot</a:t>
            </a:r>
            <a:r>
              <a:rPr lang="en-AU" sz="2000" dirty="0"/>
              <a:t> become </a:t>
            </a:r>
            <a:r>
              <a:rPr lang="en-AU" sz="2000" b="1" dirty="0"/>
              <a:t>orphaned</a:t>
            </a:r>
            <a:r>
              <a:rPr lang="en-AU" sz="2000" dirty="0"/>
              <a:t> </a:t>
            </a:r>
          </a:p>
          <a:p>
            <a:pPr marL="809625" lvl="1" indent="-182563">
              <a:buNone/>
            </a:pPr>
            <a:endParaRPr lang="en-AU" sz="2000" dirty="0"/>
          </a:p>
          <a:p>
            <a:pPr marL="969962" lvl="1" indent="-342900">
              <a:buFont typeface="Arial" panose="020B0604020202020204" pitchFamily="34" charset="0"/>
              <a:buChar char="•"/>
            </a:pPr>
            <a:r>
              <a:rPr lang="en-AU" sz="2000" dirty="0"/>
              <a:t>A </a:t>
            </a:r>
            <a:r>
              <a:rPr lang="en-AU" sz="2000" b="1" dirty="0"/>
              <a:t>parent </a:t>
            </a:r>
            <a:r>
              <a:rPr lang="en-AU" sz="2000" dirty="0"/>
              <a:t>can only be deleted if the children </a:t>
            </a:r>
            <a:r>
              <a:rPr lang="en-AU" sz="2000" b="1" dirty="0"/>
              <a:t>no longer exists</a:t>
            </a:r>
          </a:p>
          <a:p>
            <a:pPr marL="969962" lvl="1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969962" lvl="1" indent="-342900">
              <a:buFont typeface="Arial" panose="020B0604020202020204" pitchFamily="34" charset="0"/>
              <a:buChar char="•"/>
            </a:pPr>
            <a:r>
              <a:rPr lang="en-AU" sz="2000" dirty="0"/>
              <a:t>(Same rule applies in MS </a:t>
            </a:r>
            <a:r>
              <a:rPr lang="en-AU" sz="2000" b="1" dirty="0"/>
              <a:t>Access</a:t>
            </a:r>
            <a:r>
              <a:rPr lang="en-AU" sz="2000" dirty="0"/>
              <a:t> if you have ticked the</a:t>
            </a:r>
            <a:br>
              <a:rPr lang="en-AU" sz="2000" dirty="0"/>
            </a:br>
            <a:r>
              <a:rPr lang="en-AU" sz="2000" dirty="0"/>
              <a:t>Enforce Referential Integrity option in Relationship Diagram) </a:t>
            </a:r>
          </a:p>
          <a:p>
            <a:pPr marL="809625" lvl="1" indent="-182563">
              <a:buNone/>
            </a:pPr>
            <a:endParaRPr lang="en-AU" sz="1050" dirty="0"/>
          </a:p>
        </p:txBody>
      </p:sp>
    </p:spTree>
    <p:extLst>
      <p:ext uri="{BB962C8B-B14F-4D97-AF65-F5344CB8AC3E}">
        <p14:creationId xmlns:p14="http://schemas.microsoft.com/office/powerpoint/2010/main" val="3017085081"/>
      </p:ext>
    </p:extLst>
  </p:cSld>
  <p:clrMapOvr>
    <a:masterClrMapping/>
  </p:clrMapOvr>
  <p:transition>
    <p:cover dir="l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Parent / Child rules</a:t>
            </a:r>
          </a:p>
        </p:txBody>
      </p:sp>
      <p:sp>
        <p:nvSpPr>
          <p:cNvPr id="143364" name="Rectangle 4"/>
          <p:cNvSpPr>
            <a:spLocks noGrp="1" noChangeArrowheads="1"/>
          </p:cNvSpPr>
          <p:nvPr>
            <p:ph idx="1"/>
          </p:nvPr>
        </p:nvSpPr>
        <p:spPr>
          <a:xfrm>
            <a:off x="1917406" y="774700"/>
            <a:ext cx="8750595" cy="5367338"/>
          </a:xfrm>
        </p:spPr>
        <p:txBody>
          <a:bodyPr>
            <a:noAutofit/>
          </a:bodyPr>
          <a:lstStyle/>
          <a:p>
            <a:pPr marL="352425" indent="-182563">
              <a:buNone/>
            </a:pPr>
            <a:r>
              <a:rPr lang="en-AU" sz="2400" dirty="0">
                <a:solidFill>
                  <a:srgbClr val="7030A0"/>
                </a:solidFill>
              </a:rPr>
              <a:t>Add lecturer Carol </a:t>
            </a:r>
          </a:p>
          <a:p>
            <a:pPr marL="809625" lvl="1" indent="-182563">
              <a:buNone/>
            </a:pPr>
            <a:r>
              <a:rPr lang="en-AU" sz="2000" b="1" dirty="0">
                <a:solidFill>
                  <a:srgbClr val="0033CC"/>
                </a:solidFill>
              </a:rPr>
              <a:t>INSERT INTO  LECTURER ( </a:t>
            </a:r>
            <a:r>
              <a:rPr lang="en-AU" sz="2000" b="1" dirty="0" err="1">
                <a:solidFill>
                  <a:srgbClr val="0033CC"/>
                </a:solidFill>
              </a:rPr>
              <a:t>LecId</a:t>
            </a:r>
            <a:r>
              <a:rPr lang="en-AU" sz="2000" b="1" dirty="0">
                <a:solidFill>
                  <a:srgbClr val="0033CC"/>
                </a:solidFill>
              </a:rPr>
              <a:t>,  </a:t>
            </a:r>
            <a:r>
              <a:rPr lang="en-AU" sz="2000" b="1" dirty="0" err="1">
                <a:solidFill>
                  <a:srgbClr val="0033CC"/>
                </a:solidFill>
              </a:rPr>
              <a:t>LecName</a:t>
            </a:r>
            <a:r>
              <a:rPr lang="en-AU" sz="2000" b="1" dirty="0">
                <a:solidFill>
                  <a:srgbClr val="0033CC"/>
                </a:solidFill>
              </a:rPr>
              <a:t>, Age ) </a:t>
            </a:r>
            <a:br>
              <a:rPr lang="en-AU" sz="2000" b="1" dirty="0">
                <a:solidFill>
                  <a:srgbClr val="0033CC"/>
                </a:solidFill>
              </a:rPr>
            </a:br>
            <a:r>
              <a:rPr lang="en-AU" sz="2000" b="1" dirty="0">
                <a:solidFill>
                  <a:srgbClr val="0033CC"/>
                </a:solidFill>
              </a:rPr>
              <a:t>                             VALUES (345, 'Carol Kent', 34) ;</a:t>
            </a:r>
          </a:p>
          <a:p>
            <a:pPr marL="352425" lvl="1" indent="-182563">
              <a:buSzPct val="75000"/>
              <a:buNone/>
            </a:pPr>
            <a:endParaRPr lang="en-AU" sz="2400" dirty="0">
              <a:solidFill>
                <a:srgbClr val="7030A0"/>
              </a:solidFill>
              <a:cs typeface="+mn-cs"/>
            </a:endParaRPr>
          </a:p>
          <a:p>
            <a:pPr marL="352425" lvl="1" indent="-182563">
              <a:buSzPct val="75000"/>
              <a:buNone/>
            </a:pPr>
            <a:r>
              <a:rPr lang="en-AU" sz="2400" dirty="0">
                <a:solidFill>
                  <a:srgbClr val="7030A0"/>
                </a:solidFill>
                <a:cs typeface="+mn-cs"/>
              </a:rPr>
              <a:t>Add subject INF1107 where Carol is the </a:t>
            </a:r>
            <a:r>
              <a:rPr lang="en-AU" sz="2400" dirty="0" err="1">
                <a:solidFill>
                  <a:srgbClr val="7030A0"/>
                </a:solidFill>
                <a:cs typeface="+mn-cs"/>
              </a:rPr>
              <a:t>covenor</a:t>
            </a:r>
            <a:endParaRPr lang="en-AU" sz="2400" dirty="0">
              <a:solidFill>
                <a:srgbClr val="7030A0"/>
              </a:solidFill>
              <a:cs typeface="+mn-cs"/>
            </a:endParaRPr>
          </a:p>
          <a:p>
            <a:pPr marL="809625" lvl="1" indent="-182563">
              <a:buSzPct val="85000"/>
              <a:buNone/>
            </a:pPr>
            <a:r>
              <a:rPr lang="en-AU" sz="2000" b="1" dirty="0">
                <a:solidFill>
                  <a:srgbClr val="009900"/>
                </a:solidFill>
              </a:rPr>
              <a:t>INSERT INTO  SUBJECT ( </a:t>
            </a:r>
            <a:r>
              <a:rPr lang="en-AU" sz="2000" b="1" dirty="0" err="1">
                <a:solidFill>
                  <a:srgbClr val="009900"/>
                </a:solidFill>
              </a:rPr>
              <a:t>SubjectCode</a:t>
            </a:r>
            <a:r>
              <a:rPr lang="en-AU" sz="2000" b="1" dirty="0">
                <a:solidFill>
                  <a:srgbClr val="009900"/>
                </a:solidFill>
              </a:rPr>
              <a:t>,  Title , </a:t>
            </a:r>
            <a:r>
              <a:rPr lang="en-AU" sz="2000" b="1" dirty="0" err="1">
                <a:solidFill>
                  <a:srgbClr val="009900"/>
                </a:solidFill>
              </a:rPr>
              <a:t>CreditPoints</a:t>
            </a:r>
            <a:r>
              <a:rPr lang="en-AU" sz="2000" b="1" dirty="0">
                <a:solidFill>
                  <a:srgbClr val="009900"/>
                </a:solidFill>
              </a:rPr>
              <a:t>,  </a:t>
            </a:r>
            <a:r>
              <a:rPr lang="en-AU" sz="2000" b="1" dirty="0" err="1">
                <a:solidFill>
                  <a:srgbClr val="009900"/>
                </a:solidFill>
              </a:rPr>
              <a:t>LecId</a:t>
            </a:r>
            <a:r>
              <a:rPr lang="en-AU" sz="2000" b="1" dirty="0">
                <a:solidFill>
                  <a:srgbClr val="009900"/>
                </a:solidFill>
              </a:rPr>
              <a:t> ) </a:t>
            </a:r>
          </a:p>
          <a:p>
            <a:pPr marL="1531938" lvl="2" indent="-457200">
              <a:buNone/>
            </a:pPr>
            <a:r>
              <a:rPr lang="en-AU" sz="2000" b="1" dirty="0">
                <a:solidFill>
                  <a:srgbClr val="009900"/>
                </a:solidFill>
              </a:rPr>
              <a:t>                         VALUES ('INF11007',  'EBIS',  12.5,   345) ;</a:t>
            </a:r>
          </a:p>
          <a:p>
            <a:pPr marL="352425" lvl="1" indent="-182563">
              <a:buSzPct val="75000"/>
              <a:buNone/>
            </a:pPr>
            <a:endParaRPr lang="en-AU" sz="2400" dirty="0">
              <a:solidFill>
                <a:srgbClr val="7030A0"/>
              </a:solidFill>
            </a:endParaRPr>
          </a:p>
          <a:p>
            <a:pPr marL="352425" lvl="1" indent="-182563">
              <a:buSzPct val="75000"/>
              <a:buNone/>
            </a:pPr>
            <a:r>
              <a:rPr lang="en-AU" sz="2400" dirty="0">
                <a:solidFill>
                  <a:srgbClr val="7030A0"/>
                </a:solidFill>
              </a:rPr>
              <a:t>Attempt to delete Carol's record from the Lecturer table</a:t>
            </a:r>
          </a:p>
          <a:p>
            <a:pPr marL="809625" lvl="1" indent="-182563">
              <a:buNone/>
            </a:pPr>
            <a:r>
              <a:rPr lang="en-AU" sz="2000" b="1" dirty="0">
                <a:solidFill>
                  <a:schemeClr val="accent2"/>
                </a:solidFill>
              </a:rPr>
              <a:t>DELETE FROM LECTURER WHERE </a:t>
            </a:r>
            <a:r>
              <a:rPr lang="en-AU" sz="2000" b="1" dirty="0" err="1">
                <a:solidFill>
                  <a:schemeClr val="accent2"/>
                </a:solidFill>
              </a:rPr>
              <a:t>LecId</a:t>
            </a:r>
            <a:r>
              <a:rPr lang="en-AU" sz="2000" b="1" dirty="0">
                <a:solidFill>
                  <a:schemeClr val="accent2"/>
                </a:solidFill>
              </a:rPr>
              <a:t> = 345;</a:t>
            </a:r>
          </a:p>
          <a:p>
            <a:pPr marL="809625" lvl="1" indent="-182563">
              <a:buNone/>
            </a:pPr>
            <a:endParaRPr lang="en-AU" sz="1200" b="1" dirty="0">
              <a:solidFill>
                <a:schemeClr val="accent2"/>
              </a:solidFill>
            </a:endParaRPr>
          </a:p>
          <a:p>
            <a:pPr marL="627063" lvl="1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Oracle Error at line 3:</a:t>
            </a:r>
            <a:br>
              <a:rPr lang="en-US" sz="2000" b="1" dirty="0">
                <a:solidFill>
                  <a:schemeClr val="accent2"/>
                </a:solidFill>
              </a:rPr>
            </a:br>
            <a:r>
              <a:rPr lang="en-US" sz="2000" b="1" dirty="0">
                <a:solidFill>
                  <a:schemeClr val="accent2"/>
                </a:solidFill>
              </a:rPr>
              <a:t>ORA-02292: integrity constraint (s1234567.SYS_C002969703) violated - child record found  </a:t>
            </a:r>
          </a:p>
          <a:p>
            <a:pPr marL="1531938" lvl="2" indent="-457200">
              <a:buNone/>
            </a:pPr>
            <a:endParaRPr lang="en-US" sz="2000" b="1" dirty="0">
              <a:solidFill>
                <a:schemeClr val="accent2"/>
              </a:solidFill>
            </a:endParaRPr>
          </a:p>
          <a:p>
            <a:pPr marL="519113" indent="-457200">
              <a:buNone/>
            </a:pPr>
            <a:r>
              <a:rPr lang="en-AU" sz="2000" dirty="0">
                <a:solidFill>
                  <a:schemeClr val="accent2"/>
                </a:solidFill>
              </a:rPr>
              <a:t>	This Oracle message means that you are attempting to orphan a child </a:t>
            </a:r>
          </a:p>
        </p:txBody>
      </p:sp>
    </p:spTree>
    <p:extLst>
      <p:ext uri="{BB962C8B-B14F-4D97-AF65-F5344CB8AC3E}">
        <p14:creationId xmlns:p14="http://schemas.microsoft.com/office/powerpoint/2010/main" val="893753059"/>
      </p:ext>
    </p:extLst>
  </p:cSld>
  <p:clrMapOvr>
    <a:masterClrMapping/>
  </p:clrMapOvr>
  <p:transition>
    <p:cover dir="l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Null Foreign Keys</a:t>
            </a:r>
          </a:p>
        </p:txBody>
      </p:sp>
      <p:sp>
        <p:nvSpPr>
          <p:cNvPr id="144388" name="Rectangle 4"/>
          <p:cNvSpPr>
            <a:spLocks noGrp="1" noChangeArrowheads="1"/>
          </p:cNvSpPr>
          <p:nvPr>
            <p:ph idx="1"/>
          </p:nvPr>
        </p:nvSpPr>
        <p:spPr>
          <a:xfrm>
            <a:off x="2165350" y="774700"/>
            <a:ext cx="8358188" cy="536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 It is not uncommon for a Foreign Key to have a </a:t>
            </a:r>
            <a:r>
              <a:rPr lang="en-AU" sz="2000" b="1" dirty="0"/>
              <a:t>NULL value</a:t>
            </a:r>
          </a:p>
          <a:p>
            <a:pPr marL="512762" indent="-342900">
              <a:buFont typeface="Arial" panose="020B0604020202020204" pitchFamily="34" charset="0"/>
              <a:buChar char="•"/>
            </a:pPr>
            <a:r>
              <a:rPr lang="en-AU" sz="2000" dirty="0"/>
              <a:t>Nulls are </a:t>
            </a:r>
            <a:r>
              <a:rPr lang="en-AU" sz="2000" b="1" dirty="0"/>
              <a:t>acceptable</a:t>
            </a:r>
            <a:r>
              <a:rPr lang="en-AU" sz="2000" dirty="0"/>
              <a:t> as Foreign Key values</a:t>
            </a:r>
          </a:p>
          <a:p>
            <a:pPr marL="180975" indent="-180975"/>
            <a:endParaRPr lang="en-AU" sz="400" dirty="0"/>
          </a:p>
          <a:p>
            <a:pPr marL="519113" indent="-457200">
              <a:buFont typeface="Arial" panose="020B0604020202020204" pitchFamily="34" charset="0"/>
              <a:buChar char="•"/>
            </a:pPr>
            <a:r>
              <a:rPr lang="en-AU" sz="2000" dirty="0"/>
              <a:t>Imagine that we plan for a </a:t>
            </a:r>
            <a:r>
              <a:rPr lang="en-AU" sz="2000" b="1" dirty="0"/>
              <a:t>new subject</a:t>
            </a:r>
            <a:r>
              <a:rPr lang="en-AU" sz="2000" dirty="0"/>
              <a:t> to begin next year</a:t>
            </a:r>
          </a:p>
          <a:p>
            <a:pPr marL="119380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INF21009 </a:t>
            </a:r>
            <a:r>
              <a:rPr lang="en-AU" sz="2000" dirty="0" err="1"/>
              <a:t>Adv</a:t>
            </a:r>
            <a:r>
              <a:rPr lang="en-AU" sz="2000" dirty="0"/>
              <a:t> Facebook</a:t>
            </a:r>
          </a:p>
          <a:p>
            <a:pPr marL="1193800" lvl="1" indent="-457200">
              <a:buFont typeface="Arial" panose="020B0604020202020204" pitchFamily="34" charset="0"/>
              <a:buChar char="•"/>
            </a:pPr>
            <a:r>
              <a:rPr lang="en-AU" sz="2000" b="1" dirty="0"/>
              <a:t>However</a:t>
            </a:r>
            <a:r>
              <a:rPr lang="en-AU" sz="2000" dirty="0"/>
              <a:t>, the business does not yet know who the lecturer will be for that unit</a:t>
            </a:r>
          </a:p>
          <a:p>
            <a:pPr marL="180975" indent="-180975"/>
            <a:endParaRPr lang="en-AU" sz="1000" dirty="0"/>
          </a:p>
          <a:p>
            <a:pPr marL="180975" indent="-180975">
              <a:buNone/>
            </a:pPr>
            <a:r>
              <a:rPr lang="en-AU" sz="2000" dirty="0"/>
              <a:t> </a:t>
            </a:r>
            <a:r>
              <a:rPr lang="en-AU" sz="2000" b="1" dirty="0">
                <a:solidFill>
                  <a:srgbClr val="009900"/>
                </a:solidFill>
              </a:rPr>
              <a:t>INSERT INTO  SUBJECT ( </a:t>
            </a:r>
            <a:r>
              <a:rPr lang="en-AU" sz="2000" b="1" dirty="0" err="1">
                <a:solidFill>
                  <a:srgbClr val="009900"/>
                </a:solidFill>
              </a:rPr>
              <a:t>SubjectCode</a:t>
            </a:r>
            <a:r>
              <a:rPr lang="en-AU" sz="2000" b="1" dirty="0">
                <a:solidFill>
                  <a:srgbClr val="009900"/>
                </a:solidFill>
              </a:rPr>
              <a:t>,  Title , </a:t>
            </a:r>
            <a:r>
              <a:rPr lang="en-AU" sz="2000" b="1" dirty="0" err="1">
                <a:solidFill>
                  <a:srgbClr val="009900"/>
                </a:solidFill>
              </a:rPr>
              <a:t>CreditPoints</a:t>
            </a:r>
            <a:r>
              <a:rPr lang="en-AU" sz="2000" b="1" dirty="0">
                <a:solidFill>
                  <a:srgbClr val="009900"/>
                </a:solidFill>
              </a:rPr>
              <a:t>,  </a:t>
            </a:r>
            <a:r>
              <a:rPr lang="en-AU" sz="2000" b="1" dirty="0" err="1">
                <a:solidFill>
                  <a:srgbClr val="009900"/>
                </a:solidFill>
              </a:rPr>
              <a:t>LecId</a:t>
            </a:r>
            <a:r>
              <a:rPr lang="en-AU" sz="2000" b="1" dirty="0">
                <a:solidFill>
                  <a:srgbClr val="009900"/>
                </a:solidFill>
              </a:rPr>
              <a:t> ) </a:t>
            </a:r>
          </a:p>
          <a:p>
            <a:pPr marL="1531938" lvl="2" indent="-457200">
              <a:buNone/>
            </a:pPr>
            <a:r>
              <a:rPr lang="en-AU" sz="2000" b="1" dirty="0">
                <a:solidFill>
                  <a:srgbClr val="009900"/>
                </a:solidFill>
              </a:rPr>
              <a:t>     VALUES ('INF21009',  'Advanced Facebook',  12.5,   </a:t>
            </a:r>
            <a:r>
              <a:rPr lang="en-AU" sz="2000" b="1" dirty="0">
                <a:solidFill>
                  <a:schemeClr val="accent2"/>
                </a:solidFill>
              </a:rPr>
              <a:t>Null</a:t>
            </a:r>
            <a:r>
              <a:rPr lang="en-AU" sz="2000" b="1" dirty="0">
                <a:solidFill>
                  <a:srgbClr val="009900"/>
                </a:solidFill>
              </a:rPr>
              <a:t>) ;</a:t>
            </a:r>
          </a:p>
          <a:p>
            <a:pPr marL="1531938" lvl="2" indent="-457200">
              <a:buNone/>
            </a:pPr>
            <a:endParaRPr lang="en-AU" sz="2000" dirty="0"/>
          </a:p>
        </p:txBody>
      </p:sp>
      <p:sp>
        <p:nvSpPr>
          <p:cNvPr id="144390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4391" name="Rectangle 7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44449" name="Group 65"/>
          <p:cNvGraphicFramePr>
            <a:graphicFrameLocks noGrp="1"/>
          </p:cNvGraphicFramePr>
          <p:nvPr/>
        </p:nvGraphicFramePr>
        <p:xfrm>
          <a:off x="1681311" y="5502276"/>
          <a:ext cx="5167312" cy="1159193"/>
        </p:xfrm>
        <a:graphic>
          <a:graphicData uri="http://schemas.openxmlformats.org/drawingml/2006/table">
            <a:tbl>
              <a:tblPr/>
              <a:tblGrid>
                <a:gridCol w="1350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  <a:endParaRPr kumimoji="0" lang="en-AU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INF11007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AU" sz="2000" b="0" dirty="0">
                          <a:solidFill>
                            <a:srgbClr val="FF0000"/>
                          </a:solidFill>
                        </a:rPr>
                        <a:t>INF21009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Adv</a:t>
                      </a: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 Facebook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414" name="Rectangle 30"/>
          <p:cNvSpPr>
            <a:spLocks noChangeArrowheads="1"/>
          </p:cNvSpPr>
          <p:nvPr/>
        </p:nvSpPr>
        <p:spPr bwMode="auto">
          <a:xfrm>
            <a:off x="3000376" y="5013325"/>
            <a:ext cx="1725613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SUBJECT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graphicFrame>
        <p:nvGraphicFramePr>
          <p:cNvPr id="144451" name="Group 67"/>
          <p:cNvGraphicFramePr>
            <a:graphicFrameLocks noGrp="1"/>
          </p:cNvGraphicFramePr>
          <p:nvPr/>
        </p:nvGraphicFramePr>
        <p:xfrm>
          <a:off x="7104064" y="4292600"/>
          <a:ext cx="3508375" cy="1186816"/>
        </p:xfrm>
        <a:graphic>
          <a:graphicData uri="http://schemas.openxmlformats.org/drawingml/2006/table">
            <a:tbl>
              <a:tblPr/>
              <a:tblGrid>
                <a:gridCol w="99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  <a:endParaRPr kumimoji="0" lang="en-AU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442" name="Text Box 58"/>
          <p:cNvSpPr txBox="1">
            <a:spLocks noChangeArrowheads="1"/>
          </p:cNvSpPr>
          <p:nvPr/>
        </p:nvSpPr>
        <p:spPr bwMode="auto">
          <a:xfrm>
            <a:off x="7896225" y="3876675"/>
            <a:ext cx="19812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/>
            <a:r>
              <a:rPr lang="en-AU" sz="2600">
                <a:solidFill>
                  <a:srgbClr val="D1161E"/>
                </a:solidFill>
                <a:latin typeface="Arial" charset="0"/>
              </a:rPr>
              <a:t>LECTURER</a:t>
            </a:r>
            <a:endParaRPr lang="en-US" sz="2600">
              <a:solidFill>
                <a:srgbClr val="D1161E"/>
              </a:solidFill>
              <a:latin typeface="Arial" charset="0"/>
            </a:endParaRPr>
          </a:p>
        </p:txBody>
      </p:sp>
      <p:sp>
        <p:nvSpPr>
          <p:cNvPr id="144450" name="Text Box 8"/>
          <p:cNvSpPr txBox="1">
            <a:spLocks noChangeArrowheads="1"/>
          </p:cNvSpPr>
          <p:nvPr/>
        </p:nvSpPr>
        <p:spPr bwMode="auto">
          <a:xfrm>
            <a:off x="7166012" y="5965224"/>
            <a:ext cx="3240088" cy="86793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7313" defTabSz="457200"/>
            <a:r>
              <a:rPr lang="en-AU" sz="2000" dirty="0" err="1">
                <a:solidFill>
                  <a:srgbClr val="0C64A7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C64A7"/>
                </a:solidFill>
                <a:latin typeface="Calibri"/>
              </a:rPr>
              <a:t> has a NULL</a:t>
            </a:r>
            <a:br>
              <a:rPr lang="en-AU" sz="2000" dirty="0">
                <a:solidFill>
                  <a:srgbClr val="0C64A7"/>
                </a:solidFill>
                <a:latin typeface="Calibri"/>
              </a:rPr>
            </a:br>
            <a:r>
              <a:rPr lang="en-AU" sz="2000" dirty="0">
                <a:solidFill>
                  <a:srgbClr val="0C64A7"/>
                </a:solidFill>
                <a:latin typeface="Calibri"/>
              </a:rPr>
              <a:t> value is OK</a:t>
            </a:r>
          </a:p>
          <a:p>
            <a:pPr marL="8731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000" dirty="0">
              <a:solidFill>
                <a:srgbClr val="0C64A7"/>
              </a:solidFill>
              <a:latin typeface="Calibri"/>
            </a:endParaRPr>
          </a:p>
        </p:txBody>
      </p:sp>
      <p:sp>
        <p:nvSpPr>
          <p:cNvPr id="2" name="Oval 1"/>
          <p:cNvSpPr/>
          <p:nvPr/>
        </p:nvSpPr>
        <p:spPr bwMode="auto">
          <a:xfrm>
            <a:off x="5730138" y="6142038"/>
            <a:ext cx="1318437" cy="644524"/>
          </a:xfrm>
          <a:prstGeom prst="ellipse">
            <a:avLst/>
          </a:prstGeom>
          <a:noFill/>
          <a:ln w="9525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199052"/>
      </p:ext>
    </p:extLst>
  </p:cSld>
  <p:clrMapOvr>
    <a:masterClrMapping/>
  </p:clrMapOvr>
  <p:transition>
    <p:cover dir="l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63" name="Rectangle 55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Null Constraint</a:t>
            </a:r>
          </a:p>
        </p:txBody>
      </p:sp>
      <p:sp>
        <p:nvSpPr>
          <p:cNvPr id="145412" name="Rectangle 4"/>
          <p:cNvSpPr>
            <a:spLocks noGrp="1" noChangeArrowheads="1"/>
          </p:cNvSpPr>
          <p:nvPr>
            <p:ph idx="1"/>
          </p:nvPr>
        </p:nvSpPr>
        <p:spPr>
          <a:xfrm>
            <a:off x="2208214" y="774700"/>
            <a:ext cx="8315325" cy="5367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Imagine that a new business rule is introduced that says </a:t>
            </a:r>
            <a:br>
              <a:rPr lang="en-AU" sz="2000" dirty="0"/>
            </a:br>
            <a:r>
              <a:rPr lang="en-AU" sz="2000" dirty="0"/>
              <a:t>	'Every subject </a:t>
            </a:r>
            <a:r>
              <a:rPr lang="en-AU" sz="2000" b="1" dirty="0"/>
              <a:t>MUST</a:t>
            </a:r>
            <a:r>
              <a:rPr lang="en-AU" sz="2000" dirty="0"/>
              <a:t> have a convener'</a:t>
            </a:r>
          </a:p>
          <a:p>
            <a:pPr marL="809625" lvl="1" indent="-182563">
              <a:buNone/>
            </a:pPr>
            <a:endParaRPr lang="en-AU" sz="1000" dirty="0"/>
          </a:p>
          <a:p>
            <a:pPr marL="969962" lvl="1" indent="-342900">
              <a:buFont typeface="Arial" panose="020B0604020202020204" pitchFamily="34" charset="0"/>
              <a:buChar char="•"/>
            </a:pPr>
            <a:r>
              <a:rPr lang="en-AU" sz="2000" dirty="0"/>
              <a:t> A </a:t>
            </a:r>
            <a:r>
              <a:rPr lang="en-AU" sz="2000" b="1" dirty="0"/>
              <a:t>null</a:t>
            </a:r>
            <a:r>
              <a:rPr lang="en-AU" sz="2000" dirty="0"/>
              <a:t> value for the lecturer ID is </a:t>
            </a:r>
            <a:r>
              <a:rPr lang="en-AU" sz="2000" b="1" dirty="0"/>
              <a:t>not</a:t>
            </a:r>
            <a:r>
              <a:rPr lang="en-AU" sz="2000" dirty="0"/>
              <a:t> </a:t>
            </a:r>
            <a:r>
              <a:rPr lang="en-AU" sz="2000" b="1" dirty="0"/>
              <a:t>acceptable</a:t>
            </a:r>
          </a:p>
          <a:p>
            <a:pPr marL="809625" lvl="1" indent="-182563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How can the be </a:t>
            </a:r>
            <a:r>
              <a:rPr lang="en-AU" sz="2000" b="1" dirty="0"/>
              <a:t>enforced</a:t>
            </a:r>
            <a:r>
              <a:rPr lang="en-AU" sz="2000" dirty="0"/>
              <a:t>?</a:t>
            </a:r>
          </a:p>
          <a:p>
            <a:pPr marL="969962" lvl="1" indent="-342900">
              <a:buFont typeface="Arial" panose="020B0604020202020204" pitchFamily="34" charset="0"/>
              <a:buChar char="•"/>
            </a:pPr>
            <a:r>
              <a:rPr lang="en-AU" sz="2000" dirty="0"/>
              <a:t>Each column in a table can have a </a:t>
            </a:r>
            <a:r>
              <a:rPr lang="en-AU" sz="2000" b="1" dirty="0"/>
              <a:t>Null constraint.</a:t>
            </a:r>
          </a:p>
          <a:p>
            <a:pPr marL="969962" lvl="1" indent="-342900">
              <a:buFont typeface="Arial" panose="020B0604020202020204" pitchFamily="34" charset="0"/>
              <a:buChar char="•"/>
            </a:pPr>
            <a:r>
              <a:rPr lang="en-AU" sz="2000" dirty="0"/>
              <a:t>It is usually defined in the </a:t>
            </a:r>
            <a:r>
              <a:rPr lang="en-AU" sz="2000" b="1" dirty="0"/>
              <a:t>Create Table </a:t>
            </a:r>
            <a:r>
              <a:rPr lang="en-AU" sz="2000" dirty="0"/>
              <a:t>statement</a:t>
            </a:r>
          </a:p>
          <a:p>
            <a:pPr marL="1531938" lvl="2" indent="-457200">
              <a:buFont typeface="Arial" panose="020B0604020202020204" pitchFamily="34" charset="0"/>
              <a:buChar char="•"/>
            </a:pPr>
            <a:r>
              <a:rPr lang="en-AU" sz="2000" dirty="0"/>
              <a:t>Although you can add a constraint at a later time</a:t>
            </a:r>
          </a:p>
          <a:p>
            <a:pPr marL="180975" indent="-180975"/>
            <a:endParaRPr lang="en-AU" sz="2000" dirty="0"/>
          </a:p>
          <a:p>
            <a:pPr marL="1531938" lvl="2" indent="-457200">
              <a:buNone/>
            </a:pPr>
            <a:endParaRPr lang="en-AU" sz="2000" dirty="0"/>
          </a:p>
        </p:txBody>
      </p:sp>
      <p:sp>
        <p:nvSpPr>
          <p:cNvPr id="145462" name="Rectangle 54"/>
          <p:cNvSpPr>
            <a:spLocks noChangeArrowheads="1"/>
          </p:cNvSpPr>
          <p:nvPr/>
        </p:nvSpPr>
        <p:spPr bwMode="auto">
          <a:xfrm>
            <a:off x="2566988" y="3933825"/>
            <a:ext cx="7848600" cy="2154436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457200">
              <a:buClr>
                <a:srgbClr val="D1161E"/>
              </a:buClr>
              <a:buSzPct val="85000"/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Create Table SUBJECT              (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sz="2000" dirty="0" err="1">
                <a:solidFill>
                  <a:srgbClr val="0000FF"/>
                </a:solidFill>
                <a:latin typeface="Calibri"/>
              </a:rPr>
              <a:t>SubjectCode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	varchar(10)   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Title     	varchar(100) 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sz="2000" dirty="0" err="1">
                <a:solidFill>
                  <a:srgbClr val="0000FF"/>
                </a:solidFill>
                <a:latin typeface="Calibri"/>
              </a:rPr>
              <a:t>CreditPoints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	number           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             	number              </a:t>
            </a:r>
            <a:r>
              <a:rPr lang="en-AU" sz="2000" dirty="0">
                <a:solidFill>
                  <a:srgbClr val="0C64A7"/>
                </a:solidFill>
                <a:latin typeface="Calibri"/>
              </a:rPr>
              <a:t>Not Null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Primary Key	(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SubjectCode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sz="2000" dirty="0">
                <a:solidFill>
                  <a:srgbClr val="0000FF"/>
                </a:solidFill>
                <a:latin typeface="Calibri"/>
              </a:rPr>
              <a:t>Foreign Key   	(</a:t>
            </a:r>
            <a:r>
              <a:rPr lang="en-AU" sz="2000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sz="2000" dirty="0">
                <a:solidFill>
                  <a:srgbClr val="0000FF"/>
                </a:solidFill>
                <a:latin typeface="Calibri"/>
              </a:rPr>
              <a:t>)   References LECTURER      ) ;</a:t>
            </a:r>
          </a:p>
        </p:txBody>
      </p:sp>
    </p:spTree>
    <p:extLst>
      <p:ext uri="{BB962C8B-B14F-4D97-AF65-F5344CB8AC3E}">
        <p14:creationId xmlns:p14="http://schemas.microsoft.com/office/powerpoint/2010/main" val="3145876545"/>
      </p:ext>
    </p:extLst>
  </p:cSld>
  <p:clrMapOvr>
    <a:masterClrMapping/>
  </p:clrMapOvr>
  <p:transition>
    <p:cover dir="l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Null Foreign Keys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idx="1"/>
          </p:nvPr>
        </p:nvSpPr>
        <p:spPr>
          <a:xfrm>
            <a:off x="2135188" y="1052514"/>
            <a:ext cx="8388350" cy="5089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 The RDBMS will now generate an </a:t>
            </a:r>
            <a:r>
              <a:rPr lang="en-AU" sz="2000" b="1" dirty="0"/>
              <a:t>error</a:t>
            </a:r>
            <a:r>
              <a:rPr lang="en-AU" sz="2000" dirty="0"/>
              <a:t> if you attempt to </a:t>
            </a:r>
            <a:br>
              <a:rPr lang="en-AU" sz="2000" dirty="0"/>
            </a:br>
            <a:r>
              <a:rPr lang="en-AU" sz="2000" dirty="0"/>
              <a:t>  insert a row that breaks the </a:t>
            </a:r>
            <a:r>
              <a:rPr lang="en-AU" sz="2000" b="1" dirty="0"/>
              <a:t>Not Null constraint</a:t>
            </a:r>
          </a:p>
          <a:p>
            <a:pPr marL="180975" indent="-180975"/>
            <a:endParaRPr lang="en-AU" sz="2000" dirty="0"/>
          </a:p>
          <a:p>
            <a:pPr marL="809625" lvl="1" indent="-182563">
              <a:buNone/>
            </a:pPr>
            <a:endParaRPr lang="en-AU" sz="1000" dirty="0"/>
          </a:p>
          <a:p>
            <a:pPr marL="180975" indent="-180975"/>
            <a:endParaRPr lang="en-AU" sz="1000" dirty="0"/>
          </a:p>
          <a:p>
            <a:pPr marL="180975" indent="-180975">
              <a:buNone/>
            </a:pPr>
            <a:r>
              <a:rPr lang="en-AU" sz="2000" dirty="0"/>
              <a:t> </a:t>
            </a:r>
            <a:r>
              <a:rPr lang="en-AU" sz="2000" b="1" dirty="0">
                <a:solidFill>
                  <a:srgbClr val="009900"/>
                </a:solidFill>
              </a:rPr>
              <a:t>INSERT INTO  SUBJECT ( </a:t>
            </a:r>
            <a:r>
              <a:rPr lang="en-AU" sz="2000" b="1" dirty="0" err="1">
                <a:solidFill>
                  <a:srgbClr val="009900"/>
                </a:solidFill>
              </a:rPr>
              <a:t>SubjectCode</a:t>
            </a:r>
            <a:r>
              <a:rPr lang="en-AU" sz="2000" b="1" dirty="0">
                <a:solidFill>
                  <a:srgbClr val="009900"/>
                </a:solidFill>
              </a:rPr>
              <a:t>,  Title , </a:t>
            </a:r>
            <a:r>
              <a:rPr lang="en-AU" sz="2000" b="1" dirty="0" err="1">
                <a:solidFill>
                  <a:srgbClr val="009900"/>
                </a:solidFill>
              </a:rPr>
              <a:t>CreditPoints</a:t>
            </a:r>
            <a:r>
              <a:rPr lang="en-AU" sz="2000" b="1" dirty="0">
                <a:solidFill>
                  <a:srgbClr val="009900"/>
                </a:solidFill>
              </a:rPr>
              <a:t>,  </a:t>
            </a:r>
            <a:r>
              <a:rPr lang="en-AU" sz="2000" b="1" dirty="0" err="1">
                <a:solidFill>
                  <a:srgbClr val="009900"/>
                </a:solidFill>
              </a:rPr>
              <a:t>LecId</a:t>
            </a:r>
            <a:r>
              <a:rPr lang="en-AU" sz="2000" b="1" dirty="0">
                <a:solidFill>
                  <a:srgbClr val="009900"/>
                </a:solidFill>
              </a:rPr>
              <a:t> ) </a:t>
            </a:r>
          </a:p>
          <a:p>
            <a:pPr marL="1531938" lvl="2" indent="-457200">
              <a:buNone/>
            </a:pPr>
            <a:r>
              <a:rPr lang="en-AU" sz="2000" b="1" dirty="0">
                <a:solidFill>
                  <a:srgbClr val="009900"/>
                </a:solidFill>
              </a:rPr>
              <a:t>VALUES ('INF21009',  'Advanced Facebook',  12.5,   </a:t>
            </a:r>
            <a:r>
              <a:rPr lang="en-AU" sz="2000" b="1" dirty="0">
                <a:solidFill>
                  <a:schemeClr val="accent2"/>
                </a:solidFill>
              </a:rPr>
              <a:t>Null</a:t>
            </a:r>
            <a:r>
              <a:rPr lang="en-AU" sz="2000" b="1" dirty="0">
                <a:solidFill>
                  <a:srgbClr val="009900"/>
                </a:solidFill>
              </a:rPr>
              <a:t>) ;</a:t>
            </a:r>
          </a:p>
          <a:p>
            <a:pPr marL="1531938" lvl="2" indent="-457200">
              <a:buNone/>
            </a:pPr>
            <a:endParaRPr lang="en-AU" sz="2000" dirty="0"/>
          </a:p>
        </p:txBody>
      </p:sp>
      <p:sp>
        <p:nvSpPr>
          <p:cNvPr id="146486" name="Rectangle 54"/>
          <p:cNvSpPr>
            <a:spLocks noChangeArrowheads="1"/>
          </p:cNvSpPr>
          <p:nvPr/>
        </p:nvSpPr>
        <p:spPr bwMode="auto">
          <a:xfrm>
            <a:off x="2351089" y="3928544"/>
            <a:ext cx="5965031" cy="4487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US" dirty="0">
                <a:solidFill>
                  <a:srgbClr val="0C64A7"/>
                </a:solidFill>
                <a:latin typeface="Calibri"/>
              </a:rPr>
              <a:t>Error at line 1:</a:t>
            </a:r>
            <a:br>
              <a:rPr lang="en-US" dirty="0">
                <a:solidFill>
                  <a:srgbClr val="0C64A7"/>
                </a:solidFill>
                <a:latin typeface="Calibri"/>
              </a:rPr>
            </a:br>
            <a:r>
              <a:rPr lang="en-US" dirty="0">
                <a:solidFill>
                  <a:srgbClr val="0C64A7"/>
                </a:solidFill>
                <a:latin typeface="Calibri"/>
              </a:rPr>
              <a:t>ORA-01400: cannot insert NULL into (s1234567.SUBJECT.LECID) </a:t>
            </a:r>
          </a:p>
        </p:txBody>
      </p:sp>
      <p:sp>
        <p:nvSpPr>
          <p:cNvPr id="146488" name="Oval 56"/>
          <p:cNvSpPr>
            <a:spLocks noChangeArrowheads="1"/>
          </p:cNvSpPr>
          <p:nvPr/>
        </p:nvSpPr>
        <p:spPr bwMode="auto">
          <a:xfrm>
            <a:off x="8539791" y="2739783"/>
            <a:ext cx="936625" cy="647700"/>
          </a:xfrm>
          <a:prstGeom prst="ellipse">
            <a:avLst/>
          </a:prstGeom>
          <a:noFill/>
          <a:ln w="952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7804182"/>
      </p:ext>
    </p:extLst>
  </p:cSld>
  <p:clrMapOvr>
    <a:masterClrMapping/>
  </p:clrMapOvr>
  <p:transition>
    <p:cover dir="l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Null Constraints</a:t>
            </a:r>
          </a:p>
        </p:txBody>
      </p:sp>
      <p:sp>
        <p:nvSpPr>
          <p:cNvPr id="147460" name="Rectangle 4"/>
          <p:cNvSpPr>
            <a:spLocks noGrp="1" noChangeArrowheads="1"/>
          </p:cNvSpPr>
          <p:nvPr>
            <p:ph idx="1"/>
          </p:nvPr>
        </p:nvSpPr>
        <p:spPr>
          <a:xfrm>
            <a:off x="2208214" y="774700"/>
            <a:ext cx="8315325" cy="5317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 </a:t>
            </a:r>
            <a:r>
              <a:rPr lang="en-AU" sz="2000" b="1" dirty="0"/>
              <a:t>Many</a:t>
            </a:r>
            <a:r>
              <a:rPr lang="en-AU" sz="2000" dirty="0"/>
              <a:t> columns in a table may have</a:t>
            </a:r>
            <a:r>
              <a:rPr lang="en-AU" sz="2000" b="1" dirty="0"/>
              <a:t> Not Null</a:t>
            </a:r>
            <a:r>
              <a:rPr lang="en-AU" sz="2000" dirty="0"/>
              <a:t> constraints</a:t>
            </a:r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 marL="180975" indent="-180975"/>
            <a:endParaRPr lang="en-AU" sz="2000" dirty="0"/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000" b="1" dirty="0"/>
              <a:t>Three columns</a:t>
            </a:r>
            <a:r>
              <a:rPr lang="en-AU" sz="2000" dirty="0"/>
              <a:t> in this table will generate an </a:t>
            </a:r>
            <a:r>
              <a:rPr lang="en-AU" sz="2000" b="1" dirty="0"/>
              <a:t>error</a:t>
            </a:r>
            <a:r>
              <a:rPr lang="en-AU" sz="2000" dirty="0"/>
              <a:t> if a Null is entered</a:t>
            </a:r>
          </a:p>
          <a:p>
            <a:pPr marL="969962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NOTE: The </a:t>
            </a:r>
            <a:r>
              <a:rPr lang="en-AU" sz="2000" b="1" dirty="0"/>
              <a:t>Primary Key</a:t>
            </a:r>
            <a:r>
              <a:rPr lang="en-AU" sz="2000" dirty="0"/>
              <a:t> does </a:t>
            </a:r>
            <a:r>
              <a:rPr lang="en-AU" sz="2000" b="1" dirty="0"/>
              <a:t>not</a:t>
            </a:r>
            <a:r>
              <a:rPr lang="en-AU" sz="2000" dirty="0"/>
              <a:t> require a Not Null constraint</a:t>
            </a:r>
          </a:p>
          <a:p>
            <a:pPr marL="969962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Primary Keys values cannot be null</a:t>
            </a:r>
          </a:p>
          <a:p>
            <a:pPr marL="809625" lvl="1" indent="-182563"/>
            <a:endParaRPr lang="en-AU" sz="2000" dirty="0"/>
          </a:p>
          <a:p>
            <a:pPr marL="180975" indent="-180975"/>
            <a:endParaRPr lang="en-AU" sz="2000" dirty="0"/>
          </a:p>
          <a:p>
            <a:pPr marL="1531938" lvl="2" indent="-457200">
              <a:buNone/>
            </a:pPr>
            <a:endParaRPr lang="en-AU" sz="2000" dirty="0"/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2424114" y="1412875"/>
            <a:ext cx="6840537" cy="1938992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457200"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000FF"/>
                </a:solidFill>
                <a:latin typeface="Calibri"/>
              </a:rPr>
              <a:t>Create Table SUBJECT              (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dirty="0" err="1">
                <a:solidFill>
                  <a:srgbClr val="0000FF"/>
                </a:solidFill>
                <a:latin typeface="Calibri"/>
              </a:rPr>
              <a:t>SubjectCode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	varchar(10)     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dirty="0">
                <a:solidFill>
                  <a:srgbClr val="0000FF"/>
                </a:solidFill>
                <a:latin typeface="Calibri"/>
              </a:rPr>
              <a:t>Title     	varchar(100)      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Not Null 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dirty="0" err="1">
                <a:solidFill>
                  <a:srgbClr val="0000FF"/>
                </a:solidFill>
                <a:latin typeface="Calibri"/>
              </a:rPr>
              <a:t>CreditPoints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	Number           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             	Number              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Not Null 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dirty="0">
                <a:solidFill>
                  <a:srgbClr val="0000FF"/>
                </a:solidFill>
                <a:latin typeface="Calibri"/>
              </a:rPr>
              <a:t>Primary Key	(</a:t>
            </a:r>
            <a:r>
              <a:rPr lang="en-AU" dirty="0" err="1">
                <a:solidFill>
                  <a:srgbClr val="0000FF"/>
                </a:solidFill>
                <a:latin typeface="Calibri"/>
              </a:rPr>
              <a:t>SubjectCode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)   ,</a:t>
            </a:r>
          </a:p>
          <a:p>
            <a:pPr marL="179388" lvl="1" defTabSz="457200">
              <a:buClr>
                <a:srgbClr val="D1161E"/>
              </a:buClr>
              <a:buSzPct val="85000"/>
              <a:tabLst>
                <a:tab pos="2243138" algn="l"/>
              </a:tabLst>
            </a:pPr>
            <a:r>
              <a:rPr lang="en-AU" dirty="0">
                <a:solidFill>
                  <a:srgbClr val="0000FF"/>
                </a:solidFill>
                <a:latin typeface="Calibri"/>
              </a:rPr>
              <a:t>Foreign Key   	(</a:t>
            </a:r>
            <a:r>
              <a:rPr lang="en-AU" dirty="0" err="1">
                <a:solidFill>
                  <a:srgbClr val="0000FF"/>
                </a:solidFill>
                <a:latin typeface="Calibri"/>
              </a:rPr>
              <a:t>LecId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)   References LECTURER      ) ;</a:t>
            </a:r>
          </a:p>
        </p:txBody>
      </p:sp>
    </p:spTree>
    <p:extLst>
      <p:ext uri="{BB962C8B-B14F-4D97-AF65-F5344CB8AC3E}">
        <p14:creationId xmlns:p14="http://schemas.microsoft.com/office/powerpoint/2010/main" val="3856469785"/>
      </p:ext>
    </p:extLst>
  </p:cSld>
  <p:clrMapOvr>
    <a:masterClrMapping/>
  </p:clrMapOvr>
  <p:transition>
    <p:cover dir="l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Participation constraints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idx="1"/>
          </p:nvPr>
        </p:nvSpPr>
        <p:spPr>
          <a:xfrm>
            <a:off x="2208214" y="774700"/>
            <a:ext cx="8315325" cy="5367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dirty="0"/>
              <a:t> ERDs have </a:t>
            </a:r>
            <a:r>
              <a:rPr lang="en-AU" sz="2000" b="1" dirty="0"/>
              <a:t>participation constraints</a:t>
            </a:r>
          </a:p>
          <a:p>
            <a:pPr marL="512762" indent="-342900">
              <a:buFont typeface="Arial" panose="020B0604020202020204" pitchFamily="34" charset="0"/>
              <a:buChar char="•"/>
            </a:pPr>
            <a:r>
              <a:rPr lang="en-AU" sz="2000" dirty="0"/>
              <a:t>This a similar notion to database Not Null constraints</a:t>
            </a:r>
          </a:p>
          <a:p>
            <a:pPr marL="969962" lvl="1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512762" indent="-342900">
              <a:buFont typeface="Arial" panose="020B0604020202020204" pitchFamily="34" charset="0"/>
              <a:buChar char="•"/>
            </a:pPr>
            <a:r>
              <a:rPr lang="en-AU" sz="2000" dirty="0"/>
              <a:t>The participation constraint is </a:t>
            </a:r>
            <a:r>
              <a:rPr lang="en-AU" sz="2000" b="1" dirty="0"/>
              <a:t>drawn on the relationship</a:t>
            </a:r>
            <a:r>
              <a:rPr lang="en-AU" sz="2000" dirty="0"/>
              <a:t> line between two entities</a:t>
            </a:r>
          </a:p>
          <a:p>
            <a:pPr marL="969962" lvl="1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512762" indent="-342900">
              <a:buFont typeface="Arial" panose="020B0604020202020204" pitchFamily="34" charset="0"/>
              <a:buChar char="•"/>
            </a:pPr>
            <a:r>
              <a:rPr lang="en-AU" sz="2000" dirty="0"/>
              <a:t>A single line  </a:t>
            </a:r>
            <a:r>
              <a:rPr lang="en-US" sz="4000" dirty="0">
                <a:solidFill>
                  <a:srgbClr val="009900"/>
                </a:solidFill>
              </a:rPr>
              <a:t>|</a:t>
            </a:r>
            <a:r>
              <a:rPr lang="en-AU" sz="2000" dirty="0"/>
              <a:t>   indicates that participation is </a:t>
            </a:r>
            <a:r>
              <a:rPr lang="en-AU" sz="2000" b="1" dirty="0"/>
              <a:t>MUST</a:t>
            </a:r>
          </a:p>
          <a:p>
            <a:pPr marL="97631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A subject </a:t>
            </a:r>
            <a:r>
              <a:rPr lang="en-AU" sz="2000" b="1" dirty="0"/>
              <a:t>must</a:t>
            </a:r>
            <a:r>
              <a:rPr lang="en-AU" sz="2000" dirty="0"/>
              <a:t> be convened by a lecturer</a:t>
            </a:r>
          </a:p>
          <a:p>
            <a:pPr marL="97631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Participation is </a:t>
            </a:r>
            <a:r>
              <a:rPr lang="en-AU" sz="2000" b="1" dirty="0"/>
              <a:t>mandatory</a:t>
            </a:r>
          </a:p>
          <a:p>
            <a:pPr marL="1531938" lvl="2" indent="-4572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969962" lvl="1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512762" indent="-342900">
              <a:buFont typeface="Arial" panose="020B0604020202020204" pitchFamily="34" charset="0"/>
              <a:buChar char="•"/>
            </a:pPr>
            <a:r>
              <a:rPr lang="en-AU" sz="2000" dirty="0"/>
              <a:t>A circle  </a:t>
            </a:r>
            <a:r>
              <a:rPr lang="en-US" sz="4000" dirty="0">
                <a:solidFill>
                  <a:srgbClr val="009900"/>
                </a:solidFill>
                <a:sym typeface="Wingdings" pitchFamily="2" charset="2"/>
              </a:rPr>
              <a:t></a:t>
            </a:r>
            <a:r>
              <a:rPr lang="en-AU" sz="2000" dirty="0"/>
              <a:t>   indicates that participation is </a:t>
            </a:r>
            <a:r>
              <a:rPr lang="en-AU" sz="2000" b="1" dirty="0"/>
              <a:t>MAY</a:t>
            </a:r>
          </a:p>
          <a:p>
            <a:pPr marL="97631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A subject </a:t>
            </a:r>
            <a:r>
              <a:rPr lang="en-AU" sz="2000" b="1" dirty="0"/>
              <a:t>may</a:t>
            </a:r>
            <a:r>
              <a:rPr lang="en-AU" sz="2000" dirty="0"/>
              <a:t> be convened by a lecturer</a:t>
            </a:r>
          </a:p>
          <a:p>
            <a:pPr marL="97631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Participation is </a:t>
            </a:r>
            <a:r>
              <a:rPr lang="en-AU" sz="2000" b="1" dirty="0"/>
              <a:t>optional</a:t>
            </a:r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/>
        </p:nvGraphicFramePr>
        <p:xfrm>
          <a:off x="7104064" y="4005263"/>
          <a:ext cx="30956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49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85" t="40854" r="58040" b="47289"/>
                      <a:stretch>
                        <a:fillRect/>
                      </a:stretch>
                    </p:blipFill>
                    <p:spPr bwMode="auto">
                      <a:xfrm>
                        <a:off x="7104064" y="4005263"/>
                        <a:ext cx="30956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/>
        </p:nvGraphicFramePr>
        <p:xfrm>
          <a:off x="7175501" y="6021388"/>
          <a:ext cx="30956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331595" imgH="3660526" progId="Visio.Drawing.11">
                  <p:embed/>
                </p:oleObj>
              </mc:Choice>
              <mc:Fallback>
                <p:oleObj name="Visio" r:id="rId4" imgW="8331595" imgH="3660526" progId="Visio.Drawing.11">
                  <p:embed/>
                  <p:pic>
                    <p:nvPicPr>
                      <p:cNvPr id="149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85" t="40854" r="58040" b="47289"/>
                      <a:stretch>
                        <a:fillRect/>
                      </a:stretch>
                    </p:blipFill>
                    <p:spPr bwMode="auto">
                      <a:xfrm>
                        <a:off x="7175501" y="6021388"/>
                        <a:ext cx="30956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9515390"/>
      </p:ext>
    </p:extLst>
  </p:cSld>
  <p:clrMapOvr>
    <a:masterClrMapping/>
  </p:clrMapOvr>
  <p:transition>
    <p:cover dir="l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Participation constraints</a:t>
            </a:r>
          </a:p>
        </p:txBody>
      </p:sp>
      <p:sp>
        <p:nvSpPr>
          <p:cNvPr id="148484" name="Rectangle 4"/>
          <p:cNvSpPr>
            <a:spLocks noGrp="1" noChangeArrowheads="1"/>
          </p:cNvSpPr>
          <p:nvPr>
            <p:ph idx="1"/>
          </p:nvPr>
        </p:nvSpPr>
        <p:spPr>
          <a:xfrm>
            <a:off x="2208214" y="774700"/>
            <a:ext cx="8315325" cy="5367338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/>
              <a:t> Participation Examples</a:t>
            </a:r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One Subject </a:t>
            </a:r>
            <a:r>
              <a:rPr lang="en-AU" sz="2000" b="1" dirty="0"/>
              <a:t>must</a:t>
            </a:r>
            <a:r>
              <a:rPr lang="en-AU" sz="2000" dirty="0"/>
              <a:t> be Convened by One Lecturer</a:t>
            </a:r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084263" lvl="1" indent="-457200"/>
            <a:endParaRPr lang="en-AU" sz="2000" dirty="0"/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One Subject </a:t>
            </a:r>
            <a:r>
              <a:rPr lang="en-AU" sz="2000" b="1" dirty="0"/>
              <a:t>may be</a:t>
            </a:r>
            <a:r>
              <a:rPr lang="en-AU" sz="2000" dirty="0"/>
              <a:t> Convened by One Lecturer</a:t>
            </a:r>
          </a:p>
          <a:p>
            <a:pPr marL="457200" indent="-457200"/>
            <a:endParaRPr lang="en-AU" dirty="0"/>
          </a:p>
          <a:p>
            <a:pPr marL="457200" indent="-457200"/>
            <a:endParaRPr lang="en-AU" dirty="0"/>
          </a:p>
        </p:txBody>
      </p:sp>
      <p:graphicFrame>
        <p:nvGraphicFramePr>
          <p:cNvPr id="148486" name="Object 6"/>
          <p:cNvGraphicFramePr>
            <a:graphicFrameLocks noChangeAspect="1"/>
          </p:cNvGraphicFramePr>
          <p:nvPr/>
        </p:nvGraphicFramePr>
        <p:xfrm>
          <a:off x="2927350" y="1700213"/>
          <a:ext cx="6337300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48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5593" r="44476" b="38278"/>
                      <a:stretch>
                        <a:fillRect/>
                      </a:stretch>
                    </p:blipFill>
                    <p:spPr bwMode="auto">
                      <a:xfrm>
                        <a:off x="2927350" y="1700213"/>
                        <a:ext cx="6337300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7" name="Object 7"/>
          <p:cNvGraphicFramePr>
            <a:graphicFrameLocks noChangeAspect="1"/>
          </p:cNvGraphicFramePr>
          <p:nvPr/>
        </p:nvGraphicFramePr>
        <p:xfrm>
          <a:off x="3143250" y="4797426"/>
          <a:ext cx="6337300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331595" imgH="3660526" progId="Visio.Drawing.11">
                  <p:embed/>
                </p:oleObj>
              </mc:Choice>
              <mc:Fallback>
                <p:oleObj name="Visio" r:id="rId4" imgW="8331595" imgH="3660526" progId="Visio.Drawing.11">
                  <p:embed/>
                  <p:pic>
                    <p:nvPicPr>
                      <p:cNvPr id="148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5593" r="44476" b="38278"/>
                      <a:stretch>
                        <a:fillRect/>
                      </a:stretch>
                    </p:blipFill>
                    <p:spPr bwMode="auto">
                      <a:xfrm>
                        <a:off x="3143250" y="4797426"/>
                        <a:ext cx="6337300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8" name="Line 8"/>
          <p:cNvSpPr>
            <a:spLocks noChangeShapeType="1"/>
          </p:cNvSpPr>
          <p:nvPr/>
        </p:nvSpPr>
        <p:spPr bwMode="auto">
          <a:xfrm>
            <a:off x="6888163" y="1700213"/>
            <a:ext cx="144462" cy="3603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48489" name="Line 9"/>
          <p:cNvSpPr>
            <a:spLocks noChangeShapeType="1"/>
          </p:cNvSpPr>
          <p:nvPr/>
        </p:nvSpPr>
        <p:spPr bwMode="auto">
          <a:xfrm>
            <a:off x="7032626" y="4868863"/>
            <a:ext cx="144463" cy="3603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4970814"/>
      </p:ext>
    </p:extLst>
  </p:cSld>
  <p:clrMapOvr>
    <a:masterClrMapping/>
  </p:clrMapOvr>
  <p:transition>
    <p:cover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Cardinality &amp; Participation constraints</a:t>
            </a:r>
          </a:p>
        </p:txBody>
      </p:sp>
      <p:sp>
        <p:nvSpPr>
          <p:cNvPr id="150532" name="Rectangle 4"/>
          <p:cNvSpPr>
            <a:spLocks noGrp="1" noChangeArrowheads="1"/>
          </p:cNvSpPr>
          <p:nvPr>
            <p:ph idx="1"/>
          </p:nvPr>
        </p:nvSpPr>
        <p:spPr>
          <a:xfrm>
            <a:off x="2208214" y="774700"/>
            <a:ext cx="8315325" cy="5367338"/>
          </a:xfrm>
          <a:noFill/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</a:t>
            </a:r>
            <a:r>
              <a:rPr lang="en-AU" sz="2000" b="1" dirty="0"/>
              <a:t>Cardinality</a:t>
            </a:r>
            <a:r>
              <a:rPr lang="en-AU" sz="2000" dirty="0"/>
              <a:t> constraints are </a:t>
            </a:r>
            <a:r>
              <a:rPr lang="en-AU" sz="2000" b="1" dirty="0"/>
              <a:t>vital</a:t>
            </a:r>
            <a:r>
              <a:rPr lang="en-AU" sz="2000" dirty="0"/>
              <a:t> to an ERD</a:t>
            </a:r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They determine the number of tables that will be </a:t>
            </a:r>
            <a:br>
              <a:rPr lang="en-AU" sz="2000" dirty="0"/>
            </a:br>
            <a:r>
              <a:rPr lang="en-AU" sz="2000" dirty="0"/>
              <a:t>developed in your database</a:t>
            </a:r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1531938" lvl="2" indent="-457200"/>
            <a:endParaRPr lang="en-AU" sz="2000" dirty="0"/>
          </a:p>
          <a:p>
            <a:pPr marL="457200" indent="-457200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/>
              <a:t>Participation</a:t>
            </a:r>
            <a:r>
              <a:rPr lang="en-AU" sz="2000" dirty="0"/>
              <a:t> constraints are </a:t>
            </a:r>
            <a:r>
              <a:rPr lang="en-AU" sz="2000" b="1" dirty="0"/>
              <a:t>less important</a:t>
            </a:r>
            <a:r>
              <a:rPr lang="en-AU" sz="2000" dirty="0"/>
              <a:t> in an ERD</a:t>
            </a:r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They </a:t>
            </a:r>
            <a:r>
              <a:rPr lang="en-AU" sz="2000" b="1" dirty="0"/>
              <a:t>do not</a:t>
            </a:r>
            <a:r>
              <a:rPr lang="en-AU" sz="2000" dirty="0"/>
              <a:t> affect the </a:t>
            </a:r>
            <a:r>
              <a:rPr lang="en-AU" sz="2000" b="1" dirty="0"/>
              <a:t>number</a:t>
            </a:r>
            <a:r>
              <a:rPr lang="en-AU" sz="2000" dirty="0"/>
              <a:t> of tables or columns that will exist in your database</a:t>
            </a:r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sz="2000" b="1" dirty="0"/>
              <a:t>Participation</a:t>
            </a:r>
            <a:r>
              <a:rPr lang="en-AU" sz="2000" dirty="0"/>
              <a:t> simply specifies whether </a:t>
            </a:r>
            <a:r>
              <a:rPr lang="en-AU" sz="2000" b="1" dirty="0"/>
              <a:t>Not Null constraints</a:t>
            </a:r>
            <a:br>
              <a:rPr lang="en-AU" sz="2000" b="1" dirty="0"/>
            </a:br>
            <a:r>
              <a:rPr lang="en-AU" sz="2000" dirty="0"/>
              <a:t>are required in tables when the database is implemented. </a:t>
            </a:r>
          </a:p>
          <a:p>
            <a:pPr marL="457200" indent="-457200"/>
            <a:endParaRPr lang="en-AU" sz="2000" dirty="0"/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3143250" y="2205038"/>
          <a:ext cx="6337300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50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5593" r="44476" b="38278"/>
                      <a:stretch>
                        <a:fillRect/>
                      </a:stretch>
                    </p:blipFill>
                    <p:spPr bwMode="auto">
                      <a:xfrm>
                        <a:off x="3143250" y="2205038"/>
                        <a:ext cx="6337300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7914268"/>
      </p:ext>
    </p:extLst>
  </p:cSld>
  <p:clrMapOvr>
    <a:masterClrMapping/>
  </p:clrMapOvr>
  <p:transition>
    <p:cover dir="l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1533525" y="5953126"/>
            <a:ext cx="1885950" cy="904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05792"/>
            <a:ext cx="8229600" cy="1058799"/>
          </a:xfrm>
        </p:spPr>
        <p:txBody>
          <a:bodyPr anchor="t">
            <a:normAutofit/>
          </a:bodyPr>
          <a:lstStyle/>
          <a:p>
            <a:pPr marL="685800" indent="-685800"/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Cardinality &amp; Participation constraints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idx="1"/>
          </p:nvPr>
        </p:nvSpPr>
        <p:spPr>
          <a:xfrm>
            <a:off x="2208214" y="774700"/>
            <a:ext cx="8374727" cy="570052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Generally, the </a:t>
            </a:r>
            <a:r>
              <a:rPr lang="en-AU" sz="2000" b="1" dirty="0"/>
              <a:t>Many</a:t>
            </a:r>
            <a:r>
              <a:rPr lang="en-AU" sz="2000" dirty="0"/>
              <a:t> end of a relationship has optional participation.  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e.g. The parent MAY have many children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It is recommended that you </a:t>
            </a:r>
            <a:r>
              <a:rPr lang="en-AU" sz="2000" b="1" dirty="0"/>
              <a:t>always</a:t>
            </a:r>
            <a:r>
              <a:rPr lang="en-AU" sz="2000" dirty="0"/>
              <a:t> draw </a:t>
            </a:r>
            <a:r>
              <a:rPr lang="en-AU" sz="2000" b="1" dirty="0"/>
              <a:t>optional</a:t>
            </a:r>
            <a:r>
              <a:rPr lang="en-AU" sz="2000" dirty="0"/>
              <a:t> participation at the </a:t>
            </a:r>
            <a:r>
              <a:rPr lang="en-AU" sz="2000" b="1" dirty="0"/>
              <a:t>many</a:t>
            </a:r>
            <a:r>
              <a:rPr lang="en-AU" sz="2000" dirty="0"/>
              <a:t> end</a:t>
            </a:r>
          </a:p>
          <a:p>
            <a:pPr marL="1531938" lvl="2" indent="-4572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1531938" lvl="2" indent="-4572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1531938" lvl="2" indent="-4572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1531938" lvl="2" indent="-4572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1531938" lvl="2" indent="-45720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Mandatory participation at both ends causes database </a:t>
            </a: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dilemmas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Imagine if your ERD said that </a:t>
            </a:r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"A Child must have a Parent and a Parent must have a Child"</a:t>
            </a:r>
          </a:p>
          <a:p>
            <a:pPr marL="1084263" lvl="1" indent="-45720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How can data be inserted?</a:t>
            </a:r>
          </a:p>
          <a:p>
            <a:pPr marL="1531938" lvl="2" indent="-45720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A parent cannot be added as it </a:t>
            </a: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must</a:t>
            </a: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 already have a child !</a:t>
            </a:r>
          </a:p>
          <a:p>
            <a:pPr marL="1531938" lvl="2" indent="-45720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A child cannot be added as it </a:t>
            </a: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must</a:t>
            </a: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 already have a parent !</a:t>
            </a:r>
          </a:p>
          <a:p>
            <a:pPr marL="519113" indent="-45720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Database developers sometimes switch off such constraints when loading</a:t>
            </a:r>
            <a:br>
              <a:rPr lang="en-AU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a database with initial data and then switch on the constraints from</a:t>
            </a:r>
            <a:br>
              <a:rPr lang="en-AU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that point onwards. Not recommended for day-to-day operations.</a:t>
            </a:r>
          </a:p>
        </p:txBody>
      </p:sp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3575050" y="2349501"/>
          <a:ext cx="6337300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51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5593" r="44476" b="38278"/>
                      <a:stretch>
                        <a:fillRect/>
                      </a:stretch>
                    </p:blipFill>
                    <p:spPr bwMode="auto">
                      <a:xfrm>
                        <a:off x="3575050" y="2349501"/>
                        <a:ext cx="6337300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/>
          <p:cNvGraphicFramePr>
            <a:graphicFrameLocks noChangeAspect="1"/>
          </p:cNvGraphicFramePr>
          <p:nvPr/>
        </p:nvGraphicFramePr>
        <p:xfrm>
          <a:off x="5632229" y="4229584"/>
          <a:ext cx="2879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331595" imgH="3660526" progId="Visio.Drawing.11">
                  <p:embed/>
                </p:oleObj>
              </mc:Choice>
              <mc:Fallback>
                <p:oleObj name="Visio" r:id="rId4" imgW="8331595" imgH="3660526" progId="Visio.Drawing.11">
                  <p:embed/>
                  <p:pic>
                    <p:nvPicPr>
                      <p:cNvPr id="151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110" t="43527" r="59262" b="48567"/>
                      <a:stretch>
                        <a:fillRect/>
                      </a:stretch>
                    </p:blipFill>
                    <p:spPr bwMode="auto">
                      <a:xfrm>
                        <a:off x="5632229" y="4229584"/>
                        <a:ext cx="28797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9" name="Line 7"/>
          <p:cNvSpPr>
            <a:spLocks noChangeShapeType="1"/>
          </p:cNvSpPr>
          <p:nvPr/>
        </p:nvSpPr>
        <p:spPr bwMode="auto">
          <a:xfrm flipH="1">
            <a:off x="5880100" y="2420938"/>
            <a:ext cx="71438" cy="3603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1389677"/>
      </p:ext>
    </p:extLst>
  </p:cSld>
  <p:clrMapOvr>
    <a:masterClrMapping/>
  </p:clrMapOvr>
  <p:transition>
    <p:cover dir="l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</a:t>
            </a:r>
            <a:r>
              <a:rPr lang="en-US" dirty="0">
                <a:solidFill>
                  <a:srgbClr val="D1161E"/>
                </a:solidFill>
                <a:latin typeface="Calibri" panose="020F0502020204030204" pitchFamily="34" charset="0"/>
              </a:rPr>
              <a:t>Calculations &amp; t</a:t>
            </a:r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he Select clause</a:t>
            </a:r>
          </a:p>
        </p:txBody>
      </p:sp>
      <p:sp>
        <p:nvSpPr>
          <p:cNvPr id="1751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60614" y="836614"/>
            <a:ext cx="8307387" cy="51768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The </a:t>
            </a:r>
            <a:r>
              <a:rPr lang="en-AU" b="1" dirty="0"/>
              <a:t>Select clause</a:t>
            </a:r>
            <a:r>
              <a:rPr lang="en-AU" dirty="0"/>
              <a:t> can include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	Column names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	</a:t>
            </a:r>
            <a:r>
              <a:rPr lang="en-AU" b="1" dirty="0"/>
              <a:t>Expressions or calculations</a:t>
            </a:r>
          </a:p>
          <a:p>
            <a:pPr lvl="1">
              <a:buFont typeface="Arial Narrow" pitchFamily="34" charset="0"/>
              <a:buNone/>
            </a:pPr>
            <a:endParaRPr lang="en-AU" dirty="0"/>
          </a:p>
          <a:p>
            <a:pPr marL="342900" indent="-342900">
              <a:buNone/>
            </a:pPr>
            <a:r>
              <a:rPr lang="en-AU" dirty="0"/>
              <a:t>Example with a calculation: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33CC"/>
                </a:solidFill>
              </a:rPr>
              <a:t>SELECT 	Name,  Test1,   Test2,   Test1+Test2 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33CC"/>
                </a:solidFill>
              </a:rPr>
              <a:t>FROM 	</a:t>
            </a:r>
            <a:r>
              <a:rPr lang="en-AU" b="1" dirty="0" err="1">
                <a:solidFill>
                  <a:srgbClr val="0033CC"/>
                </a:solidFill>
              </a:rPr>
              <a:t>StudentResults</a:t>
            </a:r>
            <a:endParaRPr lang="en-AU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1400" dirty="0"/>
          </a:p>
          <a:p>
            <a:pPr lvl="1">
              <a:buFont typeface="Arial Narrow" pitchFamily="34" charset="0"/>
              <a:buNone/>
            </a:pPr>
            <a:endParaRPr lang="en-AU" sz="1400" dirty="0"/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33CC"/>
                </a:solidFill>
              </a:rPr>
              <a:t>SELECT 	    Name,  Test1,   Test2,   Test1+Test2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33CC"/>
                </a:solidFill>
              </a:rPr>
              <a:t>FROM 	    </a:t>
            </a:r>
            <a:r>
              <a:rPr lang="en-AU" b="1" dirty="0" err="1">
                <a:solidFill>
                  <a:srgbClr val="0033CC"/>
                </a:solidFill>
              </a:rPr>
              <a:t>StudentResults</a:t>
            </a:r>
            <a:endParaRPr lang="en-AU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33CC"/>
                </a:solidFill>
              </a:rPr>
              <a:t>ORDER BY    4 </a:t>
            </a:r>
            <a:r>
              <a:rPr lang="en-AU" b="1" dirty="0" err="1">
                <a:solidFill>
                  <a:srgbClr val="0033CC"/>
                </a:solidFill>
              </a:rPr>
              <a:t>DESC</a:t>
            </a:r>
            <a:r>
              <a:rPr lang="en-AU" b="1" dirty="0">
                <a:solidFill>
                  <a:srgbClr val="0033CC"/>
                </a:solidFill>
              </a:rPr>
              <a:t>;</a:t>
            </a:r>
          </a:p>
        </p:txBody>
      </p:sp>
      <p:graphicFrame>
        <p:nvGraphicFramePr>
          <p:cNvPr id="175177" name="Group 73"/>
          <p:cNvGraphicFramePr>
            <a:graphicFrameLocks noGrp="1"/>
          </p:cNvGraphicFramePr>
          <p:nvPr/>
        </p:nvGraphicFramePr>
        <p:xfrm>
          <a:off x="7824787" y="3095626"/>
          <a:ext cx="2662237" cy="927545"/>
        </p:xfrm>
        <a:graphic>
          <a:graphicData uri="http://schemas.openxmlformats.org/drawingml/2006/table">
            <a:tbl>
              <a:tblPr/>
              <a:tblGrid>
                <a:gridCol w="661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Test1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Test2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Test1+Test2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Ted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Sue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Emma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200" name="Line 96"/>
          <p:cNvSpPr>
            <a:spLocks noChangeShapeType="1"/>
          </p:cNvSpPr>
          <p:nvPr/>
        </p:nvSpPr>
        <p:spPr bwMode="auto">
          <a:xfrm>
            <a:off x="1774824" y="4308475"/>
            <a:ext cx="60499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0" name="Group 73"/>
          <p:cNvGraphicFramePr>
            <a:graphicFrameLocks noGrp="1"/>
          </p:cNvGraphicFramePr>
          <p:nvPr/>
        </p:nvGraphicFramePr>
        <p:xfrm>
          <a:off x="7710487" y="5282756"/>
          <a:ext cx="2662237" cy="927545"/>
        </p:xfrm>
        <a:graphic>
          <a:graphicData uri="http://schemas.openxmlformats.org/drawingml/2006/table">
            <a:tbl>
              <a:tblPr/>
              <a:tblGrid>
                <a:gridCol w="661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Test1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Test2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Test1+Test2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Emma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Ted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Sue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181225" y="6087451"/>
            <a:ext cx="4267200" cy="504112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wrap="square" lIns="0" tIns="0" rIns="0" bIns="0">
            <a:spAutoFit/>
          </a:bodyPr>
          <a:lstStyle/>
          <a:p>
            <a:pPr marL="182563" algn="ctr" defTabSz="457200"/>
            <a:r>
              <a:rPr lang="en-AU" dirty="0">
                <a:solidFill>
                  <a:srgbClr val="0C64A7"/>
                </a:solidFill>
                <a:latin typeface="Calibri"/>
              </a:rPr>
              <a:t>Sort the result set by the 4</a:t>
            </a:r>
            <a:r>
              <a:rPr lang="en-AU" baseline="30000" dirty="0">
                <a:solidFill>
                  <a:srgbClr val="0C64A7"/>
                </a:solidFill>
                <a:latin typeface="Calibri"/>
              </a:rPr>
              <a:t>th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 column </a:t>
            </a:r>
          </a:p>
          <a:p>
            <a:pPr marL="18256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5287927" y="5316928"/>
            <a:ext cx="1515305" cy="69652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50207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751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Column Headings &amp; the Select Clause</a:t>
            </a:r>
          </a:p>
        </p:txBody>
      </p:sp>
      <p:sp>
        <p:nvSpPr>
          <p:cNvPr id="1751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44738" y="836614"/>
            <a:ext cx="8323262" cy="5176837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2000" dirty="0"/>
              <a:t>The </a:t>
            </a:r>
            <a:r>
              <a:rPr lang="en-AU" sz="2000" b="1" dirty="0"/>
              <a:t>Select clause</a:t>
            </a:r>
            <a:r>
              <a:rPr lang="en-AU" sz="2000" dirty="0"/>
              <a:t> can include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dirty="0"/>
              <a:t>	</a:t>
            </a:r>
            <a:r>
              <a:rPr lang="en-AU" sz="2000" b="1" dirty="0"/>
              <a:t>Alternative columns headings</a:t>
            </a:r>
            <a:r>
              <a:rPr lang="en-AU" sz="2000" dirty="0"/>
              <a:t> (only used in the result set)</a:t>
            </a:r>
          </a:p>
          <a:p>
            <a:pPr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dirty="0"/>
              <a:t>Use the </a:t>
            </a:r>
            <a:r>
              <a:rPr lang="en-AU" sz="2000" b="1" dirty="0"/>
              <a:t>AS</a:t>
            </a:r>
            <a:r>
              <a:rPr lang="en-AU" sz="2000" dirty="0"/>
              <a:t> keyword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b="1" dirty="0"/>
              <a:t>AS</a:t>
            </a:r>
            <a:r>
              <a:rPr lang="en-AU" sz="2000" dirty="0"/>
              <a:t> keyword is </a:t>
            </a:r>
            <a:r>
              <a:rPr lang="en-AU" sz="2000" b="1" dirty="0"/>
              <a:t>optional</a:t>
            </a:r>
            <a:r>
              <a:rPr lang="en-AU" sz="2000" dirty="0"/>
              <a:t>!</a:t>
            </a:r>
          </a:p>
          <a:p>
            <a:pPr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dirty="0"/>
              <a:t>New heading is specified in </a:t>
            </a:r>
            <a:r>
              <a:rPr lang="en-AU" sz="2000" b="1" dirty="0"/>
              <a:t>DOUBLE QUOTES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dirty="0"/>
              <a:t>Double quotes are optional if single word is used</a:t>
            </a:r>
          </a:p>
          <a:p>
            <a:pPr lvl="1">
              <a:buFont typeface="Arial Narrow" pitchFamily="34" charset="0"/>
              <a:buNone/>
            </a:pPr>
            <a:endParaRPr lang="en-AU" sz="2000" dirty="0"/>
          </a:p>
          <a:p>
            <a:pPr marL="342900" indent="-342900">
              <a:buNone/>
            </a:pPr>
            <a:r>
              <a:rPr lang="en-AU" sz="2000" dirty="0"/>
              <a:t>Example with a new column headings:</a:t>
            </a: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SELECT 	Name,  Test1,   Test2,   </a:t>
            </a: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		Test1+Test2  </a:t>
            </a:r>
            <a:r>
              <a:rPr lang="en-AU" b="1" dirty="0">
                <a:solidFill>
                  <a:srgbClr val="FF0000"/>
                </a:solidFill>
              </a:rPr>
              <a:t>As "Total  Score"</a:t>
            </a: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FROM 	</a:t>
            </a:r>
            <a:r>
              <a:rPr lang="en-AU" b="1" dirty="0" err="1">
                <a:solidFill>
                  <a:srgbClr val="0033CC"/>
                </a:solidFill>
              </a:rPr>
              <a:t>StudentResults</a:t>
            </a:r>
            <a:endParaRPr lang="en-AU" b="1" dirty="0">
              <a:solidFill>
                <a:srgbClr val="0033CC"/>
              </a:solidFill>
            </a:endParaRP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endParaRPr lang="en-AU" sz="1400" dirty="0"/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SELECT 	Name </a:t>
            </a:r>
            <a:r>
              <a:rPr lang="en-AU" b="1" dirty="0">
                <a:solidFill>
                  <a:srgbClr val="FF0000"/>
                </a:solidFill>
              </a:rPr>
              <a:t>"Student   Name"</a:t>
            </a:r>
            <a:r>
              <a:rPr lang="en-AU" b="1" dirty="0">
                <a:solidFill>
                  <a:srgbClr val="0033CC"/>
                </a:solidFill>
              </a:rPr>
              <a:t>,  Test1,   Test2,   </a:t>
            </a: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		Test1+Test2 </a:t>
            </a:r>
            <a:r>
              <a:rPr lang="en-AU" b="1" dirty="0">
                <a:solidFill>
                  <a:srgbClr val="FF0000"/>
                </a:solidFill>
              </a:rPr>
              <a:t> "Total  Score"</a:t>
            </a: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FROM 	</a:t>
            </a:r>
            <a:r>
              <a:rPr lang="en-AU" b="1" dirty="0" err="1">
                <a:solidFill>
                  <a:srgbClr val="0033CC"/>
                </a:solidFill>
              </a:rPr>
              <a:t>StudentResults</a:t>
            </a:r>
            <a:endParaRPr lang="en-AU" b="1" dirty="0">
              <a:solidFill>
                <a:srgbClr val="0033CC"/>
              </a:solidFill>
            </a:endParaRP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ORDER BY  Name;</a:t>
            </a: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endParaRPr lang="en-AU" b="1" dirty="0">
              <a:solidFill>
                <a:srgbClr val="0033CC"/>
              </a:solidFill>
            </a:endParaRP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endParaRPr lang="en-AU" sz="1050" b="1" dirty="0">
              <a:solidFill>
                <a:srgbClr val="0033CC"/>
              </a:solidFill>
            </a:endParaRPr>
          </a:p>
          <a:p>
            <a:pPr marL="446088" lvl="1">
              <a:spcBef>
                <a:spcPts val="0"/>
              </a:spcBef>
              <a:buNone/>
              <a:tabLst>
                <a:tab pos="1435100" algn="l"/>
              </a:tabLst>
            </a:pPr>
            <a:r>
              <a:rPr lang="en-AU" b="1" dirty="0">
                <a:solidFill>
                  <a:srgbClr val="0033CC"/>
                </a:solidFill>
              </a:rPr>
              <a:t>SELECT 	 Name </a:t>
            </a:r>
            <a:r>
              <a:rPr lang="en-AU" b="1" dirty="0" err="1">
                <a:solidFill>
                  <a:srgbClr val="FF0000"/>
                </a:solidFill>
              </a:rPr>
              <a:t>StudentName</a:t>
            </a:r>
            <a:r>
              <a:rPr lang="en-AU" b="1" dirty="0">
                <a:solidFill>
                  <a:srgbClr val="0033CC"/>
                </a:solidFill>
              </a:rPr>
              <a:t>, Test1+Test2 </a:t>
            </a:r>
            <a:r>
              <a:rPr lang="en-AU" b="1" dirty="0">
                <a:solidFill>
                  <a:srgbClr val="FF0000"/>
                </a:solidFill>
              </a:rPr>
              <a:t> Total,  …</a:t>
            </a:r>
          </a:p>
          <a:p>
            <a:pPr lvl="1">
              <a:spcBef>
                <a:spcPts val="0"/>
              </a:spcBef>
              <a:buNone/>
            </a:pPr>
            <a:endParaRPr lang="en-AU" b="1" dirty="0">
              <a:solidFill>
                <a:srgbClr val="0033CC"/>
              </a:solidFill>
            </a:endParaRPr>
          </a:p>
        </p:txBody>
      </p:sp>
      <p:sp>
        <p:nvSpPr>
          <p:cNvPr id="175201" name="Line 97"/>
          <p:cNvSpPr>
            <a:spLocks noChangeShapeType="1"/>
          </p:cNvSpPr>
          <p:nvPr/>
        </p:nvSpPr>
        <p:spPr bwMode="auto">
          <a:xfrm>
            <a:off x="2234566" y="3950970"/>
            <a:ext cx="60499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0" name="Group 73"/>
          <p:cNvGraphicFramePr>
            <a:graphicFrameLocks noGrp="1"/>
          </p:cNvGraphicFramePr>
          <p:nvPr/>
        </p:nvGraphicFramePr>
        <p:xfrm>
          <a:off x="7371081" y="2782062"/>
          <a:ext cx="2662237" cy="927545"/>
        </p:xfrm>
        <a:graphic>
          <a:graphicData uri="http://schemas.openxmlformats.org/drawingml/2006/table">
            <a:tbl>
              <a:tblPr/>
              <a:tblGrid>
                <a:gridCol w="661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Test1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Test2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Score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Ted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Sue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Emma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Group 73"/>
          <p:cNvGraphicFramePr>
            <a:graphicFrameLocks noGrp="1"/>
          </p:cNvGraphicFramePr>
          <p:nvPr/>
        </p:nvGraphicFramePr>
        <p:xfrm>
          <a:off x="7449139" y="4395786"/>
          <a:ext cx="3001816" cy="1048512"/>
        </p:xfrm>
        <a:graphic>
          <a:graphicData uri="http://schemas.openxmlformats.org/drawingml/2006/table">
            <a:tbl>
              <a:tblPr/>
              <a:tblGrid>
                <a:gridCol w="1013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247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 Name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Test1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Test2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Score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8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Emma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8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Sue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8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Ted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Line 97"/>
          <p:cNvSpPr>
            <a:spLocks noChangeShapeType="1"/>
          </p:cNvSpPr>
          <p:nvPr/>
        </p:nvSpPr>
        <p:spPr bwMode="auto">
          <a:xfrm flipV="1">
            <a:off x="1894400" y="5211592"/>
            <a:ext cx="5337695" cy="119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6707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 err="1">
                <a:solidFill>
                  <a:srgbClr val="D1161E"/>
                </a:solidFill>
                <a:latin typeface="Calibri" panose="020F0502020204030204" pitchFamily="34" charset="0"/>
              </a:rPr>
              <a:t>SQL:Table</a:t>
            </a:r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 name qualification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457450" y="908050"/>
            <a:ext cx="8210550" cy="5233988"/>
          </a:xfrm>
          <a:noFill/>
        </p:spPr>
        <p:txBody>
          <a:bodyPr/>
          <a:lstStyle/>
          <a:p>
            <a:endParaRPr lang="en-AU" sz="2000" dirty="0"/>
          </a:p>
          <a:p>
            <a:endParaRPr lang="en-AU" sz="2000" dirty="0"/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2165350" y="836613"/>
            <a:ext cx="850265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buClr>
                <a:srgbClr val="D1161E"/>
              </a:buClr>
              <a:buSzPct val="75000"/>
            </a:pPr>
            <a:r>
              <a:rPr lang="en-AU" sz="2400" dirty="0">
                <a:solidFill>
                  <a:srgbClr val="000000"/>
                </a:solidFill>
                <a:latin typeface="Calibri"/>
              </a:rPr>
              <a:t>Last week, we wrote a simple SQL query using the Select statement</a:t>
            </a:r>
          </a:p>
          <a:p>
            <a:pPr marL="263525" indent="-263525" defTabSz="457200">
              <a:buClr>
                <a:srgbClr val="D1161E"/>
              </a:buClr>
              <a:buSzPct val="75000"/>
              <a:buFont typeface="Wingdings" pitchFamily="2" charset="2"/>
              <a:buChar char="Ø"/>
            </a:pPr>
            <a:endParaRPr lang="en-AU" sz="2400" dirty="0">
              <a:solidFill>
                <a:srgbClr val="0033CC"/>
              </a:solidFill>
              <a:latin typeface="Calibri"/>
            </a:endParaRPr>
          </a:p>
          <a:p>
            <a:pPr marL="263525" indent="-2635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400" dirty="0">
                <a:solidFill>
                  <a:srgbClr val="0033CC"/>
                </a:solidFill>
                <a:latin typeface="Calibri"/>
              </a:rPr>
              <a:t>		SELECT 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LecId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LecName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, Age FROM  lecturer</a:t>
            </a:r>
          </a:p>
          <a:p>
            <a:pPr marL="263525" indent="-2635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400" dirty="0">
              <a:solidFill>
                <a:srgbClr val="0033CC"/>
              </a:solidFill>
              <a:latin typeface="Calibri"/>
            </a:endParaRPr>
          </a:p>
          <a:p>
            <a:pPr marL="263525" indent="-2635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400" dirty="0">
              <a:solidFill>
                <a:srgbClr val="000000"/>
              </a:solidFill>
              <a:latin typeface="Calibri"/>
            </a:endParaRPr>
          </a:p>
          <a:p>
            <a:pPr defTabSz="457200">
              <a:buClr>
                <a:srgbClr val="D1161E"/>
              </a:buClr>
              <a:buSzPct val="75000"/>
            </a:pPr>
            <a:r>
              <a:rPr lang="en-AU" sz="2400" dirty="0">
                <a:solidFill>
                  <a:srgbClr val="000000"/>
                </a:solidFill>
                <a:latin typeface="Calibri"/>
              </a:rPr>
              <a:t>Whenever we use a column name in a Query, we can qualify (prefix) </a:t>
            </a:r>
            <a:br>
              <a:rPr lang="en-AU" sz="2400" dirty="0">
                <a:solidFill>
                  <a:srgbClr val="000000"/>
                </a:solidFill>
                <a:latin typeface="Calibri"/>
              </a:rPr>
            </a:br>
            <a:r>
              <a:rPr lang="en-AU" sz="2400" dirty="0">
                <a:solidFill>
                  <a:srgbClr val="000000"/>
                </a:solidFill>
                <a:latin typeface="Calibri"/>
              </a:rPr>
              <a:t>with the appropriate table name</a:t>
            </a:r>
          </a:p>
          <a:p>
            <a:pPr marL="263525" indent="-263525" defTabSz="457200">
              <a:buClr>
                <a:srgbClr val="D1161E"/>
              </a:buClr>
              <a:buSzPct val="75000"/>
              <a:buFont typeface="Wingdings" pitchFamily="2" charset="2"/>
              <a:buChar char="Ø"/>
            </a:pPr>
            <a:endParaRPr lang="en-AU" sz="2400" dirty="0">
              <a:solidFill>
                <a:srgbClr val="D1161E"/>
              </a:solidFill>
              <a:latin typeface="Calibri"/>
            </a:endParaRPr>
          </a:p>
          <a:p>
            <a:pPr marL="263525" indent="-263525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sz="2400" dirty="0">
                <a:solidFill>
                  <a:srgbClr val="0033CC"/>
                </a:solidFill>
                <a:latin typeface="Calibri"/>
              </a:rPr>
              <a:t>		SELECT </a:t>
            </a:r>
            <a:r>
              <a:rPr lang="en-AU" sz="2400" dirty="0" err="1">
                <a:solidFill>
                  <a:srgbClr val="D1161E"/>
                </a:solidFill>
                <a:latin typeface="Calibri"/>
              </a:rPr>
              <a:t>lecturer.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LecId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400" dirty="0" err="1">
                <a:solidFill>
                  <a:srgbClr val="D1161E"/>
                </a:solidFill>
                <a:latin typeface="Calibri"/>
              </a:rPr>
              <a:t>lecturer.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LecName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400" dirty="0" err="1">
                <a:solidFill>
                  <a:srgbClr val="D1161E"/>
                </a:solidFill>
                <a:latin typeface="Calibri"/>
              </a:rPr>
              <a:t>lecturer.</a:t>
            </a:r>
            <a:r>
              <a:rPr lang="en-AU" sz="2400" dirty="0" err="1">
                <a:solidFill>
                  <a:srgbClr val="0033CC"/>
                </a:solidFill>
                <a:latin typeface="Calibri"/>
              </a:rPr>
              <a:t>Age</a:t>
            </a:r>
            <a:r>
              <a:rPr lang="en-AU" sz="2400" dirty="0">
                <a:solidFill>
                  <a:srgbClr val="0033CC"/>
                </a:solidFill>
                <a:latin typeface="Calibri"/>
              </a:rPr>
              <a:t> </a:t>
            </a:r>
            <a:br>
              <a:rPr lang="en-AU" sz="2400" dirty="0">
                <a:solidFill>
                  <a:srgbClr val="0033CC"/>
                </a:solidFill>
                <a:latin typeface="Calibri"/>
              </a:rPr>
            </a:br>
            <a:r>
              <a:rPr lang="en-AU" sz="2400" dirty="0">
                <a:solidFill>
                  <a:srgbClr val="0033CC"/>
                </a:solidFill>
                <a:latin typeface="Calibri"/>
              </a:rPr>
              <a:t>	FROM  lecturer</a:t>
            </a:r>
          </a:p>
          <a:p>
            <a:pPr marL="263525" indent="-2635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400" dirty="0">
              <a:solidFill>
                <a:srgbClr val="000000"/>
              </a:solidFill>
              <a:latin typeface="Calibri"/>
            </a:endParaRPr>
          </a:p>
          <a:p>
            <a:pPr marL="263525" indent="-263525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sz="2400" dirty="0">
              <a:solidFill>
                <a:srgbClr val="000000"/>
              </a:solidFill>
              <a:latin typeface="Calibri"/>
            </a:endParaRPr>
          </a:p>
          <a:p>
            <a:pPr defTabSz="457200">
              <a:buClr>
                <a:srgbClr val="D1161E"/>
              </a:buClr>
              <a:buSzPct val="75000"/>
            </a:pPr>
            <a:r>
              <a:rPr lang="en-AU" sz="2400" dirty="0">
                <a:solidFill>
                  <a:srgbClr val="000000"/>
                </a:solidFill>
                <a:latin typeface="Calibri"/>
              </a:rPr>
              <a:t>The usefulness of this feature becomes apparent when </a:t>
            </a:r>
            <a:br>
              <a:rPr lang="en-AU" sz="2400" dirty="0">
                <a:solidFill>
                  <a:srgbClr val="000000"/>
                </a:solidFill>
                <a:latin typeface="Calibri"/>
              </a:rPr>
            </a:br>
            <a:r>
              <a:rPr lang="en-AU" sz="2400" dirty="0">
                <a:solidFill>
                  <a:srgbClr val="000000"/>
                </a:solidFill>
                <a:latin typeface="Calibri"/>
              </a:rPr>
              <a:t>SQL statements refer to columns from two or more tables</a:t>
            </a:r>
          </a:p>
        </p:txBody>
      </p:sp>
    </p:spTree>
    <p:extLst>
      <p:ext uri="{BB962C8B-B14F-4D97-AF65-F5344CB8AC3E}">
        <p14:creationId xmlns:p14="http://schemas.microsoft.com/office/powerpoint/2010/main" val="643556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 err="1">
                <a:solidFill>
                  <a:srgbClr val="D1161E"/>
                </a:solidFill>
                <a:latin typeface="Calibri" panose="020F0502020204030204" pitchFamily="34" charset="0"/>
              </a:rPr>
              <a:t>SQL:Table</a:t>
            </a:r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 name aliases</a:t>
            </a:r>
          </a:p>
        </p:txBody>
      </p:sp>
      <p:sp>
        <p:nvSpPr>
          <p:cNvPr id="15770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457450" y="908050"/>
            <a:ext cx="8210550" cy="5233988"/>
          </a:xfrm>
          <a:noFill/>
        </p:spPr>
        <p:txBody>
          <a:bodyPr/>
          <a:lstStyle/>
          <a:p>
            <a:endParaRPr lang="en-AU" sz="2000"/>
          </a:p>
          <a:p>
            <a:endParaRPr lang="en-AU" sz="2000"/>
          </a:p>
        </p:txBody>
      </p:sp>
      <p:sp>
        <p:nvSpPr>
          <p:cNvPr id="157701" name="Rectangle 4"/>
          <p:cNvSpPr>
            <a:spLocks noChangeArrowheads="1"/>
          </p:cNvSpPr>
          <p:nvPr/>
        </p:nvSpPr>
        <p:spPr bwMode="auto">
          <a:xfrm>
            <a:off x="1524000" y="836613"/>
            <a:ext cx="9144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9888" defTabSz="457200">
              <a:buClr>
                <a:srgbClr val="D1161E"/>
              </a:buClr>
              <a:buSzPct val="75000"/>
            </a:pPr>
            <a:r>
              <a:rPr lang="en-AU" sz="2000" dirty="0" err="1">
                <a:solidFill>
                  <a:srgbClr val="000000"/>
                </a:solidFill>
                <a:latin typeface="Calibri"/>
              </a:rPr>
              <a:t>Tablenames</a:t>
            </a:r>
            <a:r>
              <a:rPr lang="en-AU" sz="2000" dirty="0">
                <a:solidFill>
                  <a:srgbClr val="000000"/>
                </a:solidFill>
                <a:latin typeface="Calibri"/>
              </a:rPr>
              <a:t> in SQL statements may be assigned a temporary alias</a:t>
            </a:r>
          </a:p>
          <a:p>
            <a:pPr marL="800100" lvl="1" indent="-342900" defTabSz="457200">
              <a:buSzPct val="75000"/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0000"/>
                </a:solidFill>
                <a:latin typeface="Calibri"/>
              </a:rPr>
              <a:t>The alias only applies to the current SQL statement (</a:t>
            </a:r>
            <a:r>
              <a:rPr lang="en-AU" sz="2400" dirty="0">
                <a:solidFill>
                  <a:srgbClr val="000000"/>
                </a:solidFill>
                <a:latin typeface="Calibri"/>
              </a:rPr>
              <a:t>not remembered</a:t>
            </a:r>
            <a:r>
              <a:rPr lang="en-AU" sz="200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800100" lvl="1" indent="-342900" defTabSz="457200">
              <a:buSzPct val="75000"/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0000"/>
                </a:solidFill>
                <a:latin typeface="Calibri"/>
              </a:rPr>
              <a:t>Once an alias is used within an SQL statement, you can cannot refer to the original </a:t>
            </a:r>
            <a:r>
              <a:rPr lang="en-AU" sz="2000" dirty="0" err="1">
                <a:solidFill>
                  <a:srgbClr val="000000"/>
                </a:solidFill>
                <a:latin typeface="Calibri"/>
              </a:rPr>
              <a:t>tablename</a:t>
            </a:r>
            <a:r>
              <a:rPr lang="en-AU" sz="2000" dirty="0">
                <a:solidFill>
                  <a:srgbClr val="000000"/>
                </a:solidFill>
                <a:latin typeface="Calibri"/>
              </a:rPr>
              <a:t> within that SQL statement</a:t>
            </a:r>
          </a:p>
          <a:p>
            <a:pPr marL="544513" indent="-174625" defTabSz="457200">
              <a:buClr>
                <a:srgbClr val="D1161E"/>
              </a:buClr>
              <a:buSzPct val="75000"/>
              <a:buFont typeface="Wingdings" pitchFamily="2" charset="2"/>
              <a:buChar char="Ø"/>
            </a:pPr>
            <a:endParaRPr lang="en-AU" sz="2000" dirty="0">
              <a:solidFill>
                <a:srgbClr val="D1161E"/>
              </a:solidFill>
              <a:latin typeface="Calibri"/>
            </a:endParaRP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1		SELECT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lecturer.LecId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>
                <a:solidFill>
                  <a:srgbClr val="D1161E"/>
                </a:solidFill>
                <a:latin typeface="Calibri"/>
              </a:rPr>
              <a:t>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lecturer.LecName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>
                <a:solidFill>
                  <a:srgbClr val="D1161E"/>
                </a:solidFill>
                <a:latin typeface="Calibri"/>
              </a:rPr>
              <a:t>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lecturer.Age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</a:t>
            </a:r>
            <a:r>
              <a:rPr lang="en-AU" sz="2000" dirty="0">
                <a:solidFill>
                  <a:srgbClr val="D1161E"/>
                </a:solidFill>
                <a:latin typeface="Calibri"/>
              </a:rPr>
              <a:t> </a:t>
            </a:r>
            <a:endParaRPr lang="en-AU" sz="2000" dirty="0">
              <a:solidFill>
                <a:srgbClr val="0033CC"/>
              </a:solidFill>
              <a:latin typeface="Calibri"/>
            </a:endParaRP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		FROM lecturer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		WHERE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lecturer.age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=&gt; 50;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endParaRPr lang="en-AU" sz="2000" dirty="0">
              <a:solidFill>
                <a:srgbClr val="0033CC"/>
              </a:solidFill>
              <a:latin typeface="Calibri"/>
            </a:endParaRP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2		SELECT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L.LecId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>
                <a:solidFill>
                  <a:srgbClr val="D1161E"/>
                </a:solidFill>
                <a:latin typeface="Calibri"/>
              </a:rPr>
              <a:t>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L.LecName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>
                <a:solidFill>
                  <a:srgbClr val="D1161E"/>
                </a:solidFill>
                <a:latin typeface="Calibri"/>
              </a:rPr>
              <a:t>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L.Age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		FROM lecturer L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		WHERE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L.age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=&gt; 50;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endParaRPr lang="en-AU" sz="2000" dirty="0">
              <a:solidFill>
                <a:srgbClr val="0033CC"/>
              </a:solidFill>
              <a:latin typeface="Calibri"/>
            </a:endParaRP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3		SELECT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budget.deptno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budget.monthly_amt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		FROM    wr207_V_X5 budget</a:t>
            </a:r>
          </a:p>
          <a:p>
            <a:pPr marL="544513" indent="-174625" defTabSz="457200">
              <a:buClr>
                <a:srgbClr val="D1161E"/>
              </a:buClr>
              <a:buSzPct val="75000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		WHERE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budget.year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= 2011;</a:t>
            </a:r>
          </a:p>
        </p:txBody>
      </p:sp>
      <p:sp>
        <p:nvSpPr>
          <p:cNvPr id="157702" name="Text Box 8"/>
          <p:cNvSpPr txBox="1">
            <a:spLocks noChangeArrowheads="1"/>
          </p:cNvSpPr>
          <p:nvPr/>
        </p:nvSpPr>
        <p:spPr bwMode="auto">
          <a:xfrm>
            <a:off x="7978664" y="4024314"/>
            <a:ext cx="2087562" cy="781111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 dirty="0">
                <a:solidFill>
                  <a:srgbClr val="0C64A7"/>
                </a:solidFill>
                <a:latin typeface="Calibri"/>
              </a:rPr>
              <a:t>L is the alias for the lecturer table </a:t>
            </a:r>
          </a:p>
          <a:p>
            <a:pPr marL="18256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7858126" y="2804319"/>
            <a:ext cx="2087562" cy="504112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 dirty="0">
                <a:solidFill>
                  <a:srgbClr val="0C64A7"/>
                </a:solidFill>
                <a:latin typeface="Calibri"/>
              </a:rPr>
              <a:t>no alias used </a:t>
            </a:r>
          </a:p>
          <a:p>
            <a:pPr marL="182563" defTabSz="457200">
              <a:lnSpc>
                <a:spcPct val="80000"/>
              </a:lnSpc>
              <a:buClr>
                <a:srgbClr val="D1161E"/>
              </a:buClr>
              <a:buSzPct val="85000"/>
            </a:pP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57705" name="Text Box 8"/>
          <p:cNvSpPr txBox="1">
            <a:spLocks noChangeArrowheads="1"/>
          </p:cNvSpPr>
          <p:nvPr/>
        </p:nvSpPr>
        <p:spPr bwMode="auto">
          <a:xfrm>
            <a:off x="7762764" y="5003692"/>
            <a:ext cx="2519362" cy="830997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182563" algn="ctr" defTabSz="457200"/>
            <a:r>
              <a:rPr lang="en-AU" dirty="0">
                <a:solidFill>
                  <a:srgbClr val="0C64A7"/>
                </a:solidFill>
                <a:latin typeface="Calibri"/>
              </a:rPr>
              <a:t>budget is the alias for the table named</a:t>
            </a:r>
            <a:br>
              <a:rPr lang="en-AU" dirty="0">
                <a:solidFill>
                  <a:srgbClr val="0C64A7"/>
                </a:solidFill>
                <a:latin typeface="Calibri"/>
              </a:rPr>
            </a:br>
            <a:r>
              <a:rPr lang="en-AU" dirty="0">
                <a:solidFill>
                  <a:srgbClr val="0C64A7"/>
                </a:solidFill>
                <a:latin typeface="Calibri"/>
              </a:rPr>
              <a:t>wr207_V_X5</a:t>
            </a:r>
            <a:endParaRPr lang="en-AU" dirty="0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2545615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2011</Words>
  <Application>Microsoft Office PowerPoint</Application>
  <PresentationFormat>Widescreen</PresentationFormat>
  <Paragraphs>469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Narrow</vt:lpstr>
      <vt:lpstr>Calibri</vt:lpstr>
      <vt:lpstr>Open Sans</vt:lpstr>
      <vt:lpstr>Wingdings</vt:lpstr>
      <vt:lpstr>Swinburne_Tiles</vt:lpstr>
      <vt:lpstr>Visio</vt:lpstr>
      <vt:lpstr>INF10025 Data Management and Analytics Lecture 6 – Part 1</vt:lpstr>
      <vt:lpstr>Recap: Entity Relationship Diagrams</vt:lpstr>
      <vt:lpstr>Recap: Convert ERD to Relational Model</vt:lpstr>
      <vt:lpstr>Recap: Convert ERD to Relational Model</vt:lpstr>
      <vt:lpstr>Recap: SQL DDL  Create Table</vt:lpstr>
      <vt:lpstr>Foreign Key Constraints</vt:lpstr>
      <vt:lpstr>Foreign Key Constraint</vt:lpstr>
      <vt:lpstr>Foreign Key constraints messages</vt:lpstr>
      <vt:lpstr>Parent / Child rules</vt:lpstr>
      <vt:lpstr>Parent / Child rules</vt:lpstr>
      <vt:lpstr>Null Foreign Keys</vt:lpstr>
      <vt:lpstr>Null Constraint</vt:lpstr>
      <vt:lpstr>Null Foreign Keys</vt:lpstr>
      <vt:lpstr>Null Constraints</vt:lpstr>
      <vt:lpstr>Participation constraints</vt:lpstr>
      <vt:lpstr>Participation constraints</vt:lpstr>
      <vt:lpstr>Cardinality &amp; Participation constraints</vt:lpstr>
      <vt:lpstr>Cardinality &amp; Participation constraints</vt:lpstr>
      <vt:lpstr>SQL: Calculations &amp; the Select clause</vt:lpstr>
      <vt:lpstr>Column Headings &amp; the Select Clause</vt:lpstr>
      <vt:lpstr>SQL:Table name qualification</vt:lpstr>
      <vt:lpstr>SQL:Table name aliases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 Lecture 6</dc:title>
  <dc:creator>Robert Tipping</dc:creator>
  <cp:lastModifiedBy>Robert Tipping</cp:lastModifiedBy>
  <cp:revision>2</cp:revision>
  <dcterms:created xsi:type="dcterms:W3CDTF">2023-03-22T21:29:21Z</dcterms:created>
  <dcterms:modified xsi:type="dcterms:W3CDTF">2023-03-24T00:06:44Z</dcterms:modified>
</cp:coreProperties>
</file>