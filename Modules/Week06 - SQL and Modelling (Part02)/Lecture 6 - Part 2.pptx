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79" r:id="rId3"/>
    <p:sldId id="280" r:id="rId4"/>
    <p:sldId id="281" r:id="rId5"/>
    <p:sldId id="282" r:id="rId6"/>
    <p:sldId id="283" r:id="rId7"/>
    <p:sldId id="339" r:id="rId8"/>
    <p:sldId id="340" r:id="rId9"/>
    <p:sldId id="286" r:id="rId10"/>
    <p:sldId id="287" r:id="rId11"/>
    <p:sldId id="288" r:id="rId12"/>
    <p:sldId id="289" r:id="rId13"/>
    <p:sldId id="290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9A3B5-B565-41E3-91A2-7A2B95DD2BED}" type="datetimeFigureOut">
              <a:rPr lang="en-AU" smtClean="0"/>
              <a:t>23/03/2023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03E33-7070-4A7F-97FC-BD603CD94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67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6937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2328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377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7693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&amp; Analytics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5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5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0284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98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8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939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753275" y="1981500"/>
            <a:ext cx="653479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6 – Part 2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6021388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Inner Joins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Query involving two tables </a:t>
            </a:r>
          </a:p>
        </p:txBody>
      </p:sp>
      <p:sp>
        <p:nvSpPr>
          <p:cNvPr id="1269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71700" y="715963"/>
            <a:ext cx="8039100" cy="5978008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/>
              <a:t>So far our SQL queries have retrieved data from a </a:t>
            </a:r>
            <a:r>
              <a:rPr lang="en-AU" sz="2000" b="1" dirty="0"/>
              <a:t>single</a:t>
            </a:r>
            <a:r>
              <a:rPr lang="en-AU" sz="2000" dirty="0"/>
              <a:t>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Often a query needs to retrieve data from </a:t>
            </a:r>
            <a:r>
              <a:rPr lang="en-AU" sz="2000" b="1" dirty="0"/>
              <a:t>two</a:t>
            </a:r>
            <a:r>
              <a:rPr lang="en-AU" sz="2000" dirty="0"/>
              <a:t>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Usually the tables are </a:t>
            </a:r>
            <a:r>
              <a:rPr lang="en-AU" sz="2000" b="1" dirty="0"/>
              <a:t>related</a:t>
            </a:r>
            <a:r>
              <a:rPr lang="en-AU" sz="2000" dirty="0"/>
              <a:t> via Foreign Key / Primary Key relationships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E.g. List all subject codes and their matching convenor names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127265" name="Group 289"/>
          <p:cNvGraphicFramePr>
            <a:graphicFrameLocks noGrp="1"/>
          </p:cNvGraphicFramePr>
          <p:nvPr/>
        </p:nvGraphicFramePr>
        <p:xfrm>
          <a:off x="1631950" y="4775635"/>
          <a:ext cx="4546600" cy="1918337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087" name="Rectangle 111"/>
          <p:cNvSpPr>
            <a:spLocks noChangeArrowheads="1"/>
          </p:cNvSpPr>
          <p:nvPr/>
        </p:nvSpPr>
        <p:spPr bwMode="auto">
          <a:xfrm>
            <a:off x="2982913" y="4277159"/>
            <a:ext cx="172561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27267" name="Group 291"/>
          <p:cNvGraphicFramePr>
            <a:graphicFrameLocks noGrp="1"/>
          </p:cNvGraphicFramePr>
          <p:nvPr/>
        </p:nvGraphicFramePr>
        <p:xfrm>
          <a:off x="6989764" y="4932363"/>
          <a:ext cx="2447925" cy="1581152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115" name="Text Box 139"/>
          <p:cNvSpPr txBox="1">
            <a:spLocks noChangeArrowheads="1"/>
          </p:cNvSpPr>
          <p:nvPr/>
        </p:nvSpPr>
        <p:spPr bwMode="auto">
          <a:xfrm>
            <a:off x="7278688" y="4427538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27264" name="Group 288"/>
          <p:cNvGraphicFramePr>
            <a:graphicFrameLocks noGrp="1"/>
          </p:cNvGraphicFramePr>
          <p:nvPr/>
        </p:nvGraphicFramePr>
        <p:xfrm>
          <a:off x="4849019" y="2444113"/>
          <a:ext cx="3425825" cy="1828800"/>
        </p:xfrm>
        <a:graphic>
          <a:graphicData uri="http://schemas.openxmlformats.org/drawingml/2006/table">
            <a:tbl>
              <a:tblPr/>
              <a:tblGrid>
                <a:gridCol w="1579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44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94112" y="6081823"/>
            <a:ext cx="1082730" cy="7761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Query involving two tables </a:t>
            </a:r>
          </a:p>
        </p:txBody>
      </p:sp>
      <p:sp>
        <p:nvSpPr>
          <p:cNvPr id="153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71700" y="715964"/>
            <a:ext cx="8407400" cy="5449887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AU" sz="2000" dirty="0"/>
              <a:t>Suppose we write this: 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SELECT </a:t>
            </a:r>
            <a:r>
              <a:rPr lang="en-AU" sz="2000" b="1" dirty="0" err="1">
                <a:solidFill>
                  <a:srgbClr val="0033CC"/>
                </a:solidFill>
              </a:rPr>
              <a:t>SubjectCode</a:t>
            </a:r>
            <a:r>
              <a:rPr lang="en-AU" sz="2000" b="1" dirty="0">
                <a:solidFill>
                  <a:srgbClr val="0033CC"/>
                </a:solidFill>
              </a:rPr>
              <a:t>, </a:t>
            </a:r>
            <a:r>
              <a:rPr lang="en-AU" sz="2000" b="1" dirty="0" err="1">
                <a:solidFill>
                  <a:srgbClr val="0033CC"/>
                </a:solidFill>
              </a:rPr>
              <a:t>LecName</a:t>
            </a:r>
            <a:r>
              <a:rPr lang="en-AU" sz="2000" b="1" dirty="0">
                <a:solidFill>
                  <a:srgbClr val="0033CC"/>
                </a:solidFill>
              </a:rPr>
              <a:t> FROM Subject, Lecturer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result set seems wrong. </a:t>
            </a:r>
            <a:r>
              <a:rPr lang="en-AU" sz="2000" b="1" dirty="0"/>
              <a:t>Every</a:t>
            </a:r>
            <a:r>
              <a:rPr lang="en-AU" sz="2000" dirty="0"/>
              <a:t> </a:t>
            </a:r>
            <a:r>
              <a:rPr lang="en-AU" sz="2000" b="1" dirty="0"/>
              <a:t>row</a:t>
            </a:r>
            <a:r>
              <a:rPr lang="en-AU" sz="2000" dirty="0"/>
              <a:t> in the </a:t>
            </a:r>
            <a:r>
              <a:rPr lang="en-AU" sz="2000" b="1" dirty="0"/>
              <a:t>first table </a:t>
            </a:r>
            <a:r>
              <a:rPr lang="en-AU" sz="2000" dirty="0"/>
              <a:t>has been </a:t>
            </a:r>
            <a:r>
              <a:rPr lang="en-AU" sz="2000" b="1" dirty="0"/>
              <a:t>matched </a:t>
            </a:r>
            <a:r>
              <a:rPr lang="en-AU" sz="2000" dirty="0"/>
              <a:t>with </a:t>
            </a:r>
            <a:r>
              <a:rPr lang="en-AU" sz="2000" b="1" dirty="0"/>
              <a:t>every row</a:t>
            </a:r>
            <a:r>
              <a:rPr lang="en-AU" sz="2000" dirty="0"/>
              <a:t> in the </a:t>
            </a:r>
            <a:r>
              <a:rPr lang="en-AU" sz="2000" b="1" dirty="0"/>
              <a:t>second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This is called a </a:t>
            </a:r>
            <a:r>
              <a:rPr lang="en-AU" sz="2000" b="1" dirty="0"/>
              <a:t>Cartesian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A </a:t>
            </a:r>
            <a:r>
              <a:rPr lang="en-AU" sz="2000" b="1" dirty="0"/>
              <a:t>Cartesian Product </a:t>
            </a:r>
            <a:r>
              <a:rPr lang="en-AU" sz="2000" dirty="0"/>
              <a:t>is usually a </a:t>
            </a:r>
            <a:r>
              <a:rPr lang="en-AU" sz="2000" b="1" dirty="0">
                <a:solidFill>
                  <a:schemeClr val="tx1"/>
                </a:solidFill>
              </a:rPr>
              <a:t>mistake</a:t>
            </a:r>
          </a:p>
          <a:p>
            <a:endParaRPr lang="en-AU" b="1" dirty="0"/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1"/>
            <a:endParaRPr lang="en-AU" b="1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153605" name="Group 5"/>
          <p:cNvGraphicFramePr>
            <a:graphicFrameLocks noGrp="1"/>
          </p:cNvGraphicFramePr>
          <p:nvPr/>
        </p:nvGraphicFramePr>
        <p:xfrm>
          <a:off x="2001060" y="4807794"/>
          <a:ext cx="4546600" cy="1918337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642" name="Rectangle 42"/>
          <p:cNvSpPr>
            <a:spLocks noChangeArrowheads="1"/>
          </p:cNvSpPr>
          <p:nvPr/>
        </p:nvSpPr>
        <p:spPr bwMode="auto">
          <a:xfrm>
            <a:off x="1979802" y="4451573"/>
            <a:ext cx="1250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dirty="0">
                <a:solidFill>
                  <a:srgbClr val="D1161E"/>
                </a:solidFill>
                <a:latin typeface="Arial" charset="0"/>
              </a:rPr>
              <a:t>SUBJECT</a:t>
            </a:r>
            <a:endParaRPr lang="en-US" dirty="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53643" name="Group 43"/>
          <p:cNvGraphicFramePr>
            <a:graphicFrameLocks noGrp="1"/>
          </p:cNvGraphicFramePr>
          <p:nvPr/>
        </p:nvGraphicFramePr>
        <p:xfrm>
          <a:off x="3455380" y="3156172"/>
          <a:ext cx="2447925" cy="1581152"/>
        </p:xfrm>
        <a:graphic>
          <a:graphicData uri="http://schemas.openxmlformats.org/drawingml/2006/table">
            <a:tbl>
              <a:tblPr/>
              <a:tblGrid>
                <a:gridCol w="709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670" name="Text Box 70"/>
          <p:cNvSpPr txBox="1">
            <a:spLocks noChangeArrowheads="1"/>
          </p:cNvSpPr>
          <p:nvPr/>
        </p:nvSpPr>
        <p:spPr bwMode="auto">
          <a:xfrm>
            <a:off x="3446537" y="2789460"/>
            <a:ext cx="1428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LECTURER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53738" name="Group 138"/>
          <p:cNvGraphicFramePr>
            <a:graphicFrameLocks noGrp="1"/>
          </p:cNvGraphicFramePr>
          <p:nvPr/>
        </p:nvGraphicFramePr>
        <p:xfrm>
          <a:off x="7535864" y="2276475"/>
          <a:ext cx="2879725" cy="4418330"/>
        </p:xfrm>
        <a:graphic>
          <a:graphicData uri="http://schemas.openxmlformats.org/drawingml/2006/table">
            <a:tbl>
              <a:tblPr/>
              <a:tblGrid>
                <a:gridCol w="1493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3739" name="Rectangle 139"/>
          <p:cNvSpPr>
            <a:spLocks noChangeArrowheads="1"/>
          </p:cNvSpPr>
          <p:nvPr/>
        </p:nvSpPr>
        <p:spPr bwMode="auto">
          <a:xfrm>
            <a:off x="7464425" y="2133601"/>
            <a:ext cx="3024188" cy="4608513"/>
          </a:xfrm>
          <a:prstGeom prst="rect">
            <a:avLst/>
          </a:prstGeom>
          <a:noFill/>
          <a:ln w="952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45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 Cartesian Product</a:t>
            </a:r>
            <a:r>
              <a:rPr lang="en-AU" b="0" dirty="0">
                <a:solidFill>
                  <a:srgbClr val="D1161E"/>
                </a:solidFill>
                <a:latin typeface="Calibri" panose="020F0502020204030204" pitchFamily="34" charset="0"/>
              </a:rPr>
              <a:t> </a:t>
            </a:r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 problem</a:t>
            </a:r>
          </a:p>
        </p:txBody>
      </p:sp>
      <p:sp>
        <p:nvSpPr>
          <p:cNvPr id="154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39976" y="765176"/>
            <a:ext cx="8328025" cy="540067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A Cartesian Product occurs because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Select</a:t>
            </a:r>
            <a:r>
              <a:rPr lang="en-AU" sz="2000" dirty="0"/>
              <a:t> statements </a:t>
            </a:r>
            <a:r>
              <a:rPr lang="en-AU" sz="2000" b="1" dirty="0"/>
              <a:t>ignore</a:t>
            </a:r>
            <a:r>
              <a:rPr lang="en-AU" sz="2000" dirty="0"/>
              <a:t> all </a:t>
            </a:r>
            <a:r>
              <a:rPr lang="en-AU" sz="2000" b="1" dirty="0"/>
              <a:t>referential integrity</a:t>
            </a:r>
            <a:r>
              <a:rPr lang="en-AU" sz="2000" dirty="0"/>
              <a:t> constraints that </a:t>
            </a:r>
            <a:br>
              <a:rPr lang="en-AU" sz="2000" dirty="0"/>
            </a:br>
            <a:r>
              <a:rPr lang="en-AU" sz="2000" dirty="0"/>
              <a:t>may have already been implemented</a:t>
            </a:r>
          </a:p>
          <a:p>
            <a:pPr lvl="1"/>
            <a:endParaRPr lang="en-AU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So an </a:t>
            </a:r>
            <a:r>
              <a:rPr lang="en-AU" sz="2000" b="1" dirty="0"/>
              <a:t>SQL</a:t>
            </a:r>
            <a:r>
              <a:rPr lang="en-AU" sz="2000" dirty="0"/>
              <a:t> </a:t>
            </a:r>
            <a:r>
              <a:rPr lang="en-AU" sz="2000" b="1" dirty="0"/>
              <a:t>Select</a:t>
            </a:r>
            <a:r>
              <a:rPr lang="en-AU" sz="2000" dirty="0"/>
              <a:t> statement does </a:t>
            </a:r>
            <a:r>
              <a:rPr lang="en-AU" sz="2000" b="1" dirty="0"/>
              <a:t>not</a:t>
            </a:r>
            <a:r>
              <a:rPr lang="en-AU" sz="2000" dirty="0"/>
              <a:t> 'know' how two tables are </a:t>
            </a:r>
            <a:r>
              <a:rPr lang="en-AU" sz="2000" b="1" dirty="0"/>
              <a:t>related</a:t>
            </a:r>
            <a:r>
              <a:rPr lang="en-AU" sz="2000" dirty="0"/>
              <a:t> (it doesn't consider any existing FK – PK constraints)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Why? SQL has to allow for queries based on non-related tables (perhaps even originating in different databases). </a:t>
            </a:r>
            <a:br>
              <a:rPr lang="en-AU" sz="2000" dirty="0"/>
            </a:b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/>
              <a:t>Solution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You must specify how  two tables are </a:t>
            </a:r>
            <a:r>
              <a:rPr lang="en-AU" sz="2000" b="1" dirty="0"/>
              <a:t>related</a:t>
            </a:r>
            <a:r>
              <a:rPr lang="en-AU" sz="2000" dirty="0"/>
              <a:t> </a:t>
            </a:r>
            <a:br>
              <a:rPr lang="en-AU" sz="2000" dirty="0"/>
            </a:br>
            <a:r>
              <a:rPr lang="en-AU" sz="2000" dirty="0"/>
              <a:t>in </a:t>
            </a:r>
            <a:r>
              <a:rPr lang="en-AU" sz="2000" b="1" dirty="0"/>
              <a:t>every</a:t>
            </a:r>
            <a:r>
              <a:rPr lang="en-AU" sz="2000" dirty="0"/>
              <a:t> Select statement that you write</a:t>
            </a:r>
          </a:p>
          <a:p>
            <a:endParaRPr lang="en-AU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This is known as a </a:t>
            </a:r>
            <a:r>
              <a:rPr lang="en-AU" sz="2000" b="1" dirty="0"/>
              <a:t>Join</a:t>
            </a:r>
          </a:p>
          <a:p>
            <a:endParaRPr lang="en-AU" sz="20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There are a </a:t>
            </a:r>
            <a:r>
              <a:rPr lang="en-AU" sz="2000" b="1" dirty="0"/>
              <a:t>few</a:t>
            </a:r>
            <a:r>
              <a:rPr lang="en-AU" sz="2000" dirty="0"/>
              <a:t> ways that tables can be </a:t>
            </a:r>
            <a:r>
              <a:rPr lang="en-AU" sz="2000" b="1" dirty="0"/>
              <a:t>joined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AU" sz="2000" dirty="0"/>
              <a:t>We will concentrate on </a:t>
            </a:r>
            <a:r>
              <a:rPr lang="en-AU" sz="2000" b="1" dirty="0"/>
              <a:t>Inner Joins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5508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Inner Joins </a:t>
            </a: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3300" y="836614"/>
            <a:ext cx="8394700" cy="53292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An </a:t>
            </a:r>
            <a:r>
              <a:rPr lang="en-AU" sz="2000" b="1" dirty="0"/>
              <a:t>Inner Join</a:t>
            </a:r>
            <a:r>
              <a:rPr lang="en-AU" sz="2000" dirty="0"/>
              <a:t> returns a result set that contains</a:t>
            </a:r>
            <a:br>
              <a:rPr lang="en-AU" sz="2000" dirty="0"/>
            </a:br>
            <a:r>
              <a:rPr lang="en-AU" sz="2000" dirty="0"/>
              <a:t>only data that satisfies a </a:t>
            </a:r>
            <a:r>
              <a:rPr lang="en-AU" sz="2000" b="1" dirty="0"/>
              <a:t>Foreign Key – Primary Key condition</a:t>
            </a:r>
          </a:p>
          <a:p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Syntax:	SELECT	&lt;column-names&gt; </a:t>
            </a:r>
            <a:br>
              <a:rPr lang="en-AU" sz="2000" dirty="0"/>
            </a:br>
            <a:r>
              <a:rPr lang="en-AU" sz="2000" dirty="0"/>
              <a:t>		FROM		&lt;table-name1&gt;</a:t>
            </a:r>
            <a:br>
              <a:rPr lang="en-AU" sz="2000" dirty="0"/>
            </a:br>
            <a:r>
              <a:rPr lang="en-AU" sz="2000" dirty="0"/>
              <a:t>		</a:t>
            </a:r>
            <a:r>
              <a:rPr lang="en-AU" sz="2000" b="1" dirty="0"/>
              <a:t>INNER JOIN	&lt;table-name2&gt;</a:t>
            </a:r>
            <a:br>
              <a:rPr lang="en-AU" sz="2000" dirty="0"/>
            </a:br>
            <a:r>
              <a:rPr lang="en-AU" sz="2000" dirty="0"/>
              <a:t>		</a:t>
            </a:r>
            <a:r>
              <a:rPr lang="en-AU" sz="2000" b="1" dirty="0"/>
              <a:t>ON</a:t>
            </a:r>
            <a:r>
              <a:rPr lang="en-AU" sz="2000" dirty="0"/>
              <a:t> 		</a:t>
            </a:r>
            <a:r>
              <a:rPr lang="en-AU" sz="2000" b="1" dirty="0"/>
              <a:t>&lt;join-condition&gt;</a:t>
            </a:r>
          </a:p>
          <a:p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</a:t>
            </a:r>
            <a:r>
              <a:rPr lang="en-AU" sz="2000" b="1" dirty="0"/>
              <a:t>&lt;join-condition&gt;</a:t>
            </a:r>
            <a:r>
              <a:rPr lang="en-AU" sz="2000" dirty="0"/>
              <a:t> is normally in the format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/>
              <a:t>&lt;foreign-key column-name&gt;  =  &lt;primary-key column name&gt;</a:t>
            </a:r>
          </a:p>
          <a:p>
            <a:pPr lvl="1">
              <a:buFont typeface="Arial Narrow" pitchFamily="34" charset="0"/>
              <a:buNone/>
            </a:pPr>
            <a:endParaRPr lang="en-AU" sz="2000" dirty="0"/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SELECT 	   	</a:t>
            </a:r>
            <a:r>
              <a:rPr lang="en-AU" sz="2000" b="1" dirty="0" err="1">
                <a:solidFill>
                  <a:srgbClr val="0033CC"/>
                </a:solidFill>
              </a:rPr>
              <a:t>S.SubjectCode</a:t>
            </a:r>
            <a:r>
              <a:rPr lang="en-AU" sz="2000" b="1" dirty="0">
                <a:solidFill>
                  <a:srgbClr val="0033CC"/>
                </a:solidFill>
              </a:rPr>
              <a:t>, </a:t>
            </a:r>
            <a:r>
              <a:rPr lang="en-AU" sz="2000" b="1" dirty="0" err="1">
                <a:solidFill>
                  <a:srgbClr val="0033CC"/>
                </a:solidFill>
              </a:rPr>
              <a:t>L.LecName</a:t>
            </a:r>
            <a:r>
              <a:rPr lang="en-AU" sz="2000" b="1" dirty="0">
                <a:solidFill>
                  <a:srgbClr val="0033CC"/>
                </a:solidFill>
              </a:rPr>
              <a:t> 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FROM 	   	Subject S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INNER JOIN  	Lecturer L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ON		   		</a:t>
            </a:r>
            <a:r>
              <a:rPr lang="en-AU" sz="2000" b="1" dirty="0" err="1">
                <a:solidFill>
                  <a:srgbClr val="0033CC"/>
                </a:solidFill>
              </a:rPr>
              <a:t>S.LecId</a:t>
            </a:r>
            <a:r>
              <a:rPr lang="en-AU" sz="2000" b="1" dirty="0">
                <a:solidFill>
                  <a:srgbClr val="0033CC"/>
                </a:solidFill>
              </a:rPr>
              <a:t> = </a:t>
            </a:r>
            <a:r>
              <a:rPr lang="en-AU" sz="2000" b="1" dirty="0" err="1">
                <a:solidFill>
                  <a:srgbClr val="0033CC"/>
                </a:solidFill>
              </a:rPr>
              <a:t>L.LecId</a:t>
            </a: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61754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97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Inner Joins </a:t>
            </a:r>
          </a:p>
        </p:txBody>
      </p:sp>
      <p:sp>
        <p:nvSpPr>
          <p:cNvPr id="159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71700" y="836614"/>
            <a:ext cx="8496300" cy="5329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Each row in Subject will only be joined with a row in Lecturer</a:t>
            </a:r>
          </a:p>
          <a:p>
            <a:pPr marL="0" indent="0">
              <a:buNone/>
            </a:pPr>
            <a:r>
              <a:rPr lang="en-AU" sz="2000" dirty="0"/>
              <a:t>where the </a:t>
            </a:r>
            <a:r>
              <a:rPr lang="en-AU" sz="2000" b="1" dirty="0"/>
              <a:t>Foreign Key – Primary Key </a:t>
            </a:r>
            <a:r>
              <a:rPr lang="en-AU" sz="2000" dirty="0"/>
              <a:t>condition is</a:t>
            </a:r>
            <a:r>
              <a:rPr lang="en-AU" sz="2000" b="1" dirty="0"/>
              <a:t> satisfied</a:t>
            </a:r>
          </a:p>
          <a:p>
            <a:endParaRPr lang="en-AU" sz="2000" b="1" dirty="0"/>
          </a:p>
          <a:p>
            <a:pPr>
              <a:buFont typeface="Wingdings" pitchFamily="2" charset="2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dirty="0"/>
          </a:p>
        </p:txBody>
      </p:sp>
      <p:sp>
        <p:nvSpPr>
          <p:cNvPr id="159749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59845" name="Group 101"/>
          <p:cNvGraphicFramePr>
            <a:graphicFrameLocks noGrp="1"/>
          </p:cNvGraphicFramePr>
          <p:nvPr/>
        </p:nvGraphicFramePr>
        <p:xfrm>
          <a:off x="1704975" y="4791075"/>
          <a:ext cx="4751388" cy="1981200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787" name="Rectangle 43"/>
          <p:cNvSpPr>
            <a:spLocks noChangeArrowheads="1"/>
          </p:cNvSpPr>
          <p:nvPr/>
        </p:nvSpPr>
        <p:spPr bwMode="auto">
          <a:xfrm>
            <a:off x="3055938" y="4292600"/>
            <a:ext cx="172561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59847" name="Group 103"/>
          <p:cNvGraphicFramePr>
            <a:graphicFrameLocks noGrp="1"/>
          </p:cNvGraphicFramePr>
          <p:nvPr/>
        </p:nvGraphicFramePr>
        <p:xfrm>
          <a:off x="7751764" y="4941888"/>
          <a:ext cx="2808287" cy="1584960"/>
        </p:xfrm>
        <a:graphic>
          <a:graphicData uri="http://schemas.openxmlformats.org/drawingml/2006/table">
            <a:tbl>
              <a:tblPr/>
              <a:tblGrid>
                <a:gridCol w="81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9815" name="Text Box 71"/>
          <p:cNvSpPr txBox="1">
            <a:spLocks noChangeArrowheads="1"/>
          </p:cNvSpPr>
          <p:nvPr/>
        </p:nvSpPr>
        <p:spPr bwMode="auto">
          <a:xfrm>
            <a:off x="8401050" y="4437063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59848" name="Group 104"/>
          <p:cNvGraphicFramePr>
            <a:graphicFrameLocks noGrp="1"/>
          </p:cNvGraphicFramePr>
          <p:nvPr/>
        </p:nvGraphicFramePr>
        <p:xfrm>
          <a:off x="7535864" y="1989138"/>
          <a:ext cx="2879725" cy="2103120"/>
        </p:xfrm>
        <a:graphic>
          <a:graphicData uri="http://schemas.openxmlformats.org/drawingml/2006/table">
            <a:tbl>
              <a:tblPr/>
              <a:tblGrid>
                <a:gridCol w="1579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RESULT SET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877" name="Text Box 133"/>
          <p:cNvSpPr txBox="1">
            <a:spLocks noChangeArrowheads="1"/>
          </p:cNvSpPr>
          <p:nvPr/>
        </p:nvSpPr>
        <p:spPr bwMode="auto">
          <a:xfrm>
            <a:off x="2063751" y="1989139"/>
            <a:ext cx="54006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SELECT   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 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FROM		Subject S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INNER JOIN	Lecturer L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ON	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S.LecId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L.LecId</a:t>
            </a:r>
            <a:endParaRPr lang="en-US" sz="2000" dirty="0">
              <a:solidFill>
                <a:srgbClr val="0033C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303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r>
              <a:rPr lang="en-AU" dirty="0"/>
              <a:t>Column Prefixes</a:t>
            </a:r>
            <a:r>
              <a:rPr lang="en-AU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60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3300" y="836614"/>
            <a:ext cx="8394700" cy="5329237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/>
              <a:t>SQL interpreters are smart.</a:t>
            </a:r>
          </a:p>
          <a:p>
            <a:pPr marL="0" indent="0">
              <a:buNone/>
            </a:pPr>
            <a:r>
              <a:rPr lang="en-AU" sz="2000" dirty="0"/>
              <a:t>If every column name used in a query then alias prefixes are not required*</a:t>
            </a:r>
          </a:p>
          <a:p>
            <a:pPr>
              <a:buFont typeface="Wingdings" pitchFamily="2" charset="2"/>
              <a:buNone/>
            </a:pP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dirty="0"/>
          </a:p>
        </p:txBody>
      </p:sp>
      <p:sp>
        <p:nvSpPr>
          <p:cNvPr id="160773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60774" name="Group 6"/>
          <p:cNvGraphicFramePr>
            <a:graphicFrameLocks noGrp="1"/>
          </p:cNvGraphicFramePr>
          <p:nvPr/>
        </p:nvGraphicFramePr>
        <p:xfrm>
          <a:off x="1704975" y="4791075"/>
          <a:ext cx="4751388" cy="1981200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811" name="Rectangle 43"/>
          <p:cNvSpPr>
            <a:spLocks noChangeArrowheads="1"/>
          </p:cNvSpPr>
          <p:nvPr/>
        </p:nvSpPr>
        <p:spPr bwMode="auto">
          <a:xfrm>
            <a:off x="3055938" y="4292600"/>
            <a:ext cx="172561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0812" name="Group 44"/>
          <p:cNvGraphicFramePr>
            <a:graphicFrameLocks noGrp="1"/>
          </p:cNvGraphicFramePr>
          <p:nvPr/>
        </p:nvGraphicFramePr>
        <p:xfrm>
          <a:off x="7751764" y="4941888"/>
          <a:ext cx="2808287" cy="1584960"/>
        </p:xfrm>
        <a:graphic>
          <a:graphicData uri="http://schemas.openxmlformats.org/drawingml/2006/table">
            <a:tbl>
              <a:tblPr/>
              <a:tblGrid>
                <a:gridCol w="81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839" name="Text Box 71"/>
          <p:cNvSpPr txBox="1">
            <a:spLocks noChangeArrowheads="1"/>
          </p:cNvSpPr>
          <p:nvPr/>
        </p:nvSpPr>
        <p:spPr bwMode="auto">
          <a:xfrm>
            <a:off x="8401050" y="4437063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60865" name="Text Box 97"/>
          <p:cNvSpPr txBox="1">
            <a:spLocks noChangeArrowheads="1"/>
          </p:cNvSpPr>
          <p:nvPr/>
        </p:nvSpPr>
        <p:spPr bwMode="auto">
          <a:xfrm>
            <a:off x="3055939" y="2020928"/>
            <a:ext cx="83446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Title,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CreditPoints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FROM		Subject S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INNER JOIN	Lecturer L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ON	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S.LecId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L.LecId</a:t>
            </a:r>
            <a:endParaRPr lang="en-AU" sz="2000" dirty="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62459" y="2651869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FF0000"/>
                </a:solidFill>
                <a:latin typeface="Calibri"/>
              </a:rPr>
              <a:t>No alias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6934" y="3722985"/>
            <a:ext cx="252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dirty="0">
                <a:solidFill>
                  <a:srgbClr val="FF0000"/>
                </a:solidFill>
                <a:latin typeface="Calibri"/>
              </a:rPr>
              <a:t>Alias prefix </a:t>
            </a:r>
            <a:r>
              <a:rPr lang="en-AU" u="sng" dirty="0">
                <a:solidFill>
                  <a:srgbClr val="FF0000"/>
                </a:solidFill>
                <a:latin typeface="Calibri"/>
              </a:rPr>
              <a:t>must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be used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5489944" y="2406006"/>
            <a:ext cx="1361882" cy="36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 flipH="1" flipV="1">
            <a:off x="5918841" y="2356204"/>
            <a:ext cx="984161" cy="411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6456365" y="2320282"/>
            <a:ext cx="457599" cy="447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 flipV="1">
            <a:off x="6903001" y="2319752"/>
            <a:ext cx="926106" cy="4477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>
            <a:stCxn id="13" idx="1"/>
          </p:cNvCxnSpPr>
          <p:nvPr/>
        </p:nvCxnSpPr>
        <p:spPr bwMode="auto">
          <a:xfrm flipH="1" flipV="1">
            <a:off x="4224670" y="3344367"/>
            <a:ext cx="1382264" cy="5632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>
            <a:stCxn id="13" idx="1"/>
          </p:cNvCxnSpPr>
          <p:nvPr/>
        </p:nvCxnSpPr>
        <p:spPr bwMode="auto">
          <a:xfrm flipH="1" flipV="1">
            <a:off x="5088810" y="3456233"/>
            <a:ext cx="518124" cy="4514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8915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r>
              <a:rPr lang="en-AU" dirty="0"/>
              <a:t>Column Prefixes</a:t>
            </a:r>
            <a:r>
              <a:rPr lang="en-AU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60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85508" y="836614"/>
            <a:ext cx="8782493" cy="5329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Generally, database professionals </a:t>
            </a:r>
            <a:r>
              <a:rPr lang="en-AU" sz="2000" b="1" dirty="0"/>
              <a:t>prefix all</a:t>
            </a:r>
            <a:r>
              <a:rPr lang="en-AU" sz="2000" dirty="0"/>
              <a:t> column names with </a:t>
            </a:r>
            <a:r>
              <a:rPr lang="en-AU" sz="2000" b="1" dirty="0"/>
              <a:t>aliases</a:t>
            </a:r>
            <a:r>
              <a:rPr lang="en-AU" sz="2000" dirty="0"/>
              <a:t> in their SQL </a:t>
            </a:r>
          </a:p>
          <a:p>
            <a:pPr marL="0" indent="0">
              <a:buNone/>
            </a:pPr>
            <a:r>
              <a:rPr lang="en-AU" sz="2000" dirty="0"/>
              <a:t>	- even when the code only uses 1 table</a:t>
            </a:r>
          </a:p>
          <a:p>
            <a:pPr marL="0" indent="0">
              <a:buNone/>
            </a:pPr>
            <a:r>
              <a:rPr lang="en-AU" sz="2000" dirty="0"/>
              <a:t>	- even if all columns names are unique</a:t>
            </a:r>
          </a:p>
          <a:p>
            <a:pPr marL="0" indent="0">
              <a:buNone/>
            </a:pPr>
            <a:r>
              <a:rPr lang="en-AU" sz="2000" dirty="0"/>
              <a:t>	- Future-proofs queries. </a:t>
            </a:r>
            <a:r>
              <a:rPr lang="en-AU" sz="1800" dirty="0"/>
              <a:t>A query may be modified to include new tables / columns.</a:t>
            </a:r>
            <a:endParaRPr lang="en-AU" sz="2000" dirty="0"/>
          </a:p>
          <a:p>
            <a:pPr>
              <a:buFont typeface="Wingdings" pitchFamily="2" charset="2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dirty="0"/>
          </a:p>
        </p:txBody>
      </p:sp>
      <p:sp>
        <p:nvSpPr>
          <p:cNvPr id="160773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60774" name="Group 6"/>
          <p:cNvGraphicFramePr>
            <a:graphicFrameLocks noGrp="1"/>
          </p:cNvGraphicFramePr>
          <p:nvPr/>
        </p:nvGraphicFramePr>
        <p:xfrm>
          <a:off x="1704975" y="4791075"/>
          <a:ext cx="4751388" cy="1981200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811" name="Rectangle 43"/>
          <p:cNvSpPr>
            <a:spLocks noChangeArrowheads="1"/>
          </p:cNvSpPr>
          <p:nvPr/>
        </p:nvSpPr>
        <p:spPr bwMode="auto">
          <a:xfrm>
            <a:off x="2893017" y="4321394"/>
            <a:ext cx="172561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 dirty="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 dirty="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0812" name="Group 44"/>
          <p:cNvGraphicFramePr>
            <a:graphicFrameLocks noGrp="1"/>
          </p:cNvGraphicFramePr>
          <p:nvPr/>
        </p:nvGraphicFramePr>
        <p:xfrm>
          <a:off x="7751764" y="4941888"/>
          <a:ext cx="2808287" cy="1584960"/>
        </p:xfrm>
        <a:graphic>
          <a:graphicData uri="http://schemas.openxmlformats.org/drawingml/2006/table">
            <a:tbl>
              <a:tblPr/>
              <a:tblGrid>
                <a:gridCol w="81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839" name="Text Box 71"/>
          <p:cNvSpPr txBox="1">
            <a:spLocks noChangeArrowheads="1"/>
          </p:cNvSpPr>
          <p:nvPr/>
        </p:nvSpPr>
        <p:spPr bwMode="auto">
          <a:xfrm>
            <a:off x="8401050" y="4437063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60865" name="Text Box 97"/>
          <p:cNvSpPr txBox="1">
            <a:spLocks noChangeArrowheads="1"/>
          </p:cNvSpPr>
          <p:nvPr/>
        </p:nvSpPr>
        <p:spPr bwMode="auto">
          <a:xfrm>
            <a:off x="3287714" y="2471447"/>
            <a:ext cx="83446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S.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S.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Title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S.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CreditPoints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L.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FROM		Subject S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INNER JOIN	Lecturer L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ON		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S.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FF0000"/>
                </a:solidFill>
                <a:latin typeface="Calibri"/>
              </a:rPr>
              <a:t>L.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LecId</a:t>
            </a:r>
            <a:endParaRPr lang="en-AU" sz="2000" dirty="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7404" y="3078732"/>
            <a:ext cx="24805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 sz="3200" dirty="0">
                <a:solidFill>
                  <a:srgbClr val="FF0000"/>
                </a:solidFill>
                <a:latin typeface="Calibri"/>
              </a:rPr>
              <a:t>* Always use Alias prefixes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flipH="1" flipV="1">
            <a:off x="5592837" y="2854059"/>
            <a:ext cx="1594884" cy="1294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 flipH="1" flipV="1">
            <a:off x="6188260" y="2854059"/>
            <a:ext cx="999462" cy="1294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H="1" flipV="1">
            <a:off x="6964438" y="2804257"/>
            <a:ext cx="223285" cy="13439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7187721" y="2768335"/>
            <a:ext cx="1520456" cy="13798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5358921" y="3941763"/>
            <a:ext cx="1828800" cy="2064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2489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Avoid old style Joins 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199" y="765176"/>
            <a:ext cx="7607301" cy="540067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Back in the </a:t>
            </a:r>
            <a:r>
              <a:rPr lang="en-AU" b="1" dirty="0"/>
              <a:t>dark ages</a:t>
            </a:r>
            <a:r>
              <a:rPr lang="en-AU" dirty="0"/>
              <a:t> (pre 2000), some DBMS products </a:t>
            </a:r>
            <a:br>
              <a:rPr lang="en-AU" dirty="0"/>
            </a:br>
            <a:r>
              <a:rPr lang="en-AU" b="1" dirty="0"/>
              <a:t>did  NOT use/have </a:t>
            </a:r>
            <a:r>
              <a:rPr lang="en-AU" dirty="0"/>
              <a:t>the </a:t>
            </a:r>
            <a:r>
              <a:rPr lang="en-AU" b="1" dirty="0"/>
              <a:t>Inner Join</a:t>
            </a:r>
            <a:r>
              <a:rPr lang="en-AU" dirty="0"/>
              <a:t> keyword.</a:t>
            </a:r>
          </a:p>
          <a:p>
            <a:endParaRPr lang="en-A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400" dirty="0"/>
              <a:t>Instead the Join was expressed as part of the </a:t>
            </a:r>
            <a:r>
              <a:rPr lang="en-AU" sz="2400" b="1" dirty="0"/>
              <a:t>where clause</a:t>
            </a:r>
            <a:r>
              <a:rPr lang="en-AU" sz="2400" dirty="0"/>
              <a:t> within the Select statement</a:t>
            </a:r>
          </a:p>
          <a:p>
            <a:pPr lvl="1"/>
            <a:endParaRPr lang="en-AU" sz="2400" dirty="0"/>
          </a:p>
          <a:p>
            <a:pPr marL="0" indent="0">
              <a:buNone/>
            </a:pPr>
            <a:r>
              <a:rPr lang="en-AU" dirty="0"/>
              <a:t>Many </a:t>
            </a:r>
            <a:r>
              <a:rPr lang="en-AU" b="1" dirty="0"/>
              <a:t>old-time</a:t>
            </a:r>
            <a:r>
              <a:rPr lang="en-AU" dirty="0"/>
              <a:t> developers, </a:t>
            </a:r>
            <a:r>
              <a:rPr lang="en-AU" b="1" dirty="0"/>
              <a:t>old-time</a:t>
            </a:r>
            <a:r>
              <a:rPr lang="en-AU" dirty="0"/>
              <a:t> web sites, </a:t>
            </a:r>
            <a:r>
              <a:rPr lang="en-AU" b="1" dirty="0"/>
              <a:t>old-time</a:t>
            </a:r>
            <a:r>
              <a:rPr lang="en-AU" dirty="0"/>
              <a:t> books &amp; authors still use this old-style in their code and in their examples</a:t>
            </a:r>
            <a:endParaRPr lang="en-AU" b="1" dirty="0"/>
          </a:p>
          <a:p>
            <a:endParaRPr lang="en-AU" b="1" dirty="0"/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3538708" y="4842412"/>
            <a:ext cx="5400675" cy="150810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/>
            <a:r>
              <a:rPr lang="en-AU" sz="2400" dirty="0">
                <a:solidFill>
                  <a:srgbClr val="0033CC"/>
                </a:solidFill>
                <a:latin typeface="Calibri"/>
              </a:rPr>
              <a:t>SELECT		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S.SubjectCode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,   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400" dirty="0">
                <a:solidFill>
                  <a:srgbClr val="0033CC"/>
                </a:solidFill>
                <a:latin typeface="Calibri"/>
              </a:rPr>
              <a:t>FROM		Subject S,  Lecturer L</a:t>
            </a:r>
          </a:p>
          <a:p>
            <a:pPr defTabSz="457200"/>
            <a:r>
              <a:rPr lang="en-AU" sz="2400" dirty="0">
                <a:solidFill>
                  <a:srgbClr val="009900"/>
                </a:solidFill>
                <a:latin typeface="Calibri"/>
              </a:rPr>
              <a:t>WHERE	</a:t>
            </a:r>
            <a:r>
              <a:rPr lang="en-AU" sz="2400" dirty="0" err="1">
                <a:solidFill>
                  <a:srgbClr val="009900"/>
                </a:solidFill>
                <a:latin typeface="Calibri"/>
              </a:rPr>
              <a:t>S.LecId</a:t>
            </a:r>
            <a:r>
              <a:rPr lang="en-AU" sz="2400" dirty="0">
                <a:solidFill>
                  <a:srgbClr val="009900"/>
                </a:solidFill>
                <a:latin typeface="Calibri"/>
              </a:rPr>
              <a:t> = </a:t>
            </a:r>
            <a:r>
              <a:rPr lang="en-AU" sz="2400" dirty="0" err="1">
                <a:solidFill>
                  <a:srgbClr val="009900"/>
                </a:solidFill>
                <a:latin typeface="Calibri"/>
              </a:rPr>
              <a:t>L.LecId</a:t>
            </a:r>
            <a:endParaRPr lang="en-AU" sz="2400" dirty="0">
              <a:solidFill>
                <a:srgbClr val="009900"/>
              </a:solidFill>
              <a:latin typeface="Calibri"/>
            </a:endParaRPr>
          </a:p>
          <a:p>
            <a:pPr defTabSz="457200"/>
            <a:endParaRPr lang="en-US" sz="2000" dirty="0">
              <a:solidFill>
                <a:srgbClr val="0033C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61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r>
              <a:rPr lang="en-AU" sz="3200" dirty="0"/>
              <a:t>SQL: Avoid old style Joins 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765176"/>
            <a:ext cx="8064500" cy="540067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This </a:t>
            </a:r>
            <a:r>
              <a:rPr lang="en-AU" sz="2000" b="1" dirty="0"/>
              <a:t>old style</a:t>
            </a:r>
            <a:r>
              <a:rPr lang="en-AU" sz="2000" dirty="0"/>
              <a:t> join gets </a:t>
            </a:r>
            <a:r>
              <a:rPr lang="en-AU" sz="2000" b="1" dirty="0"/>
              <a:t>confusing</a:t>
            </a:r>
            <a:r>
              <a:rPr lang="en-AU" sz="2000" dirty="0"/>
              <a:t> when you add </a:t>
            </a:r>
            <a:br>
              <a:rPr lang="en-AU" sz="2000" dirty="0"/>
            </a:br>
            <a:r>
              <a:rPr lang="en-AU" sz="2000" dirty="0"/>
              <a:t>other restriction criteria to your </a:t>
            </a:r>
            <a:r>
              <a:rPr lang="en-AU" sz="2000" b="1" dirty="0"/>
              <a:t>where</a:t>
            </a:r>
            <a:r>
              <a:rPr lang="en-AU" sz="2000" dirty="0"/>
              <a:t> </a:t>
            </a:r>
            <a:r>
              <a:rPr lang="en-AU" sz="2000" b="1" dirty="0"/>
              <a:t>clause.   </a:t>
            </a:r>
            <a:r>
              <a:rPr lang="en-AU" sz="2000" b="1" dirty="0">
                <a:solidFill>
                  <a:srgbClr val="FF0000"/>
                </a:solidFill>
              </a:rPr>
              <a:t>Avoid old style join.</a:t>
            </a:r>
          </a:p>
          <a:p>
            <a:pPr lvl="1"/>
            <a:endParaRPr lang="en-AU" sz="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The </a:t>
            </a:r>
            <a:r>
              <a:rPr lang="en-AU" sz="2000" b="1" dirty="0"/>
              <a:t>Where </a:t>
            </a:r>
            <a:r>
              <a:rPr lang="en-AU" sz="2000" dirty="0"/>
              <a:t>clause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becomes </a:t>
            </a:r>
            <a:r>
              <a:rPr lang="en-AU" sz="2000" b="1" dirty="0"/>
              <a:t>cluttered and complex:</a:t>
            </a:r>
            <a:r>
              <a:rPr lang="en-AU" sz="2000" dirty="0"/>
              <a:t>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may require use of </a:t>
            </a:r>
            <a:r>
              <a:rPr lang="en-AU" sz="2000" b="1" dirty="0"/>
              <a:t>additional brackets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Becomes source of </a:t>
            </a:r>
            <a:r>
              <a:rPr lang="en-AU" sz="2000" b="1" dirty="0"/>
              <a:t>bugs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AU" sz="2000" dirty="0"/>
              <a:t>these two examples will produce different results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6271659" y="3608832"/>
            <a:ext cx="4396415" cy="19082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 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FROM	Subject S,  Lecturer L</a:t>
            </a: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WHERE	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S.LecId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L.LecId</a:t>
            </a:r>
            <a:endParaRPr lang="en-AU" sz="2000" dirty="0">
              <a:solidFill>
                <a:srgbClr val="009900"/>
              </a:solidFill>
              <a:latin typeface="Calibri"/>
            </a:endParaRP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      AND	(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L.Age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&gt; 50</a:t>
            </a: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         OR   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L.Title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= 'Professor' )</a:t>
            </a:r>
          </a:p>
          <a:p>
            <a:pPr defTabSz="457200"/>
            <a:endParaRPr lang="en-US" dirty="0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174086" name="Text Box 8"/>
          <p:cNvSpPr txBox="1">
            <a:spLocks noChangeArrowheads="1"/>
          </p:cNvSpPr>
          <p:nvPr/>
        </p:nvSpPr>
        <p:spPr bwMode="auto">
          <a:xfrm>
            <a:off x="2009775" y="5480250"/>
            <a:ext cx="7092950" cy="1231106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 sz="2000" dirty="0">
                <a:solidFill>
                  <a:srgbClr val="0C64A7"/>
                </a:solidFill>
                <a:latin typeface="Calibri"/>
              </a:rPr>
              <a:t>When you think you have mastered SQL (say in 4 weeks time) then try to uses this old-style technique. </a:t>
            </a:r>
            <a:br>
              <a:rPr lang="en-AU" sz="2000" dirty="0">
                <a:solidFill>
                  <a:srgbClr val="0C64A7"/>
                </a:solidFill>
                <a:latin typeface="Calibri"/>
              </a:rPr>
            </a:br>
            <a:r>
              <a:rPr lang="en-AU" sz="2000" dirty="0">
                <a:solidFill>
                  <a:srgbClr val="0C64A7"/>
                </a:solidFill>
                <a:latin typeface="Calibri"/>
              </a:rPr>
              <a:t>You will see it used in industry by dinosaur SQL developers </a:t>
            </a:r>
          </a:p>
          <a:p>
            <a:pPr marL="182563" algn="ctr" defTabSz="457200"/>
            <a:r>
              <a:rPr lang="en-AU" sz="2000" dirty="0">
                <a:solidFill>
                  <a:srgbClr val="0C64A7"/>
                </a:solidFill>
                <a:latin typeface="Calibri"/>
              </a:rPr>
              <a:t>(anyone over 42 years of age) </a:t>
            </a:r>
            <a:endParaRPr lang="en-AU" sz="2000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875244" y="3606752"/>
            <a:ext cx="4396415" cy="19082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 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/>
            <a:r>
              <a:rPr lang="en-AU" sz="2000" dirty="0">
                <a:solidFill>
                  <a:srgbClr val="0033CC"/>
                </a:solidFill>
                <a:latin typeface="Calibri"/>
              </a:rPr>
              <a:t>FROM	Subject S,  Lecturer L</a:t>
            </a: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WHERE	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S.LecId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L.LecId</a:t>
            </a:r>
            <a:endParaRPr lang="en-AU" sz="2000" dirty="0">
              <a:solidFill>
                <a:srgbClr val="009900"/>
              </a:solidFill>
              <a:latin typeface="Calibri"/>
            </a:endParaRP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      AND	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L.Age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&gt; 50</a:t>
            </a:r>
          </a:p>
          <a:p>
            <a:pPr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         OR 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L.Title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= 'Professor'</a:t>
            </a:r>
          </a:p>
          <a:p>
            <a:pPr defTabSz="457200"/>
            <a:endParaRPr lang="en-US" dirty="0">
              <a:solidFill>
                <a:srgbClr val="0033C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494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25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r>
              <a:rPr lang="en-AU" sz="3200"/>
              <a:t>ERD with multiple relationships</a:t>
            </a:r>
          </a:p>
        </p:txBody>
      </p:sp>
      <p:sp>
        <p:nvSpPr>
          <p:cNvPr id="152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908050"/>
            <a:ext cx="8686800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The ERD below has been modified and has an </a:t>
            </a:r>
            <a:r>
              <a:rPr lang="en-AU" sz="2000" b="1" dirty="0"/>
              <a:t>additional</a:t>
            </a:r>
            <a:r>
              <a:rPr lang="en-AU" sz="2000" dirty="0"/>
              <a:t> relationship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One Lecturer May be Located in </a:t>
            </a:r>
            <a:r>
              <a:rPr lang="en-AU" sz="2000" b="1" dirty="0"/>
              <a:t>ONE</a:t>
            </a:r>
            <a:r>
              <a:rPr lang="en-AU" sz="2000" dirty="0"/>
              <a:t> office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One Office May have </a:t>
            </a:r>
            <a:r>
              <a:rPr lang="en-AU" sz="2000" b="1" dirty="0"/>
              <a:t>MANY</a:t>
            </a:r>
            <a:r>
              <a:rPr lang="en-AU" sz="2000" dirty="0"/>
              <a:t> Lecturers</a:t>
            </a:r>
          </a:p>
          <a:p>
            <a:endParaRPr lang="en-AU" sz="2000" dirty="0"/>
          </a:p>
          <a:p>
            <a:pPr marL="0" indent="0">
              <a:buNone/>
            </a:pPr>
            <a:r>
              <a:rPr lang="en-AU" sz="2000" dirty="0"/>
              <a:t>Remember: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Each M:1 relationship will </a:t>
            </a:r>
            <a:r>
              <a:rPr lang="en-AU" sz="2000" b="1" dirty="0"/>
              <a:t>always</a:t>
            </a:r>
            <a:r>
              <a:rPr lang="en-AU" sz="2000" dirty="0"/>
              <a:t> generate a </a:t>
            </a:r>
            <a:r>
              <a:rPr lang="en-AU" sz="2000" b="1" dirty="0"/>
              <a:t>FK</a:t>
            </a:r>
            <a:r>
              <a:rPr lang="en-AU" sz="2000" dirty="0"/>
              <a:t> in the relational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A  FK is </a:t>
            </a:r>
            <a:r>
              <a:rPr lang="en-AU" sz="2000" b="1" dirty="0"/>
              <a:t>always</a:t>
            </a:r>
            <a:r>
              <a:rPr lang="en-AU" sz="2000" dirty="0"/>
              <a:t> located at the </a:t>
            </a:r>
            <a:r>
              <a:rPr lang="en-AU" sz="2000" b="1" dirty="0"/>
              <a:t>MANY</a:t>
            </a:r>
            <a:r>
              <a:rPr lang="en-AU" sz="2000" dirty="0"/>
              <a:t> end of a M:1 relationship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1981201" y="3712572"/>
          <a:ext cx="7996237" cy="223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440" imgH="3660660" progId="Visio.Drawing.11">
                  <p:embed/>
                </p:oleObj>
              </mc:Choice>
              <mc:Fallback>
                <p:oleObj name="Visio" r:id="rId2" imgW="8331440" imgH="3660660" progId="Visio.Drawing.11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l="16519" t="17934" r="19264" b="43622"/>
                      <a:stretch>
                        <a:fillRect/>
                      </a:stretch>
                    </p:blipFill>
                    <p:spPr bwMode="auto">
                      <a:xfrm>
                        <a:off x="1981201" y="3712572"/>
                        <a:ext cx="7996237" cy="2237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29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Convert ERD to Relational Model</a:t>
            </a:r>
          </a:p>
        </p:txBody>
      </p:sp>
      <p:sp>
        <p:nvSpPr>
          <p:cNvPr id="161796" name="Rectangle 4"/>
          <p:cNvSpPr>
            <a:spLocks noGrp="1" noChangeArrowheads="1"/>
          </p:cNvSpPr>
          <p:nvPr>
            <p:ph idx="1"/>
          </p:nvPr>
        </p:nvSpPr>
        <p:spPr>
          <a:xfrm>
            <a:off x="2106614" y="908050"/>
            <a:ext cx="7805737" cy="985838"/>
          </a:xfrm>
        </p:spPr>
        <p:txBody>
          <a:bodyPr>
            <a:noAutofit/>
          </a:bodyPr>
          <a:lstStyle/>
          <a:p>
            <a:pPr marL="476250" lvl="1" indent="0">
              <a:buNone/>
            </a:pPr>
            <a:r>
              <a:rPr lang="en-AU" sz="1600" dirty="0"/>
              <a:t>The ERD has two M:1 relationships</a:t>
            </a:r>
          </a:p>
          <a:p>
            <a:pPr marL="476250" lvl="1" indent="0">
              <a:buNone/>
            </a:pPr>
            <a:r>
              <a:rPr lang="en-AU" sz="1600" dirty="0"/>
              <a:t>The Relational Schema will have </a:t>
            </a:r>
            <a:r>
              <a:rPr lang="en-AU" sz="1600" b="1" dirty="0"/>
              <a:t>two FKs</a:t>
            </a:r>
            <a:endParaRPr lang="en-AU" sz="1600" dirty="0"/>
          </a:p>
          <a:p>
            <a:pPr marL="476250" lvl="1" indent="0">
              <a:buNone/>
            </a:pPr>
            <a:r>
              <a:rPr lang="en-AU" sz="1600" dirty="0"/>
              <a:t>Each M:1 relationship generates a FK in the relational model</a:t>
            </a:r>
          </a:p>
        </p:txBody>
      </p:sp>
      <p:sp>
        <p:nvSpPr>
          <p:cNvPr id="161852" name="Rectangle 60"/>
          <p:cNvSpPr>
            <a:spLocks noChangeArrowheads="1"/>
          </p:cNvSpPr>
          <p:nvPr/>
        </p:nvSpPr>
        <p:spPr bwMode="auto">
          <a:xfrm>
            <a:off x="2855914" y="4365626"/>
            <a:ext cx="7272337" cy="209288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lIns="0" tIns="0" rIns="0" bIns="0">
            <a:spAutoFit/>
          </a:bodyPr>
          <a:lstStyle/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OFFICE (</a:t>
            </a:r>
            <a:r>
              <a:rPr lang="en-AU" sz="2000" u="sng" dirty="0" err="1">
                <a:solidFill>
                  <a:srgbClr val="0000FF"/>
                </a:solidFill>
                <a:latin typeface="Calibri"/>
              </a:rPr>
              <a:t>OfficeNo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YearPainted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SqMeters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</a:t>
            </a: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000" dirty="0">
              <a:solidFill>
                <a:srgbClr val="0000FF"/>
              </a:solidFill>
              <a:latin typeface="Calibri"/>
            </a:endParaRP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000" dirty="0">
              <a:solidFill>
                <a:srgbClr val="0000FF"/>
              </a:solidFill>
              <a:latin typeface="Calibri"/>
            </a:endParaRP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LECTURER (</a:t>
            </a:r>
            <a:r>
              <a:rPr lang="en-AU" sz="2000" u="sng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LecName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Age,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OfficeNo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</a:t>
            </a: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Foreign Key  (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OfficeNo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  References  OFFICE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</a:p>
          <a:p>
            <a:pPr marL="85725" defTabSz="457200"/>
            <a:endParaRPr lang="en-AU" sz="2000" dirty="0">
              <a:solidFill>
                <a:srgbClr val="0000FF"/>
              </a:solidFill>
              <a:latin typeface="Calibri"/>
            </a:endParaRP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SUBJECT(</a:t>
            </a:r>
            <a:r>
              <a:rPr lang="en-AU" sz="2000" u="sng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Title,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CreditPoints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</a:t>
            </a:r>
          </a:p>
          <a:p>
            <a:pPr marL="85725" defTabSz="457200"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Foreign Key  (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  References LECTURER</a:t>
            </a:r>
          </a:p>
        </p:txBody>
      </p:sp>
      <p:graphicFrame>
        <p:nvGraphicFramePr>
          <p:cNvPr id="161854" name="Object 62"/>
          <p:cNvGraphicFramePr>
            <a:graphicFrameLocks noChangeAspect="1"/>
          </p:cNvGraphicFramePr>
          <p:nvPr/>
        </p:nvGraphicFramePr>
        <p:xfrm>
          <a:off x="2718483" y="2046436"/>
          <a:ext cx="5905500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61854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519" t="17934" r="19264" b="43622"/>
                      <a:stretch>
                        <a:fillRect/>
                      </a:stretch>
                    </p:blipFill>
                    <p:spPr bwMode="auto">
                      <a:xfrm>
                        <a:off x="2718483" y="2046436"/>
                        <a:ext cx="5905500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4919284"/>
      </p:ext>
    </p:extLst>
  </p:cSld>
  <p:clrMapOvr>
    <a:masterClrMapping/>
  </p:clrMapOvr>
  <p:transition>
    <p:cover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28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Query involving two tables </a:t>
            </a:r>
          </a:p>
        </p:txBody>
      </p:sp>
      <p:sp>
        <p:nvSpPr>
          <p:cNvPr id="1628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71700" y="765176"/>
            <a:ext cx="8496300" cy="5400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Q. How large is the office of the convenor of </a:t>
            </a:r>
            <a:r>
              <a:rPr lang="en-AU" sz="2000" dirty="0">
                <a:latin typeface="Arial Narrow" pitchFamily="34" charset="0"/>
              </a:rPr>
              <a:t>INF11002</a:t>
            </a:r>
            <a:r>
              <a:rPr lang="en-AU" sz="2000" dirty="0"/>
              <a:t>?</a:t>
            </a:r>
          </a:p>
          <a:p>
            <a:pPr marL="0" indent="0">
              <a:buNone/>
            </a:pPr>
            <a:endParaRPr lang="en-AU" sz="2000" b="1" dirty="0"/>
          </a:p>
          <a:p>
            <a:pPr marL="0" indent="0">
              <a:buNone/>
            </a:pPr>
            <a:r>
              <a:rPr lang="en-AU" sz="2000" dirty="0"/>
              <a:t>Q. When was the office of the convenor of Media Thesis A last painted?</a:t>
            </a:r>
          </a:p>
          <a:p>
            <a:endParaRPr lang="en-AU" sz="2000" b="1" dirty="0"/>
          </a:p>
          <a:p>
            <a:pPr lvl="1"/>
            <a:endParaRPr lang="en-AU" sz="2000" b="1" dirty="0"/>
          </a:p>
          <a:p>
            <a:pPr lvl="1"/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graphicFrame>
        <p:nvGraphicFramePr>
          <p:cNvPr id="162821" name="Group 5"/>
          <p:cNvGraphicFramePr>
            <a:graphicFrameLocks noGrp="1"/>
          </p:cNvGraphicFramePr>
          <p:nvPr/>
        </p:nvGraphicFramePr>
        <p:xfrm>
          <a:off x="2054225" y="4772026"/>
          <a:ext cx="4546600" cy="1918337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2858" name="Rectangle 42"/>
          <p:cNvSpPr>
            <a:spLocks noChangeArrowheads="1"/>
          </p:cNvSpPr>
          <p:nvPr/>
        </p:nvSpPr>
        <p:spPr bwMode="auto">
          <a:xfrm>
            <a:off x="2054225" y="4437063"/>
            <a:ext cx="12509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SUBJECT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2987" name="Group 171"/>
          <p:cNvGraphicFramePr>
            <a:graphicFrameLocks noGrp="1"/>
          </p:cNvGraphicFramePr>
          <p:nvPr/>
        </p:nvGraphicFramePr>
        <p:xfrm>
          <a:off x="5138739" y="2997200"/>
          <a:ext cx="3394075" cy="1581152"/>
        </p:xfrm>
        <a:graphic>
          <a:graphicData uri="http://schemas.openxmlformats.org/drawingml/2006/table">
            <a:tbl>
              <a:tblPr/>
              <a:tblGrid>
                <a:gridCol w="709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OfficeNo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EN505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886" name="Text Box 70"/>
          <p:cNvSpPr txBox="1">
            <a:spLocks noChangeArrowheads="1"/>
          </p:cNvSpPr>
          <p:nvPr/>
        </p:nvSpPr>
        <p:spPr bwMode="auto">
          <a:xfrm>
            <a:off x="5087938" y="2636838"/>
            <a:ext cx="1428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LECTURER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2966" name="Group 150"/>
          <p:cNvGraphicFramePr>
            <a:graphicFrameLocks noGrp="1"/>
          </p:cNvGraphicFramePr>
          <p:nvPr/>
        </p:nvGraphicFramePr>
        <p:xfrm>
          <a:off x="7319964" y="5084763"/>
          <a:ext cx="3024187" cy="1581152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OfficeNo</a:t>
                      </a:r>
                      <a:endParaRPr kumimoji="0" lang="en-AU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YearPainted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SqMeters</a:t>
                      </a:r>
                      <a:endParaRPr kumimoji="0" lang="en-A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EN505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BA915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956" name="Text Box 140"/>
          <p:cNvSpPr txBox="1">
            <a:spLocks noChangeArrowheads="1"/>
          </p:cNvSpPr>
          <p:nvPr/>
        </p:nvSpPr>
        <p:spPr bwMode="auto">
          <a:xfrm>
            <a:off x="7413625" y="4724401"/>
            <a:ext cx="10223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OFFICE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094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4"/>
          <p:cNvSpPr>
            <a:spLocks noChangeArrowheads="1"/>
          </p:cNvSpPr>
          <p:nvPr/>
        </p:nvSpPr>
        <p:spPr bwMode="auto">
          <a:xfrm>
            <a:off x="8886825" y="5895571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48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Query involving 3 tables / 2 inner joins</a:t>
            </a:r>
          </a:p>
        </p:txBody>
      </p:sp>
      <p:sp>
        <p:nvSpPr>
          <p:cNvPr id="1648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71700" y="765176"/>
            <a:ext cx="8496300" cy="540067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This single SQL statement uses</a:t>
            </a:r>
            <a:r>
              <a:rPr lang="en-AU" b="1" dirty="0"/>
              <a:t> two Inner Joins </a:t>
            </a:r>
            <a:r>
              <a:rPr lang="en-AU" dirty="0"/>
              <a:t>to retrieve data from the </a:t>
            </a:r>
            <a:br>
              <a:rPr lang="en-AU" dirty="0"/>
            </a:br>
            <a:r>
              <a:rPr lang="en-AU" b="1" dirty="0"/>
              <a:t>three related tables</a:t>
            </a:r>
          </a:p>
          <a:p>
            <a:endParaRPr lang="en-AU" b="1" dirty="0"/>
          </a:p>
        </p:txBody>
      </p:sp>
      <p:graphicFrame>
        <p:nvGraphicFramePr>
          <p:cNvPr id="165033" name="Group 169"/>
          <p:cNvGraphicFramePr>
            <a:graphicFrameLocks noGrp="1"/>
          </p:cNvGraphicFramePr>
          <p:nvPr/>
        </p:nvGraphicFramePr>
        <p:xfrm>
          <a:off x="1524000" y="5148811"/>
          <a:ext cx="3708400" cy="149352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2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906" name="Rectangle 42"/>
          <p:cNvSpPr>
            <a:spLocks noChangeArrowheads="1"/>
          </p:cNvSpPr>
          <p:nvPr/>
        </p:nvSpPr>
        <p:spPr bwMode="auto">
          <a:xfrm>
            <a:off x="1524000" y="4718599"/>
            <a:ext cx="12509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SUBJECT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5053" name="Group 189"/>
          <p:cNvGraphicFramePr>
            <a:graphicFrameLocks noGrp="1"/>
          </p:cNvGraphicFramePr>
          <p:nvPr/>
        </p:nvGraphicFramePr>
        <p:xfrm>
          <a:off x="5303838" y="5452024"/>
          <a:ext cx="2736850" cy="118872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0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2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OfficeNo</a:t>
                      </a:r>
                      <a:endParaRPr kumimoji="0" lang="en-AU" sz="12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EN505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939" name="Text Box 75"/>
          <p:cNvSpPr txBox="1">
            <a:spLocks noChangeArrowheads="1"/>
          </p:cNvSpPr>
          <p:nvPr/>
        </p:nvSpPr>
        <p:spPr bwMode="auto">
          <a:xfrm>
            <a:off x="5340350" y="5077374"/>
            <a:ext cx="1428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LECTURER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65052" name="Group 188"/>
          <p:cNvGraphicFramePr>
            <a:graphicFrameLocks noGrp="1"/>
          </p:cNvGraphicFramePr>
          <p:nvPr/>
        </p:nvGraphicFramePr>
        <p:xfrm>
          <a:off x="8112125" y="5452024"/>
          <a:ext cx="2520950" cy="118872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3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OfficeNo</a:t>
                      </a:r>
                      <a:endParaRPr kumimoji="0" lang="en-AU" sz="12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YearPainted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SqMeters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EN710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EN505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BA915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5009" name="Text Box 145"/>
          <p:cNvSpPr txBox="1">
            <a:spLocks noChangeArrowheads="1"/>
          </p:cNvSpPr>
          <p:nvPr/>
        </p:nvSpPr>
        <p:spPr bwMode="auto">
          <a:xfrm>
            <a:off x="8112125" y="5077374"/>
            <a:ext cx="10223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Arial" charset="0"/>
              </a:rPr>
              <a:t>OFFICE</a:t>
            </a:r>
            <a:endParaRPr lang="en-US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65010" name="Text Box 146"/>
          <p:cNvSpPr txBox="1">
            <a:spLocks noChangeArrowheads="1"/>
          </p:cNvSpPr>
          <p:nvPr/>
        </p:nvSpPr>
        <p:spPr bwMode="auto">
          <a:xfrm>
            <a:off x="1747561" y="1955146"/>
            <a:ext cx="7011470" cy="27699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S.SubjectCode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O.SqMeters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FROM	Subject  S</a:t>
            </a:r>
          </a:p>
          <a:p>
            <a:pPr defTabSz="457200">
              <a:tabLst>
                <a:tab pos="1339850" algn="l"/>
              </a:tabLst>
            </a:pPr>
            <a:endParaRPr lang="en-AU" sz="1100" dirty="0">
              <a:solidFill>
                <a:srgbClr val="0033CC"/>
              </a:solidFill>
              <a:latin typeface="Calibri"/>
            </a:endParaRP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009900"/>
                </a:solidFill>
                <a:latin typeface="Calibri"/>
              </a:rPr>
              <a:t>INNER JOIN	Lecturer  L</a:t>
            </a: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009900"/>
                </a:solidFill>
                <a:latin typeface="Calibri"/>
              </a:rPr>
              <a:t>ON		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S.LecId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009900"/>
                </a:solidFill>
                <a:latin typeface="Calibri"/>
              </a:rPr>
              <a:t>L.LecId</a:t>
            </a:r>
            <a:endParaRPr lang="en-AU" sz="2000" dirty="0">
              <a:solidFill>
                <a:srgbClr val="009900"/>
              </a:solidFill>
              <a:latin typeface="Calibri"/>
            </a:endParaRPr>
          </a:p>
          <a:p>
            <a:pPr defTabSz="457200">
              <a:tabLst>
                <a:tab pos="1339850" algn="l"/>
              </a:tabLst>
            </a:pPr>
            <a:endParaRPr lang="en-AU" sz="1100" dirty="0">
              <a:solidFill>
                <a:srgbClr val="009900"/>
              </a:solidFill>
              <a:latin typeface="Calibri"/>
            </a:endParaRP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7030A0"/>
                </a:solidFill>
                <a:latin typeface="Calibri"/>
              </a:rPr>
              <a:t>INNER JOIN	Office  O</a:t>
            </a: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7030A0"/>
                </a:solidFill>
                <a:latin typeface="Calibri"/>
              </a:rPr>
              <a:t>ON		</a:t>
            </a:r>
            <a:r>
              <a:rPr lang="en-AU" sz="2000" dirty="0" err="1">
                <a:solidFill>
                  <a:srgbClr val="7030A0"/>
                </a:solidFill>
                <a:latin typeface="Calibri"/>
              </a:rPr>
              <a:t>L.OfficeNo</a:t>
            </a:r>
            <a:r>
              <a:rPr lang="en-AU" sz="2000" dirty="0">
                <a:solidFill>
                  <a:srgbClr val="7030A0"/>
                </a:solidFill>
                <a:latin typeface="Calibri"/>
              </a:rPr>
              <a:t> = </a:t>
            </a:r>
            <a:r>
              <a:rPr lang="en-AU" sz="2000" dirty="0" err="1">
                <a:solidFill>
                  <a:srgbClr val="7030A0"/>
                </a:solidFill>
                <a:latin typeface="Calibri"/>
              </a:rPr>
              <a:t>O.OfficeNo</a:t>
            </a:r>
            <a:endParaRPr lang="en-AU" sz="2000" dirty="0">
              <a:solidFill>
                <a:srgbClr val="7030A0"/>
              </a:solidFill>
              <a:latin typeface="Calibri"/>
            </a:endParaRPr>
          </a:p>
          <a:p>
            <a:pPr defTabSz="457200">
              <a:tabLst>
                <a:tab pos="1339850" algn="l"/>
              </a:tabLst>
            </a:pPr>
            <a:endParaRPr lang="en-AU" sz="1050" dirty="0">
              <a:solidFill>
                <a:srgbClr val="7030A0"/>
              </a:solidFill>
              <a:latin typeface="Calibri"/>
            </a:endParaRPr>
          </a:p>
          <a:p>
            <a:pPr defTabSz="457200">
              <a:tabLst>
                <a:tab pos="133985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ORDER BY	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S.SubjectCode</a:t>
            </a:r>
            <a:endParaRPr lang="en-US" sz="2000" dirty="0">
              <a:solidFill>
                <a:srgbClr val="0033CC"/>
              </a:solidFill>
              <a:latin typeface="Calibri"/>
            </a:endParaRPr>
          </a:p>
        </p:txBody>
      </p:sp>
      <p:graphicFrame>
        <p:nvGraphicFramePr>
          <p:cNvPr id="165161" name="Group 297"/>
          <p:cNvGraphicFramePr>
            <a:graphicFrameLocks noGrp="1"/>
          </p:cNvGraphicFramePr>
          <p:nvPr/>
        </p:nvGraphicFramePr>
        <p:xfrm>
          <a:off x="6679943" y="2707970"/>
          <a:ext cx="3817937" cy="1767840"/>
        </p:xfrm>
        <a:graphic>
          <a:graphicData uri="http://schemas.openxmlformats.org/drawingml/2006/table">
            <a:tbl>
              <a:tblPr/>
              <a:tblGrid>
                <a:gridCol w="143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SQMETERS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INF35606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Jane Pitt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8.2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INF35700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 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160" name="Rectangle 296"/>
          <p:cNvSpPr>
            <a:spLocks noChangeArrowheads="1"/>
          </p:cNvSpPr>
          <p:nvPr/>
        </p:nvSpPr>
        <p:spPr bwMode="auto">
          <a:xfrm>
            <a:off x="6690757" y="2697338"/>
            <a:ext cx="3743325" cy="1800225"/>
          </a:xfrm>
          <a:prstGeom prst="rect">
            <a:avLst/>
          </a:prstGeom>
          <a:noFill/>
          <a:ln w="9525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47889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1496</Words>
  <Application>Microsoft Office PowerPoint</Application>
  <PresentationFormat>Widescreen</PresentationFormat>
  <Paragraphs>479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Open Sans</vt:lpstr>
      <vt:lpstr>Wingdings</vt:lpstr>
      <vt:lpstr>Swinburne_Tiles</vt:lpstr>
      <vt:lpstr>Visio</vt:lpstr>
      <vt:lpstr>INF10025 Data Management and Analytics Lecture 6 – Part 2</vt:lpstr>
      <vt:lpstr>SQL: Query involving two tables </vt:lpstr>
      <vt:lpstr>SQL: Query involving two tables </vt:lpstr>
      <vt:lpstr>SQL:  Cartesian Product  problem</vt:lpstr>
      <vt:lpstr>SQL: Inner Joins </vt:lpstr>
      <vt:lpstr>SQL: Inner Joins </vt:lpstr>
      <vt:lpstr>Column Prefixes </vt:lpstr>
      <vt:lpstr>Column Prefixes </vt:lpstr>
      <vt:lpstr>SQL: Avoid old style Joins </vt:lpstr>
      <vt:lpstr>SQL: Avoid old style Joins </vt:lpstr>
      <vt:lpstr>ERD with multiple relationships</vt:lpstr>
      <vt:lpstr>Convert ERD to Relational Model</vt:lpstr>
      <vt:lpstr>SQL: Query involving two tables </vt:lpstr>
      <vt:lpstr>SQL: Query involving 3 tables / 2 inner joins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Tipping</dc:creator>
  <cp:lastModifiedBy>Robert Tipping</cp:lastModifiedBy>
  <cp:revision>2</cp:revision>
  <dcterms:created xsi:type="dcterms:W3CDTF">2023-03-22T21:31:54Z</dcterms:created>
  <dcterms:modified xsi:type="dcterms:W3CDTF">2023-03-24T00:32:44Z</dcterms:modified>
</cp:coreProperties>
</file>