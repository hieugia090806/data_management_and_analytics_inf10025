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378" r:id="rId3"/>
    <p:sldId id="377" r:id="rId4"/>
    <p:sldId id="379" r:id="rId5"/>
    <p:sldId id="383" r:id="rId6"/>
    <p:sldId id="395" r:id="rId7"/>
    <p:sldId id="385" r:id="rId8"/>
    <p:sldId id="387" r:id="rId9"/>
    <p:sldId id="386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422" r:id="rId18"/>
    <p:sldId id="42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992633-6559-4DC8-A328-612DE349A380}" type="datetimeFigureOut">
              <a:rPr lang="en-AU" smtClean="0"/>
              <a:t>13/04/2023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279EC-9C3E-4D07-BFF8-2F6254F64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302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9661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3145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4850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6506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5429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4096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1312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7479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0705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84955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780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8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36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 Management &amp; Analytics   </a:t>
            </a: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3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0"/>
            <a:ext cx="10972800" cy="1058779"/>
          </a:xfrm>
        </p:spPr>
        <p:txBody>
          <a:bodyPr anchor="t">
            <a:normAutofit/>
          </a:bodyPr>
          <a:lstStyle>
            <a:lvl1pPr>
              <a:defRPr sz="3300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5" cy="3917482"/>
          </a:xfrm>
          <a:noFill/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80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536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3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7323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44618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3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2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3307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1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80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80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0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50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</p:spTree>
    <p:extLst>
      <p:ext uri="{BB962C8B-B14F-4D97-AF65-F5344CB8AC3E}">
        <p14:creationId xmlns:p14="http://schemas.microsoft.com/office/powerpoint/2010/main" val="145311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3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836988" y="2406503"/>
            <a:ext cx="602138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INF10025 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sz="3200" dirty="0"/>
              <a:t>Data Management and Analytics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>
                <a:solidFill>
                  <a:schemeClr val="tx1"/>
                </a:solidFill>
              </a:rPr>
              <a:t>Lecture 7 – Part 1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5726112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 dirty="0"/>
              <a:t>Composite Keys</a:t>
            </a:r>
          </a:p>
          <a:p>
            <a:r>
              <a:rPr lang="en-AU" b="1" dirty="0"/>
              <a:t>Weak Entities</a:t>
            </a:r>
          </a:p>
          <a:p>
            <a:endParaRPr lang="en-AU" b="1" dirty="0"/>
          </a:p>
          <a:p>
            <a:endParaRPr lang="en-A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Natural Keys recap</a:t>
            </a:r>
          </a:p>
        </p:txBody>
      </p:sp>
      <p:sp>
        <p:nvSpPr>
          <p:cNvPr id="751620" name="Rectangle 4"/>
          <p:cNvSpPr>
            <a:spLocks noGrp="1" noChangeArrowheads="1"/>
          </p:cNvSpPr>
          <p:nvPr>
            <p:ph idx="1"/>
          </p:nvPr>
        </p:nvSpPr>
        <p:spPr>
          <a:xfrm>
            <a:off x="1790700" y="908050"/>
            <a:ext cx="8877300" cy="5233988"/>
          </a:xfrm>
          <a:noFill/>
          <a:ln/>
        </p:spPr>
        <p:txBody>
          <a:bodyPr>
            <a:normAutofit lnSpcReduction="10000"/>
          </a:bodyPr>
          <a:lstStyle/>
          <a:p>
            <a:pPr marL="365125" lvl="1" indent="0">
              <a:lnSpc>
                <a:spcPct val="110000"/>
              </a:lnSpc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We have discussed the notion of Natural Keys</a:t>
            </a:r>
          </a:p>
          <a:p>
            <a:pPr marL="365125" lvl="1" indent="0">
              <a:lnSpc>
                <a:spcPct val="110000"/>
              </a:lnSpc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If an organisation does not have an Employee No associated with each employee, then we could use employee name as a PK</a:t>
            </a: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br>
              <a:rPr lang="en-AU" dirty="0">
                <a:latin typeface="Calibri" pitchFamily="34" charset="0"/>
                <a:cs typeface="Calibri" pitchFamily="34" charset="0"/>
              </a:rPr>
            </a:b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2152650" lvl="4" indent="-266700">
              <a:lnSpc>
                <a:spcPct val="110000"/>
              </a:lnSpc>
              <a:buNone/>
            </a:pP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2152650" lvl="4" indent="-2667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EMPLOYEE(</a:t>
            </a:r>
            <a:r>
              <a:rPr lang="en-AU" b="1" u="sng" dirty="0" err="1">
                <a:latin typeface="Calibri" pitchFamily="34" charset="0"/>
                <a:cs typeface="Calibri" pitchFamily="34" charset="0"/>
              </a:rPr>
              <a:t>EmpName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PhoneNo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PayRate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152650" lvl="4" indent="-2667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TIMELOG(</a:t>
            </a:r>
            <a:r>
              <a:rPr lang="en-AU" b="1" u="sng" dirty="0" err="1">
                <a:latin typeface="Calibri" pitchFamily="34" charset="0"/>
                <a:cs typeface="Calibri" pitchFamily="34" charset="0"/>
              </a:rPr>
              <a:t>WeekNo</a:t>
            </a:r>
            <a:r>
              <a:rPr lang="en-AU" b="1" u="sng" dirty="0">
                <a:latin typeface="Calibri" pitchFamily="34" charset="0"/>
                <a:cs typeface="Calibri" pitchFamily="34" charset="0"/>
              </a:rPr>
              <a:t>,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HoursWorked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EmpName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152650" lvl="4" indent="-2667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FK (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EmpName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) references EMPLOYEE</a:t>
            </a:r>
          </a:p>
          <a:p>
            <a:pPr marL="2152650" lvl="4" indent="-266700">
              <a:lnSpc>
                <a:spcPct val="110000"/>
              </a:lnSpc>
              <a:buNone/>
            </a:pPr>
            <a:endParaRPr lang="en-AU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51618" name="Rectangle 2"/>
          <p:cNvSpPr>
            <a:spLocks noChangeArrowheads="1"/>
          </p:cNvSpPr>
          <p:nvPr/>
        </p:nvSpPr>
        <p:spPr bwMode="auto">
          <a:xfrm>
            <a:off x="1524000" y="5918200"/>
            <a:ext cx="1766888" cy="939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888471" y="1781811"/>
          <a:ext cx="6415058" cy="2393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2888471" y="1781811"/>
                        <a:ext cx="6415058" cy="2393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32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Composite Keys</a:t>
            </a:r>
          </a:p>
        </p:txBody>
      </p:sp>
      <p:sp>
        <p:nvSpPr>
          <p:cNvPr id="751620" name="Rectangle 4"/>
          <p:cNvSpPr>
            <a:spLocks noGrp="1" noChangeArrowheads="1"/>
          </p:cNvSpPr>
          <p:nvPr>
            <p:ph idx="1"/>
          </p:nvPr>
        </p:nvSpPr>
        <p:spPr>
          <a:xfrm>
            <a:off x="1790700" y="908050"/>
            <a:ext cx="8877300" cy="5233988"/>
          </a:xfrm>
          <a:noFill/>
          <a:ln/>
        </p:spPr>
        <p:txBody>
          <a:bodyPr/>
          <a:lstStyle/>
          <a:p>
            <a:pPr marL="365125" lvl="1" indent="0">
              <a:lnSpc>
                <a:spcPct val="110000"/>
              </a:lnSpc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We have also discussed the notion of Composite Keys.</a:t>
            </a:r>
          </a:p>
          <a:p>
            <a:pPr marL="365125" lvl="1" indent="0">
              <a:lnSpc>
                <a:spcPct val="110000"/>
              </a:lnSpc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This is where the Primary Key is made up of values from multiple columns</a:t>
            </a: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br>
              <a:rPr lang="en-AU" dirty="0">
                <a:latin typeface="Calibri" pitchFamily="34" charset="0"/>
                <a:cs typeface="Calibri" pitchFamily="34" charset="0"/>
              </a:rPr>
            </a:b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2152650" lvl="4" indent="-266700">
              <a:lnSpc>
                <a:spcPct val="110000"/>
              </a:lnSpc>
              <a:buNone/>
            </a:pP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2152650" lvl="4" indent="-2667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EMPLOYEE(</a:t>
            </a:r>
            <a:r>
              <a:rPr lang="en-AU" b="1" u="sng" dirty="0" err="1">
                <a:latin typeface="Calibri" pitchFamily="34" charset="0"/>
                <a:cs typeface="Calibri" pitchFamily="34" charset="0"/>
              </a:rPr>
              <a:t>GivenName</a:t>
            </a:r>
            <a:r>
              <a:rPr lang="en-AU" b="1" u="sng" dirty="0">
                <a:latin typeface="Calibri" pitchFamily="34" charset="0"/>
                <a:cs typeface="Calibri" pitchFamily="34" charset="0"/>
              </a:rPr>
              <a:t>, Surname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PhoneNo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PayRate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152650" lvl="4" indent="-266700">
              <a:lnSpc>
                <a:spcPct val="110000"/>
              </a:lnSpc>
              <a:buNone/>
            </a:pPr>
            <a:endParaRPr lang="en-AU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51618" name="Rectangle 2"/>
          <p:cNvSpPr>
            <a:spLocks noChangeArrowheads="1"/>
          </p:cNvSpPr>
          <p:nvPr/>
        </p:nvSpPr>
        <p:spPr bwMode="auto">
          <a:xfrm>
            <a:off x="1524000" y="5918200"/>
            <a:ext cx="1766888" cy="939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68863" y="1966829"/>
          <a:ext cx="600868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2868863" y="1966829"/>
                        <a:ext cx="6008688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481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Composite Keys</a:t>
            </a:r>
          </a:p>
        </p:txBody>
      </p:sp>
      <p:sp>
        <p:nvSpPr>
          <p:cNvPr id="751620" name="Rectangle 4"/>
          <p:cNvSpPr>
            <a:spLocks noGrp="1" noChangeArrowheads="1"/>
          </p:cNvSpPr>
          <p:nvPr>
            <p:ph idx="1"/>
          </p:nvPr>
        </p:nvSpPr>
        <p:spPr>
          <a:xfrm>
            <a:off x="1790700" y="908050"/>
            <a:ext cx="8877300" cy="5233988"/>
          </a:xfrm>
          <a:noFill/>
          <a:ln/>
        </p:spPr>
        <p:txBody>
          <a:bodyPr>
            <a:normAutofit/>
          </a:bodyPr>
          <a:lstStyle/>
          <a:p>
            <a:pPr marL="365125" lvl="1" indent="0">
              <a:lnSpc>
                <a:spcPct val="110000"/>
              </a:lnSpc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When the Primary Key is made up of values from multiple columns, 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then any Foreign Key must also be an identical match for the Primary Key</a:t>
            </a: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65125" lvl="1" indent="0">
              <a:lnSpc>
                <a:spcPct val="110000"/>
              </a:lnSpc>
              <a:buNone/>
            </a:pPr>
            <a:br>
              <a:rPr lang="en-AU" dirty="0">
                <a:latin typeface="Calibri" pitchFamily="34" charset="0"/>
                <a:cs typeface="Calibri" pitchFamily="34" charset="0"/>
              </a:rPr>
            </a:b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2152650" lvl="4" indent="-266700">
              <a:lnSpc>
                <a:spcPct val="110000"/>
              </a:lnSpc>
              <a:buNone/>
            </a:pPr>
            <a:endParaRPr lang="en-AU" b="1" dirty="0">
              <a:latin typeface="Calibri" pitchFamily="34" charset="0"/>
              <a:cs typeface="Calibri" pitchFamily="34" charset="0"/>
            </a:endParaRPr>
          </a:p>
          <a:p>
            <a:pPr marL="2152650" lvl="4" indent="-2667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EMPLOYEE(</a:t>
            </a:r>
            <a:r>
              <a:rPr lang="en-AU" b="1" u="sng" dirty="0" err="1">
                <a:latin typeface="Calibri" pitchFamily="34" charset="0"/>
                <a:cs typeface="Calibri" pitchFamily="34" charset="0"/>
              </a:rPr>
              <a:t>GivenName</a:t>
            </a:r>
            <a:r>
              <a:rPr lang="en-AU" b="1" u="sng" dirty="0">
                <a:latin typeface="Calibri" pitchFamily="34" charset="0"/>
                <a:cs typeface="Calibri" pitchFamily="34" charset="0"/>
              </a:rPr>
              <a:t>, Surname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PhoneNo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PayRate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2152650" lvl="4" indent="-2667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TIMELOG(</a:t>
            </a:r>
            <a:r>
              <a:rPr lang="en-AU" b="1" u="sng" dirty="0" err="1">
                <a:latin typeface="Calibri" pitchFamily="34" charset="0"/>
                <a:cs typeface="Calibri" pitchFamily="34" charset="0"/>
              </a:rPr>
              <a:t>WeekNo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HoursWorked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GivenName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Surname)</a:t>
            </a:r>
          </a:p>
          <a:p>
            <a:pPr marL="2152650" lvl="4" indent="-2667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FK (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GivenName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Surname) references EMPLOYEE</a:t>
            </a:r>
          </a:p>
          <a:p>
            <a:pPr marL="2152650" lvl="4" indent="-266700">
              <a:lnSpc>
                <a:spcPct val="110000"/>
              </a:lnSpc>
              <a:buNone/>
            </a:pPr>
            <a:endParaRPr lang="en-AU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51618" name="Rectangle 2"/>
          <p:cNvSpPr>
            <a:spLocks noChangeArrowheads="1"/>
          </p:cNvSpPr>
          <p:nvPr/>
        </p:nvSpPr>
        <p:spPr bwMode="auto">
          <a:xfrm>
            <a:off x="1524000" y="5918200"/>
            <a:ext cx="1766888" cy="939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68863" y="1966829"/>
          <a:ext cx="600868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2868863" y="1966829"/>
                        <a:ext cx="6008688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697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Strong and Weak entities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idx="1"/>
          </p:nvPr>
        </p:nvSpPr>
        <p:spPr>
          <a:xfrm>
            <a:off x="2192338" y="908050"/>
            <a:ext cx="8475662" cy="523398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An entity is a person, place, object, event or concept.</a:t>
            </a:r>
          </a:p>
          <a:p>
            <a:pPr marL="857250" lvl="1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Entities can be classified into two groups</a:t>
            </a:r>
          </a:p>
          <a:p>
            <a:pPr marL="1428750" lvl="2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Strong</a:t>
            </a:r>
            <a:r>
              <a:rPr lang="en-AU" dirty="0">
                <a:latin typeface="Calibri" pitchFamily="34" charset="0"/>
                <a:cs typeface="Calibri" pitchFamily="34" charset="0"/>
              </a:rPr>
              <a:t> Entities</a:t>
            </a:r>
          </a:p>
          <a:p>
            <a:pPr marL="1428750" lvl="2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Weak</a:t>
            </a:r>
            <a:r>
              <a:rPr lang="en-AU" dirty="0">
                <a:latin typeface="Calibri" pitchFamily="34" charset="0"/>
                <a:cs typeface="Calibri" pitchFamily="34" charset="0"/>
              </a:rPr>
              <a:t> Entities</a:t>
            </a:r>
          </a:p>
          <a:p>
            <a:pPr marL="747713" lvl="1" indent="0">
              <a:buNone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80000"/>
              </a:lnSpc>
              <a:buNone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So far we have only focused on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 Strong Entities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A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strong</a:t>
            </a:r>
            <a:r>
              <a:rPr lang="en-US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entity</a:t>
            </a:r>
            <a:r>
              <a:rPr lang="en-US" dirty="0">
                <a:latin typeface="Calibri" pitchFamily="34" charset="0"/>
                <a:cs typeface="Calibri" pitchFamily="34" charset="0"/>
              </a:rPr>
              <a:t> is :</a:t>
            </a:r>
          </a:p>
          <a:p>
            <a:pPr lvl="1"/>
            <a:r>
              <a:rPr lang="en-US" dirty="0">
                <a:latin typeface="Calibri" pitchFamily="34" charset="0"/>
                <a:cs typeface="Calibri" pitchFamily="34" charset="0"/>
              </a:rPr>
              <a:t>"An entity type that exists independently on other entity types"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		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– Hoffer Prescott McFadden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en-US" dirty="0">
                <a:latin typeface="Calibri" pitchFamily="34" charset="0"/>
                <a:cs typeface="Calibri" pitchFamily="34" charset="0"/>
              </a:rPr>
              <a:t>"An entity type that is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not</a:t>
            </a:r>
            <a:r>
              <a:rPr lang="en-US" dirty="0">
                <a:latin typeface="Calibri" pitchFamily="34" charset="0"/>
                <a:cs typeface="Calibri" pitchFamily="34" charset="0"/>
              </a:rPr>
              <a:t> existent-dependent on some 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r>
              <a:rPr lang="en-US" dirty="0">
                <a:latin typeface="Calibri" pitchFamily="34" charset="0"/>
                <a:cs typeface="Calibri" pitchFamily="34" charset="0"/>
              </a:rPr>
              <a:t>other entity type"     	–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Connolly &amp; </a:t>
            </a:r>
            <a:r>
              <a:rPr lang="en-US" i="1" dirty="0" err="1">
                <a:latin typeface="Calibri" pitchFamily="34" charset="0"/>
                <a:cs typeface="Calibri" pitchFamily="34" charset="0"/>
              </a:rPr>
              <a:t>Begg</a:t>
            </a:r>
            <a:endParaRPr lang="en-US" i="1" dirty="0">
              <a:latin typeface="Calibri" pitchFamily="34" charset="0"/>
              <a:cs typeface="Calibri" pitchFamily="34" charset="0"/>
            </a:endParaRPr>
          </a:p>
          <a:p>
            <a:endParaRPr lang="en-US" i="1" dirty="0">
              <a:latin typeface="Calibri" pitchFamily="34" charset="0"/>
              <a:cs typeface="Calibri" pitchFamily="34" charset="0"/>
            </a:endParaRP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Therefore a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strong entity</a:t>
            </a:r>
            <a:r>
              <a:rPr lang="en-US" dirty="0">
                <a:latin typeface="Calibri" pitchFamily="34" charset="0"/>
                <a:cs typeface="Calibri" pitchFamily="34" charset="0"/>
              </a:rPr>
              <a:t> can be identified by its own attributes. 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r>
              <a:rPr lang="en-US" dirty="0">
                <a:latin typeface="Calibri" pitchFamily="34" charset="0"/>
                <a:cs typeface="Calibri" pitchFamily="34" charset="0"/>
              </a:rPr>
              <a:t>That is a identifier can be chosen from its own attributes </a:t>
            </a:r>
          </a:p>
          <a:p>
            <a:endParaRPr lang="en-AU" dirty="0">
              <a:latin typeface="Calibri" pitchFamily="34" charset="0"/>
              <a:cs typeface="Calibri" pitchFamily="34" charset="0"/>
            </a:endParaRPr>
          </a:p>
          <a:p>
            <a:r>
              <a:rPr lang="en-AU" dirty="0">
                <a:latin typeface="Calibri" pitchFamily="34" charset="0"/>
                <a:cs typeface="Calibri" pitchFamily="34" charset="0"/>
              </a:rPr>
              <a:t>For example, BUILDING is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strong</a:t>
            </a:r>
            <a:r>
              <a:rPr lang="en-AU" dirty="0">
                <a:latin typeface="Calibri" pitchFamily="34" charset="0"/>
                <a:cs typeface="Calibri" pitchFamily="34" charset="0"/>
              </a:rPr>
              <a:t> entity</a:t>
            </a:r>
          </a:p>
          <a:p>
            <a:pPr marL="0" indent="0">
              <a:lnSpc>
                <a:spcPct val="80000"/>
              </a:lnSpc>
              <a:buNone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2000" i="1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2000" i="1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889083" y="3525045"/>
          <a:ext cx="2160587" cy="208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160253" imgH="2084670" progId="Visio.Drawing.11">
                  <p:embed/>
                </p:oleObj>
              </mc:Choice>
              <mc:Fallback>
                <p:oleObj name="Visio" r:id="rId3" imgW="2160253" imgH="2084670" progId="Visio.Drawing.1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89083" y="3525045"/>
                        <a:ext cx="2160587" cy="2084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955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Strong and Weak entities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idx="1"/>
          </p:nvPr>
        </p:nvSpPr>
        <p:spPr>
          <a:xfrm>
            <a:off x="2192338" y="908050"/>
            <a:ext cx="8475662" cy="5233988"/>
          </a:xfrm>
        </p:spPr>
        <p:txBody>
          <a:bodyPr/>
          <a:lstStyle/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2000" i="1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Consider the buildings at Swinburne University. E.g. The BA Building</a:t>
            </a:r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857250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It has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building code</a:t>
            </a:r>
            <a:r>
              <a:rPr lang="en-AU" dirty="0">
                <a:latin typeface="Calibri" pitchFamily="34" charset="0"/>
                <a:cs typeface="Calibri" pitchFamily="34" charset="0"/>
              </a:rPr>
              <a:t>: BA</a:t>
            </a:r>
          </a:p>
          <a:p>
            <a:pPr marL="857250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It has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description</a:t>
            </a:r>
            <a:r>
              <a:rPr lang="en-AU" dirty="0">
                <a:latin typeface="Calibri" pitchFamily="34" charset="0"/>
                <a:cs typeface="Calibri" pitchFamily="34" charset="0"/>
              </a:rPr>
              <a:t>: Business Arts</a:t>
            </a:r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The Building entity is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strong</a:t>
            </a:r>
            <a:r>
              <a:rPr lang="en-AU" dirty="0">
                <a:latin typeface="Calibri" pitchFamily="34" charset="0"/>
                <a:cs typeface="Calibri" pitchFamily="34" charset="0"/>
              </a:rPr>
              <a:t> entity</a:t>
            </a:r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 marL="381000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3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Weak Entities</a:t>
            </a:r>
          </a:p>
        </p:txBody>
      </p:sp>
      <p:sp>
        <p:nvSpPr>
          <p:cNvPr id="630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1000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We also know the following information about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room</a:t>
            </a:r>
            <a:r>
              <a:rPr lang="en-AU" dirty="0">
                <a:latin typeface="Calibri" pitchFamily="34" charset="0"/>
                <a:cs typeface="Calibri" pitchFamily="34" charset="0"/>
              </a:rPr>
              <a:t>. e.g.:</a:t>
            </a:r>
          </a:p>
          <a:p>
            <a:pPr marL="857250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 err="1">
                <a:latin typeface="Calibri" pitchFamily="34" charset="0"/>
                <a:cs typeface="Calibri" pitchFamily="34" charset="0"/>
              </a:rPr>
              <a:t>RoomNo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	403</a:t>
            </a:r>
          </a:p>
          <a:p>
            <a:pPr marL="857250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 err="1">
                <a:latin typeface="Calibri" pitchFamily="34" charset="0"/>
                <a:cs typeface="Calibri" pitchFamily="34" charset="0"/>
              </a:rPr>
              <a:t>RoomDesc</a:t>
            </a:r>
            <a:r>
              <a:rPr lang="en-AU" dirty="0">
                <a:latin typeface="Calibri" pitchFamily="34" charset="0"/>
                <a:cs typeface="Calibri" pitchFamily="34" charset="0"/>
              </a:rPr>
              <a:t>	Lecture Theatre</a:t>
            </a:r>
          </a:p>
          <a:p>
            <a:pPr marL="857250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Capacity	85      </a:t>
            </a:r>
          </a:p>
          <a:p>
            <a:pPr marL="857250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Building	BA</a:t>
            </a:r>
          </a:p>
          <a:p>
            <a:pPr marL="381000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Our two Entities might look like this:</a:t>
            </a:r>
            <a:r>
              <a:rPr lang="en-AU" dirty="0"/>
              <a:t> </a:t>
            </a:r>
          </a:p>
          <a:p>
            <a:pPr marL="381000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 marL="381000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US" dirty="0"/>
          </a:p>
        </p:txBody>
      </p:sp>
      <p:sp>
        <p:nvSpPr>
          <p:cNvPr id="630812" name="Text Box 28"/>
          <p:cNvSpPr txBox="1">
            <a:spLocks noChangeArrowheads="1"/>
          </p:cNvSpPr>
          <p:nvPr/>
        </p:nvSpPr>
        <p:spPr bwMode="auto">
          <a:xfrm>
            <a:off x="2486527" y="5976939"/>
            <a:ext cx="7345093" cy="66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128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922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71613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57200">
              <a:lnSpc>
                <a:spcPct val="90000"/>
              </a:lnSpc>
              <a:buSzPct val="75000"/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Rule of ERDs:</a:t>
            </a:r>
          </a:p>
          <a:p>
            <a:pPr defTabSz="457200">
              <a:lnSpc>
                <a:spcPct val="90000"/>
              </a:lnSpc>
              <a:buSzPct val="75000"/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An attribute must only appear </a:t>
            </a:r>
            <a:r>
              <a:rPr lang="en-AU" u="sng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once</a:t>
            </a: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 in an ERD</a:t>
            </a: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3362181" y="3356267"/>
          <a:ext cx="600868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3362181" y="3356267"/>
                        <a:ext cx="6008688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7306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Borrowed Identifiers</a:t>
            </a:r>
          </a:p>
        </p:txBody>
      </p:sp>
      <p:sp>
        <p:nvSpPr>
          <p:cNvPr id="69939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908050"/>
            <a:ext cx="8610600" cy="5233988"/>
          </a:xfrm>
        </p:spPr>
        <p:txBody>
          <a:bodyPr/>
          <a:lstStyle/>
          <a:p>
            <a:pPr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There is a </a:t>
            </a:r>
            <a:r>
              <a:rPr lang="en-AU" b="1" u="sng" dirty="0">
                <a:latin typeface="Calibri" pitchFamily="34" charset="0"/>
                <a:cs typeface="Calibri" pitchFamily="34" charset="0"/>
              </a:rPr>
              <a:t>relationship</a:t>
            </a:r>
            <a:r>
              <a:rPr lang="en-AU" dirty="0">
                <a:latin typeface="Calibri" pitchFamily="34" charset="0"/>
                <a:cs typeface="Calibri" pitchFamily="34" charset="0"/>
              </a:rPr>
              <a:t> between Room and Building</a:t>
            </a:r>
          </a:p>
          <a:p>
            <a:pPr marL="915988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The diagram shows that a Room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must</a:t>
            </a:r>
            <a:r>
              <a:rPr lang="en-AU" dirty="0">
                <a:latin typeface="Calibri" pitchFamily="34" charset="0"/>
                <a:cs typeface="Calibri" pitchFamily="34" charset="0"/>
              </a:rPr>
              <a:t> be contained in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one</a:t>
            </a:r>
            <a:r>
              <a:rPr lang="en-AU" dirty="0">
                <a:latin typeface="Calibri" pitchFamily="34" charset="0"/>
                <a:cs typeface="Calibri" pitchFamily="34" charset="0"/>
              </a:rPr>
              <a:t> building.</a:t>
            </a:r>
          </a:p>
          <a:p>
            <a:pPr marL="915988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1000" dirty="0">
              <a:latin typeface="Calibri" pitchFamily="34" charset="0"/>
              <a:cs typeface="Calibri" pitchFamily="34" charset="0"/>
            </a:endParaRPr>
          </a:p>
          <a:p>
            <a:pPr marL="1476375" lvl="2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"One Room Must be Contained in One Building" </a:t>
            </a:r>
          </a:p>
          <a:p>
            <a:pPr marL="1476375" lvl="2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"One Building May Contain Many Rooms"</a:t>
            </a:r>
          </a:p>
          <a:p>
            <a:pPr marL="1476375" lvl="2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1000" dirty="0">
              <a:latin typeface="Calibri" pitchFamily="34" charset="0"/>
              <a:cs typeface="Calibri" pitchFamily="34" charset="0"/>
            </a:endParaRPr>
          </a:p>
          <a:p>
            <a:pPr marL="915988" lvl="1" indent="-381000"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We can easily 'navigate' the relationship to the building code.</a:t>
            </a:r>
            <a:r>
              <a:rPr lang="en-AU" dirty="0"/>
              <a:t> </a:t>
            </a:r>
          </a:p>
        </p:txBody>
      </p:sp>
      <p:sp>
        <p:nvSpPr>
          <p:cNvPr id="699422" name="Rectangle 30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99421" name="Rectangle 29"/>
          <p:cNvSpPr>
            <a:spLocks noChangeArrowheads="1"/>
          </p:cNvSpPr>
          <p:nvPr/>
        </p:nvSpPr>
        <p:spPr bwMode="auto">
          <a:xfrm>
            <a:off x="1984376" y="760414"/>
            <a:ext cx="8683625" cy="211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263525" indent="-263525" defTabSz="457200">
              <a:spcBef>
                <a:spcPct val="20000"/>
              </a:spcBef>
              <a:buSzPct val="75000"/>
              <a:buFont typeface="Wingdings" pitchFamily="2" charset="2"/>
              <a:buChar char="Ø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3362181" y="3356267"/>
          <a:ext cx="600868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3362181" y="3356267"/>
                        <a:ext cx="6008688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6084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Borrowed Identifiers</a:t>
            </a:r>
          </a:p>
        </p:txBody>
      </p:sp>
      <p:sp>
        <p:nvSpPr>
          <p:cNvPr id="631855" name="Rectangle 47"/>
          <p:cNvSpPr>
            <a:spLocks noChangeArrowheads="1"/>
          </p:cNvSpPr>
          <p:nvPr/>
        </p:nvSpPr>
        <p:spPr bwMode="auto">
          <a:xfrm>
            <a:off x="2273301" y="760414"/>
            <a:ext cx="7927975" cy="211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81000" indent="-381000" defTabSz="457200">
              <a:lnSpc>
                <a:spcPct val="130000"/>
              </a:lnSpc>
              <a:spcBef>
                <a:spcPct val="20000"/>
              </a:spcBef>
              <a:buSzPct val="110000"/>
              <a:buFont typeface="Calibri" pitchFamily="34" charset="0"/>
              <a:buChar char="•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Is the attribute </a:t>
            </a:r>
            <a:r>
              <a:rPr lang="en-AU" sz="24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RoomNo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enough to identify a room?    NO!</a:t>
            </a:r>
          </a:p>
          <a:p>
            <a:pPr marL="915988" lvl="1" indent="-381000" defTabSz="457200">
              <a:lnSpc>
                <a:spcPct val="130000"/>
              </a:lnSpc>
              <a:spcBef>
                <a:spcPct val="20000"/>
              </a:spcBef>
              <a:buSzPct val="80000"/>
              <a:buFont typeface="Arial Narrow" pitchFamily="34" charset="0"/>
              <a:buChar char="●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Swinburne has many rooms with </a:t>
            </a:r>
            <a:r>
              <a:rPr lang="en-AU" sz="24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RoomNo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403.</a:t>
            </a:r>
            <a:b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(403 in the EN </a:t>
            </a:r>
            <a:r>
              <a:rPr lang="en-AU" sz="24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bldg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, and 403 in the ATC </a:t>
            </a:r>
            <a:r>
              <a:rPr lang="en-AU" sz="24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bldg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…)</a:t>
            </a:r>
          </a:p>
          <a:p>
            <a:pPr marL="381000" indent="-381000" defTabSz="457200">
              <a:lnSpc>
                <a:spcPct val="130000"/>
              </a:lnSpc>
              <a:spcBef>
                <a:spcPct val="20000"/>
              </a:spcBef>
              <a:buSzPct val="110000"/>
              <a:buFont typeface="Arial" pitchFamily="34" charset="0"/>
              <a:buChar char="•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12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81000" indent="-381000" defTabSz="457200">
              <a:lnSpc>
                <a:spcPct val="130000"/>
              </a:lnSpc>
              <a:spcBef>
                <a:spcPct val="20000"/>
              </a:spcBef>
              <a:buSzPct val="110000"/>
              <a:buFont typeface="Arial" pitchFamily="34" charset="0"/>
              <a:buChar char="•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What then, should the identifier be?</a:t>
            </a:r>
          </a:p>
          <a:p>
            <a:pPr marL="915988" lvl="1" indent="-381000" defTabSz="457200">
              <a:lnSpc>
                <a:spcPct val="130000"/>
              </a:lnSpc>
              <a:spcBef>
                <a:spcPct val="20000"/>
              </a:spcBef>
              <a:buSzPct val="80000"/>
              <a:buFont typeface="Arial Narrow" pitchFamily="34" charset="0"/>
              <a:buChar char="●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 </a:t>
            </a:r>
            <a:r>
              <a:rPr lang="en-AU" sz="2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composite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identifier</a:t>
            </a:r>
          </a:p>
          <a:p>
            <a:pPr marL="915988" lvl="1" indent="-381000" defTabSz="457200">
              <a:lnSpc>
                <a:spcPct val="130000"/>
              </a:lnSpc>
              <a:spcBef>
                <a:spcPct val="20000"/>
              </a:spcBef>
              <a:buSzPct val="80000"/>
              <a:buFont typeface="Arial Narrow" pitchFamily="34" charset="0"/>
              <a:buChar char="●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Identifier for Room must be </a:t>
            </a:r>
            <a:b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AU" sz="24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+ </a:t>
            </a:r>
            <a:r>
              <a:rPr lang="en-AU" sz="24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RoomNo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 (e.g.  BA 403)</a:t>
            </a:r>
          </a:p>
          <a:p>
            <a:pPr marL="915988" lvl="1" indent="-381000" defTabSz="457200">
              <a:lnSpc>
                <a:spcPct val="130000"/>
              </a:lnSpc>
              <a:spcBef>
                <a:spcPct val="20000"/>
              </a:spcBef>
              <a:buSzPct val="80000"/>
              <a:buFont typeface="Arial Narrow" pitchFamily="34" charset="0"/>
              <a:buChar char="●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12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458788" indent="-381000" defTabSz="457200">
              <a:lnSpc>
                <a:spcPct val="130000"/>
              </a:lnSpc>
              <a:spcBef>
                <a:spcPct val="20000"/>
              </a:spcBef>
              <a:buSzPct val="80000"/>
              <a:buFont typeface="Arial Narrow" pitchFamily="34" charset="0"/>
              <a:buChar char="●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4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Problem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:</a:t>
            </a:r>
          </a:p>
          <a:p>
            <a:pPr marL="915988" lvl="1" indent="-381000" defTabSz="457200">
              <a:lnSpc>
                <a:spcPct val="130000"/>
              </a:lnSpc>
              <a:spcBef>
                <a:spcPct val="20000"/>
              </a:spcBef>
              <a:buSzPct val="80000"/>
              <a:buFont typeface="Arial Narrow" pitchFamily="34" charset="0"/>
              <a:buChar char="●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4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is not an attribute of ROOM.</a:t>
            </a:r>
          </a:p>
          <a:p>
            <a:pPr marL="381000" indent="-381000" defTabSz="457200">
              <a:lnSpc>
                <a:spcPct val="130000"/>
              </a:lnSpc>
              <a:spcBef>
                <a:spcPct val="20000"/>
              </a:spcBef>
              <a:buSzPct val="75000"/>
              <a:buFont typeface="Wingdings" pitchFamily="2" charset="2"/>
              <a:buChar char="Ø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US" dirty="0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6081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Borrowed Identifiers</a:t>
            </a:r>
          </a:p>
        </p:txBody>
      </p:sp>
      <p:sp>
        <p:nvSpPr>
          <p:cNvPr id="626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How do we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indicate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that the identifier is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borrowed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?</a:t>
            </a:r>
          </a:p>
          <a:p>
            <a:pPr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 marL="915988" lvl="1" indent="-381000"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000" dirty="0">
                <a:latin typeface="Calibri" pitchFamily="34" charset="0"/>
                <a:cs typeface="Calibri" pitchFamily="34" charset="0"/>
              </a:rPr>
              <a:t>The relationship is part of the identifier,</a:t>
            </a:r>
            <a:br>
              <a:rPr lang="en-AU" sz="2000" dirty="0"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latin typeface="Calibri" pitchFamily="34" charset="0"/>
                <a:cs typeface="Calibri" pitchFamily="34" charset="0"/>
              </a:rPr>
              <a:t>so we must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underline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the </a:t>
            </a:r>
            <a:r>
              <a:rPr lang="en-AU" sz="2000" b="1" dirty="0">
                <a:latin typeface="Calibri" pitchFamily="34" charset="0"/>
                <a:cs typeface="Calibri" pitchFamily="34" charset="0"/>
              </a:rPr>
              <a:t>relationship name</a:t>
            </a:r>
            <a:endParaRPr lang="en-AU" sz="2000" dirty="0">
              <a:latin typeface="Calibri" pitchFamily="34" charset="0"/>
              <a:cs typeface="Calibri" pitchFamily="34" charset="0"/>
            </a:endParaRPr>
          </a:p>
          <a:p>
            <a:pPr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 marL="0" indent="0">
              <a:lnSpc>
                <a:spcPct val="80000"/>
              </a:lnSpc>
              <a:buNone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/>
              <a:t> </a:t>
            </a:r>
            <a:endParaRPr lang="en-US" dirty="0"/>
          </a:p>
        </p:txBody>
      </p:sp>
      <p:sp>
        <p:nvSpPr>
          <p:cNvPr id="626739" name="Rectangle 51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26735" name="Rectangle 47"/>
          <p:cNvSpPr>
            <a:spLocks noChangeArrowheads="1"/>
          </p:cNvSpPr>
          <p:nvPr/>
        </p:nvSpPr>
        <p:spPr bwMode="auto">
          <a:xfrm>
            <a:off x="2219325" y="4470401"/>
            <a:ext cx="7958138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42900" indent="-342900" defTabSz="457200">
              <a:buSzPct val="100000"/>
              <a:buFont typeface="Arial" pitchFamily="34" charset="0"/>
              <a:buChar char="•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2000" dirty="0">
              <a:solidFill>
                <a:srgbClr val="D1161E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 defTabSz="457200">
              <a:buSzPct val="100000"/>
              <a:buFont typeface="Arial" pitchFamily="34" charset="0"/>
              <a:buChar char="•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entity at the MANY end of the relationship, </a:t>
            </a:r>
            <a:br>
              <a:rPr lang="en-AU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uses the identifier at the ONE end of the relationship </a:t>
            </a:r>
            <a:br>
              <a:rPr lang="en-AU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AU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as part of its identifier.</a:t>
            </a:r>
          </a:p>
          <a:p>
            <a:pPr marL="263525" indent="-263525" defTabSz="457200">
              <a:buSzPct val="75000"/>
              <a:buFont typeface="Wingdings" pitchFamily="2" charset="2"/>
              <a:buChar char="Ø"/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26737" name="Text Box 49"/>
          <p:cNvSpPr txBox="1">
            <a:spLocks noChangeArrowheads="1"/>
          </p:cNvSpPr>
          <p:nvPr/>
        </p:nvSpPr>
        <p:spPr bwMode="auto">
          <a:xfrm>
            <a:off x="3257550" y="5971675"/>
            <a:ext cx="5791650" cy="66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128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922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71613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57200">
              <a:lnSpc>
                <a:spcPct val="90000"/>
              </a:lnSpc>
              <a:buSzPct val="75000"/>
            </a:pPr>
            <a:r>
              <a:rPr lang="en-AU" dirty="0">
                <a:solidFill>
                  <a:srgbClr val="0033CC"/>
                </a:solidFill>
                <a:latin typeface="Arial Narrow" pitchFamily="34" charset="0"/>
              </a:rPr>
              <a:t>The underlined relationship name means:</a:t>
            </a:r>
          </a:p>
          <a:p>
            <a:pPr defTabSz="457200">
              <a:lnSpc>
                <a:spcPct val="90000"/>
              </a:lnSpc>
              <a:buSzPct val="75000"/>
            </a:pPr>
            <a:r>
              <a:rPr lang="en-AU" dirty="0">
                <a:solidFill>
                  <a:srgbClr val="0033CC"/>
                </a:solidFill>
                <a:latin typeface="Arial Narrow" pitchFamily="34" charset="0"/>
              </a:rPr>
              <a:t>The identifier of ROOM is: </a:t>
            </a:r>
            <a:r>
              <a:rPr lang="en-AU" dirty="0" err="1">
                <a:solidFill>
                  <a:srgbClr val="0033CC"/>
                </a:solidFill>
                <a:latin typeface="Arial Narrow" pitchFamily="34" charset="0"/>
              </a:rPr>
              <a:t>BuildingCode</a:t>
            </a:r>
            <a:r>
              <a:rPr lang="en-AU" dirty="0">
                <a:solidFill>
                  <a:srgbClr val="0033CC"/>
                </a:solidFill>
                <a:latin typeface="Arial Narrow" pitchFamily="34" charset="0"/>
              </a:rPr>
              <a:t> + </a:t>
            </a:r>
            <a:r>
              <a:rPr lang="en-AU" dirty="0" err="1">
                <a:solidFill>
                  <a:srgbClr val="0033CC"/>
                </a:solidFill>
                <a:latin typeface="Arial Narrow" pitchFamily="34" charset="0"/>
              </a:rPr>
              <a:t>RoomNo</a:t>
            </a:r>
            <a:endParaRPr lang="en-AU" dirty="0">
              <a:solidFill>
                <a:srgbClr val="0033CC"/>
              </a:solidFill>
              <a:latin typeface="Arial Narrow" pitchFamily="34" charset="0"/>
            </a:endParaRPr>
          </a:p>
        </p:txBody>
      </p:sp>
      <p:sp>
        <p:nvSpPr>
          <p:cNvPr id="626738" name="Freeform 50"/>
          <p:cNvSpPr>
            <a:spLocks/>
          </p:cNvSpPr>
          <p:nvPr/>
        </p:nvSpPr>
        <p:spPr bwMode="auto">
          <a:xfrm>
            <a:off x="5203825" y="2391214"/>
            <a:ext cx="546100" cy="1436633"/>
          </a:xfrm>
          <a:custGeom>
            <a:avLst/>
            <a:gdLst>
              <a:gd name="T0" fmla="*/ 0 w 394"/>
              <a:gd name="T1" fmla="*/ 49 h 1194"/>
              <a:gd name="T2" fmla="*/ 232 w 394"/>
              <a:gd name="T3" fmla="*/ 49 h 1194"/>
              <a:gd name="T4" fmla="*/ 365 w 394"/>
              <a:gd name="T5" fmla="*/ 344 h 1194"/>
              <a:gd name="T6" fmla="*/ 394 w 394"/>
              <a:gd name="T7" fmla="*/ 1194 h 1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4" h="1194">
                <a:moveTo>
                  <a:pt x="0" y="49"/>
                </a:moveTo>
                <a:cubicBezTo>
                  <a:pt x="85" y="24"/>
                  <a:pt x="171" y="0"/>
                  <a:pt x="232" y="49"/>
                </a:cubicBezTo>
                <a:cubicBezTo>
                  <a:pt x="293" y="98"/>
                  <a:pt x="338" y="153"/>
                  <a:pt x="365" y="344"/>
                </a:cubicBezTo>
                <a:cubicBezTo>
                  <a:pt x="392" y="535"/>
                  <a:pt x="393" y="864"/>
                  <a:pt x="394" y="1194"/>
                </a:cubicBezTo>
              </a:path>
            </a:pathLst>
          </a:custGeom>
          <a:noFill/>
          <a:ln w="38100" cap="flat" cmpd="sng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3194050" y="2391213"/>
          <a:ext cx="600868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3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3194050" y="2391213"/>
                        <a:ext cx="6008688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2351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1909764"/>
            <a:ext cx="7129777" cy="254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Underlined relationship name</a:t>
            </a:r>
          </a:p>
        </p:txBody>
      </p:sp>
      <p:sp>
        <p:nvSpPr>
          <p:cNvPr id="626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r>
              <a:rPr lang="en-AU" dirty="0">
                <a:latin typeface="Calibri" pitchFamily="34" charset="0"/>
                <a:cs typeface="Calibri" pitchFamily="34" charset="0"/>
              </a:rPr>
              <a:t>The underline is important</a:t>
            </a:r>
          </a:p>
          <a:p>
            <a:pPr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sz="1200" dirty="0">
              <a:latin typeface="Calibri" pitchFamily="34" charset="0"/>
              <a:cs typeface="Calibri" pitchFamily="34" charset="0"/>
            </a:endParaRPr>
          </a:p>
          <a:p>
            <a:pPr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AU" dirty="0"/>
          </a:p>
          <a:p>
            <a:pPr>
              <a:lnSpc>
                <a:spcPct val="80000"/>
              </a:lnSpc>
              <a:tabLst>
                <a:tab pos="174625" algn="l"/>
                <a:tab pos="2235200" algn="l"/>
                <a:tab pos="3222625" algn="l"/>
                <a:tab pos="3948113" algn="l"/>
                <a:tab pos="4746625" algn="l"/>
              </a:tabLst>
            </a:pPr>
            <a:endParaRPr lang="en-US" dirty="0"/>
          </a:p>
        </p:txBody>
      </p:sp>
      <p:sp>
        <p:nvSpPr>
          <p:cNvPr id="626739" name="Rectangle 51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pic>
        <p:nvPicPr>
          <p:cNvPr id="33" name="Picture 7" descr="th_thanimateddownarrow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510201">
            <a:off x="4377497" y="3704425"/>
            <a:ext cx="2667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7" descr="th_thanimateddownarrow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776733">
            <a:off x="6835403" y="3559965"/>
            <a:ext cx="2667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7" descr="th_thanimateddownarrow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1903">
            <a:off x="6790722" y="2077605"/>
            <a:ext cx="314088" cy="125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7" descr="th_thanimateddownarrow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972847">
            <a:off x="5930140" y="3618504"/>
            <a:ext cx="695963" cy="278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7" descr="th_thanimateddownarrow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677092" flipH="1">
            <a:off x="4362174" y="2072650"/>
            <a:ext cx="297344" cy="118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7" descr="th_thanimateddownarrow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047" y="1830428"/>
            <a:ext cx="157044" cy="125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360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Weak Entities</a:t>
            </a:r>
          </a:p>
        </p:txBody>
      </p:sp>
      <p:sp>
        <p:nvSpPr>
          <p:cNvPr id="509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ct val="10000"/>
              </a:spcBef>
            </a:pPr>
            <a:r>
              <a:rPr lang="en-US" dirty="0">
                <a:latin typeface="Calibri" pitchFamily="34" charset="0"/>
                <a:cs typeface="Calibri" pitchFamily="34" charset="0"/>
              </a:rPr>
              <a:t>A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weak</a:t>
            </a:r>
            <a:r>
              <a:rPr lang="en-US" dirty="0">
                <a:latin typeface="Calibri" pitchFamily="34" charset="0"/>
                <a:cs typeface="Calibri" pitchFamily="34" charset="0"/>
              </a:rPr>
              <a:t> entity is</a:t>
            </a:r>
          </a:p>
          <a:p>
            <a:pPr marL="933450" lvl="1" indent="-457200">
              <a:spcBef>
                <a:spcPct val="10000"/>
              </a:spcBef>
            </a:pPr>
            <a:r>
              <a:rPr lang="en-US" dirty="0">
                <a:latin typeface="Calibri" pitchFamily="34" charset="0"/>
                <a:cs typeface="Calibri" pitchFamily="34" charset="0"/>
              </a:rPr>
              <a:t>"</a:t>
            </a:r>
            <a:r>
              <a:rPr lang="en-AU" dirty="0">
                <a:latin typeface="Calibri" pitchFamily="34" charset="0"/>
                <a:cs typeface="Calibri" pitchFamily="34" charset="0"/>
              </a:rPr>
              <a:t> …an entity type that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borrows</a:t>
            </a:r>
            <a:r>
              <a:rPr lang="en-AU" dirty="0">
                <a:latin typeface="Calibri" pitchFamily="34" charset="0"/>
                <a:cs typeface="Calibri" pitchFamily="34" charset="0"/>
              </a:rPr>
              <a:t> part of, or all of its … identifier…" </a:t>
            </a:r>
            <a:r>
              <a:rPr lang="en-AU" i="1" dirty="0">
                <a:latin typeface="Calibri" pitchFamily="34" charset="0"/>
                <a:cs typeface="Calibri" pitchFamily="34" charset="0"/>
              </a:rPr>
              <a:t>- </a:t>
            </a:r>
            <a:r>
              <a:rPr lang="en-AU" i="1" dirty="0" err="1">
                <a:latin typeface="Calibri" pitchFamily="34" charset="0"/>
                <a:cs typeface="Calibri" pitchFamily="34" charset="0"/>
              </a:rPr>
              <a:t>Mannino</a:t>
            </a: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spcBef>
                <a:spcPct val="10000"/>
              </a:spcBef>
            </a:pPr>
            <a:endParaRPr lang="en-AU" sz="12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spcBef>
                <a:spcPct val="10000"/>
              </a:spcBef>
            </a:pPr>
            <a:r>
              <a:rPr lang="en-AU" dirty="0">
                <a:latin typeface="Calibri" pitchFamily="34" charset="0"/>
                <a:cs typeface="Calibri" pitchFamily="34" charset="0"/>
              </a:rPr>
              <a:t>Thus, ROOM is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WEAK</a:t>
            </a:r>
            <a:r>
              <a:rPr lang="en-AU" dirty="0">
                <a:latin typeface="Calibri" pitchFamily="34" charset="0"/>
                <a:cs typeface="Calibri" pitchFamily="34" charset="0"/>
              </a:rPr>
              <a:t> entity.</a:t>
            </a:r>
          </a:p>
          <a:p>
            <a:pPr marL="933450" lvl="1" indent="-457200">
              <a:spcBef>
                <a:spcPct val="10000"/>
              </a:spcBef>
            </a:pPr>
            <a:r>
              <a:rPr lang="en-AU" dirty="0">
                <a:latin typeface="Calibri" pitchFamily="34" charset="0"/>
                <a:cs typeface="Calibri" pitchFamily="34" charset="0"/>
              </a:rPr>
              <a:t>The identifier of Room is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partially or fully</a:t>
            </a:r>
            <a:r>
              <a:rPr lang="en-AU" dirty="0">
                <a:latin typeface="Calibri" pitchFamily="34" charset="0"/>
                <a:cs typeface="Calibri" pitchFamily="34" charset="0"/>
              </a:rPr>
              <a:t> defined by identifier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 from other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 related entities</a:t>
            </a:r>
            <a:r>
              <a:rPr lang="en-AU" dirty="0">
                <a:latin typeface="Calibri" pitchFamily="34" charset="0"/>
                <a:cs typeface="Calibri" pitchFamily="34" charset="0"/>
              </a:rPr>
              <a:t>.</a:t>
            </a:r>
            <a:r>
              <a:rPr lang="en-AU" sz="2000" dirty="0">
                <a:latin typeface="Calibri" pitchFamily="34" charset="0"/>
                <a:cs typeface="Calibri" pitchFamily="34" charset="0"/>
              </a:rPr>
              <a:t> </a:t>
            </a:r>
          </a:p>
        </p:txBody>
      </p:sp>
      <p:sp>
        <p:nvSpPr>
          <p:cNvPr id="509984" name="Text Box 32"/>
          <p:cNvSpPr txBox="1">
            <a:spLocks noChangeArrowheads="1"/>
          </p:cNvSpPr>
          <p:nvPr/>
        </p:nvSpPr>
        <p:spPr bwMode="auto">
          <a:xfrm>
            <a:off x="2923758" y="6170196"/>
            <a:ext cx="5913437" cy="33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11283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29222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71613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defTabSz="457200">
              <a:lnSpc>
                <a:spcPct val="90000"/>
              </a:lnSpc>
              <a:buSzPct val="75000"/>
            </a:pP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WEAK entities are drawn with a </a:t>
            </a:r>
            <a:r>
              <a:rPr lang="en-AU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double outline</a:t>
            </a:r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3362181" y="3356267"/>
          <a:ext cx="600868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3362181" y="3356267"/>
                        <a:ext cx="6008688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5495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Weak Entities </a:t>
            </a:r>
          </a:p>
        </p:txBody>
      </p:sp>
      <p:sp>
        <p:nvSpPr>
          <p:cNvPr id="632835" name="Rectangle 3"/>
          <p:cNvSpPr>
            <a:spLocks noGrp="1" noChangeArrowheads="1"/>
          </p:cNvSpPr>
          <p:nvPr>
            <p:ph idx="1"/>
          </p:nvPr>
        </p:nvSpPr>
        <p:spPr>
          <a:xfrm>
            <a:off x="2060028" y="767256"/>
            <a:ext cx="8607972" cy="537478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What does the ERD below tell us?: 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endParaRPr lang="en-US" sz="300" dirty="0">
              <a:latin typeface="Calibri" pitchFamily="34" charset="0"/>
              <a:cs typeface="Calibri" pitchFamily="34" charset="0"/>
            </a:endParaRPr>
          </a:p>
          <a:p>
            <a:pPr marL="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 err="1">
                <a:latin typeface="Calibri" pitchFamily="34" charset="0"/>
                <a:cs typeface="Calibri" pitchFamily="34" charset="0"/>
              </a:rPr>
              <a:t>RoomNo</a:t>
            </a:r>
            <a:r>
              <a:rPr lang="en-US" dirty="0">
                <a:latin typeface="Calibri" pitchFamily="34" charset="0"/>
                <a:cs typeface="Calibri" pitchFamily="34" charset="0"/>
              </a:rPr>
              <a:t> is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underlined</a:t>
            </a:r>
            <a:r>
              <a:rPr lang="en-US" dirty="0">
                <a:latin typeface="Calibri" pitchFamily="34" charset="0"/>
                <a:cs typeface="Calibri" pitchFamily="34" charset="0"/>
              </a:rPr>
              <a:t>. It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must</a:t>
            </a:r>
            <a:r>
              <a:rPr lang="en-US" dirty="0">
                <a:latin typeface="Calibri" pitchFamily="34" charset="0"/>
                <a:cs typeface="Calibri" pitchFamily="34" charset="0"/>
              </a:rPr>
              <a:t> be part of the identifier of ROOM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endParaRPr lang="en-US" sz="400" dirty="0">
              <a:latin typeface="Calibri" pitchFamily="34" charset="0"/>
              <a:cs typeface="Calibri" pitchFamily="34" charset="0"/>
            </a:endParaRPr>
          </a:p>
          <a:p>
            <a:pPr marL="0" lvl="1" indent="-457200"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double outline</a:t>
            </a:r>
            <a:r>
              <a:rPr lang="en-US" dirty="0">
                <a:latin typeface="Calibri" pitchFamily="34" charset="0"/>
                <a:cs typeface="Calibri" pitchFamily="34" charset="0"/>
              </a:rPr>
              <a:t> indicates that the ROOM is a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weak</a:t>
            </a:r>
            <a:r>
              <a:rPr lang="en-US" dirty="0">
                <a:latin typeface="Calibri" pitchFamily="34" charset="0"/>
                <a:cs typeface="Calibri" pitchFamily="34" charset="0"/>
              </a:rPr>
              <a:t> entity</a:t>
            </a:r>
          </a:p>
          <a:p>
            <a:pPr marL="838200" lvl="4" indent="-277813">
              <a:spcBef>
                <a:spcPts val="0"/>
              </a:spcBef>
            </a:pPr>
            <a:r>
              <a:rPr lang="en-US" dirty="0">
                <a:latin typeface="Calibri" pitchFamily="34" charset="0"/>
                <a:cs typeface="Calibri" pitchFamily="34" charset="0"/>
              </a:rPr>
              <a:t>So part of the ROOM's identifier must be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'borrowed</a:t>
            </a:r>
            <a:r>
              <a:rPr lang="en-US" dirty="0">
                <a:latin typeface="Calibri" pitchFamily="34" charset="0"/>
                <a:cs typeface="Calibri" pitchFamily="34" charset="0"/>
              </a:rPr>
              <a:t>'.</a:t>
            </a:r>
          </a:p>
          <a:p>
            <a:pPr marL="0" indent="-457200">
              <a:spcBef>
                <a:spcPts val="0"/>
              </a:spcBef>
            </a:pPr>
            <a:endParaRPr lang="en-US" sz="1000" dirty="0">
              <a:latin typeface="Calibri" pitchFamily="34" charset="0"/>
              <a:cs typeface="Calibri" pitchFamily="34" charset="0"/>
            </a:endParaRPr>
          </a:p>
          <a:p>
            <a:pPr marL="0" lvl="1" indent="-457200">
              <a:spcBef>
                <a:spcPts val="0"/>
              </a:spcBef>
              <a:buFont typeface="+mj-lt"/>
              <a:buAutoNum type="arabicPeriod" startAt="3"/>
            </a:pPr>
            <a:r>
              <a:rPr lang="en-US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relationship</a:t>
            </a:r>
            <a:r>
              <a:rPr lang="en-US" dirty="0">
                <a:latin typeface="Calibri" pitchFamily="34" charset="0"/>
                <a:cs typeface="Calibri" pitchFamily="34" charset="0"/>
              </a:rPr>
              <a:t> named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'contains'</a:t>
            </a:r>
            <a:r>
              <a:rPr lang="en-US" dirty="0">
                <a:latin typeface="Calibri" pitchFamily="34" charset="0"/>
                <a:cs typeface="Calibri" pitchFamily="34" charset="0"/>
              </a:rPr>
              <a:t> is underlined</a:t>
            </a:r>
          </a:p>
          <a:p>
            <a:pPr marL="838200" lvl="4" indent="-277813">
              <a:spcBef>
                <a:spcPts val="0"/>
              </a:spcBef>
            </a:pPr>
            <a:r>
              <a:rPr lang="en-US" dirty="0">
                <a:latin typeface="Calibri" pitchFamily="34" charset="0"/>
                <a:cs typeface="Calibri" pitchFamily="34" charset="0"/>
              </a:rPr>
              <a:t>So the identifier at the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many end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r>
              <a:rPr lang="en-US" dirty="0">
                <a:latin typeface="Calibri" pitchFamily="34" charset="0"/>
                <a:cs typeface="Calibri" pitchFamily="34" charset="0"/>
              </a:rPr>
              <a:t>borrows the identifier from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>
                <a:latin typeface="Calibri" pitchFamily="34" charset="0"/>
                <a:cs typeface="Calibri" pitchFamily="34" charset="0"/>
              </a:rPr>
              <a:t>the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 one end</a:t>
            </a:r>
            <a:r>
              <a:rPr lang="en-US" dirty="0">
                <a:latin typeface="Calibri" pitchFamily="34" charset="0"/>
                <a:cs typeface="Calibri" pitchFamily="34" charset="0"/>
              </a:rPr>
              <a:t> of the relationship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endParaRPr lang="en-US" sz="1000" dirty="0">
              <a:latin typeface="Calibri" pitchFamily="34" charset="0"/>
              <a:cs typeface="Calibri" pitchFamily="34" charset="0"/>
            </a:endParaRPr>
          </a:p>
          <a:p>
            <a:pPr marL="0" lvl="1" indent="-457200">
              <a:spcBef>
                <a:spcPts val="0"/>
              </a:spcBef>
              <a:buFont typeface="+mj-lt"/>
              <a:buAutoNum type="arabicPeriod" startAt="4"/>
            </a:pPr>
            <a:r>
              <a:rPr lang="en-US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Identifier</a:t>
            </a:r>
            <a:r>
              <a:rPr lang="en-US" dirty="0">
                <a:latin typeface="Calibri" pitchFamily="34" charset="0"/>
                <a:cs typeface="Calibri" pitchFamily="34" charset="0"/>
              </a:rPr>
              <a:t> of Room  is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b="1" dirty="0" err="1">
                <a:latin typeface="Calibri" pitchFamily="34" charset="0"/>
                <a:cs typeface="Calibri" pitchFamily="34" charset="0"/>
              </a:rPr>
              <a:t>BuildingCode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 + </a:t>
            </a:r>
            <a:r>
              <a:rPr lang="en-US" b="1" dirty="0" err="1">
                <a:latin typeface="Calibri" pitchFamily="34" charset="0"/>
                <a:cs typeface="Calibri" pitchFamily="34" charset="0"/>
              </a:rPr>
              <a:t>RoomNo</a:t>
            </a:r>
            <a:endParaRPr lang="en-US" b="1" dirty="0">
              <a:latin typeface="Calibri" pitchFamily="34" charset="0"/>
              <a:cs typeface="Calibri" pitchFamily="34" charset="0"/>
            </a:endParaRPr>
          </a:p>
          <a:p>
            <a:pPr marL="457200" indent="-457200"/>
            <a:endParaRPr lang="en-US" dirty="0"/>
          </a:p>
          <a:p>
            <a:pPr marL="457200" indent="-457200"/>
            <a:endParaRPr lang="en-AU" dirty="0"/>
          </a:p>
          <a:p>
            <a:pPr marL="457200" indent="-457200"/>
            <a:endParaRPr lang="en-AU" dirty="0"/>
          </a:p>
          <a:p>
            <a:pPr marL="457200" indent="-457200"/>
            <a:endParaRPr lang="en-AU" dirty="0"/>
          </a:p>
          <a:p>
            <a:pPr marL="457200" indent="-457200"/>
            <a:endParaRPr lang="en-AU" dirty="0"/>
          </a:p>
          <a:p>
            <a:pPr marL="457200" indent="-457200"/>
            <a:endParaRPr lang="en-AU" dirty="0"/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2273509" y="3597444"/>
          <a:ext cx="7329554" cy="2734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2273509" y="3597444"/>
                        <a:ext cx="7329554" cy="2734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2171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Revised ERD – RM Conversion</a:t>
            </a:r>
          </a:p>
        </p:txBody>
      </p:sp>
      <p:sp>
        <p:nvSpPr>
          <p:cNvPr id="680964" name="Rectangle 4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 marL="357188" indent="-357188">
              <a:lnSpc>
                <a:spcPct val="110000"/>
              </a:lnSpc>
            </a:pPr>
            <a:r>
              <a:rPr lang="en-AU" dirty="0">
                <a:latin typeface="Calibri" pitchFamily="34" charset="0"/>
                <a:cs typeface="Calibri" pitchFamily="34" charset="0"/>
              </a:rPr>
              <a:t>An ERD with a one-to-many relationship can be converted to a Relational Schema using the following steps:</a:t>
            </a:r>
          </a:p>
          <a:p>
            <a:pPr marL="879475" lvl="1" indent="-342900">
              <a:lnSpc>
                <a:spcPct val="110000"/>
              </a:lnSpc>
              <a:buFontTx/>
              <a:buAutoNum type="arabicPeriod"/>
            </a:pPr>
            <a:r>
              <a:rPr lang="en-AU" dirty="0">
                <a:latin typeface="Calibri" pitchFamily="34" charset="0"/>
                <a:cs typeface="Calibri" pitchFamily="34" charset="0"/>
              </a:rPr>
              <a:t>Create a table for each entity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	  </a:t>
            </a:r>
            <a:r>
              <a:rPr lang="en-AU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BUILDING,   </a:t>
            </a: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     </a:t>
            </a:r>
            <a:r>
              <a:rPr lang="en-AU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ROOM</a:t>
            </a:r>
            <a:r>
              <a:rPr lang="en-AU" dirty="0">
                <a:latin typeface="Calibri" pitchFamily="34" charset="0"/>
                <a:cs typeface="Calibri" pitchFamily="34" charset="0"/>
              </a:rPr>
              <a:t> </a:t>
            </a:r>
          </a:p>
          <a:p>
            <a:pPr marL="879475" lvl="1" indent="-342900">
              <a:lnSpc>
                <a:spcPct val="110000"/>
              </a:lnSpc>
              <a:buFontTx/>
              <a:buAutoNum type="arabicPeriod"/>
            </a:pPr>
            <a:endParaRPr lang="en-AU" sz="900" dirty="0">
              <a:latin typeface="Calibri" pitchFamily="34" charset="0"/>
              <a:cs typeface="Calibri" pitchFamily="34" charset="0"/>
            </a:endParaRPr>
          </a:p>
          <a:p>
            <a:pPr marL="879475" lvl="1" indent="-342900">
              <a:lnSpc>
                <a:spcPct val="110000"/>
              </a:lnSpc>
              <a:buFontTx/>
              <a:buAutoNum type="arabicPeriod"/>
            </a:pPr>
            <a:r>
              <a:rPr lang="en-AU" dirty="0">
                <a:latin typeface="Calibri" pitchFamily="34" charset="0"/>
                <a:cs typeface="Calibri" pitchFamily="34" charset="0"/>
              </a:rPr>
              <a:t>Make each attribute a column</a:t>
            </a:r>
          </a:p>
          <a:p>
            <a:pPr marL="1439863" lvl="2" indent="-3810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BUILDING ( </a:t>
            </a:r>
            <a:r>
              <a:rPr lang="en-AU" b="1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Description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 )</a:t>
            </a:r>
          </a:p>
          <a:p>
            <a:pPr marL="1439863" lvl="2" indent="-381000">
              <a:lnSpc>
                <a:spcPct val="110000"/>
              </a:lnSpc>
              <a:buNone/>
            </a:pPr>
            <a:r>
              <a:rPr lang="en-AU" b="1" dirty="0">
                <a:latin typeface="Calibri" pitchFamily="34" charset="0"/>
                <a:cs typeface="Calibri" pitchFamily="34" charset="0"/>
              </a:rPr>
              <a:t>ROOM (</a:t>
            </a:r>
            <a:r>
              <a:rPr lang="en-AU" b="1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RoomNo</a:t>
            </a:r>
            <a:r>
              <a:rPr lang="en-AU" b="1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, Capacity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 )</a:t>
            </a:r>
          </a:p>
          <a:p>
            <a:pPr marL="879475" lvl="1" indent="-342900">
              <a:lnSpc>
                <a:spcPct val="110000"/>
              </a:lnSpc>
              <a:buFontTx/>
              <a:buAutoNum type="arabicPeriod"/>
            </a:pPr>
            <a:endParaRPr lang="en-AU" sz="900" b="1" dirty="0">
              <a:latin typeface="Calibri" pitchFamily="34" charset="0"/>
              <a:cs typeface="Calibri" pitchFamily="34" charset="0"/>
            </a:endParaRPr>
          </a:p>
          <a:p>
            <a:pPr marL="879475" lvl="1" indent="-342900">
              <a:lnSpc>
                <a:spcPct val="110000"/>
              </a:lnSpc>
              <a:buFontTx/>
              <a:buAutoNum type="arabicPeriod"/>
            </a:pPr>
            <a:r>
              <a:rPr lang="en-AU" dirty="0">
                <a:latin typeface="Calibri" pitchFamily="34" charset="0"/>
                <a:cs typeface="Calibri" pitchFamily="34" charset="0"/>
              </a:rPr>
              <a:t>For each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strong</a:t>
            </a:r>
            <a:r>
              <a:rPr lang="en-AU" dirty="0">
                <a:latin typeface="Calibri" pitchFamily="34" charset="0"/>
                <a:cs typeface="Calibri" pitchFamily="34" charset="0"/>
              </a:rPr>
              <a:t> entity, choose an identifier as a PRIMARY KEY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	  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BUILDING ( </a:t>
            </a:r>
            <a:r>
              <a:rPr lang="en-AU" b="1" u="sng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Description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 )</a:t>
            </a:r>
            <a:r>
              <a:rPr lang="en-AU" dirty="0">
                <a:latin typeface="Calibri" pitchFamily="34" charset="0"/>
                <a:cs typeface="Calibri" pitchFamily="34" charset="0"/>
              </a:rPr>
              <a:t> </a:t>
            </a:r>
          </a:p>
        </p:txBody>
      </p:sp>
      <p:sp>
        <p:nvSpPr>
          <p:cNvPr id="680962" name="Rectangle 2"/>
          <p:cNvSpPr>
            <a:spLocks noChangeArrowheads="1"/>
          </p:cNvSpPr>
          <p:nvPr/>
        </p:nvSpPr>
        <p:spPr bwMode="auto">
          <a:xfrm>
            <a:off x="1524000" y="5918200"/>
            <a:ext cx="1766888" cy="939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2931695" y="4425998"/>
          <a:ext cx="5552431" cy="2071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1440" imgH="3660660" progId="Visio.Drawing.11">
                  <p:embed/>
                </p:oleObj>
              </mc:Choice>
              <mc:Fallback>
                <p:oleObj name="Visio" r:id="rId3" imgW="8331440" imgH="3660660" progId="Visio.Drawing.11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2931695" y="4425998"/>
                        <a:ext cx="5552431" cy="2071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4497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Revised ERD – RM Conversion</a:t>
            </a:r>
          </a:p>
        </p:txBody>
      </p:sp>
      <p:sp>
        <p:nvSpPr>
          <p:cNvPr id="700420" name="Rectangle 4"/>
          <p:cNvSpPr>
            <a:spLocks noGrp="1" noChangeArrowheads="1"/>
          </p:cNvSpPr>
          <p:nvPr>
            <p:ph idx="1"/>
          </p:nvPr>
        </p:nvSpPr>
        <p:spPr>
          <a:xfrm>
            <a:off x="2192338" y="908050"/>
            <a:ext cx="8475662" cy="5233988"/>
          </a:xfrm>
          <a:noFill/>
          <a:ln/>
          <a:extLs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900113" lvl="1" indent="-381000">
              <a:lnSpc>
                <a:spcPct val="110000"/>
              </a:lnSpc>
              <a:buFontTx/>
              <a:buAutoNum type="arabicPeriod" startAt="4"/>
            </a:pPr>
            <a:r>
              <a:rPr lang="en-AU" dirty="0">
                <a:latin typeface="Calibri" pitchFamily="34" charset="0"/>
                <a:cs typeface="Calibri" pitchFamily="34" charset="0"/>
              </a:rPr>
              <a:t>Take 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Primary Key</a:t>
            </a:r>
            <a:r>
              <a:rPr lang="en-AU" dirty="0">
                <a:latin typeface="Calibri" pitchFamily="34" charset="0"/>
                <a:cs typeface="Calibri" pitchFamily="34" charset="0"/>
              </a:rPr>
              <a:t> at 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one end</a:t>
            </a:r>
            <a:r>
              <a:rPr lang="en-AU" dirty="0">
                <a:latin typeface="Calibri" pitchFamily="34" charset="0"/>
                <a:cs typeface="Calibri" pitchFamily="34" charset="0"/>
              </a:rPr>
              <a:t> of the relationship and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make it into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Foreign Key</a:t>
            </a:r>
            <a:r>
              <a:rPr lang="en-AU" dirty="0">
                <a:latin typeface="Calibri" pitchFamily="34" charset="0"/>
                <a:cs typeface="Calibri" pitchFamily="34" charset="0"/>
              </a:rPr>
              <a:t> at 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many end</a:t>
            </a:r>
            <a:r>
              <a:rPr lang="en-AU" dirty="0">
                <a:latin typeface="Calibri" pitchFamily="34" charset="0"/>
                <a:cs typeface="Calibri" pitchFamily="34" charset="0"/>
              </a:rPr>
              <a:t>. 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        </a:t>
            </a:r>
            <a:r>
              <a:rPr lang="en-AU" sz="2200" dirty="0">
                <a:latin typeface="Calibri" pitchFamily="34" charset="0"/>
                <a:cs typeface="Calibri" pitchFamily="34" charset="0"/>
              </a:rPr>
              <a:t>BUILDING ( </a:t>
            </a:r>
            <a:r>
              <a:rPr lang="en-AU" sz="2200" u="sng" dirty="0" err="1"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sz="22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Description</a:t>
            </a:r>
            <a:r>
              <a:rPr lang="en-AU" sz="2200" dirty="0">
                <a:latin typeface="Calibri" pitchFamily="34" charset="0"/>
                <a:cs typeface="Calibri" pitchFamily="34" charset="0"/>
              </a:rPr>
              <a:t>)</a:t>
            </a:r>
            <a:br>
              <a:rPr lang="en-AU" sz="2200" i="1" dirty="0">
                <a:latin typeface="Calibri" pitchFamily="34" charset="0"/>
                <a:cs typeface="Calibri" pitchFamily="34" charset="0"/>
              </a:rPr>
            </a:br>
            <a:r>
              <a:rPr lang="en-AU" sz="2200" i="1" dirty="0">
                <a:latin typeface="Calibri" pitchFamily="34" charset="0"/>
                <a:cs typeface="Calibri" pitchFamily="34" charset="0"/>
              </a:rPr>
              <a:t>        </a:t>
            </a:r>
            <a:r>
              <a:rPr lang="en-AU" sz="2200" dirty="0">
                <a:latin typeface="Calibri" pitchFamily="34" charset="0"/>
                <a:cs typeface="Calibri" pitchFamily="34" charset="0"/>
              </a:rPr>
              <a:t>ROOM (</a:t>
            </a:r>
            <a:r>
              <a:rPr lang="en-AU" sz="2200" u="sng" dirty="0" err="1">
                <a:latin typeface="Calibri" pitchFamily="34" charset="0"/>
                <a:cs typeface="Calibri" pitchFamily="34" charset="0"/>
              </a:rPr>
              <a:t>RoomNo</a:t>
            </a:r>
            <a:r>
              <a:rPr lang="en-AU" sz="22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sz="2200" b="1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sz="2200" dirty="0">
                <a:latin typeface="Calibri" pitchFamily="34" charset="0"/>
                <a:cs typeface="Calibri" pitchFamily="34" charset="0"/>
              </a:rPr>
              <a:t>, Capacity)</a:t>
            </a:r>
          </a:p>
          <a:p>
            <a:pPr marL="900113" lvl="1" indent="-381000">
              <a:lnSpc>
                <a:spcPct val="110000"/>
              </a:lnSpc>
              <a:buFontTx/>
              <a:buAutoNum type="arabicPeriod" startAt="4"/>
            </a:pPr>
            <a:endParaRPr lang="en-AU" sz="1000" dirty="0">
              <a:latin typeface="Calibri" pitchFamily="34" charset="0"/>
              <a:cs typeface="Calibri" pitchFamily="34" charset="0"/>
            </a:endParaRPr>
          </a:p>
          <a:p>
            <a:pPr marL="900113" lvl="1" indent="-381000">
              <a:lnSpc>
                <a:spcPct val="110000"/>
              </a:lnSpc>
              <a:buFontTx/>
              <a:buAutoNum type="arabicPeriod" startAt="4"/>
            </a:pPr>
            <a:r>
              <a:rPr lang="en-AU" dirty="0">
                <a:latin typeface="Calibri" pitchFamily="34" charset="0"/>
                <a:cs typeface="Calibri" pitchFamily="34" charset="0"/>
              </a:rPr>
              <a:t>If the entity at the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many end</a:t>
            </a:r>
            <a:r>
              <a:rPr lang="en-AU" dirty="0">
                <a:latin typeface="Calibri" pitchFamily="34" charset="0"/>
                <a:cs typeface="Calibri" pitchFamily="34" charset="0"/>
              </a:rPr>
              <a:t> uses a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borrowed </a:t>
            </a:r>
            <a:r>
              <a:rPr lang="en-AU" b="1" dirty="0" err="1">
                <a:latin typeface="Calibri" pitchFamily="34" charset="0"/>
                <a:cs typeface="Calibri" pitchFamily="34" charset="0"/>
              </a:rPr>
              <a:t>identifer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then </a:t>
            </a:r>
            <a:r>
              <a:rPr lang="en-AU" u="sng" dirty="0">
                <a:latin typeface="Calibri" pitchFamily="34" charset="0"/>
                <a:cs typeface="Calibri" pitchFamily="34" charset="0"/>
              </a:rPr>
              <a:t>make the foreign key </a:t>
            </a:r>
            <a:r>
              <a:rPr lang="en-AU" b="1" u="sng" dirty="0">
                <a:latin typeface="Calibri" pitchFamily="34" charset="0"/>
                <a:cs typeface="Calibri" pitchFamily="34" charset="0"/>
              </a:rPr>
              <a:t>part of </a:t>
            </a:r>
            <a:r>
              <a:rPr lang="en-AU" u="sng" dirty="0">
                <a:latin typeface="Calibri" pitchFamily="34" charset="0"/>
                <a:cs typeface="Calibri" pitchFamily="34" charset="0"/>
              </a:rPr>
              <a:t>the PRIMARY KEY</a:t>
            </a:r>
            <a:r>
              <a:rPr lang="en-AU" dirty="0">
                <a:latin typeface="Calibri" pitchFamily="34" charset="0"/>
                <a:cs typeface="Calibri" pitchFamily="34" charset="0"/>
              </a:rPr>
              <a:t>.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        </a:t>
            </a:r>
            <a:r>
              <a:rPr lang="en-AU" sz="2200" b="1" dirty="0">
                <a:latin typeface="Calibri" pitchFamily="34" charset="0"/>
                <a:cs typeface="Calibri" pitchFamily="34" charset="0"/>
              </a:rPr>
              <a:t>BUILDING ( </a:t>
            </a:r>
            <a:r>
              <a:rPr lang="en-AU" sz="2200" b="1" u="sng" dirty="0" err="1"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sz="2200" b="1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sz="20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Description</a:t>
            </a:r>
            <a:r>
              <a:rPr lang="en-AU" sz="2200" b="1" dirty="0">
                <a:latin typeface="Calibri" pitchFamily="34" charset="0"/>
                <a:cs typeface="Calibri" pitchFamily="34" charset="0"/>
              </a:rPr>
              <a:t>)</a:t>
            </a:r>
            <a:br>
              <a:rPr lang="en-AU" sz="2200" b="1" i="1" dirty="0">
                <a:latin typeface="Calibri" pitchFamily="34" charset="0"/>
                <a:cs typeface="Calibri" pitchFamily="34" charset="0"/>
              </a:rPr>
            </a:br>
            <a:r>
              <a:rPr lang="en-AU" sz="2200" b="1" i="1" dirty="0">
                <a:latin typeface="Calibri" pitchFamily="34" charset="0"/>
                <a:cs typeface="Calibri" pitchFamily="34" charset="0"/>
              </a:rPr>
              <a:t>        </a:t>
            </a:r>
            <a:r>
              <a:rPr lang="en-AU" sz="2200" b="1" dirty="0">
                <a:latin typeface="Calibri" pitchFamily="34" charset="0"/>
                <a:cs typeface="Calibri" pitchFamily="34" charset="0"/>
              </a:rPr>
              <a:t>ROOM (</a:t>
            </a:r>
            <a:r>
              <a:rPr lang="en-AU" sz="2200" b="1" u="sng" dirty="0" err="1">
                <a:latin typeface="Calibri" pitchFamily="34" charset="0"/>
                <a:cs typeface="Calibri" pitchFamily="34" charset="0"/>
              </a:rPr>
              <a:t>RoomNo</a:t>
            </a:r>
            <a:r>
              <a:rPr lang="en-AU" sz="2200" b="1" u="sng" dirty="0">
                <a:latin typeface="Calibri" pitchFamily="34" charset="0"/>
                <a:cs typeface="Calibri" pitchFamily="34" charset="0"/>
              </a:rPr>
              <a:t>,</a:t>
            </a:r>
            <a:r>
              <a:rPr lang="en-AU" sz="2200" b="1" u="sng" dirty="0">
                <a:solidFill>
                  <a:schemeClr val="accent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AU" sz="2200" b="1" u="sng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sz="2200" b="1" dirty="0">
                <a:latin typeface="Calibri" pitchFamily="34" charset="0"/>
                <a:cs typeface="Calibri" pitchFamily="34" charset="0"/>
              </a:rPr>
              <a:t>, Capacity)</a:t>
            </a:r>
          </a:p>
        </p:txBody>
      </p:sp>
      <p:sp>
        <p:nvSpPr>
          <p:cNvPr id="700418" name="Rectangle 2"/>
          <p:cNvSpPr>
            <a:spLocks noChangeArrowheads="1"/>
          </p:cNvSpPr>
          <p:nvPr/>
        </p:nvSpPr>
        <p:spPr bwMode="auto">
          <a:xfrm>
            <a:off x="1524000" y="5918200"/>
            <a:ext cx="1766888" cy="939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2931695" y="4425998"/>
          <a:ext cx="5552431" cy="2071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440" imgH="3660660" progId="Visio.Drawing.11">
                  <p:embed/>
                </p:oleObj>
              </mc:Choice>
              <mc:Fallback>
                <p:oleObj name="Visio" r:id="rId2" imgW="8331440" imgH="3660660" progId="Visio.Drawing.11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2931695" y="4425998"/>
                        <a:ext cx="5552431" cy="2071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5922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ERD – RM Conversion</a:t>
            </a:r>
            <a:endParaRPr lang="en-US"/>
          </a:p>
        </p:txBody>
      </p:sp>
      <p:sp>
        <p:nvSpPr>
          <p:cNvPr id="679939" name="Rectangle 3"/>
          <p:cNvSpPr>
            <a:spLocks noGrp="1" noChangeArrowheads="1"/>
          </p:cNvSpPr>
          <p:nvPr>
            <p:ph idx="1"/>
          </p:nvPr>
        </p:nvSpPr>
        <p:spPr>
          <a:xfrm>
            <a:off x="2192338" y="3541986"/>
            <a:ext cx="8223250" cy="2600052"/>
          </a:xfrm>
        </p:spPr>
        <p:txBody>
          <a:bodyPr>
            <a:normAutofit/>
          </a:bodyPr>
          <a:lstStyle/>
          <a:p>
            <a:pPr marL="381000" indent="-381000"/>
            <a:r>
              <a:rPr lang="en-AU" dirty="0">
                <a:latin typeface="Calibri" pitchFamily="34" charset="0"/>
                <a:cs typeface="Calibri" pitchFamily="34" charset="0"/>
              </a:rPr>
              <a:t>By convention, we tend to list the borrowed attribute </a:t>
            </a:r>
            <a:r>
              <a:rPr lang="en-AU" b="1" dirty="0">
                <a:latin typeface="Calibri" pitchFamily="34" charset="0"/>
                <a:cs typeface="Calibri" pitchFamily="34" charset="0"/>
              </a:rPr>
              <a:t>first</a:t>
            </a:r>
            <a:r>
              <a:rPr lang="en-AU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dirty="0">
                <a:latin typeface="Calibri" pitchFamily="34" charset="0"/>
                <a:cs typeface="Calibri" pitchFamily="34" charset="0"/>
              </a:rPr>
              <a:t>ROOM (</a:t>
            </a:r>
            <a:r>
              <a:rPr lang="en-AU" dirty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AU" u="sng" dirty="0" err="1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u="sng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u="sng" dirty="0" err="1">
                <a:latin typeface="Calibri" pitchFamily="34" charset="0"/>
                <a:cs typeface="Calibri" pitchFamily="34" charset="0"/>
              </a:rPr>
              <a:t>RoomNo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Capacity )</a:t>
            </a: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dirty="0">
                <a:latin typeface="Calibri" pitchFamily="34" charset="0"/>
                <a:cs typeface="Calibri" pitchFamily="34" charset="0"/>
              </a:rPr>
              <a:t>BUILDING ( </a:t>
            </a:r>
            <a:r>
              <a:rPr lang="en-AU" u="sng" dirty="0" err="1"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Description )</a:t>
            </a:r>
            <a:endParaRPr lang="en-AU" i="1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US" sz="2000" dirty="0"/>
          </a:p>
        </p:txBody>
      </p:sp>
      <p:sp>
        <p:nvSpPr>
          <p:cNvPr id="679940" name="Freeform 4"/>
          <p:cNvSpPr>
            <a:spLocks/>
          </p:cNvSpPr>
          <p:nvPr/>
        </p:nvSpPr>
        <p:spPr bwMode="auto">
          <a:xfrm>
            <a:off x="4541838" y="4570413"/>
            <a:ext cx="412750" cy="704850"/>
          </a:xfrm>
          <a:custGeom>
            <a:avLst/>
            <a:gdLst>
              <a:gd name="T0" fmla="*/ 3028 w 3414"/>
              <a:gd name="T1" fmla="*/ 0 h 346"/>
              <a:gd name="T2" fmla="*/ 2984 w 3414"/>
              <a:gd name="T3" fmla="*/ 124 h 346"/>
              <a:gd name="T4" fmla="*/ 449 w 3414"/>
              <a:gd name="T5" fmla="*/ 116 h 346"/>
              <a:gd name="T6" fmla="*/ 290 w 3414"/>
              <a:gd name="T7" fmla="*/ 34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14" h="346">
                <a:moveTo>
                  <a:pt x="3028" y="0"/>
                </a:moveTo>
                <a:cubicBezTo>
                  <a:pt x="3221" y="52"/>
                  <a:pt x="3414" y="105"/>
                  <a:pt x="2984" y="124"/>
                </a:cubicBezTo>
                <a:cubicBezTo>
                  <a:pt x="2554" y="143"/>
                  <a:pt x="898" y="79"/>
                  <a:pt x="449" y="116"/>
                </a:cubicBezTo>
                <a:cubicBezTo>
                  <a:pt x="0" y="153"/>
                  <a:pt x="316" y="309"/>
                  <a:pt x="290" y="346"/>
                </a:cubicBezTo>
              </a:path>
            </a:pathLst>
          </a:custGeom>
          <a:noFill/>
          <a:ln w="9525" cap="flat" cmpd="sng">
            <a:solidFill>
              <a:srgbClr val="0033C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79967" name="Text Box 31"/>
          <p:cNvSpPr txBox="1">
            <a:spLocks noChangeArrowheads="1"/>
          </p:cNvSpPr>
          <p:nvPr/>
        </p:nvSpPr>
        <p:spPr bwMode="auto">
          <a:xfrm>
            <a:off x="5016500" y="4799014"/>
            <a:ext cx="2693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457200"/>
            <a:r>
              <a:rPr lang="en-AU" sz="2000">
                <a:solidFill>
                  <a:srgbClr val="0033CC"/>
                </a:solidFill>
                <a:latin typeface="Arial Narrow" pitchFamily="34" charset="0"/>
              </a:rPr>
              <a:t>FK</a:t>
            </a:r>
          </a:p>
        </p:txBody>
      </p: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2968271" y="834886"/>
          <a:ext cx="5552431" cy="2071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440" imgH="3660660" progId="Visio.Drawing.11">
                  <p:embed/>
                </p:oleObj>
              </mc:Choice>
              <mc:Fallback>
                <p:oleObj name="Visio" r:id="rId2" imgW="8331440" imgH="3660660" progId="Visio.Drawing.11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2968271" y="834886"/>
                        <a:ext cx="5552431" cy="2071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5505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FK key is also composite</a:t>
            </a:r>
            <a:endParaRPr lang="en-US" dirty="0"/>
          </a:p>
        </p:txBody>
      </p:sp>
      <p:sp>
        <p:nvSpPr>
          <p:cNvPr id="679939" name="Rectangle 3"/>
          <p:cNvSpPr>
            <a:spLocks noGrp="1" noChangeArrowheads="1"/>
          </p:cNvSpPr>
          <p:nvPr>
            <p:ph idx="1"/>
          </p:nvPr>
        </p:nvSpPr>
        <p:spPr>
          <a:xfrm>
            <a:off x="2192338" y="3541986"/>
            <a:ext cx="8223250" cy="2600052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If a foreign key references a PK which is a composite key, 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then the FK </a:t>
            </a:r>
            <a:r>
              <a:rPr lang="en-AU" b="1" u="sng" dirty="0">
                <a:latin typeface="Calibri" pitchFamily="34" charset="0"/>
                <a:cs typeface="Calibri" pitchFamily="34" charset="0"/>
              </a:rPr>
              <a:t>must</a:t>
            </a:r>
            <a:r>
              <a:rPr lang="en-AU" dirty="0">
                <a:latin typeface="Calibri" pitchFamily="34" charset="0"/>
                <a:cs typeface="Calibri" pitchFamily="34" charset="0"/>
              </a:rPr>
              <a:t> be a composite</a:t>
            </a:r>
          </a:p>
          <a:p>
            <a:pPr marL="381000" indent="-381000"/>
            <a:endParaRPr lang="en-AU" i="1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r>
              <a:rPr lang="en-AU" dirty="0">
                <a:latin typeface="Calibri" pitchFamily="34" charset="0"/>
                <a:cs typeface="Calibri" pitchFamily="34" charset="0"/>
              </a:rPr>
              <a:t>COMPUTER (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Compid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Description,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RoomNo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        Primary Key (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Compid</a:t>
            </a:r>
            <a:r>
              <a:rPr lang="en-AU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marL="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        Foreign Key (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BuildingCode</a:t>
            </a:r>
            <a:r>
              <a:rPr lang="en-AU" dirty="0">
                <a:latin typeface="Calibri" pitchFamily="34" charset="0"/>
                <a:cs typeface="Calibri" pitchFamily="34" charset="0"/>
              </a:rPr>
              <a:t>,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RoomNo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) references ROOM</a:t>
            </a:r>
          </a:p>
          <a:p>
            <a:pPr marL="381000" indent="-381000"/>
            <a:endParaRPr lang="en-US" sz="2000" dirty="0"/>
          </a:p>
        </p:txBody>
      </p: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1838037" y="823258"/>
          <a:ext cx="5552431" cy="2071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440" imgH="3660660" progId="Visio.Drawing.11">
                  <p:embed/>
                </p:oleObj>
              </mc:Choice>
              <mc:Fallback>
                <p:oleObj name="Visio" r:id="rId2" imgW="8331440" imgH="3660660" progId="Visio.Drawing.11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1838037" y="823258"/>
                        <a:ext cx="5552431" cy="2071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8360954" y="1884797"/>
            <a:ext cx="1573930" cy="1019242"/>
          </a:xfrm>
          <a:prstGeom prst="rect">
            <a:avLst/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30790" y="2223257"/>
            <a:ext cx="10919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1500" dirty="0">
                <a:solidFill>
                  <a:srgbClr val="000000"/>
                </a:solidFill>
                <a:latin typeface="Calibri"/>
              </a:rPr>
              <a:t>COMPUTER</a:t>
            </a:r>
          </a:p>
        </p:txBody>
      </p:sp>
      <p:sp>
        <p:nvSpPr>
          <p:cNvPr id="4" name="Oval 3"/>
          <p:cNvSpPr/>
          <p:nvPr/>
        </p:nvSpPr>
        <p:spPr>
          <a:xfrm>
            <a:off x="8360954" y="1367625"/>
            <a:ext cx="222996" cy="198783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8472452" y="1534602"/>
            <a:ext cx="988" cy="31839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269649" y="1407719"/>
            <a:ext cx="222996" cy="198783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9381147" y="1574696"/>
            <a:ext cx="988" cy="31839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6171" y="1146971"/>
            <a:ext cx="768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1400" u="sng" dirty="0" err="1">
                <a:solidFill>
                  <a:srgbClr val="000000"/>
                </a:solidFill>
                <a:latin typeface="Calibri"/>
              </a:rPr>
              <a:t>CompID</a:t>
            </a:r>
            <a:endParaRPr lang="en-AU" sz="1400" u="sng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63877" y="1283985"/>
            <a:ext cx="1020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1400" dirty="0">
                <a:solidFill>
                  <a:srgbClr val="000000"/>
                </a:solidFill>
                <a:latin typeface="Calibri"/>
              </a:rPr>
              <a:t>Description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525370" y="2323136"/>
            <a:ext cx="1835584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 flipV="1">
            <a:off x="6677770" y="2173137"/>
            <a:ext cx="0" cy="30480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 flipV="1">
            <a:off x="6822219" y="2170736"/>
            <a:ext cx="0" cy="30480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 flipH="1">
            <a:off x="8115632" y="2170736"/>
            <a:ext cx="245323" cy="15240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</p:cNvCxnSpPr>
          <p:nvPr/>
        </p:nvCxnSpPr>
        <p:spPr>
          <a:xfrm flipH="1" flipV="1">
            <a:off x="8115632" y="2323137"/>
            <a:ext cx="245323" cy="152401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903799" y="2223744"/>
            <a:ext cx="222996" cy="198783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04169" y="2238645"/>
            <a:ext cx="1052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1400" dirty="0">
                <a:solidFill>
                  <a:srgbClr val="000000"/>
                </a:solidFill>
                <a:latin typeface="Calibri"/>
              </a:rPr>
              <a:t>Location for</a:t>
            </a:r>
          </a:p>
        </p:txBody>
      </p:sp>
    </p:spTree>
    <p:extLst>
      <p:ext uri="{BB962C8B-B14F-4D97-AF65-F5344CB8AC3E}">
        <p14:creationId xmlns:p14="http://schemas.microsoft.com/office/powerpoint/2010/main" val="29210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if composite keys are used</a:t>
            </a:r>
            <a:endParaRPr lang="en-US" dirty="0"/>
          </a:p>
        </p:txBody>
      </p:sp>
      <p:sp>
        <p:nvSpPr>
          <p:cNvPr id="679939" name="Rectangle 3"/>
          <p:cNvSpPr>
            <a:spLocks noGrp="1" noChangeArrowheads="1"/>
          </p:cNvSpPr>
          <p:nvPr>
            <p:ph idx="1"/>
          </p:nvPr>
        </p:nvSpPr>
        <p:spPr>
          <a:xfrm>
            <a:off x="2192338" y="3541986"/>
            <a:ext cx="8223250" cy="26000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When composite PK and FKs are used, then the ON clause requires 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all columns of the PK &amp; FK to be specified</a:t>
            </a:r>
          </a:p>
          <a:p>
            <a:pPr marL="0" indent="0"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SELECT *</a:t>
            </a:r>
          </a:p>
          <a:p>
            <a:pPr marL="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FROM ROOM R</a:t>
            </a:r>
            <a:br>
              <a:rPr lang="en-AU" dirty="0">
                <a:latin typeface="Calibri" pitchFamily="34" charset="0"/>
                <a:cs typeface="Calibri" pitchFamily="34" charset="0"/>
              </a:rPr>
            </a:br>
            <a:r>
              <a:rPr lang="en-AU" dirty="0">
                <a:latin typeface="Calibri" pitchFamily="34" charset="0"/>
                <a:cs typeface="Calibri" pitchFamily="34" charset="0"/>
              </a:rPr>
              <a:t>INNER JOIN COMPUTER C</a:t>
            </a:r>
          </a:p>
          <a:p>
            <a:pPr marL="0" indent="0">
              <a:buNone/>
            </a:pPr>
            <a:r>
              <a:rPr lang="en-AU" dirty="0">
                <a:latin typeface="Calibri" pitchFamily="34" charset="0"/>
                <a:cs typeface="Calibri" pitchFamily="34" charset="0"/>
              </a:rPr>
              <a:t>ON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C.BuildingCode</a:t>
            </a:r>
            <a:r>
              <a:rPr lang="en-AU" dirty="0">
                <a:latin typeface="Calibri" pitchFamily="34" charset="0"/>
                <a:cs typeface="Calibri" pitchFamily="34" charset="0"/>
              </a:rPr>
              <a:t> =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R.BuildingCode</a:t>
            </a:r>
            <a:r>
              <a:rPr lang="en-AU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C.RoomNo</a:t>
            </a:r>
            <a:r>
              <a:rPr lang="en-AU" dirty="0">
                <a:latin typeface="Calibri" pitchFamily="34" charset="0"/>
                <a:cs typeface="Calibri" pitchFamily="34" charset="0"/>
              </a:rPr>
              <a:t> = </a:t>
            </a:r>
            <a:r>
              <a:rPr lang="en-AU" dirty="0" err="1">
                <a:latin typeface="Calibri" pitchFamily="34" charset="0"/>
                <a:cs typeface="Calibri" pitchFamily="34" charset="0"/>
              </a:rPr>
              <a:t>R.RoomNo</a:t>
            </a:r>
            <a:endParaRPr lang="en-AU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AU" i="1" dirty="0">
              <a:latin typeface="Calibri" pitchFamily="34" charset="0"/>
              <a:cs typeface="Calibri" pitchFamily="34" charset="0"/>
            </a:endParaRPr>
          </a:p>
          <a:p>
            <a:pPr marL="381000" indent="-381000"/>
            <a:endParaRPr lang="en-US" sz="2000" dirty="0"/>
          </a:p>
        </p:txBody>
      </p:sp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1838037" y="823258"/>
          <a:ext cx="5552431" cy="2071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331440" imgH="3660660" progId="Visio.Drawing.11">
                  <p:embed/>
                </p:oleObj>
              </mc:Choice>
              <mc:Fallback>
                <p:oleObj name="Visio" r:id="rId2" imgW="8331440" imgH="3660660" progId="Visio.Drawing.11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t="18690" r="37344" b="28012"/>
                      <a:stretch>
                        <a:fillRect/>
                      </a:stretch>
                    </p:blipFill>
                    <p:spPr bwMode="auto">
                      <a:xfrm>
                        <a:off x="1838037" y="823258"/>
                        <a:ext cx="5552431" cy="2071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8360954" y="1884797"/>
            <a:ext cx="1573930" cy="1019242"/>
          </a:xfrm>
          <a:prstGeom prst="rect">
            <a:avLst/>
          </a:prstGeom>
          <a:noFill/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30790" y="2223257"/>
            <a:ext cx="10919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1500" dirty="0">
                <a:solidFill>
                  <a:srgbClr val="000000"/>
                </a:solidFill>
                <a:latin typeface="Calibri"/>
              </a:rPr>
              <a:t>COMPUTER</a:t>
            </a:r>
          </a:p>
        </p:txBody>
      </p:sp>
      <p:sp>
        <p:nvSpPr>
          <p:cNvPr id="4" name="Oval 3"/>
          <p:cNvSpPr/>
          <p:nvPr/>
        </p:nvSpPr>
        <p:spPr>
          <a:xfrm>
            <a:off x="8360954" y="1367625"/>
            <a:ext cx="222996" cy="198783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8472452" y="1534602"/>
            <a:ext cx="988" cy="31839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269649" y="1407719"/>
            <a:ext cx="222996" cy="198783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9381147" y="1574696"/>
            <a:ext cx="988" cy="31839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6171" y="1146971"/>
            <a:ext cx="768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1400" u="sng" dirty="0" err="1">
                <a:solidFill>
                  <a:srgbClr val="000000"/>
                </a:solidFill>
                <a:latin typeface="Calibri"/>
              </a:rPr>
              <a:t>CompID</a:t>
            </a:r>
            <a:endParaRPr lang="en-AU" sz="1400" u="sng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63877" y="1283985"/>
            <a:ext cx="1020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1400" dirty="0">
                <a:solidFill>
                  <a:srgbClr val="000000"/>
                </a:solidFill>
                <a:latin typeface="Calibri"/>
              </a:rPr>
              <a:t>Description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525370" y="2323136"/>
            <a:ext cx="1835584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 flipV="1">
            <a:off x="6677770" y="2173137"/>
            <a:ext cx="0" cy="30480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 flipV="1">
            <a:off x="6822219" y="2170736"/>
            <a:ext cx="0" cy="30480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</p:cNvCxnSpPr>
          <p:nvPr/>
        </p:nvCxnSpPr>
        <p:spPr>
          <a:xfrm flipH="1">
            <a:off x="8115632" y="2170736"/>
            <a:ext cx="245323" cy="15240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</p:cNvCxnSpPr>
          <p:nvPr/>
        </p:nvCxnSpPr>
        <p:spPr>
          <a:xfrm flipH="1" flipV="1">
            <a:off x="8115632" y="2323137"/>
            <a:ext cx="245323" cy="152401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903799" y="2223744"/>
            <a:ext cx="222996" cy="198783"/>
          </a:xfrm>
          <a:prstGeom prst="ellipse">
            <a:avLst/>
          </a:prstGeom>
          <a:noFill/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04169" y="2238645"/>
            <a:ext cx="1052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AU" sz="1400" dirty="0">
                <a:solidFill>
                  <a:srgbClr val="000000"/>
                </a:solidFill>
                <a:latin typeface="Calibri"/>
              </a:rPr>
              <a:t>Location for</a:t>
            </a:r>
          </a:p>
        </p:txBody>
      </p:sp>
    </p:spTree>
    <p:extLst>
      <p:ext uri="{BB962C8B-B14F-4D97-AF65-F5344CB8AC3E}">
        <p14:creationId xmlns:p14="http://schemas.microsoft.com/office/powerpoint/2010/main" val="1767425813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1029</Words>
  <Application>Microsoft Office PowerPoint</Application>
  <PresentationFormat>Widescreen</PresentationFormat>
  <Paragraphs>174</Paragraphs>
  <Slides>18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Narrow</vt:lpstr>
      <vt:lpstr>Calibri</vt:lpstr>
      <vt:lpstr>Open Sans</vt:lpstr>
      <vt:lpstr>Wingdings</vt:lpstr>
      <vt:lpstr>Swinburne_Tiles</vt:lpstr>
      <vt:lpstr>Visio</vt:lpstr>
      <vt:lpstr>INF10025  Data Management and Analytics Lecture 7 – Part 1</vt:lpstr>
      <vt:lpstr>Natural Keys recap</vt:lpstr>
      <vt:lpstr>Composite Keys</vt:lpstr>
      <vt:lpstr>Composite Keys</vt:lpstr>
      <vt:lpstr>Strong and Weak entities</vt:lpstr>
      <vt:lpstr>Strong and Weak entities</vt:lpstr>
      <vt:lpstr>Weak Entities</vt:lpstr>
      <vt:lpstr>Borrowed Identifiers</vt:lpstr>
      <vt:lpstr>Borrowed Identifiers</vt:lpstr>
      <vt:lpstr>Borrowed Identifiers</vt:lpstr>
      <vt:lpstr>Underlined relationship name</vt:lpstr>
      <vt:lpstr>Weak Entities</vt:lpstr>
      <vt:lpstr>Weak Entities </vt:lpstr>
      <vt:lpstr>Revised ERD – RM Conversion</vt:lpstr>
      <vt:lpstr>Revised ERD – RM Conversion</vt:lpstr>
      <vt:lpstr>ERD – RM Conversion</vt:lpstr>
      <vt:lpstr>FK key is also composite</vt:lpstr>
      <vt:lpstr>SQL if composite keys are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 Data Management and Analytics Lecture 7 – Part 1</dc:title>
  <dc:creator>Robert Tipping</dc:creator>
  <cp:lastModifiedBy>Robert Tipping</cp:lastModifiedBy>
  <cp:revision>1</cp:revision>
  <dcterms:created xsi:type="dcterms:W3CDTF">2023-03-31T01:32:27Z</dcterms:created>
  <dcterms:modified xsi:type="dcterms:W3CDTF">2023-04-13T05:12:54Z</dcterms:modified>
</cp:coreProperties>
</file>