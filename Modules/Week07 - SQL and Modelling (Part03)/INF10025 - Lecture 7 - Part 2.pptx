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16" r:id="rId2"/>
    <p:sldId id="356" r:id="rId3"/>
    <p:sldId id="362" r:id="rId4"/>
    <p:sldId id="363" r:id="rId5"/>
    <p:sldId id="364" r:id="rId6"/>
    <p:sldId id="365" r:id="rId7"/>
    <p:sldId id="367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5" r:id="rId16"/>
    <p:sldId id="396" r:id="rId17"/>
    <p:sldId id="415" r:id="rId18"/>
    <p:sldId id="397" r:id="rId19"/>
    <p:sldId id="399" r:id="rId20"/>
    <p:sldId id="400" r:id="rId21"/>
    <p:sldId id="40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8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36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5" name="Picture 7" descr="corpV_3 300_lzw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80784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A1D595-1EAF-B3CA-096B-6E72AE9C4578}"/>
              </a:ext>
            </a:extLst>
          </p:cNvPr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0" b="0" i="0" u="none" strike="noStrike" kern="1200" cap="none" spc="0" normalizeH="0" baseline="0" noProof="0" dirty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 Management &amp; Analytics   </a:t>
            </a:r>
          </a:p>
        </p:txBody>
      </p:sp>
      <p:pic>
        <p:nvPicPr>
          <p:cNvPr id="6" name="Picture 5" descr="KNOWING Logo RGB.png">
            <a:extLst>
              <a:ext uri="{FF2B5EF4-FFF2-40B4-BE49-F238E27FC236}">
                <a16:creationId xmlns:a16="http://schemas.microsoft.com/office/drawing/2014/main" id="{D562B274-86C5-1054-ACF2-497295C868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516" y="5573716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66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80"/>
            <a:ext cx="10972800" cy="1058779"/>
          </a:xfrm>
        </p:spPr>
        <p:txBody>
          <a:bodyPr anchor="t">
            <a:normAutofit/>
          </a:bodyPr>
          <a:lstStyle>
            <a:lvl1pPr>
              <a:defRPr sz="3300" b="0">
                <a:latin typeface="+mn-lt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5" cy="3917482"/>
          </a:xfrm>
          <a:noFill/>
        </p:spPr>
        <p:txBody>
          <a:bodyPr/>
          <a:lstStyle>
            <a:lvl1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2pPr>
            <a:lvl3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0" b="0" i="0" u="none" strike="noStrike" kern="1200" cap="none" spc="0" normalizeH="0" baseline="0" noProof="0" dirty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Database Analysis and Design   </a:t>
            </a:r>
          </a:p>
        </p:txBody>
      </p: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r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fld id="{A0B7F734-0547-4653-B8DE-E21D4CE8AB45}" type="slidenum">
              <a:rPr kumimoji="0" lang="en-AU" sz="1800" b="1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161E"/>
                </a:buClr>
                <a:buSzPct val="85000"/>
                <a:buFont typeface="Wingdings" pitchFamily="2" charset="2"/>
                <a:buNone/>
                <a:tabLst/>
                <a:defRPr/>
              </a:pPr>
              <a:t>‹#›</a:t>
            </a:fld>
            <a:endParaRPr kumimoji="0" lang="en-AU" sz="1800" b="1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55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3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9749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1344618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3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2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4654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OWING Logo RGB.png">
            <a:extLst>
              <a:ext uri="{FF2B5EF4-FFF2-40B4-BE49-F238E27FC236}">
                <a16:creationId xmlns:a16="http://schemas.microsoft.com/office/drawing/2014/main" id="{76A2C585-110A-9CEF-DC80-A478B0B3BE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02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41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8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r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fld id="{A0B7F734-0547-4653-B8DE-E21D4CE8AB45}" type="slidenum">
              <a:rPr kumimoji="0" lang="en-AU" sz="1800" b="1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161E"/>
                </a:buClr>
                <a:buSzPct val="85000"/>
                <a:buFont typeface="Wingdings" pitchFamily="2" charset="2"/>
                <a:buNone/>
                <a:tabLst/>
                <a:defRPr/>
              </a:pPr>
              <a:t>‹#›</a:t>
            </a:fld>
            <a:endParaRPr kumimoji="0" lang="en-AU" sz="1800" b="1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>
          <a:xfrm rot="18000966">
            <a:off x="11299700" y="-55435"/>
            <a:ext cx="56540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0" b="0" i="0" u="none" strike="noStrike" kern="1200" cap="none" spc="0" normalizeH="0" baseline="0" noProof="0" dirty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Database Analysis and Design   </a:t>
            </a:r>
          </a:p>
        </p:txBody>
      </p:sp>
    </p:spTree>
    <p:extLst>
      <p:ext uri="{BB962C8B-B14F-4D97-AF65-F5344CB8AC3E}">
        <p14:creationId xmlns:p14="http://schemas.microsoft.com/office/powerpoint/2010/main" val="383971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3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rgbClr val="000000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rgbClr val="000000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rgbClr val="000000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Grp="1" noChangeArrowheads="1"/>
          </p:cNvSpPr>
          <p:nvPr>
            <p:ph type="ctrTitle"/>
          </p:nvPr>
        </p:nvSpPr>
        <p:spPr>
          <a:xfrm>
            <a:off x="3836988" y="2406503"/>
            <a:ext cx="6021388" cy="1143000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tx1"/>
                </a:solidFill>
              </a:rPr>
              <a:t>INF10025 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sz="3200" dirty="0"/>
              <a:t>Data Management and Analytics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Lecture 7 – Part 2</a:t>
            </a:r>
          </a:p>
        </p:txBody>
      </p:sp>
      <p:sp>
        <p:nvSpPr>
          <p:cNvPr id="5122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836988" y="3636335"/>
            <a:ext cx="5726112" cy="171989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AU" b="1" dirty="0"/>
              <a:t>SQL &amp; Aggregate Functions</a:t>
            </a:r>
          </a:p>
          <a:p>
            <a:endParaRPr lang="en-AU" b="1" dirty="0"/>
          </a:p>
          <a:p>
            <a:endParaRPr lang="en-AU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 Database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704089"/>
            <a:ext cx="8010626" cy="2084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cs typeface="Calibri" pitchFamily="34" charset="0"/>
              </a:rPr>
              <a:t>Previously we worked with the 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The</a:t>
            </a:r>
            <a:r>
              <a:rPr lang="en-US" dirty="0">
                <a:latin typeface="Calibri" pitchFamily="34" charset="0"/>
                <a:cs typeface="Calibri" pitchFamily="34" charset="0"/>
              </a:rPr>
              <a:t> Movie Database.</a:t>
            </a:r>
          </a:p>
          <a:p>
            <a:pPr marL="0" indent="0">
              <a:buNone/>
            </a:pPr>
            <a:r>
              <a:rPr lang="en-US" dirty="0">
                <a:latin typeface="Calibri" pitchFamily="34" charset="0"/>
                <a:cs typeface="Calibri" pitchFamily="34" charset="0"/>
              </a:rPr>
              <a:t>It has Movies, Actors, Casting (plus other tables)</a:t>
            </a:r>
          </a:p>
          <a:p>
            <a:pPr>
              <a:buFont typeface="Wingdings" pitchFamily="2" charset="2"/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	 MOVIE</a:t>
            </a:r>
            <a:r>
              <a:rPr lang="en-AU" dirty="0">
                <a:latin typeface="Calibri" pitchFamily="34" charset="0"/>
                <a:cs typeface="Calibri" pitchFamily="34" charset="0"/>
              </a:rPr>
              <a:t> ( </a:t>
            </a:r>
            <a:r>
              <a:rPr lang="en-AU" u="sng" dirty="0" err="1">
                <a:latin typeface="Calibri" pitchFamily="34" charset="0"/>
                <a:cs typeface="Calibri" pitchFamily="34" charset="0"/>
              </a:rPr>
              <a:t>movieNo</a:t>
            </a:r>
            <a:r>
              <a:rPr lang="en-AU" dirty="0">
                <a:latin typeface="Calibri" pitchFamily="34" charset="0"/>
                <a:cs typeface="Calibri" pitchFamily="34" charset="0"/>
              </a:rPr>
              <a:t>, title, 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relyear</a:t>
            </a:r>
            <a:r>
              <a:rPr lang="en-AU" dirty="0">
                <a:latin typeface="Calibri" pitchFamily="34" charset="0"/>
                <a:cs typeface="Calibri" pitchFamily="34" charset="0"/>
              </a:rPr>
              <a:t>, runtime, rating )</a:t>
            </a:r>
          </a:p>
          <a:p>
            <a:pPr>
              <a:buFont typeface="Wingdings" pitchFamily="2" charset="2"/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	 ACTOR</a:t>
            </a:r>
            <a:r>
              <a:rPr lang="en-AU" dirty="0">
                <a:latin typeface="Calibri" pitchFamily="34" charset="0"/>
                <a:cs typeface="Calibri" pitchFamily="34" charset="0"/>
              </a:rPr>
              <a:t> ( </a:t>
            </a:r>
            <a:r>
              <a:rPr lang="en-AU" u="sng" dirty="0" err="1">
                <a:latin typeface="Calibri" pitchFamily="34" charset="0"/>
                <a:cs typeface="Calibri" pitchFamily="34" charset="0"/>
              </a:rPr>
              <a:t>actorNo</a:t>
            </a:r>
            <a:r>
              <a:rPr lang="en-AU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firstname</a:t>
            </a:r>
            <a:r>
              <a:rPr lang="en-AU" dirty="0">
                <a:latin typeface="Calibri" pitchFamily="34" charset="0"/>
                <a:cs typeface="Calibri" pitchFamily="34" charset="0"/>
              </a:rPr>
              <a:t>, surname, gender)</a:t>
            </a:r>
          </a:p>
          <a:p>
            <a:pPr marL="257175" lvl="1" indent="-257175"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      CASTING</a:t>
            </a:r>
            <a:r>
              <a:rPr lang="en-AU" dirty="0">
                <a:latin typeface="Calibri" pitchFamily="34" charset="0"/>
                <a:cs typeface="Calibri" pitchFamily="34" charset="0"/>
              </a:rPr>
              <a:t> ( </a:t>
            </a:r>
            <a:r>
              <a:rPr lang="en-AU" u="sng" dirty="0" err="1">
                <a:latin typeface="Calibri" pitchFamily="34" charset="0"/>
                <a:cs typeface="Calibri" pitchFamily="34" charset="0"/>
              </a:rPr>
              <a:t>movieNo</a:t>
            </a:r>
            <a:r>
              <a:rPr lang="en-AU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u="sng" dirty="0" err="1">
                <a:latin typeface="Calibri" pitchFamily="34" charset="0"/>
                <a:cs typeface="Calibri" pitchFamily="34" charset="0"/>
              </a:rPr>
              <a:t>actorNo</a:t>
            </a:r>
            <a:r>
              <a:rPr lang="en-AU" dirty="0">
                <a:latin typeface="Calibri" pitchFamily="34" charset="0"/>
                <a:cs typeface="Calibri" pitchFamily="34" charset="0"/>
              </a:rPr>
              <a:t>)</a:t>
            </a:r>
          </a:p>
        </p:txBody>
      </p:sp>
      <p:graphicFrame>
        <p:nvGraphicFramePr>
          <p:cNvPr id="634009" name="Group 153"/>
          <p:cNvGraphicFramePr>
            <a:graphicFrameLocks noGrp="1"/>
          </p:cNvGraphicFramePr>
          <p:nvPr/>
        </p:nvGraphicFramePr>
        <p:xfrm>
          <a:off x="2098249" y="4599432"/>
          <a:ext cx="3607055" cy="1676400"/>
        </p:xfrm>
        <a:graphic>
          <a:graphicData uri="http://schemas.openxmlformats.org/drawingml/2006/table">
            <a:tbl>
              <a:tblPr/>
              <a:tblGrid>
                <a:gridCol w="831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actorNo</a:t>
                      </a:r>
                      <a:endParaRPr kumimoji="0" lang="en-US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gender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89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Jennifer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Lawrence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Bradley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Cooper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Scarlett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Johansson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422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Hugh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Jackman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Group 324"/>
          <p:cNvGraphicFramePr>
            <a:graphicFrameLocks noGrp="1"/>
          </p:cNvGraphicFramePr>
          <p:nvPr/>
        </p:nvGraphicFramePr>
        <p:xfrm>
          <a:off x="2758777" y="2548931"/>
          <a:ext cx="5998273" cy="1676400"/>
        </p:xfrm>
        <a:graphic>
          <a:graphicData uri="http://schemas.openxmlformats.org/drawingml/2006/table">
            <a:tbl>
              <a:tblPr/>
              <a:tblGrid>
                <a:gridCol w="104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770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title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relyear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runtime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rating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93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15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The Hunger Games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142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PG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93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41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Silver Linings Playbook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122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MA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93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135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The Hangover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93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156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X-Men Days of Future Past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2014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101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itchFamily="34" charset="0"/>
                        </a:rPr>
                        <a:t>PG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Group 160"/>
          <p:cNvGraphicFramePr>
            <a:graphicFrameLocks noGrp="1"/>
          </p:cNvGraphicFramePr>
          <p:nvPr/>
        </p:nvGraphicFramePr>
        <p:xfrm>
          <a:off x="7317931" y="4599432"/>
          <a:ext cx="2051050" cy="134112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actorNo</a:t>
                      </a:r>
                      <a:endParaRPr kumimoji="0" lang="en-US" sz="16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16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220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41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89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41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89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15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065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MovieActor Entity</a:t>
            </a:r>
            <a:endParaRPr lang="en-US"/>
          </a:p>
        </p:txBody>
      </p:sp>
      <p:sp>
        <p:nvSpPr>
          <p:cNvPr id="640009" name="Rectangle 9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640003" name="Text Box 3"/>
          <p:cNvSpPr txBox="1">
            <a:spLocks noChangeArrowheads="1"/>
          </p:cNvSpPr>
          <p:nvPr/>
        </p:nvSpPr>
        <p:spPr bwMode="auto">
          <a:xfrm>
            <a:off x="2297113" y="908051"/>
            <a:ext cx="8037512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081088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717675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2354263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99085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457200">
              <a:spcBef>
                <a:spcPct val="10000"/>
              </a:spcBef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If we 'reverse engineer' the move database, we can create an ERD. </a:t>
            </a:r>
          </a:p>
          <a:p>
            <a:pPr defTabSz="457200">
              <a:spcBef>
                <a:spcPct val="100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It has many-to-one relationships.</a:t>
            </a:r>
          </a:p>
          <a:p>
            <a:pPr defTabSz="457200">
              <a:spcBef>
                <a:spcPct val="100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The Identifier of MOVIEACTOR</a:t>
            </a:r>
            <a:r>
              <a:rPr lang="en-US" sz="2000" dirty="0">
                <a:solidFill>
                  <a:srgbClr val="D1161E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is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MovieNo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+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ActorNo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defTabSz="457200">
              <a:spcBef>
                <a:spcPct val="10000"/>
              </a:spcBef>
              <a:buFont typeface="Wingdings" pitchFamily="2" charset="2"/>
              <a:buChar char="§"/>
            </a:pPr>
            <a:endParaRPr lang="en-US" sz="20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defTabSz="457200">
              <a:spcBef>
                <a:spcPct val="10000"/>
              </a:spcBef>
            </a:pPr>
            <a:endParaRPr lang="en-US" sz="20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defTabSz="457200">
              <a:spcBef>
                <a:spcPct val="10000"/>
              </a:spcBef>
            </a:pPr>
            <a:endParaRPr lang="en-US" sz="20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defTabSz="457200">
              <a:spcBef>
                <a:spcPct val="10000"/>
              </a:spcBef>
            </a:pPr>
            <a:endParaRPr lang="en-US" sz="20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defTabSz="457200">
              <a:spcBef>
                <a:spcPct val="10000"/>
              </a:spcBef>
            </a:pPr>
            <a:endParaRPr lang="en-US" sz="20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defTabSz="457200">
              <a:spcBef>
                <a:spcPct val="10000"/>
              </a:spcBef>
            </a:pPr>
            <a:endParaRPr lang="en-US" sz="20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defTabSz="457200">
              <a:spcBef>
                <a:spcPct val="100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CASTING is a </a:t>
            </a: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WEAK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entity.</a:t>
            </a:r>
          </a:p>
          <a:p>
            <a:pPr defTabSz="457200">
              <a:spcBef>
                <a:spcPct val="100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The two relationship names are </a:t>
            </a: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underlined</a:t>
            </a:r>
          </a:p>
          <a:p>
            <a:pPr defTabSz="457200">
              <a:spcBef>
                <a:spcPct val="100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The casting entity has a </a:t>
            </a: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double outline</a:t>
            </a:r>
          </a:p>
          <a:p>
            <a:pPr defTabSz="457200">
              <a:spcBef>
                <a:spcPct val="100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The identifier of casting is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movieNo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+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ActorNo</a:t>
            </a:r>
            <a:endParaRPr lang="en-US" sz="20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lvl="1" defTabSz="457200">
              <a:spcBef>
                <a:spcPct val="100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How do you know this?</a:t>
            </a:r>
          </a:p>
          <a:p>
            <a:pPr lvl="1" defTabSz="457200">
              <a:spcBef>
                <a:spcPct val="100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The ERD fully explains this information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81200" y="2368768"/>
          <a:ext cx="8488874" cy="1398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155854" imgH="1235520" progId="Visio.Drawing.11">
                  <p:embed/>
                </p:oleObj>
              </mc:Choice>
              <mc:Fallback>
                <p:oleObj name="Visio" r:id="rId2" imgW="8155854" imgH="1235520" progId="Visio.Drawing.11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368768"/>
                        <a:ext cx="8488874" cy="13985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8118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MovieActor / Casting Entity</a:t>
            </a:r>
            <a:endParaRPr lang="en-US"/>
          </a:p>
        </p:txBody>
      </p:sp>
      <p:sp>
        <p:nvSpPr>
          <p:cNvPr id="701443" name="Text Box 3"/>
          <p:cNvSpPr txBox="1">
            <a:spLocks noChangeArrowheads="1"/>
          </p:cNvSpPr>
          <p:nvPr/>
        </p:nvSpPr>
        <p:spPr bwMode="auto">
          <a:xfrm>
            <a:off x="2297113" y="908051"/>
            <a:ext cx="803751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081088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717675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2354263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99085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defTabSz="457200">
              <a:spcBef>
                <a:spcPct val="10000"/>
              </a:spcBef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The naming of weak entities can sometimes be difficult.</a:t>
            </a:r>
          </a:p>
          <a:p>
            <a:pPr lvl="1" defTabSz="457200">
              <a:spcBef>
                <a:spcPct val="10000"/>
              </a:spcBef>
              <a:buFont typeface="Wingdings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The name '</a:t>
            </a:r>
            <a:r>
              <a:rPr lang="en-US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MovieActor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' is not a natural or 'real world' name.</a:t>
            </a:r>
          </a:p>
          <a:p>
            <a:pPr lvl="1" defTabSz="457200">
              <a:spcBef>
                <a:spcPct val="10000"/>
              </a:spcBef>
              <a:buFont typeface="Wingdings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 more appropriate name might be CASTING</a:t>
            </a:r>
          </a:p>
          <a:p>
            <a:pPr lvl="1" defTabSz="457200">
              <a:spcBef>
                <a:spcPct val="10000"/>
              </a:spcBef>
              <a:buFont typeface="Wingdings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Wherever possible, try to use the word or term that would be used within the industry/business that you are modeling</a:t>
            </a:r>
          </a:p>
          <a:p>
            <a:pPr defTabSz="457200">
              <a:spcBef>
                <a:spcPct val="10000"/>
              </a:spcBef>
            </a:pPr>
            <a:endParaRPr lang="en-US" dirty="0">
              <a:solidFill>
                <a:srgbClr val="000000"/>
              </a:solidFill>
              <a:latin typeface="Arial Narrow" pitchFamily="34" charset="0"/>
            </a:endParaRPr>
          </a:p>
          <a:p>
            <a:pPr defTabSz="457200">
              <a:spcBef>
                <a:spcPct val="10000"/>
              </a:spcBef>
            </a:pPr>
            <a:endParaRPr lang="en-US" dirty="0">
              <a:solidFill>
                <a:srgbClr val="000000"/>
              </a:solidFill>
              <a:latin typeface="Arial Narrow" pitchFamily="34" charset="0"/>
            </a:endParaRPr>
          </a:p>
          <a:p>
            <a:pPr defTabSz="457200">
              <a:spcBef>
                <a:spcPct val="10000"/>
              </a:spcBef>
            </a:pPr>
            <a:endParaRPr lang="en-US" dirty="0">
              <a:solidFill>
                <a:srgbClr val="000000"/>
              </a:solidFill>
              <a:latin typeface="Arial Narrow" pitchFamily="34" charset="0"/>
            </a:endParaRPr>
          </a:p>
          <a:p>
            <a:pPr defTabSz="457200">
              <a:spcBef>
                <a:spcPct val="10000"/>
              </a:spcBef>
            </a:pPr>
            <a:endParaRPr lang="en-US" dirty="0">
              <a:solidFill>
                <a:srgbClr val="000000"/>
              </a:solidFill>
              <a:latin typeface="Arial Narrow" pitchFamily="34" charset="0"/>
            </a:endParaRPr>
          </a:p>
          <a:p>
            <a:pPr defTabSz="457200">
              <a:spcBef>
                <a:spcPct val="10000"/>
              </a:spcBef>
            </a:pPr>
            <a:endParaRPr lang="en-US" dirty="0">
              <a:solidFill>
                <a:srgbClr val="000000"/>
              </a:solidFill>
              <a:latin typeface="Arial Narrow" pitchFamily="34" charset="0"/>
            </a:endParaRPr>
          </a:p>
          <a:p>
            <a:pPr defTabSz="457200">
              <a:spcBef>
                <a:spcPct val="10000"/>
              </a:spcBef>
            </a:pPr>
            <a:endParaRPr lang="en-US" dirty="0">
              <a:solidFill>
                <a:srgbClr val="000000"/>
              </a:solidFill>
              <a:latin typeface="Arial Narrow" pitchFamily="34" charset="0"/>
            </a:endParaRPr>
          </a:p>
          <a:p>
            <a:pPr defTabSz="457200">
              <a:spcBef>
                <a:spcPct val="10000"/>
              </a:spcBef>
            </a:pPr>
            <a:endParaRPr lang="en-US" dirty="0">
              <a:solidFill>
                <a:srgbClr val="000000"/>
              </a:solidFill>
              <a:latin typeface="Arial Narrow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674814" y="3724205"/>
          <a:ext cx="8893175" cy="167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155854" imgH="1235520" progId="Visio.Drawing.11">
                  <p:embed/>
                </p:oleObj>
              </mc:Choice>
              <mc:Fallback>
                <p:oleObj name="Visio" r:id="rId2" imgW="8155854" imgH="1235520" progId="Visio.Drawing.11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814" y="3724205"/>
                        <a:ext cx="8893175" cy="167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271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The completed ERD</a:t>
            </a:r>
            <a:endParaRPr lang="en-US"/>
          </a:p>
        </p:txBody>
      </p:sp>
      <p:sp>
        <p:nvSpPr>
          <p:cNvPr id="642051" name="Text Box 3"/>
          <p:cNvSpPr txBox="1">
            <a:spLocks noChangeArrowheads="1"/>
          </p:cNvSpPr>
          <p:nvPr/>
        </p:nvSpPr>
        <p:spPr bwMode="auto">
          <a:xfrm>
            <a:off x="1609725" y="908050"/>
            <a:ext cx="8724900" cy="1465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081088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717675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2354263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99085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457200">
              <a:spcBef>
                <a:spcPct val="10000"/>
              </a:spcBef>
            </a:pPr>
            <a:endParaRPr lang="en-US" sz="1000">
              <a:solidFill>
                <a:srgbClr val="000000"/>
              </a:solidFill>
              <a:latin typeface="Arial Narrow" pitchFamily="34" charset="0"/>
            </a:endParaRPr>
          </a:p>
          <a:p>
            <a:pPr defTabSz="457200">
              <a:spcBef>
                <a:spcPct val="10000"/>
              </a:spcBef>
            </a:pPr>
            <a:endParaRPr lang="en-US">
              <a:solidFill>
                <a:srgbClr val="000000"/>
              </a:solidFill>
              <a:latin typeface="Arial Narrow" pitchFamily="34" charset="0"/>
            </a:endParaRPr>
          </a:p>
          <a:p>
            <a:pPr defTabSz="457200">
              <a:spcBef>
                <a:spcPct val="10000"/>
              </a:spcBef>
            </a:pPr>
            <a:endParaRPr lang="en-AU">
              <a:solidFill>
                <a:srgbClr val="D1161E"/>
              </a:solidFill>
              <a:latin typeface="Arial Narrow" pitchFamily="34" charset="0"/>
            </a:endParaRPr>
          </a:p>
          <a:p>
            <a:pPr defTabSz="457200">
              <a:spcBef>
                <a:spcPct val="10000"/>
              </a:spcBef>
            </a:pPr>
            <a:endParaRPr lang="en-US">
              <a:solidFill>
                <a:srgbClr val="D1161E"/>
              </a:solidFill>
              <a:latin typeface="Arial Narrow" pitchFamily="34" charset="0"/>
            </a:endParaRPr>
          </a:p>
        </p:txBody>
      </p:sp>
      <p:graphicFrame>
        <p:nvGraphicFramePr>
          <p:cNvPr id="642053" name="Object 5"/>
          <p:cNvGraphicFramePr>
            <a:graphicFrameLocks noChangeAspect="1"/>
          </p:cNvGraphicFramePr>
          <p:nvPr/>
        </p:nvGraphicFramePr>
        <p:xfrm>
          <a:off x="1876426" y="952500"/>
          <a:ext cx="8272463" cy="556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895954" imgH="4549770" progId="Visio.Drawing.11">
                  <p:embed/>
                </p:oleObj>
              </mc:Choice>
              <mc:Fallback>
                <p:oleObj name="Visio" r:id="rId2" imgW="6895954" imgH="4549770" progId="Visio.Drawing.11">
                  <p:embed/>
                  <p:pic>
                    <p:nvPicPr>
                      <p:cNvPr id="6420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6" y="952500"/>
                        <a:ext cx="8272463" cy="556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054" name="Text Box 6"/>
          <p:cNvSpPr txBox="1">
            <a:spLocks noChangeArrowheads="1"/>
          </p:cNvSpPr>
          <p:nvPr/>
        </p:nvSpPr>
        <p:spPr bwMode="auto">
          <a:xfrm>
            <a:off x="6253163" y="933450"/>
            <a:ext cx="4327210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357188" indent="-269875">
              <a:tabLst>
                <a:tab pos="3571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71575" indent="-457200">
              <a:tabLst>
                <a:tab pos="3571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808163" indent="-457200">
              <a:tabLst>
                <a:tab pos="3571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2444750" indent="-457200">
              <a:tabLst>
                <a:tab pos="3571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3081338" indent="-457200">
              <a:tabLst>
                <a:tab pos="3571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35385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71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9957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71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44529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71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9101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71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457200"/>
            <a:r>
              <a:rPr lang="en-US" u="sng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Answer these questions:</a:t>
            </a:r>
            <a:br>
              <a:rPr lang="en-US" u="sng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</a:br>
            <a:endParaRPr lang="en-US" u="sng">
              <a:solidFill>
                <a:srgbClr val="0C64A7"/>
              </a:solidFill>
              <a:latin typeface="Calibri" pitchFamily="34" charset="0"/>
              <a:cs typeface="Calibri" pitchFamily="34" charset="0"/>
            </a:endParaRPr>
          </a:p>
          <a:p>
            <a:pPr defTabSz="457200"/>
            <a:r>
              <a:rPr lang="en-US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Once the ERD has been converted</a:t>
            </a:r>
          </a:p>
          <a:p>
            <a:pPr defTabSz="457200"/>
            <a:r>
              <a:rPr lang="en-US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to a database schema</a:t>
            </a:r>
            <a:br>
              <a:rPr lang="en-US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</a:br>
            <a:endParaRPr lang="en-US" sz="800">
              <a:solidFill>
                <a:srgbClr val="0C64A7"/>
              </a:solidFill>
              <a:latin typeface="Calibri" pitchFamily="34" charset="0"/>
              <a:cs typeface="Calibri" pitchFamily="34" charset="0"/>
            </a:endParaRPr>
          </a:p>
          <a:p>
            <a:pPr defTabSz="457200">
              <a:buClr>
                <a:srgbClr val="0C64A7"/>
              </a:buClr>
              <a:buFont typeface="Wingdings" pitchFamily="2" charset="2"/>
              <a:buChar char="§"/>
            </a:pPr>
            <a:r>
              <a:rPr lang="en-US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Which relations will have FKs?</a:t>
            </a:r>
          </a:p>
          <a:p>
            <a:pPr defTabSz="457200">
              <a:buClr>
                <a:srgbClr val="0C64A7"/>
              </a:buClr>
              <a:buFont typeface="Wingdings" pitchFamily="2" charset="2"/>
              <a:buChar char="§"/>
            </a:pPr>
            <a:r>
              <a:rPr lang="en-US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How many FKs in each relation?</a:t>
            </a:r>
          </a:p>
          <a:p>
            <a:pPr defTabSz="457200">
              <a:buFont typeface="Wingdings" pitchFamily="2" charset="2"/>
              <a:buChar char="§"/>
            </a:pPr>
            <a:endParaRPr lang="en-US">
              <a:solidFill>
                <a:srgbClr val="0C64A7"/>
              </a:solidFill>
              <a:latin typeface="Calibri" pitchFamily="34" charset="0"/>
              <a:cs typeface="Calibri" pitchFamily="34" charset="0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36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524001" y="5951538"/>
            <a:ext cx="1755775" cy="906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Converting the Movie ERD To RM</a:t>
            </a:r>
            <a:endParaRPr lang="en-US"/>
          </a:p>
        </p:txBody>
      </p:sp>
      <p:graphicFrame>
        <p:nvGraphicFramePr>
          <p:cNvPr id="682078" name="Object 94"/>
          <p:cNvGraphicFramePr>
            <a:graphicFrameLocks noGrp="1" noChangeAspect="1"/>
          </p:cNvGraphicFramePr>
          <p:nvPr>
            <p:ph idx="1"/>
          </p:nvPr>
        </p:nvGraphicFramePr>
        <p:xfrm>
          <a:off x="3111500" y="782639"/>
          <a:ext cx="6451600" cy="425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895954" imgH="4549770" progId="Visio.Drawing.11">
                  <p:embed/>
                </p:oleObj>
              </mc:Choice>
              <mc:Fallback>
                <p:oleObj name="Visio" r:id="rId2" imgW="6895954" imgH="4549770" progId="Visio.Drawing.11">
                  <p:embed/>
                  <p:pic>
                    <p:nvPicPr>
                      <p:cNvPr id="682078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782639"/>
                        <a:ext cx="6451600" cy="425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2031" name="Rectangle 47"/>
          <p:cNvSpPr>
            <a:spLocks noChangeArrowheads="1"/>
          </p:cNvSpPr>
          <p:nvPr/>
        </p:nvSpPr>
        <p:spPr bwMode="auto">
          <a:xfrm>
            <a:off x="6355910" y="5678488"/>
            <a:ext cx="1060450" cy="366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>
                <a:solidFill>
                  <a:srgbClr val="D1161E"/>
                </a:solidFill>
                <a:latin typeface="Arial" pitchFamily="34" charset="0"/>
                <a:cs typeface="Arial" pitchFamily="34" charset="0"/>
              </a:rPr>
              <a:t>ACTOR</a:t>
            </a:r>
            <a:r>
              <a:rPr lang="en-US">
                <a:solidFill>
                  <a:srgbClr val="D1161E"/>
                </a:solidFill>
                <a:latin typeface="Arial" pitchFamily="34" charset="0"/>
              </a:rPr>
              <a:t> </a:t>
            </a:r>
            <a:endParaRPr lang="en-US">
              <a:solidFill>
                <a:srgbClr val="D1161E"/>
              </a:solidFill>
              <a:latin typeface="Times New Roman" pitchFamily="18" charset="0"/>
            </a:endParaRPr>
          </a:p>
        </p:txBody>
      </p:sp>
      <p:sp>
        <p:nvSpPr>
          <p:cNvPr id="682032" name="Rectangle 48"/>
          <p:cNvSpPr>
            <a:spLocks noChangeArrowheads="1"/>
          </p:cNvSpPr>
          <p:nvPr/>
        </p:nvSpPr>
        <p:spPr bwMode="auto">
          <a:xfrm>
            <a:off x="6222093" y="5098343"/>
            <a:ext cx="1276350" cy="366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 dirty="0">
                <a:solidFill>
                  <a:srgbClr val="D1161E"/>
                </a:solidFill>
                <a:latin typeface="Arial" pitchFamily="34" charset="0"/>
                <a:cs typeface="Arial" pitchFamily="34" charset="0"/>
              </a:rPr>
              <a:t>CASTING</a:t>
            </a:r>
            <a:r>
              <a:rPr lang="en-US" dirty="0">
                <a:solidFill>
                  <a:srgbClr val="D1161E"/>
                </a:solidFill>
                <a:latin typeface="Arial" pitchFamily="34" charset="0"/>
              </a:rPr>
              <a:t> </a:t>
            </a:r>
            <a:endParaRPr lang="en-US" dirty="0">
              <a:solidFill>
                <a:srgbClr val="D1161E"/>
              </a:solidFill>
              <a:latin typeface="Times New Roman" pitchFamily="18" charset="0"/>
            </a:endParaRPr>
          </a:p>
        </p:txBody>
      </p:sp>
      <p:sp>
        <p:nvSpPr>
          <p:cNvPr id="682030" name="Rectangle 46"/>
          <p:cNvSpPr>
            <a:spLocks noChangeArrowheads="1"/>
          </p:cNvSpPr>
          <p:nvPr/>
        </p:nvSpPr>
        <p:spPr bwMode="auto">
          <a:xfrm>
            <a:off x="2207870" y="6315076"/>
            <a:ext cx="984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 dirty="0">
                <a:solidFill>
                  <a:srgbClr val="D1161E"/>
                </a:solidFill>
                <a:latin typeface="Arial" pitchFamily="34" charset="0"/>
                <a:cs typeface="Arial" pitchFamily="34" charset="0"/>
              </a:rPr>
              <a:t>MOVIE</a:t>
            </a:r>
            <a:r>
              <a:rPr lang="en-US" dirty="0">
                <a:solidFill>
                  <a:srgbClr val="D1161E"/>
                </a:solidFill>
                <a:latin typeface="Arial" pitchFamily="34" charset="0"/>
              </a:rPr>
              <a:t> </a:t>
            </a:r>
            <a:endParaRPr lang="en-US" dirty="0">
              <a:solidFill>
                <a:srgbClr val="D1161E"/>
              </a:solidFill>
              <a:latin typeface="Times New Roman" pitchFamily="18" charset="0"/>
            </a:endParaRPr>
          </a:p>
        </p:txBody>
      </p:sp>
      <p:sp>
        <p:nvSpPr>
          <p:cNvPr id="682041" name="Rectangle 57"/>
          <p:cNvSpPr>
            <a:spLocks noChangeArrowheads="1"/>
          </p:cNvSpPr>
          <p:nvPr/>
        </p:nvSpPr>
        <p:spPr bwMode="auto">
          <a:xfrm>
            <a:off x="1553265" y="5011911"/>
            <a:ext cx="1928733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 dirty="0">
                <a:solidFill>
                  <a:srgbClr val="D1161E"/>
                </a:solidFill>
                <a:latin typeface="Arial" pitchFamily="34" charset="0"/>
                <a:cs typeface="Arial" pitchFamily="34" charset="0"/>
              </a:rPr>
              <a:t>MOVIECOLOUR</a:t>
            </a:r>
            <a:endParaRPr lang="en-US" dirty="0">
              <a:solidFill>
                <a:srgbClr val="D1161E"/>
              </a:solidFill>
              <a:latin typeface="Times New Roman" pitchFamily="18" charset="0"/>
            </a:endParaRPr>
          </a:p>
        </p:txBody>
      </p:sp>
      <p:sp>
        <p:nvSpPr>
          <p:cNvPr id="682050" name="Rectangle 66"/>
          <p:cNvSpPr>
            <a:spLocks noChangeArrowheads="1"/>
          </p:cNvSpPr>
          <p:nvPr/>
        </p:nvSpPr>
        <p:spPr bwMode="auto">
          <a:xfrm>
            <a:off x="2300897" y="5678489"/>
            <a:ext cx="1123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 dirty="0">
                <a:solidFill>
                  <a:srgbClr val="D1161E"/>
                </a:solidFill>
                <a:latin typeface="Arial" pitchFamily="34" charset="0"/>
                <a:cs typeface="Arial" pitchFamily="34" charset="0"/>
              </a:rPr>
              <a:t>RATING</a:t>
            </a:r>
            <a:r>
              <a:rPr lang="en-US" dirty="0">
                <a:solidFill>
                  <a:srgbClr val="D1161E"/>
                </a:solidFill>
                <a:latin typeface="Arial" pitchFamily="34" charset="0"/>
              </a:rPr>
              <a:t> </a:t>
            </a:r>
            <a:endParaRPr lang="en-US" dirty="0">
              <a:solidFill>
                <a:srgbClr val="D1161E"/>
              </a:solidFill>
              <a:latin typeface="Times New Roman" pitchFamily="18" charset="0"/>
            </a:endParaRPr>
          </a:p>
        </p:txBody>
      </p:sp>
      <p:graphicFrame>
        <p:nvGraphicFramePr>
          <p:cNvPr id="682204" name="Group 220"/>
          <p:cNvGraphicFramePr>
            <a:graphicFrameLocks noGrp="1"/>
          </p:cNvGraphicFramePr>
          <p:nvPr/>
        </p:nvGraphicFramePr>
        <p:xfrm>
          <a:off x="7488726" y="5637213"/>
          <a:ext cx="2811079" cy="365760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actorno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2121" name="Group 137"/>
          <p:cNvGraphicFramePr>
            <a:graphicFrameLocks noGrp="1"/>
          </p:cNvGraphicFramePr>
          <p:nvPr/>
        </p:nvGraphicFramePr>
        <p:xfrm>
          <a:off x="7487330" y="5045955"/>
          <a:ext cx="1931988" cy="365760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actorno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2131" name="Group 147"/>
          <p:cNvGraphicFramePr>
            <a:graphicFrameLocks noGrp="1"/>
          </p:cNvGraphicFramePr>
          <p:nvPr/>
        </p:nvGraphicFramePr>
        <p:xfrm>
          <a:off x="3481998" y="5011911"/>
          <a:ext cx="2425771" cy="365760"/>
        </p:xfrm>
        <a:graphic>
          <a:graphicData uri="http://schemas.openxmlformats.org/drawingml/2006/table">
            <a:tbl>
              <a:tblPr/>
              <a:tblGrid>
                <a:gridCol w="120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colourcode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colourname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2200" name="Group 216"/>
          <p:cNvGraphicFramePr>
            <a:graphicFrameLocks noGrp="1"/>
          </p:cNvGraphicFramePr>
          <p:nvPr/>
        </p:nvGraphicFramePr>
        <p:xfrm>
          <a:off x="3424848" y="5676900"/>
          <a:ext cx="2230437" cy="365760"/>
        </p:xfrm>
        <a:graphic>
          <a:graphicData uri="http://schemas.openxmlformats.org/drawingml/2006/table">
            <a:tbl>
              <a:tblPr/>
              <a:tblGrid>
                <a:gridCol w="111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ratingcode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description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2209" name="Group 225"/>
          <p:cNvGraphicFramePr>
            <a:graphicFrameLocks noGrp="1"/>
          </p:cNvGraphicFramePr>
          <p:nvPr/>
        </p:nvGraphicFramePr>
        <p:xfrm>
          <a:off x="3350107" y="6315075"/>
          <a:ext cx="6003442" cy="365760"/>
        </p:xfrm>
        <a:graphic>
          <a:graphicData uri="http://schemas.openxmlformats.org/drawingml/2006/table">
            <a:tbl>
              <a:tblPr/>
              <a:tblGrid>
                <a:gridCol w="1088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8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title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ratingcode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colourcode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relyear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runtime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890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Relationships</a:t>
            </a:r>
          </a:p>
        </p:txBody>
      </p:sp>
      <p:sp>
        <p:nvSpPr>
          <p:cNvPr id="730116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/>
          </a:bodyPr>
          <a:lstStyle/>
          <a:p>
            <a:pPr marL="381000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Each of the following relationships is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almost identical</a:t>
            </a:r>
          </a:p>
          <a:p>
            <a:pPr marL="381000" indent="-381000">
              <a:lnSpc>
                <a:spcPct val="120000"/>
              </a:lnSpc>
            </a:pPr>
            <a:endParaRPr lang="en-AU" b="1" dirty="0">
              <a:latin typeface="Calibri" pitchFamily="34" charset="0"/>
              <a:cs typeface="Calibri" pitchFamily="34" charset="0"/>
            </a:endParaRPr>
          </a:p>
          <a:p>
            <a:pPr marL="381000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Each deals with a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totally different business</a:t>
            </a:r>
          </a:p>
          <a:p>
            <a:pPr marL="381000" indent="-381000">
              <a:lnSpc>
                <a:spcPct val="120000"/>
              </a:lnSpc>
            </a:pPr>
            <a:endParaRPr lang="en-AU" b="1" dirty="0">
              <a:latin typeface="Calibri" pitchFamily="34" charset="0"/>
              <a:cs typeface="Calibri" pitchFamily="34" charset="0"/>
            </a:endParaRPr>
          </a:p>
          <a:p>
            <a:pPr marL="381000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Each business has a number of Strong Entities that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interact</a:t>
            </a:r>
            <a:r>
              <a:rPr lang="en-AU" dirty="0">
                <a:latin typeface="Calibri" pitchFamily="34" charset="0"/>
                <a:cs typeface="Calibri" pitchFamily="34" charset="0"/>
              </a:rPr>
              <a:t> with each other</a:t>
            </a:r>
          </a:p>
          <a:p>
            <a:pPr marL="381000" indent="-381000">
              <a:lnSpc>
                <a:spcPct val="120000"/>
              </a:lnSpc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This interaction creates a need for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Weak Entities</a:t>
            </a:r>
          </a:p>
          <a:p>
            <a:pPr marL="381000" indent="-381000"/>
            <a:endParaRPr lang="en-AU" dirty="0"/>
          </a:p>
          <a:p>
            <a:pPr marL="923925" lvl="1" indent="-381000">
              <a:buNone/>
            </a:pPr>
            <a:endParaRPr lang="en-AU" dirty="0"/>
          </a:p>
          <a:p>
            <a:pPr marL="381000" indent="-381000"/>
            <a:endParaRPr lang="en-AU" dirty="0"/>
          </a:p>
          <a:p>
            <a:pPr marL="381000" indent="-381000"/>
            <a:endParaRPr lang="en-AU" dirty="0"/>
          </a:p>
          <a:p>
            <a:pPr marL="381000" indent="-381000"/>
            <a:endParaRPr lang="en-AU" dirty="0"/>
          </a:p>
        </p:txBody>
      </p:sp>
      <p:sp>
        <p:nvSpPr>
          <p:cNvPr id="730114" name="Rectangle 2"/>
          <p:cNvSpPr>
            <a:spLocks noChangeArrowheads="1"/>
          </p:cNvSpPr>
          <p:nvPr/>
        </p:nvSpPr>
        <p:spPr bwMode="auto">
          <a:xfrm>
            <a:off x="1524001" y="5951538"/>
            <a:ext cx="1755775" cy="906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878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95"/>
          <p:cNvSpPr>
            <a:spLocks noChangeArrowheads="1"/>
          </p:cNvSpPr>
          <p:nvPr/>
        </p:nvSpPr>
        <p:spPr bwMode="auto">
          <a:xfrm>
            <a:off x="4535487" y="4896327"/>
            <a:ext cx="1797050" cy="366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MOVIEACTOR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</a:rPr>
              <a:t> </a:t>
            </a:r>
            <a:endParaRPr lang="en-US" dirty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7106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Movies &amp; Actors &amp; Casting</a:t>
            </a:r>
          </a:p>
        </p:txBody>
      </p:sp>
      <p:sp>
        <p:nvSpPr>
          <p:cNvPr id="710660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381000" indent="-381000"/>
            <a:endParaRPr lang="en-AU"/>
          </a:p>
          <a:p>
            <a:pPr marL="381000" indent="-381000"/>
            <a:endParaRPr lang="en-AU"/>
          </a:p>
          <a:p>
            <a:pPr marL="923925" lvl="1" indent="-381000">
              <a:buNone/>
            </a:pPr>
            <a:endParaRPr lang="en-AU"/>
          </a:p>
        </p:txBody>
      </p:sp>
      <p:sp>
        <p:nvSpPr>
          <p:cNvPr id="710658" name="Rectangle 2"/>
          <p:cNvSpPr>
            <a:spLocks noChangeArrowheads="1"/>
          </p:cNvSpPr>
          <p:nvPr/>
        </p:nvSpPr>
        <p:spPr bwMode="auto">
          <a:xfrm>
            <a:off x="8912226" y="5779008"/>
            <a:ext cx="1755775" cy="10353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710662" name="Object 6"/>
          <p:cNvGraphicFramePr>
            <a:graphicFrameLocks noChangeAspect="1"/>
          </p:cNvGraphicFramePr>
          <p:nvPr/>
        </p:nvGraphicFramePr>
        <p:xfrm>
          <a:off x="1774826" y="1290638"/>
          <a:ext cx="8893175" cy="163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155876" imgH="1235469" progId="Visio.Drawing.11">
                  <p:embed/>
                </p:oleObj>
              </mc:Choice>
              <mc:Fallback>
                <p:oleObj name="Visio" r:id="rId2" imgW="8155876" imgH="1235469" progId="Visio.Drawing.11">
                  <p:embed/>
                  <p:pic>
                    <p:nvPicPr>
                      <p:cNvPr id="7106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1290638"/>
                        <a:ext cx="8893175" cy="163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0725" name="Text Box 69"/>
          <p:cNvSpPr txBox="1">
            <a:spLocks noChangeArrowheads="1"/>
          </p:cNvSpPr>
          <p:nvPr/>
        </p:nvSpPr>
        <p:spPr bwMode="auto">
          <a:xfrm>
            <a:off x="7497763" y="5276850"/>
            <a:ext cx="28829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88900" indent="-1588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71575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808163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2444750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3081338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35385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9957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44529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9101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defTabSz="457200"/>
            <a:r>
              <a:rPr lang="en-US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What is the purpose of the weak entity?</a:t>
            </a:r>
          </a:p>
          <a:p>
            <a:pPr defTabSz="457200"/>
            <a:endParaRPr lang="en-US" dirty="0">
              <a:solidFill>
                <a:srgbClr val="0C64A7"/>
              </a:solidFill>
              <a:latin typeface="Calibri" pitchFamily="34" charset="0"/>
              <a:cs typeface="Calibri" pitchFamily="34" charset="0"/>
            </a:endParaRPr>
          </a:p>
          <a:p>
            <a:pPr algn="ctr" defTabSz="457200"/>
            <a:r>
              <a:rPr lang="en-US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What does it do?</a:t>
            </a:r>
            <a:endParaRPr lang="en-AU" dirty="0">
              <a:solidFill>
                <a:srgbClr val="D1161E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Freeform 225"/>
          <p:cNvSpPr>
            <a:spLocks/>
          </p:cNvSpPr>
          <p:nvPr/>
        </p:nvSpPr>
        <p:spPr bwMode="auto">
          <a:xfrm flipH="1">
            <a:off x="6437312" y="4675664"/>
            <a:ext cx="889000" cy="833438"/>
          </a:xfrm>
          <a:custGeom>
            <a:avLst/>
            <a:gdLst>
              <a:gd name="T0" fmla="*/ 1336 w 1336"/>
              <a:gd name="T1" fmla="*/ 424 h 469"/>
              <a:gd name="T2" fmla="*/ 904 w 1336"/>
              <a:gd name="T3" fmla="*/ 464 h 469"/>
              <a:gd name="T4" fmla="*/ 320 w 1336"/>
              <a:gd name="T5" fmla="*/ 392 h 469"/>
              <a:gd name="T6" fmla="*/ 80 w 1336"/>
              <a:gd name="T7" fmla="*/ 184 h 469"/>
              <a:gd name="T8" fmla="*/ 0 w 1336"/>
              <a:gd name="T9" fmla="*/ 0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6" h="469">
                <a:moveTo>
                  <a:pt x="1336" y="424"/>
                </a:moveTo>
                <a:cubicBezTo>
                  <a:pt x="1204" y="446"/>
                  <a:pt x="1073" y="469"/>
                  <a:pt x="904" y="464"/>
                </a:cubicBezTo>
                <a:cubicBezTo>
                  <a:pt x="735" y="459"/>
                  <a:pt x="457" y="439"/>
                  <a:pt x="320" y="392"/>
                </a:cubicBezTo>
                <a:cubicBezTo>
                  <a:pt x="183" y="345"/>
                  <a:pt x="133" y="249"/>
                  <a:pt x="80" y="184"/>
                </a:cubicBezTo>
                <a:cubicBezTo>
                  <a:pt x="27" y="119"/>
                  <a:pt x="13" y="59"/>
                  <a:pt x="0" y="0"/>
                </a:cubicBezTo>
              </a:path>
            </a:pathLst>
          </a:custGeom>
          <a:noFill/>
          <a:ln w="38100" cap="flat" cmpd="sng">
            <a:solidFill>
              <a:srgbClr val="0033CC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6" name="Group 196"/>
          <p:cNvGraphicFramePr>
            <a:graphicFrameLocks noGrp="1"/>
          </p:cNvGraphicFramePr>
          <p:nvPr/>
        </p:nvGraphicFramePr>
        <p:xfrm>
          <a:off x="6808788" y="3177064"/>
          <a:ext cx="3286125" cy="1463040"/>
        </p:xfrm>
        <a:graphic>
          <a:graphicData uri="http://schemas.openxmlformats.org/drawingml/2006/table">
            <a:tbl>
              <a:tblPr/>
              <a:tblGrid>
                <a:gridCol w="108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title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15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Hunger Games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Silver Linings Playbook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Hangover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Group 160"/>
          <p:cNvGraphicFramePr>
            <a:graphicFrameLocks noGrp="1"/>
          </p:cNvGraphicFramePr>
          <p:nvPr/>
        </p:nvGraphicFramePr>
        <p:xfrm>
          <a:off x="4537075" y="5259864"/>
          <a:ext cx="2051050" cy="155448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actorNo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220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41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89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41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89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15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Rectangle 72"/>
          <p:cNvSpPr>
            <a:spLocks noChangeArrowheads="1"/>
          </p:cNvSpPr>
          <p:nvPr/>
        </p:nvSpPr>
        <p:spPr bwMode="auto">
          <a:xfrm>
            <a:off x="7173912" y="2850040"/>
            <a:ext cx="984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MOVIE</a:t>
            </a:r>
            <a:r>
              <a:rPr lang="en-US">
                <a:solidFill>
                  <a:srgbClr val="FFFFFF"/>
                </a:solidFill>
                <a:latin typeface="Arial" pitchFamily="34" charset="0"/>
              </a:rPr>
              <a:t> </a:t>
            </a:r>
            <a:endParaRPr lang="en-US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916112" y="2937352"/>
            <a:ext cx="1060450" cy="366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ACTOR</a:t>
            </a:r>
            <a:r>
              <a:rPr lang="en-US">
                <a:solidFill>
                  <a:srgbClr val="FFFFFF"/>
                </a:solidFill>
                <a:latin typeface="Arial" pitchFamily="34" charset="0"/>
              </a:rPr>
              <a:t> </a:t>
            </a:r>
            <a:endParaRPr lang="en-US">
              <a:solidFill>
                <a:srgbClr val="FFFFFF"/>
              </a:solidFill>
              <a:latin typeface="Times New Roman" pitchFamily="18" charset="0"/>
            </a:endParaRPr>
          </a:p>
        </p:txBody>
      </p:sp>
      <p:graphicFrame>
        <p:nvGraphicFramePr>
          <p:cNvPr id="20" name="Group 223"/>
          <p:cNvGraphicFramePr>
            <a:graphicFrameLocks noGrp="1"/>
          </p:cNvGraphicFramePr>
          <p:nvPr/>
        </p:nvGraphicFramePr>
        <p:xfrm>
          <a:off x="1865310" y="3294539"/>
          <a:ext cx="3298826" cy="1463040"/>
        </p:xfrm>
        <a:graphic>
          <a:graphicData uri="http://schemas.openxmlformats.org/drawingml/2006/table">
            <a:tbl>
              <a:tblPr/>
              <a:tblGrid>
                <a:gridCol w="998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actorNo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89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Jennifer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Lawrence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Bradley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Cooper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Scarlett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Johansson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Freeform 224"/>
          <p:cNvSpPr>
            <a:spLocks/>
          </p:cNvSpPr>
          <p:nvPr/>
        </p:nvSpPr>
        <p:spPr bwMode="auto">
          <a:xfrm>
            <a:off x="2398712" y="4789964"/>
            <a:ext cx="2120900" cy="744538"/>
          </a:xfrm>
          <a:custGeom>
            <a:avLst/>
            <a:gdLst>
              <a:gd name="T0" fmla="*/ 1336 w 1336"/>
              <a:gd name="T1" fmla="*/ 424 h 469"/>
              <a:gd name="T2" fmla="*/ 904 w 1336"/>
              <a:gd name="T3" fmla="*/ 464 h 469"/>
              <a:gd name="T4" fmla="*/ 320 w 1336"/>
              <a:gd name="T5" fmla="*/ 392 h 469"/>
              <a:gd name="T6" fmla="*/ 80 w 1336"/>
              <a:gd name="T7" fmla="*/ 184 h 469"/>
              <a:gd name="T8" fmla="*/ 0 w 1336"/>
              <a:gd name="T9" fmla="*/ 0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6" h="469">
                <a:moveTo>
                  <a:pt x="1336" y="424"/>
                </a:moveTo>
                <a:cubicBezTo>
                  <a:pt x="1204" y="446"/>
                  <a:pt x="1073" y="469"/>
                  <a:pt x="904" y="464"/>
                </a:cubicBezTo>
                <a:cubicBezTo>
                  <a:pt x="735" y="459"/>
                  <a:pt x="457" y="439"/>
                  <a:pt x="320" y="392"/>
                </a:cubicBezTo>
                <a:cubicBezTo>
                  <a:pt x="183" y="345"/>
                  <a:pt x="133" y="249"/>
                  <a:pt x="80" y="184"/>
                </a:cubicBezTo>
                <a:cubicBezTo>
                  <a:pt x="27" y="119"/>
                  <a:pt x="13" y="59"/>
                  <a:pt x="0" y="0"/>
                </a:cubicBezTo>
              </a:path>
            </a:pathLst>
          </a:custGeom>
          <a:noFill/>
          <a:ln w="38100" cap="flat" cmpd="sng">
            <a:solidFill>
              <a:srgbClr val="0033CC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65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1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Relationships</a:t>
            </a:r>
          </a:p>
        </p:txBody>
      </p:sp>
      <p:sp>
        <p:nvSpPr>
          <p:cNvPr id="818180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381000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What is the purpose of the Casting Entity?</a:t>
            </a:r>
          </a:p>
          <a:p>
            <a:pPr marL="381000" indent="-381000">
              <a:lnSpc>
                <a:spcPct val="120000"/>
              </a:lnSpc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It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allocates</a:t>
            </a:r>
            <a:r>
              <a:rPr lang="en-AU" dirty="0">
                <a:latin typeface="Calibri" pitchFamily="34" charset="0"/>
                <a:cs typeface="Calibri" pitchFamily="34" charset="0"/>
              </a:rPr>
              <a:t> an instance of Actor to an Instance of Movie</a:t>
            </a:r>
          </a:p>
          <a:p>
            <a:pPr marL="381000" indent="-381000">
              <a:lnSpc>
                <a:spcPct val="120000"/>
              </a:lnSpc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923925" lvl="1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Ben Stiller is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cast in</a:t>
            </a:r>
            <a:r>
              <a:rPr lang="en-AU" dirty="0">
                <a:latin typeface="Calibri" pitchFamily="34" charset="0"/>
                <a:cs typeface="Calibri" pitchFamily="34" charset="0"/>
              </a:rPr>
              <a:t> 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Zoolander</a:t>
            </a: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923925" lvl="1" indent="-381000">
              <a:lnSpc>
                <a:spcPct val="120000"/>
              </a:lnSpc>
            </a:pPr>
            <a:endParaRPr lang="en-AU" dirty="0"/>
          </a:p>
          <a:p>
            <a:pPr marL="923925" lvl="1" indent="-381000">
              <a:lnSpc>
                <a:spcPct val="120000"/>
              </a:lnSpc>
              <a:buNone/>
            </a:pPr>
            <a:r>
              <a:rPr lang="en-AU" dirty="0"/>
              <a:t> </a:t>
            </a:r>
            <a:endParaRPr lang="en-AU" b="1" dirty="0"/>
          </a:p>
          <a:p>
            <a:pPr marL="381000" indent="-381000"/>
            <a:endParaRPr lang="en-AU" dirty="0"/>
          </a:p>
          <a:p>
            <a:pPr marL="923925" lvl="1" indent="-381000">
              <a:buNone/>
            </a:pPr>
            <a:endParaRPr lang="en-AU" dirty="0"/>
          </a:p>
          <a:p>
            <a:pPr marL="381000" indent="-381000"/>
            <a:endParaRPr lang="en-AU" dirty="0"/>
          </a:p>
          <a:p>
            <a:pPr marL="381000" indent="-381000"/>
            <a:endParaRPr lang="en-AU" dirty="0"/>
          </a:p>
          <a:p>
            <a:pPr marL="381000" indent="-381000"/>
            <a:endParaRPr lang="en-AU" dirty="0"/>
          </a:p>
        </p:txBody>
      </p:sp>
      <p:sp>
        <p:nvSpPr>
          <p:cNvPr id="818178" name="Rectangle 2"/>
          <p:cNvSpPr>
            <a:spLocks noChangeArrowheads="1"/>
          </p:cNvSpPr>
          <p:nvPr/>
        </p:nvSpPr>
        <p:spPr bwMode="auto">
          <a:xfrm>
            <a:off x="1524001" y="5951538"/>
            <a:ext cx="1755775" cy="906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818202" name="Group 26"/>
          <p:cNvGraphicFramePr>
            <a:graphicFrameLocks noGrp="1"/>
          </p:cNvGraphicFramePr>
          <p:nvPr/>
        </p:nvGraphicFramePr>
        <p:xfrm>
          <a:off x="4894263" y="3644900"/>
          <a:ext cx="2901950" cy="2072640"/>
        </p:xfrm>
        <a:graphic>
          <a:graphicData uri="http://schemas.openxmlformats.org/drawingml/2006/table">
            <a:tbl>
              <a:tblPr/>
              <a:tblGrid>
                <a:gridCol w="1316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actorNo</a:t>
                      </a:r>
                      <a:endParaRPr kumimoji="0" lang="en-US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220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290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290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135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18198" name="Rectangle 22"/>
          <p:cNvSpPr>
            <a:spLocks noChangeArrowheads="1"/>
          </p:cNvSpPr>
          <p:nvPr/>
        </p:nvSpPr>
        <p:spPr bwMode="auto">
          <a:xfrm>
            <a:off x="5591175" y="3268663"/>
            <a:ext cx="1276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CASTING</a:t>
            </a:r>
            <a:r>
              <a:rPr lang="en-US">
                <a:solidFill>
                  <a:srgbClr val="FFFFFF"/>
                </a:solidFill>
                <a:latin typeface="Arial" pitchFamily="34" charset="0"/>
              </a:rPr>
              <a:t> </a:t>
            </a:r>
            <a:endParaRPr lang="en-US">
              <a:solidFill>
                <a:srgbClr val="FFFFFF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58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1833563" y="5843640"/>
            <a:ext cx="8547100" cy="10353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8912226" y="5779008"/>
            <a:ext cx="1755775" cy="10353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116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Students, Subjects, Enrolments</a:t>
            </a:r>
          </a:p>
        </p:txBody>
      </p:sp>
      <p:sp>
        <p:nvSpPr>
          <p:cNvPr id="711684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381000" indent="-381000"/>
            <a:r>
              <a:rPr lang="en-AU"/>
              <a:t>Consider enrolments at University.</a:t>
            </a:r>
          </a:p>
          <a:p>
            <a:pPr marL="923925" lvl="1" indent="-381000"/>
            <a:endParaRPr lang="en-AU"/>
          </a:p>
          <a:p>
            <a:pPr marL="381000" indent="-381000"/>
            <a:endParaRPr lang="en-AU"/>
          </a:p>
          <a:p>
            <a:pPr marL="381000" indent="-381000"/>
            <a:endParaRPr lang="en-AU"/>
          </a:p>
          <a:p>
            <a:pPr marL="381000" indent="-381000"/>
            <a:endParaRPr lang="en-AU"/>
          </a:p>
          <a:p>
            <a:pPr marL="923925" lvl="1" indent="-381000">
              <a:buNone/>
            </a:pPr>
            <a:endParaRPr lang="en-AU"/>
          </a:p>
        </p:txBody>
      </p:sp>
      <p:sp>
        <p:nvSpPr>
          <p:cNvPr id="711682" name="Rectangle 2"/>
          <p:cNvSpPr>
            <a:spLocks noChangeArrowheads="1"/>
          </p:cNvSpPr>
          <p:nvPr/>
        </p:nvSpPr>
        <p:spPr bwMode="auto">
          <a:xfrm>
            <a:off x="1668464" y="4914901"/>
            <a:ext cx="1755775" cy="9064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711688" name="Object 8"/>
          <p:cNvGraphicFramePr>
            <a:graphicFrameLocks noChangeAspect="1"/>
          </p:cNvGraphicFramePr>
          <p:nvPr/>
        </p:nvGraphicFramePr>
        <p:xfrm>
          <a:off x="1524001" y="1249363"/>
          <a:ext cx="8943975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0720426" imgH="7588720" progId="Visio.Drawing.11">
                  <p:embed/>
                </p:oleObj>
              </mc:Choice>
              <mc:Fallback>
                <p:oleObj name="Visio" r:id="rId2" imgW="10720426" imgH="7588720" progId="Visio.Drawing.11">
                  <p:embed/>
                  <p:pic>
                    <p:nvPicPr>
                      <p:cNvPr id="7116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567" t="46483" r="7898" b="41985"/>
                      <a:stretch>
                        <a:fillRect/>
                      </a:stretch>
                    </p:blipFill>
                    <p:spPr bwMode="auto">
                      <a:xfrm>
                        <a:off x="1524001" y="1249363"/>
                        <a:ext cx="8943975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1689" name="Group 9"/>
          <p:cNvGraphicFramePr>
            <a:graphicFrameLocks noGrp="1"/>
          </p:cNvGraphicFramePr>
          <p:nvPr/>
        </p:nvGraphicFramePr>
        <p:xfrm>
          <a:off x="1958976" y="2700338"/>
          <a:ext cx="3311525" cy="1463040"/>
        </p:xfrm>
        <a:graphic>
          <a:graphicData uri="http://schemas.openxmlformats.org/drawingml/2006/table">
            <a:tbl>
              <a:tblPr/>
              <a:tblGrid>
                <a:gridCol w="1293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subjectcode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subname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HIT1402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DataBase Analysis…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HIT1404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Intro to Prog in VB...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HIT2425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Bus Systems Prog…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11706" name="Group 26"/>
          <p:cNvGraphicFramePr>
            <a:graphicFrameLocks noGrp="1"/>
          </p:cNvGraphicFramePr>
          <p:nvPr/>
        </p:nvGraphicFramePr>
        <p:xfrm>
          <a:off x="4233864" y="4667250"/>
          <a:ext cx="3254375" cy="2194560"/>
        </p:xfrm>
        <a:graphic>
          <a:graphicData uri="http://schemas.openxmlformats.org/drawingml/2006/table">
            <a:tbl>
              <a:tblPr/>
              <a:tblGrid>
                <a:gridCol w="1627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subjectcode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stuId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HIT1402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1122334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HIT1404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1122334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HIT1402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4444555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HIT2425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4444555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HIT1402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7777700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11729" name="Rectangle 49"/>
          <p:cNvSpPr>
            <a:spLocks noChangeArrowheads="1"/>
          </p:cNvSpPr>
          <p:nvPr/>
        </p:nvSpPr>
        <p:spPr bwMode="auto">
          <a:xfrm>
            <a:off x="7531100" y="2257426"/>
            <a:ext cx="1327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STUDENT</a:t>
            </a:r>
            <a:r>
              <a:rPr lang="en-US">
                <a:solidFill>
                  <a:srgbClr val="FFFFFF"/>
                </a:solidFill>
                <a:latin typeface="Arial" pitchFamily="34" charset="0"/>
              </a:rPr>
              <a:t> </a:t>
            </a:r>
            <a:endParaRPr lang="en-US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711730" name="Rectangle 50"/>
          <p:cNvSpPr>
            <a:spLocks noChangeArrowheads="1"/>
          </p:cNvSpPr>
          <p:nvPr/>
        </p:nvSpPr>
        <p:spPr bwMode="auto">
          <a:xfrm>
            <a:off x="2273300" y="2344738"/>
            <a:ext cx="1314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SUBJECT</a:t>
            </a:r>
            <a:r>
              <a:rPr lang="en-US">
                <a:solidFill>
                  <a:srgbClr val="FFFFFF"/>
                </a:solidFill>
                <a:latin typeface="Arial" pitchFamily="34" charset="0"/>
              </a:rPr>
              <a:t> </a:t>
            </a:r>
            <a:endParaRPr lang="en-US">
              <a:solidFill>
                <a:srgbClr val="FFFFFF"/>
              </a:solidFill>
              <a:latin typeface="Times New Roman" pitchFamily="18" charset="0"/>
            </a:endParaRPr>
          </a:p>
        </p:txBody>
      </p:sp>
      <p:graphicFrame>
        <p:nvGraphicFramePr>
          <p:cNvPr id="711731" name="Group 51"/>
          <p:cNvGraphicFramePr>
            <a:graphicFrameLocks noGrp="1"/>
          </p:cNvGraphicFramePr>
          <p:nvPr/>
        </p:nvGraphicFramePr>
        <p:xfrm>
          <a:off x="7086600" y="2765425"/>
          <a:ext cx="3162300" cy="1463040"/>
        </p:xfrm>
        <a:graphic>
          <a:graphicData uri="http://schemas.openxmlformats.org/drawingml/2006/table">
            <a:tbl>
              <a:tblPr/>
              <a:tblGrid>
                <a:gridCol w="957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stuId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1122334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Jane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Taylor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4444555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Jobe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McKay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7777700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Helen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Freeman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1753" name="Rectangle 73"/>
          <p:cNvSpPr>
            <a:spLocks noChangeArrowheads="1"/>
          </p:cNvSpPr>
          <p:nvPr/>
        </p:nvSpPr>
        <p:spPr bwMode="auto">
          <a:xfrm>
            <a:off x="5197475" y="4291013"/>
            <a:ext cx="1695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ENROLMENT</a:t>
            </a:r>
            <a:r>
              <a:rPr lang="en-US">
                <a:solidFill>
                  <a:srgbClr val="FFFFFF"/>
                </a:solidFill>
                <a:latin typeface="Arial" pitchFamily="34" charset="0"/>
              </a:rPr>
              <a:t> </a:t>
            </a:r>
            <a:endParaRPr lang="en-US">
              <a:solidFill>
                <a:srgbClr val="FFFFFF"/>
              </a:solidFill>
              <a:latin typeface="Times New Roman" pitchFamily="18" charset="0"/>
            </a:endParaRPr>
          </a:p>
        </p:txBody>
      </p:sp>
      <p:cxnSp>
        <p:nvCxnSpPr>
          <p:cNvPr id="711754" name="AutoShape 74"/>
          <p:cNvCxnSpPr>
            <a:cxnSpLocks noChangeShapeType="1"/>
          </p:cNvCxnSpPr>
          <p:nvPr/>
        </p:nvCxnSpPr>
        <p:spPr bwMode="auto">
          <a:xfrm flipV="1">
            <a:off x="7488238" y="4275139"/>
            <a:ext cx="303212" cy="574675"/>
          </a:xfrm>
          <a:prstGeom prst="curvedConnector2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1755" name="AutoShape 75"/>
          <p:cNvCxnSpPr>
            <a:cxnSpLocks noChangeShapeType="1"/>
          </p:cNvCxnSpPr>
          <p:nvPr/>
        </p:nvCxnSpPr>
        <p:spPr bwMode="auto">
          <a:xfrm rot="10800000">
            <a:off x="2520950" y="4211639"/>
            <a:ext cx="1703388" cy="650875"/>
          </a:xfrm>
          <a:prstGeom prst="curvedConnector3">
            <a:avLst>
              <a:gd name="adj1" fmla="val 101394"/>
            </a:avLst>
          </a:prstGeom>
          <a:noFill/>
          <a:ln w="38100">
            <a:solidFill>
              <a:srgbClr val="0033CC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1756" name="Text Box 76"/>
          <p:cNvSpPr txBox="1">
            <a:spLocks noChangeArrowheads="1"/>
          </p:cNvSpPr>
          <p:nvPr/>
        </p:nvSpPr>
        <p:spPr bwMode="auto">
          <a:xfrm>
            <a:off x="7497763" y="5276850"/>
            <a:ext cx="28829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88900" indent="-1588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71575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808163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2444750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3081338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35385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9957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44529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9101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defTabSz="457200"/>
            <a:r>
              <a:rPr lang="en-US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What is the purpose of the weak entity?</a:t>
            </a:r>
          </a:p>
          <a:p>
            <a:pPr defTabSz="457200"/>
            <a:endParaRPr lang="en-US" dirty="0">
              <a:solidFill>
                <a:srgbClr val="0C64A7"/>
              </a:solidFill>
              <a:latin typeface="Calibri" pitchFamily="34" charset="0"/>
              <a:cs typeface="Calibri" pitchFamily="34" charset="0"/>
            </a:endParaRPr>
          </a:p>
          <a:p>
            <a:pPr algn="ctr" defTabSz="457200"/>
            <a:r>
              <a:rPr lang="en-US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What does it do?</a:t>
            </a:r>
            <a:endParaRPr lang="en-AU" dirty="0">
              <a:solidFill>
                <a:srgbClr val="D1161E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379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Relationships</a:t>
            </a:r>
          </a:p>
        </p:txBody>
      </p:sp>
      <p:sp>
        <p:nvSpPr>
          <p:cNvPr id="819204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381000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What is the purpose of the Enrolment Entity?</a:t>
            </a:r>
          </a:p>
          <a:p>
            <a:pPr marL="381000" indent="-381000">
              <a:lnSpc>
                <a:spcPct val="120000"/>
              </a:lnSpc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It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enrols</a:t>
            </a:r>
            <a:r>
              <a:rPr lang="en-AU" dirty="0">
                <a:latin typeface="Calibri" pitchFamily="34" charset="0"/>
                <a:cs typeface="Calibri" pitchFamily="34" charset="0"/>
              </a:rPr>
              <a:t> an instance of Student to an Instance of Subject</a:t>
            </a:r>
          </a:p>
          <a:p>
            <a:pPr marL="381000" indent="-381000">
              <a:lnSpc>
                <a:spcPct val="120000"/>
              </a:lnSpc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923925" lvl="1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Jane Taylor is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enrolled</a:t>
            </a:r>
            <a:r>
              <a:rPr lang="en-AU" dirty="0">
                <a:latin typeface="Calibri" pitchFamily="34" charset="0"/>
                <a:cs typeface="Calibri" pitchFamily="34" charset="0"/>
              </a:rPr>
              <a:t> in Database Analysis and Design </a:t>
            </a:r>
          </a:p>
          <a:p>
            <a:pPr marL="923925" lvl="1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Jane Taylor is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enrolled</a:t>
            </a:r>
            <a:r>
              <a:rPr lang="en-AU" dirty="0">
                <a:latin typeface="Calibri" pitchFamily="34" charset="0"/>
                <a:cs typeface="Calibri" pitchFamily="34" charset="0"/>
              </a:rPr>
              <a:t> in Intro to Programming 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VB.Net</a:t>
            </a:r>
            <a:r>
              <a:rPr lang="en-AU" dirty="0">
                <a:latin typeface="Calibri" pitchFamily="34" charset="0"/>
                <a:cs typeface="Calibri" pitchFamily="34" charset="0"/>
              </a:rPr>
              <a:t> </a:t>
            </a:r>
          </a:p>
          <a:p>
            <a:pPr marL="923925" lvl="1" indent="-381000">
              <a:lnSpc>
                <a:spcPct val="120000"/>
              </a:lnSpc>
              <a:buNone/>
            </a:pPr>
            <a:r>
              <a:rPr lang="en-AU" dirty="0"/>
              <a:t> </a:t>
            </a:r>
            <a:endParaRPr lang="en-AU" b="1" dirty="0"/>
          </a:p>
          <a:p>
            <a:pPr marL="381000" indent="-381000"/>
            <a:endParaRPr lang="en-AU" dirty="0"/>
          </a:p>
          <a:p>
            <a:pPr marL="923925" lvl="1" indent="-381000">
              <a:buNone/>
            </a:pPr>
            <a:endParaRPr lang="en-AU" dirty="0"/>
          </a:p>
          <a:p>
            <a:pPr marL="381000" indent="-381000"/>
            <a:endParaRPr lang="en-AU" dirty="0"/>
          </a:p>
          <a:p>
            <a:pPr marL="381000" indent="-381000"/>
            <a:endParaRPr lang="en-AU" dirty="0"/>
          </a:p>
          <a:p>
            <a:pPr marL="381000" indent="-381000"/>
            <a:endParaRPr lang="en-AU" dirty="0"/>
          </a:p>
        </p:txBody>
      </p:sp>
      <p:sp>
        <p:nvSpPr>
          <p:cNvPr id="819202" name="Rectangle 2"/>
          <p:cNvSpPr>
            <a:spLocks noChangeArrowheads="1"/>
          </p:cNvSpPr>
          <p:nvPr/>
        </p:nvSpPr>
        <p:spPr bwMode="auto">
          <a:xfrm>
            <a:off x="1524001" y="5951538"/>
            <a:ext cx="1755775" cy="906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819253" name="Group 53"/>
          <p:cNvGraphicFramePr>
            <a:graphicFrameLocks noGrp="1"/>
          </p:cNvGraphicFramePr>
          <p:nvPr/>
        </p:nvGraphicFramePr>
        <p:xfrm>
          <a:off x="3700464" y="4616450"/>
          <a:ext cx="4283075" cy="2072640"/>
        </p:xfrm>
        <a:graphic>
          <a:graphicData uri="http://schemas.openxmlformats.org/drawingml/2006/table">
            <a:tbl>
              <a:tblPr/>
              <a:tblGrid>
                <a:gridCol w="2141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1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subjectcode</a:t>
                      </a:r>
                      <a:endParaRPr kumimoji="0" lang="en-US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stuId</a:t>
                      </a:r>
                      <a:endParaRPr kumimoji="0" lang="en-US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HIT1402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1122334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HIT1404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1122334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HIT1402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4444555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19246" name="Rectangle 46"/>
          <p:cNvSpPr>
            <a:spLocks noChangeArrowheads="1"/>
          </p:cNvSpPr>
          <p:nvPr/>
        </p:nvSpPr>
        <p:spPr bwMode="auto">
          <a:xfrm>
            <a:off x="5019675" y="4125913"/>
            <a:ext cx="1695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ENROLMENT</a:t>
            </a:r>
            <a:r>
              <a:rPr lang="en-US">
                <a:solidFill>
                  <a:srgbClr val="FFFFFF"/>
                </a:solidFill>
                <a:latin typeface="Arial" pitchFamily="34" charset="0"/>
              </a:rPr>
              <a:t> </a:t>
            </a:r>
            <a:endParaRPr lang="en-US">
              <a:solidFill>
                <a:srgbClr val="FFFFFF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222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8912226" y="5779008"/>
            <a:ext cx="1755775" cy="10353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127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Books, Persons, Loans</a:t>
            </a:r>
          </a:p>
        </p:txBody>
      </p:sp>
      <p:sp>
        <p:nvSpPr>
          <p:cNvPr id="712708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381000" indent="-381000"/>
            <a:r>
              <a:rPr lang="en-AU"/>
              <a:t>Consider book loans</a:t>
            </a:r>
          </a:p>
          <a:p>
            <a:pPr marL="923925" lvl="1" indent="-381000"/>
            <a:endParaRPr lang="en-AU"/>
          </a:p>
          <a:p>
            <a:pPr marL="381000" indent="-381000"/>
            <a:endParaRPr lang="en-AU" sz="1200"/>
          </a:p>
          <a:p>
            <a:pPr marL="381000" indent="-381000"/>
            <a:endParaRPr lang="en-AU"/>
          </a:p>
          <a:p>
            <a:pPr marL="381000" indent="-381000"/>
            <a:endParaRPr lang="en-AU"/>
          </a:p>
          <a:p>
            <a:pPr marL="381000" indent="-381000"/>
            <a:endParaRPr lang="en-AU"/>
          </a:p>
          <a:p>
            <a:pPr marL="923925" lvl="1" indent="-381000">
              <a:buNone/>
            </a:pPr>
            <a:endParaRPr lang="en-AU"/>
          </a:p>
        </p:txBody>
      </p:sp>
      <p:sp>
        <p:nvSpPr>
          <p:cNvPr id="712706" name="Rectangle 2"/>
          <p:cNvSpPr>
            <a:spLocks noChangeArrowheads="1"/>
          </p:cNvSpPr>
          <p:nvPr/>
        </p:nvSpPr>
        <p:spPr bwMode="auto">
          <a:xfrm>
            <a:off x="1668464" y="4914901"/>
            <a:ext cx="1755775" cy="9064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712711" name="Object 7"/>
          <p:cNvGraphicFramePr>
            <a:graphicFrameLocks noChangeAspect="1"/>
          </p:cNvGraphicFramePr>
          <p:nvPr/>
        </p:nvGraphicFramePr>
        <p:xfrm>
          <a:off x="1524001" y="1135063"/>
          <a:ext cx="8943975" cy="132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0720659" imgH="7588662" progId="Visio.Drawing.11">
                  <p:embed/>
                </p:oleObj>
              </mc:Choice>
              <mc:Fallback>
                <p:oleObj name="Visio" r:id="rId2" imgW="10720659" imgH="7588662" progId="Visio.Drawing.11">
                  <p:embed/>
                  <p:pic>
                    <p:nvPicPr>
                      <p:cNvPr id="7127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567" t="43748" r="7898" b="41985"/>
                      <a:stretch>
                        <a:fillRect/>
                      </a:stretch>
                    </p:blipFill>
                    <p:spPr bwMode="auto">
                      <a:xfrm>
                        <a:off x="1524001" y="1135063"/>
                        <a:ext cx="8943975" cy="132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2824" name="Group 120"/>
          <p:cNvGraphicFramePr>
            <a:graphicFrameLocks noGrp="1"/>
          </p:cNvGraphicFramePr>
          <p:nvPr/>
        </p:nvGraphicFramePr>
        <p:xfrm>
          <a:off x="1755775" y="2779713"/>
          <a:ext cx="2819400" cy="1463040"/>
        </p:xfrm>
        <a:graphic>
          <a:graphicData uri="http://schemas.openxmlformats.org/drawingml/2006/table">
            <a:tbl>
              <a:tblPr/>
              <a:tblGrid>
                <a:gridCol w="1154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BookID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Title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111111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How to Program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381000" marR="0" lvl="0" indent="-3810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222222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Marketing 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333333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Book of Quotes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12831" name="Group 127"/>
          <p:cNvGraphicFramePr>
            <a:graphicFrameLocks noGrp="1"/>
          </p:cNvGraphicFramePr>
          <p:nvPr/>
        </p:nvGraphicFramePr>
        <p:xfrm>
          <a:off x="4114800" y="4876800"/>
          <a:ext cx="3454400" cy="1828800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BookID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PersonID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 May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222222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 May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333333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 May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 Jun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2749" name="Rectangle 45"/>
          <p:cNvSpPr>
            <a:spLocks noChangeArrowheads="1"/>
          </p:cNvSpPr>
          <p:nvPr/>
        </p:nvSpPr>
        <p:spPr bwMode="auto">
          <a:xfrm>
            <a:off x="1841500" y="2451101"/>
            <a:ext cx="933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BOOK</a:t>
            </a:r>
            <a:r>
              <a:rPr lang="en-US">
                <a:solidFill>
                  <a:srgbClr val="FFFFFF"/>
                </a:solidFill>
                <a:latin typeface="Arial" pitchFamily="34" charset="0"/>
              </a:rPr>
              <a:t> </a:t>
            </a:r>
            <a:endParaRPr lang="en-US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712750" name="Rectangle 46"/>
          <p:cNvSpPr>
            <a:spLocks noChangeArrowheads="1"/>
          </p:cNvSpPr>
          <p:nvPr/>
        </p:nvSpPr>
        <p:spPr bwMode="auto">
          <a:xfrm>
            <a:off x="7137400" y="2540278"/>
            <a:ext cx="11592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PERSON</a:t>
            </a:r>
            <a:endParaRPr lang="en-US" dirty="0">
              <a:solidFill>
                <a:srgbClr val="FFFFFF"/>
              </a:solidFill>
              <a:latin typeface="Times New Roman" pitchFamily="18" charset="0"/>
            </a:endParaRPr>
          </a:p>
        </p:txBody>
      </p:sp>
      <p:graphicFrame>
        <p:nvGraphicFramePr>
          <p:cNvPr id="712827" name="Group 123"/>
          <p:cNvGraphicFramePr>
            <a:graphicFrameLocks noGrp="1"/>
          </p:cNvGraphicFramePr>
          <p:nvPr/>
        </p:nvGraphicFramePr>
        <p:xfrm>
          <a:off x="7086600" y="2898775"/>
          <a:ext cx="3162300" cy="1463040"/>
        </p:xfrm>
        <a:graphic>
          <a:graphicData uri="http://schemas.openxmlformats.org/drawingml/2006/table">
            <a:tbl>
              <a:tblPr/>
              <a:tblGrid>
                <a:gridCol w="101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PersonID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Lou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James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8009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Jim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Carver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1305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Peter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Brown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2773" name="Rectangle 69"/>
          <p:cNvSpPr>
            <a:spLocks noChangeArrowheads="1"/>
          </p:cNvSpPr>
          <p:nvPr/>
        </p:nvSpPr>
        <p:spPr bwMode="auto">
          <a:xfrm>
            <a:off x="5108575" y="4500563"/>
            <a:ext cx="895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LOAN</a:t>
            </a:r>
            <a:r>
              <a:rPr lang="en-US">
                <a:solidFill>
                  <a:srgbClr val="FFFFFF"/>
                </a:solidFill>
                <a:latin typeface="Arial" pitchFamily="34" charset="0"/>
              </a:rPr>
              <a:t> </a:t>
            </a:r>
            <a:endParaRPr lang="en-US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712820" name="Freeform 116"/>
          <p:cNvSpPr>
            <a:spLocks/>
          </p:cNvSpPr>
          <p:nvPr/>
        </p:nvSpPr>
        <p:spPr bwMode="auto">
          <a:xfrm rot="4578238">
            <a:off x="6339682" y="3972720"/>
            <a:ext cx="552450" cy="1119187"/>
          </a:xfrm>
          <a:custGeom>
            <a:avLst/>
            <a:gdLst>
              <a:gd name="T0" fmla="*/ 1336 w 1336"/>
              <a:gd name="T1" fmla="*/ 424 h 469"/>
              <a:gd name="T2" fmla="*/ 904 w 1336"/>
              <a:gd name="T3" fmla="*/ 464 h 469"/>
              <a:gd name="T4" fmla="*/ 320 w 1336"/>
              <a:gd name="T5" fmla="*/ 392 h 469"/>
              <a:gd name="T6" fmla="*/ 80 w 1336"/>
              <a:gd name="T7" fmla="*/ 184 h 469"/>
              <a:gd name="T8" fmla="*/ 0 w 1336"/>
              <a:gd name="T9" fmla="*/ 0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6" h="469">
                <a:moveTo>
                  <a:pt x="1336" y="424"/>
                </a:moveTo>
                <a:cubicBezTo>
                  <a:pt x="1204" y="446"/>
                  <a:pt x="1073" y="469"/>
                  <a:pt x="904" y="464"/>
                </a:cubicBezTo>
                <a:cubicBezTo>
                  <a:pt x="735" y="459"/>
                  <a:pt x="457" y="439"/>
                  <a:pt x="320" y="392"/>
                </a:cubicBezTo>
                <a:cubicBezTo>
                  <a:pt x="183" y="345"/>
                  <a:pt x="133" y="249"/>
                  <a:pt x="80" y="184"/>
                </a:cubicBezTo>
                <a:cubicBezTo>
                  <a:pt x="27" y="119"/>
                  <a:pt x="13" y="59"/>
                  <a:pt x="0" y="0"/>
                </a:cubicBezTo>
              </a:path>
            </a:pathLst>
          </a:custGeom>
          <a:noFill/>
          <a:ln w="38100" cap="flat" cmpd="sng">
            <a:solidFill>
              <a:srgbClr val="0033CC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12825" name="Text Box 121"/>
          <p:cNvSpPr txBox="1">
            <a:spLocks noChangeArrowheads="1"/>
          </p:cNvSpPr>
          <p:nvPr/>
        </p:nvSpPr>
        <p:spPr bwMode="auto">
          <a:xfrm>
            <a:off x="7624763" y="5238750"/>
            <a:ext cx="28829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88900" indent="-1588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71575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808163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2444750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3081338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35385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9957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44529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9101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defTabSz="457200"/>
            <a:r>
              <a:rPr lang="en-US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What is the purpose of the weak entity?</a:t>
            </a:r>
          </a:p>
          <a:p>
            <a:pPr defTabSz="457200"/>
            <a:endParaRPr lang="en-US" dirty="0">
              <a:solidFill>
                <a:srgbClr val="0C64A7"/>
              </a:solidFill>
              <a:latin typeface="Calibri" pitchFamily="34" charset="0"/>
              <a:cs typeface="Calibri" pitchFamily="34" charset="0"/>
            </a:endParaRPr>
          </a:p>
          <a:p>
            <a:pPr algn="ctr" defTabSz="457200"/>
            <a:r>
              <a:rPr lang="en-US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What does it do?</a:t>
            </a:r>
            <a:endParaRPr lang="en-AU" dirty="0">
              <a:solidFill>
                <a:srgbClr val="D1161E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12832" name="Freeform 128"/>
          <p:cNvSpPr>
            <a:spLocks/>
          </p:cNvSpPr>
          <p:nvPr/>
        </p:nvSpPr>
        <p:spPr bwMode="auto">
          <a:xfrm rot="-2651177">
            <a:off x="3321050" y="3817939"/>
            <a:ext cx="552450" cy="1792287"/>
          </a:xfrm>
          <a:custGeom>
            <a:avLst/>
            <a:gdLst>
              <a:gd name="T0" fmla="*/ 1336 w 1336"/>
              <a:gd name="T1" fmla="*/ 424 h 469"/>
              <a:gd name="T2" fmla="*/ 904 w 1336"/>
              <a:gd name="T3" fmla="*/ 464 h 469"/>
              <a:gd name="T4" fmla="*/ 320 w 1336"/>
              <a:gd name="T5" fmla="*/ 392 h 469"/>
              <a:gd name="T6" fmla="*/ 80 w 1336"/>
              <a:gd name="T7" fmla="*/ 184 h 469"/>
              <a:gd name="T8" fmla="*/ 0 w 1336"/>
              <a:gd name="T9" fmla="*/ 0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6" h="469">
                <a:moveTo>
                  <a:pt x="1336" y="424"/>
                </a:moveTo>
                <a:cubicBezTo>
                  <a:pt x="1204" y="446"/>
                  <a:pt x="1073" y="469"/>
                  <a:pt x="904" y="464"/>
                </a:cubicBezTo>
                <a:cubicBezTo>
                  <a:pt x="735" y="459"/>
                  <a:pt x="457" y="439"/>
                  <a:pt x="320" y="392"/>
                </a:cubicBezTo>
                <a:cubicBezTo>
                  <a:pt x="183" y="345"/>
                  <a:pt x="133" y="249"/>
                  <a:pt x="80" y="184"/>
                </a:cubicBezTo>
                <a:cubicBezTo>
                  <a:pt x="27" y="119"/>
                  <a:pt x="13" y="59"/>
                  <a:pt x="0" y="0"/>
                </a:cubicBezTo>
              </a:path>
            </a:pathLst>
          </a:custGeom>
          <a:noFill/>
          <a:ln w="38100" cap="flat" cmpd="sng">
            <a:solidFill>
              <a:srgbClr val="0033CC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8885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Relationships</a:t>
            </a:r>
          </a:p>
        </p:txBody>
      </p:sp>
      <p:sp>
        <p:nvSpPr>
          <p:cNvPr id="820228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381000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What is the purpose of the Loan Entity?</a:t>
            </a:r>
          </a:p>
          <a:p>
            <a:pPr marL="381000" indent="-381000">
              <a:lnSpc>
                <a:spcPct val="120000"/>
              </a:lnSpc>
            </a:pPr>
            <a:endParaRPr lang="en-AU" sz="1200" dirty="0">
              <a:latin typeface="Calibri" pitchFamily="34" charset="0"/>
              <a:cs typeface="Calibri" pitchFamily="34" charset="0"/>
            </a:endParaRPr>
          </a:p>
          <a:p>
            <a:pPr marL="381000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It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records </a:t>
            </a:r>
            <a:r>
              <a:rPr lang="en-AU" dirty="0">
                <a:latin typeface="Calibri" pitchFamily="34" charset="0"/>
                <a:cs typeface="Calibri" pitchFamily="34" charset="0"/>
              </a:rPr>
              <a:t>a loan of a Book to a Person</a:t>
            </a:r>
          </a:p>
          <a:p>
            <a:pPr marL="381000" indent="-381000">
              <a:lnSpc>
                <a:spcPct val="120000"/>
              </a:lnSpc>
              <a:buNone/>
            </a:pPr>
            <a:endParaRPr lang="en-AU" sz="1200" dirty="0">
              <a:latin typeface="Calibri" pitchFamily="34" charset="0"/>
              <a:cs typeface="Calibri" pitchFamily="34" charset="0"/>
            </a:endParaRPr>
          </a:p>
          <a:p>
            <a:pPr marL="923925" lvl="1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Lou James borrowed  How to Program on 1 May </a:t>
            </a:r>
          </a:p>
          <a:p>
            <a:pPr marL="923925" lvl="1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Lou James borrowed  Marketing 101 on 1 May </a:t>
            </a:r>
          </a:p>
          <a:p>
            <a:pPr marL="923925" lvl="1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Lou James borrowed  How to Program on 13 June</a:t>
            </a:r>
            <a:r>
              <a:rPr lang="en-AU" dirty="0"/>
              <a:t> </a:t>
            </a:r>
            <a:endParaRPr lang="en-AU" b="1" dirty="0"/>
          </a:p>
          <a:p>
            <a:pPr marL="381000" indent="-381000"/>
            <a:endParaRPr lang="en-AU" dirty="0"/>
          </a:p>
          <a:p>
            <a:pPr marL="923925" lvl="1" indent="-381000">
              <a:buNone/>
            </a:pPr>
            <a:endParaRPr lang="en-AU" dirty="0"/>
          </a:p>
          <a:p>
            <a:pPr marL="381000" indent="-381000"/>
            <a:endParaRPr lang="en-AU" dirty="0"/>
          </a:p>
          <a:p>
            <a:pPr marL="381000" indent="-381000"/>
            <a:endParaRPr lang="en-AU" dirty="0"/>
          </a:p>
          <a:p>
            <a:pPr marL="381000" indent="-381000"/>
            <a:endParaRPr lang="en-AU" dirty="0"/>
          </a:p>
        </p:txBody>
      </p:sp>
      <p:sp>
        <p:nvSpPr>
          <p:cNvPr id="820226" name="Rectangle 2"/>
          <p:cNvSpPr>
            <a:spLocks noChangeArrowheads="1"/>
          </p:cNvSpPr>
          <p:nvPr/>
        </p:nvSpPr>
        <p:spPr bwMode="auto">
          <a:xfrm>
            <a:off x="1524001" y="5951538"/>
            <a:ext cx="1755775" cy="906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820283" name="Group 59"/>
          <p:cNvGraphicFramePr>
            <a:graphicFrameLocks noGrp="1"/>
          </p:cNvGraphicFramePr>
          <p:nvPr/>
        </p:nvGraphicFramePr>
        <p:xfrm>
          <a:off x="3616326" y="4191000"/>
          <a:ext cx="4149725" cy="2286000"/>
        </p:xfrm>
        <a:graphic>
          <a:graphicData uri="http://schemas.openxmlformats.org/drawingml/2006/table">
            <a:tbl>
              <a:tblPr/>
              <a:tblGrid>
                <a:gridCol w="141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BookID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PersonID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 May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222222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 May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333333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 May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 Jun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20279" name="Rectangle 55"/>
          <p:cNvSpPr>
            <a:spLocks noChangeArrowheads="1"/>
          </p:cNvSpPr>
          <p:nvPr/>
        </p:nvSpPr>
        <p:spPr bwMode="auto">
          <a:xfrm>
            <a:off x="5010150" y="3830638"/>
            <a:ext cx="895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r>
              <a:rPr lang="en-US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LOAN</a:t>
            </a:r>
            <a:r>
              <a:rPr lang="en-US">
                <a:solidFill>
                  <a:srgbClr val="FFFFFF"/>
                </a:solidFill>
                <a:latin typeface="Arial" pitchFamily="34" charset="0"/>
              </a:rPr>
              <a:t> </a:t>
            </a:r>
            <a:endParaRPr lang="en-US">
              <a:solidFill>
                <a:srgbClr val="FFFFFF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971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2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Relationships</a:t>
            </a:r>
          </a:p>
        </p:txBody>
      </p:sp>
      <p:sp>
        <p:nvSpPr>
          <p:cNvPr id="822276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 fontScale="92500" lnSpcReduction="10000"/>
          </a:bodyPr>
          <a:lstStyle/>
          <a:p>
            <a:pPr marL="381000" indent="-381000">
              <a:lnSpc>
                <a:spcPct val="12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What is the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Identifier</a:t>
            </a:r>
            <a:r>
              <a:rPr lang="en-AU" dirty="0">
                <a:latin typeface="Calibri" pitchFamily="34" charset="0"/>
                <a:cs typeface="Calibri" pitchFamily="34" charset="0"/>
              </a:rPr>
              <a:t> of entity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X</a:t>
            </a:r>
            <a:r>
              <a:rPr lang="en-AU" dirty="0">
                <a:latin typeface="Calibri" pitchFamily="34" charset="0"/>
                <a:cs typeface="Calibri" pitchFamily="34" charset="0"/>
              </a:rPr>
              <a:t>?</a:t>
            </a:r>
          </a:p>
          <a:p>
            <a:pPr marL="381000" indent="-381000">
              <a:lnSpc>
                <a:spcPct val="120000"/>
              </a:lnSpc>
            </a:pPr>
            <a:endParaRPr lang="en-AU" dirty="0"/>
          </a:p>
          <a:p>
            <a:pPr marL="381000" indent="-381000">
              <a:lnSpc>
                <a:spcPct val="120000"/>
              </a:lnSpc>
            </a:pPr>
            <a:endParaRPr lang="en-AU" dirty="0"/>
          </a:p>
          <a:p>
            <a:pPr marL="381000" indent="-381000">
              <a:lnSpc>
                <a:spcPct val="120000"/>
              </a:lnSpc>
            </a:pPr>
            <a:endParaRPr lang="en-AU" dirty="0"/>
          </a:p>
          <a:p>
            <a:pPr marL="381000" indent="-381000">
              <a:lnSpc>
                <a:spcPct val="120000"/>
              </a:lnSpc>
            </a:pPr>
            <a:endParaRPr lang="en-AU" dirty="0"/>
          </a:p>
          <a:p>
            <a:pPr marL="381000" indent="-381000">
              <a:lnSpc>
                <a:spcPct val="120000"/>
              </a:lnSpc>
            </a:pPr>
            <a:endParaRPr lang="en-AU" dirty="0"/>
          </a:p>
          <a:p>
            <a:pPr marL="381000" indent="-381000">
              <a:lnSpc>
                <a:spcPct val="120000"/>
              </a:lnSpc>
              <a:buNone/>
            </a:pPr>
            <a:endParaRPr lang="en-AU" dirty="0"/>
          </a:p>
          <a:p>
            <a:pPr marL="457200" indent="-457200">
              <a:lnSpc>
                <a:spcPct val="120000"/>
              </a:lnSpc>
              <a:buFont typeface="+mj-lt"/>
              <a:buAutoNum type="alphaLcParenR"/>
            </a:pPr>
            <a:r>
              <a:rPr lang="en-AU" dirty="0">
                <a:latin typeface="Calibri" pitchFamily="34" charset="0"/>
                <a:cs typeface="Calibri" pitchFamily="34" charset="0"/>
              </a:rPr>
              <a:t>XID + WID + YID + ZID</a:t>
            </a:r>
          </a:p>
          <a:p>
            <a:pPr marL="457200" indent="-457200">
              <a:lnSpc>
                <a:spcPct val="120000"/>
              </a:lnSpc>
              <a:buFont typeface="+mj-lt"/>
              <a:buAutoNum type="alphaLcParenR"/>
            </a:pPr>
            <a:r>
              <a:rPr lang="en-AU" dirty="0">
                <a:latin typeface="Calibri" pitchFamily="34" charset="0"/>
                <a:cs typeface="Calibri" pitchFamily="34" charset="0"/>
              </a:rPr>
              <a:t>XID + WID + YID</a:t>
            </a:r>
          </a:p>
          <a:p>
            <a:pPr marL="457200" indent="-457200">
              <a:lnSpc>
                <a:spcPct val="120000"/>
              </a:lnSpc>
              <a:buFont typeface="+mj-lt"/>
              <a:buAutoNum type="alphaLcParenR"/>
            </a:pPr>
            <a:r>
              <a:rPr lang="en-AU" dirty="0">
                <a:latin typeface="Calibri" pitchFamily="34" charset="0"/>
                <a:cs typeface="Calibri" pitchFamily="34" charset="0"/>
              </a:rPr>
              <a:t>XID + WID</a:t>
            </a:r>
          </a:p>
          <a:p>
            <a:pPr marL="457200" indent="-457200">
              <a:lnSpc>
                <a:spcPct val="120000"/>
              </a:lnSpc>
              <a:buFont typeface="+mj-lt"/>
              <a:buAutoNum type="alphaLcParenR"/>
            </a:pPr>
            <a:r>
              <a:rPr lang="en-AU" dirty="0">
                <a:latin typeface="Calibri" pitchFamily="34" charset="0"/>
                <a:cs typeface="Calibri" pitchFamily="34" charset="0"/>
              </a:rPr>
              <a:t>XID</a:t>
            </a:r>
          </a:p>
        </p:txBody>
      </p:sp>
      <p:sp>
        <p:nvSpPr>
          <p:cNvPr id="822274" name="Rectangle 2"/>
          <p:cNvSpPr>
            <a:spLocks noChangeArrowheads="1"/>
          </p:cNvSpPr>
          <p:nvPr/>
        </p:nvSpPr>
        <p:spPr bwMode="auto">
          <a:xfrm>
            <a:off x="1524001" y="5951538"/>
            <a:ext cx="1755775" cy="906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822311" name="Object 39"/>
          <p:cNvGraphicFramePr>
            <a:graphicFrameLocks noChangeAspect="1"/>
          </p:cNvGraphicFramePr>
          <p:nvPr/>
        </p:nvGraphicFramePr>
        <p:xfrm>
          <a:off x="1362076" y="1268413"/>
          <a:ext cx="8982075" cy="235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0720530" imgH="7588516" progId="Visio.Drawing.11">
                  <p:embed/>
                </p:oleObj>
              </mc:Choice>
              <mc:Fallback>
                <p:oleObj name="Visio" r:id="rId2" imgW="10720530" imgH="7588516" progId="Visio.Drawing.11">
                  <p:embed/>
                  <p:pic>
                    <p:nvPicPr>
                      <p:cNvPr id="82231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l="9567" t="37598" r="7547" b="37064"/>
                      <a:stretch>
                        <a:fillRect/>
                      </a:stretch>
                    </p:blipFill>
                    <p:spPr bwMode="auto">
                      <a:xfrm>
                        <a:off x="1362076" y="1268413"/>
                        <a:ext cx="8982075" cy="235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5928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2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Relationships</a:t>
            </a:r>
          </a:p>
        </p:txBody>
      </p:sp>
      <p:sp>
        <p:nvSpPr>
          <p:cNvPr id="823300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381000" indent="-381000">
              <a:lnSpc>
                <a:spcPct val="120000"/>
              </a:lnSpc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Weak</a:t>
            </a:r>
            <a:r>
              <a:rPr lang="en-AU" dirty="0">
                <a:latin typeface="Calibri" pitchFamily="34" charset="0"/>
                <a:cs typeface="Calibri" pitchFamily="34" charset="0"/>
              </a:rPr>
              <a:t> entities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borrow</a:t>
            </a:r>
            <a:r>
              <a:rPr lang="en-AU" dirty="0">
                <a:latin typeface="Calibri" pitchFamily="34" charset="0"/>
                <a:cs typeface="Calibri" pitchFamily="34" charset="0"/>
              </a:rPr>
              <a:t> the identifier from the entity on the other end of any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relationship</a:t>
            </a:r>
            <a:r>
              <a:rPr lang="en-AU" dirty="0">
                <a:latin typeface="Calibri" pitchFamily="34" charset="0"/>
                <a:cs typeface="Calibri" pitchFamily="34" charset="0"/>
              </a:rPr>
              <a:t>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line</a:t>
            </a:r>
            <a:r>
              <a:rPr lang="en-AU" dirty="0">
                <a:latin typeface="Calibri" pitchFamily="34" charset="0"/>
                <a:cs typeface="Calibri" pitchFamily="34" charset="0"/>
              </a:rPr>
              <a:t> that is underlined.</a:t>
            </a:r>
          </a:p>
          <a:p>
            <a:pPr marL="381000" indent="-381000">
              <a:lnSpc>
                <a:spcPct val="120000"/>
              </a:lnSpc>
            </a:pPr>
            <a:endParaRPr lang="en-AU" dirty="0"/>
          </a:p>
          <a:p>
            <a:pPr marL="381000" indent="-381000">
              <a:lnSpc>
                <a:spcPct val="120000"/>
              </a:lnSpc>
            </a:pPr>
            <a:endParaRPr lang="en-AU" dirty="0"/>
          </a:p>
          <a:p>
            <a:pPr marL="381000" indent="-381000">
              <a:lnSpc>
                <a:spcPct val="120000"/>
              </a:lnSpc>
            </a:pPr>
            <a:endParaRPr lang="en-AU" dirty="0"/>
          </a:p>
          <a:p>
            <a:pPr marL="381000" indent="-381000">
              <a:lnSpc>
                <a:spcPct val="120000"/>
              </a:lnSpc>
            </a:pPr>
            <a:endParaRPr lang="en-AU" dirty="0"/>
          </a:p>
          <a:p>
            <a:pPr marL="381000" indent="-381000">
              <a:lnSpc>
                <a:spcPct val="120000"/>
              </a:lnSpc>
            </a:pPr>
            <a:endParaRPr lang="en-AU" dirty="0"/>
          </a:p>
          <a:p>
            <a:pPr marL="381000" indent="-381000">
              <a:lnSpc>
                <a:spcPct val="120000"/>
              </a:lnSpc>
            </a:pPr>
            <a:endParaRPr lang="en-AU" dirty="0"/>
          </a:p>
          <a:p>
            <a:pPr marL="381000" indent="-381000">
              <a:lnSpc>
                <a:spcPct val="120000"/>
              </a:lnSpc>
              <a:buNone/>
            </a:pPr>
            <a:endParaRPr lang="en-AU" dirty="0"/>
          </a:p>
          <a:p>
            <a:pPr marL="381000" indent="-381000">
              <a:lnSpc>
                <a:spcPct val="120000"/>
              </a:lnSpc>
              <a:buNone/>
            </a:pPr>
            <a:endParaRPr lang="en-AU" dirty="0"/>
          </a:p>
        </p:txBody>
      </p:sp>
      <p:sp>
        <p:nvSpPr>
          <p:cNvPr id="823298" name="Rectangle 2"/>
          <p:cNvSpPr>
            <a:spLocks noChangeArrowheads="1"/>
          </p:cNvSpPr>
          <p:nvPr/>
        </p:nvSpPr>
        <p:spPr bwMode="auto">
          <a:xfrm>
            <a:off x="1524001" y="5951538"/>
            <a:ext cx="1755775" cy="906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pic>
        <p:nvPicPr>
          <p:cNvPr id="823303" name="Picture 7" descr="th_thanimateddownarrow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789104" y="3463925"/>
            <a:ext cx="2667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3304" name="Rectangle 8"/>
          <p:cNvSpPr>
            <a:spLocks noChangeArrowheads="1"/>
          </p:cNvSpPr>
          <p:nvPr/>
        </p:nvSpPr>
        <p:spPr bwMode="auto">
          <a:xfrm>
            <a:off x="5965826" y="4530726"/>
            <a:ext cx="4092575" cy="210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381000" indent="-381000" defTabSz="457200">
              <a:lnSpc>
                <a:spcPct val="120000"/>
              </a:lnSpc>
              <a:buSzPct val="75000"/>
            </a:pPr>
            <a:r>
              <a:rPr lang="en-AU" dirty="0">
                <a:solidFill>
                  <a:srgbClr val="000099"/>
                </a:solidFill>
                <a:latin typeface="Calibri" pitchFamily="34" charset="0"/>
                <a:cs typeface="Calibri" pitchFamily="34" charset="0"/>
              </a:rPr>
              <a:t>X (</a:t>
            </a:r>
            <a:r>
              <a:rPr lang="en-AU" u="sng" dirty="0">
                <a:solidFill>
                  <a:srgbClr val="000099"/>
                </a:solidFill>
                <a:latin typeface="Calibri" pitchFamily="34" charset="0"/>
                <a:cs typeface="Calibri" pitchFamily="34" charset="0"/>
              </a:rPr>
              <a:t>WID, XID</a:t>
            </a:r>
            <a:r>
              <a:rPr lang="en-AU" dirty="0">
                <a:solidFill>
                  <a:srgbClr val="000099"/>
                </a:solidFill>
                <a:latin typeface="Calibri" pitchFamily="34" charset="0"/>
                <a:cs typeface="Calibri" pitchFamily="34" charset="0"/>
              </a:rPr>
              <a:t>, XNAME, YID, ZID)</a:t>
            </a:r>
          </a:p>
          <a:p>
            <a:pPr marL="381000" indent="-381000" defTabSz="457200">
              <a:lnSpc>
                <a:spcPct val="120000"/>
              </a:lnSpc>
              <a:buSzPct val="75000"/>
            </a:pPr>
            <a:r>
              <a:rPr lang="en-AU" dirty="0">
                <a:solidFill>
                  <a:srgbClr val="000099"/>
                </a:solidFill>
                <a:latin typeface="Calibri" pitchFamily="34" charset="0"/>
                <a:cs typeface="Calibri" pitchFamily="34" charset="0"/>
              </a:rPr>
              <a:t>PK (WID, XID)</a:t>
            </a:r>
          </a:p>
          <a:p>
            <a:pPr marL="381000" indent="-381000" defTabSz="457200">
              <a:lnSpc>
                <a:spcPct val="120000"/>
              </a:lnSpc>
              <a:buSzPct val="75000"/>
            </a:pPr>
            <a:r>
              <a:rPr lang="en-AU" dirty="0">
                <a:solidFill>
                  <a:srgbClr val="000099"/>
                </a:solidFill>
                <a:latin typeface="Calibri" pitchFamily="34" charset="0"/>
                <a:cs typeface="Calibri" pitchFamily="34" charset="0"/>
              </a:rPr>
              <a:t>FK (WID) References W</a:t>
            </a:r>
          </a:p>
          <a:p>
            <a:pPr marL="381000" indent="-381000" defTabSz="457200">
              <a:lnSpc>
                <a:spcPct val="120000"/>
              </a:lnSpc>
              <a:buSzPct val="75000"/>
            </a:pPr>
            <a:r>
              <a:rPr lang="en-AU" dirty="0">
                <a:solidFill>
                  <a:srgbClr val="000099"/>
                </a:solidFill>
                <a:latin typeface="Calibri" pitchFamily="34" charset="0"/>
                <a:cs typeface="Calibri" pitchFamily="34" charset="0"/>
              </a:rPr>
              <a:t>FK (YID) References Y</a:t>
            </a:r>
          </a:p>
          <a:p>
            <a:pPr marL="381000" indent="-381000" defTabSz="457200">
              <a:lnSpc>
                <a:spcPct val="120000"/>
              </a:lnSpc>
              <a:buSzPct val="75000"/>
            </a:pPr>
            <a:r>
              <a:rPr lang="en-AU" dirty="0">
                <a:solidFill>
                  <a:srgbClr val="000099"/>
                </a:solidFill>
                <a:latin typeface="Calibri" pitchFamily="34" charset="0"/>
                <a:cs typeface="Calibri" pitchFamily="34" charset="0"/>
              </a:rPr>
              <a:t>FK (ZID) References Z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524001" y="1815717"/>
          <a:ext cx="8982075" cy="235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720530" imgH="7588516" progId="Visio.Drawing.11">
                  <p:embed/>
                </p:oleObj>
              </mc:Choice>
              <mc:Fallback>
                <p:oleObj name="Visio" r:id="rId3" imgW="10720530" imgH="7588516" progId="Visio.Drawing.11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567" t="37598" r="7547" b="37064"/>
                      <a:stretch>
                        <a:fillRect/>
                      </a:stretch>
                    </p:blipFill>
                    <p:spPr bwMode="auto">
                      <a:xfrm>
                        <a:off x="1524001" y="1815717"/>
                        <a:ext cx="8982075" cy="235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5900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sz="4000" dirty="0"/>
              <a:t>SQL Aggregate Functions</a:t>
            </a:r>
          </a:p>
        </p:txBody>
      </p:sp>
      <p:sp>
        <p:nvSpPr>
          <p:cNvPr id="824324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381000" indent="-381000"/>
            <a:r>
              <a:rPr lang="en-AU" sz="2300" dirty="0">
                <a:latin typeface="Calibri" pitchFamily="34" charset="0"/>
                <a:cs typeface="Calibri" pitchFamily="34" charset="0"/>
              </a:rPr>
              <a:t>Previously, you have used </a:t>
            </a:r>
            <a:r>
              <a:rPr lang="en-AU" sz="2300" b="1" dirty="0">
                <a:latin typeface="Calibri" pitchFamily="34" charset="0"/>
                <a:cs typeface="Calibri" pitchFamily="34" charset="0"/>
              </a:rPr>
              <a:t>Aggregate functions </a:t>
            </a:r>
          </a:p>
          <a:p>
            <a:pPr marL="681038" lvl="1" indent="-381000"/>
            <a:r>
              <a:rPr lang="en-AU" sz="2300" dirty="0">
                <a:latin typeface="Calibri" pitchFamily="34" charset="0"/>
                <a:cs typeface="Calibri" pitchFamily="34" charset="0"/>
              </a:rPr>
              <a:t>Called "Totals" in MS Access.</a:t>
            </a:r>
          </a:p>
          <a:p>
            <a:pPr marL="681038" lvl="1" indent="-381000"/>
            <a:endParaRPr lang="en-AU" sz="2300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AU" sz="2300" dirty="0">
                <a:latin typeface="Calibri" pitchFamily="34" charset="0"/>
                <a:cs typeface="Calibri" pitchFamily="34" charset="0"/>
              </a:rPr>
              <a:t>These used functions such as </a:t>
            </a:r>
            <a:r>
              <a:rPr lang="en-AU" sz="2300" b="1" dirty="0">
                <a:latin typeface="Calibri" pitchFamily="34" charset="0"/>
                <a:cs typeface="Calibri" pitchFamily="34" charset="0"/>
              </a:rPr>
              <a:t>Count, Sum, Min, Max …</a:t>
            </a:r>
          </a:p>
          <a:p>
            <a:pPr marL="381000" indent="-381000"/>
            <a:endParaRPr lang="en-AU" sz="2300" b="1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AU" sz="2300" b="1" dirty="0">
                <a:latin typeface="Calibri" pitchFamily="34" charset="0"/>
                <a:cs typeface="Calibri" pitchFamily="34" charset="0"/>
              </a:rPr>
              <a:t>Each </a:t>
            </a:r>
            <a:r>
              <a:rPr lang="en-AU" sz="2300" dirty="0">
                <a:latin typeface="Calibri" pitchFamily="34" charset="0"/>
                <a:cs typeface="Calibri" pitchFamily="34" charset="0"/>
              </a:rPr>
              <a:t>function is applied over a </a:t>
            </a:r>
            <a:r>
              <a:rPr lang="en-AU" sz="2300" b="1" dirty="0">
                <a:latin typeface="Calibri" pitchFamily="34" charset="0"/>
                <a:cs typeface="Calibri" pitchFamily="34" charset="0"/>
              </a:rPr>
              <a:t>number of rows at one time</a:t>
            </a:r>
          </a:p>
          <a:p>
            <a:pPr marL="381000" indent="-381000"/>
            <a:endParaRPr lang="en-AU" sz="2300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AU" sz="2300" dirty="0">
                <a:latin typeface="Calibri" pitchFamily="34" charset="0"/>
                <a:cs typeface="Calibri" pitchFamily="34" charset="0"/>
              </a:rPr>
              <a:t>The usual </a:t>
            </a:r>
            <a:r>
              <a:rPr lang="en-AU" sz="2300" b="1" dirty="0">
                <a:latin typeface="Calibri" pitchFamily="34" charset="0"/>
                <a:cs typeface="Calibri" pitchFamily="34" charset="0"/>
              </a:rPr>
              <a:t>SELECT</a:t>
            </a:r>
            <a:r>
              <a:rPr lang="en-AU" sz="2300" dirty="0">
                <a:latin typeface="Calibri" pitchFamily="34" charset="0"/>
                <a:cs typeface="Calibri" pitchFamily="34" charset="0"/>
              </a:rPr>
              <a:t> statement clauses such as </a:t>
            </a:r>
            <a:r>
              <a:rPr lang="en-AU" sz="2300" b="1" dirty="0">
                <a:latin typeface="Calibri" pitchFamily="34" charset="0"/>
                <a:cs typeface="Calibri" pitchFamily="34" charset="0"/>
              </a:rPr>
              <a:t>WHERE</a:t>
            </a:r>
            <a:r>
              <a:rPr lang="en-AU" sz="2300" dirty="0">
                <a:latin typeface="Calibri" pitchFamily="34" charset="0"/>
                <a:cs typeface="Calibri" pitchFamily="34" charset="0"/>
              </a:rPr>
              <a:t> and </a:t>
            </a:r>
            <a:r>
              <a:rPr lang="en-AU" sz="2300" b="1" dirty="0">
                <a:latin typeface="Calibri" pitchFamily="34" charset="0"/>
                <a:cs typeface="Calibri" pitchFamily="34" charset="0"/>
              </a:rPr>
              <a:t>ORDER BY</a:t>
            </a:r>
            <a:r>
              <a:rPr lang="en-AU" sz="2300" dirty="0">
                <a:latin typeface="Calibri" pitchFamily="34" charset="0"/>
                <a:cs typeface="Calibri" pitchFamily="34" charset="0"/>
              </a:rPr>
              <a:t> can be used in the same way</a:t>
            </a:r>
          </a:p>
          <a:p>
            <a:pPr marL="381000" indent="-381000"/>
            <a:endParaRPr lang="en-AU" sz="23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5949951" y="6010275"/>
            <a:ext cx="574675" cy="2857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indent="-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</a:pPr>
            <a:endParaRPr lang="en-AU" sz="2400" b="1" i="1">
              <a:solidFill>
                <a:srgbClr val="D1161E"/>
              </a:solidFill>
              <a:latin typeface="Arial Narrow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716" y="1541147"/>
            <a:ext cx="1452279" cy="72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60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sz="4000" dirty="0"/>
              <a:t>SQL COUNT() Function</a:t>
            </a:r>
          </a:p>
        </p:txBody>
      </p:sp>
      <p:sp>
        <p:nvSpPr>
          <p:cNvPr id="824324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r>
              <a:rPr lang="en-AU" sz="2000" b="1" dirty="0">
                <a:latin typeface="Calibri" pitchFamily="34" charset="0"/>
                <a:cs typeface="Calibri" pitchFamily="34" charset="0"/>
              </a:rPr>
              <a:t>COUNT(*)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is an example of an aggregate function</a:t>
            </a:r>
            <a:endParaRPr lang="en-AU" sz="2000" b="1" dirty="0">
              <a:latin typeface="Calibri" pitchFamily="34" charset="0"/>
              <a:cs typeface="Calibri" pitchFamily="34" charset="0"/>
            </a:endParaRPr>
          </a:p>
          <a:p>
            <a:pPr marL="838200" lvl="1" indent="-381000"/>
            <a:r>
              <a:rPr lang="en-AU" sz="2000" dirty="0">
                <a:latin typeface="Calibri" pitchFamily="34" charset="0"/>
                <a:cs typeface="Calibri" pitchFamily="34" charset="0"/>
              </a:rPr>
              <a:t>It counts 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number of rows</a:t>
            </a:r>
          </a:p>
          <a:p>
            <a:pPr marL="481013" lvl="1" indent="0">
              <a:buNone/>
            </a:pPr>
            <a:endParaRPr lang="en-AU" sz="1100" b="1" dirty="0">
              <a:latin typeface="Calibri" pitchFamily="34" charset="0"/>
              <a:cs typeface="Calibri" pitchFamily="34" charset="0"/>
            </a:endParaRPr>
          </a:p>
          <a:p>
            <a:pPr marL="823913" lvl="1" indent="-342900"/>
            <a:r>
              <a:rPr lang="en-AU" sz="2000" dirty="0">
                <a:latin typeface="Calibri" pitchFamily="34" charset="0"/>
                <a:cs typeface="Calibri" pitchFamily="34" charset="0"/>
              </a:rPr>
              <a:t>Use a </a:t>
            </a:r>
            <a:r>
              <a:rPr lang="en-AU" sz="3200" b="1" dirty="0">
                <a:latin typeface="Calibri" pitchFamily="34" charset="0"/>
                <a:cs typeface="Calibri" pitchFamily="34" charset="0"/>
              </a:rPr>
              <a:t>*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with this statement to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count ALL rows</a:t>
            </a:r>
          </a:p>
          <a:p>
            <a:pPr marL="823913" lvl="1" indent="-342900"/>
            <a:endParaRPr lang="en-AU" sz="2000" b="1" dirty="0">
              <a:latin typeface="Calibri" pitchFamily="34" charset="0"/>
              <a:cs typeface="Calibri" pitchFamily="34" charset="0"/>
            </a:endParaRPr>
          </a:p>
          <a:p>
            <a:pPr marL="823913" lvl="1" indent="-342900"/>
            <a:r>
              <a:rPr lang="en-AU" sz="2000" dirty="0">
                <a:latin typeface="Calibri" pitchFamily="34" charset="0"/>
                <a:cs typeface="Calibri" pitchFamily="34" charset="0"/>
              </a:rPr>
              <a:t>Use a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 &lt;column-name&gt;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with this statement to count ALL rows that do not contain a NULL value in that column </a:t>
            </a: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862013" lvl="1" indent="-381000">
              <a:buFont typeface="Arial Narrow" pitchFamily="34" charset="0"/>
              <a:buAutoNum type="arabicPeriod"/>
            </a:pPr>
            <a:endParaRPr lang="en-AU" dirty="0">
              <a:solidFill>
                <a:srgbClr val="0000FF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24325" name="Rectangle 5"/>
          <p:cNvSpPr>
            <a:spLocks noChangeArrowheads="1"/>
          </p:cNvSpPr>
          <p:nvPr/>
        </p:nvSpPr>
        <p:spPr bwMode="auto">
          <a:xfrm>
            <a:off x="2166505" y="4067235"/>
            <a:ext cx="369728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99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88900" defTabSz="457200">
              <a:tabLst>
                <a:tab pos="12573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SELECT</a:t>
            </a:r>
            <a:r>
              <a:rPr lang="en-AU" dirty="0">
                <a:solidFill>
                  <a:srgbClr val="D1161E"/>
                </a:solidFill>
                <a:latin typeface="Calibri"/>
              </a:rPr>
              <a:t>	</a:t>
            </a:r>
            <a:r>
              <a:rPr lang="en-AU" dirty="0">
                <a:solidFill>
                  <a:srgbClr val="0C64A7"/>
                </a:solidFill>
                <a:latin typeface="Calibri"/>
              </a:rPr>
              <a:t>COUNT(</a:t>
            </a:r>
            <a:r>
              <a:rPr lang="en-AU" dirty="0">
                <a:solidFill>
                  <a:srgbClr val="D1161E"/>
                </a:solidFill>
                <a:latin typeface="Calibri"/>
              </a:rPr>
              <a:t>*</a:t>
            </a:r>
            <a:r>
              <a:rPr lang="en-AU" dirty="0">
                <a:solidFill>
                  <a:srgbClr val="0C64A7"/>
                </a:solidFill>
                <a:latin typeface="Calibri"/>
              </a:rPr>
              <a:t>) </a:t>
            </a:r>
          </a:p>
          <a:p>
            <a:pPr marL="88900" defTabSz="457200">
              <a:tabLst>
                <a:tab pos="12573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FROM 	movie 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863793" y="4050527"/>
            <a:ext cx="369728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99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88900" defTabSz="457200">
              <a:tabLst>
                <a:tab pos="12573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SELECT</a:t>
            </a:r>
            <a:r>
              <a:rPr lang="en-AU" dirty="0">
                <a:solidFill>
                  <a:srgbClr val="D1161E"/>
                </a:solidFill>
                <a:latin typeface="Calibri"/>
              </a:rPr>
              <a:t>	</a:t>
            </a:r>
            <a:r>
              <a:rPr lang="en-AU" dirty="0">
                <a:solidFill>
                  <a:srgbClr val="0C64A7"/>
                </a:solidFill>
                <a:latin typeface="Calibri"/>
              </a:rPr>
              <a:t>COUNT(</a:t>
            </a:r>
            <a:r>
              <a:rPr lang="en-AU" dirty="0" err="1">
                <a:solidFill>
                  <a:srgbClr val="D1161E"/>
                </a:solidFill>
                <a:latin typeface="Calibri"/>
              </a:rPr>
              <a:t>ratingcode</a:t>
            </a:r>
            <a:r>
              <a:rPr lang="en-AU" dirty="0">
                <a:solidFill>
                  <a:srgbClr val="0C64A7"/>
                </a:solidFill>
                <a:latin typeface="Calibri"/>
              </a:rPr>
              <a:t>) </a:t>
            </a:r>
          </a:p>
          <a:p>
            <a:pPr marL="88900" defTabSz="457200">
              <a:tabLst>
                <a:tab pos="12573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FROM 	movie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7284" y="5570872"/>
            <a:ext cx="3705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D1161E"/>
                </a:solidFill>
                <a:latin typeface="Calibri"/>
              </a:rPr>
              <a:t>Three movies have a NULL </a:t>
            </a:r>
            <a:r>
              <a:rPr lang="en-AU" dirty="0" err="1">
                <a:solidFill>
                  <a:srgbClr val="D1161E"/>
                </a:solidFill>
                <a:latin typeface="Calibri"/>
              </a:rPr>
              <a:t>ratingcode</a:t>
            </a:r>
            <a:endParaRPr lang="en-AU" dirty="0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69402" y="4782186"/>
          <a:ext cx="1463644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644">
                  <a:extLst>
                    <a:ext uri="{9D8B030D-6E8A-4147-A177-3AD203B41FA5}">
                      <a16:colId xmlns:a16="http://schemas.microsoft.com/office/drawing/2014/main" val="36578767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COUNT(*)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526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000" dirty="0"/>
                        <a:t>384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52349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863793" y="4709359"/>
          <a:ext cx="2785285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285">
                  <a:extLst>
                    <a:ext uri="{9D8B030D-6E8A-4147-A177-3AD203B41FA5}">
                      <a16:colId xmlns:a16="http://schemas.microsoft.com/office/drawing/2014/main" val="36578767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COUNT(</a:t>
                      </a:r>
                      <a:r>
                        <a:rPr lang="en-AU" sz="2000" b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ratingcode</a:t>
                      </a:r>
                      <a:r>
                        <a:rPr lang="en-AU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526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000" dirty="0"/>
                        <a:t>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52349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981201" y="6321273"/>
            <a:ext cx="7518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000000"/>
                </a:solidFill>
                <a:latin typeface="Calibri"/>
              </a:rPr>
              <a:t>If </a:t>
            </a:r>
            <a:r>
              <a:rPr lang="en-AU" dirty="0" err="1">
                <a:solidFill>
                  <a:srgbClr val="000000"/>
                </a:solidFill>
                <a:latin typeface="Calibri"/>
              </a:rPr>
              <a:t>ratingcode</a:t>
            </a:r>
            <a:r>
              <a:rPr lang="en-AU" dirty="0">
                <a:solidFill>
                  <a:srgbClr val="000000"/>
                </a:solidFill>
                <a:latin typeface="Calibri"/>
              </a:rPr>
              <a:t> does not contain Nulls, both statements produce identical results</a:t>
            </a:r>
          </a:p>
        </p:txBody>
      </p:sp>
    </p:spTree>
    <p:extLst>
      <p:ext uri="{BB962C8B-B14F-4D97-AF65-F5344CB8AC3E}">
        <p14:creationId xmlns:p14="http://schemas.microsoft.com/office/powerpoint/2010/main" val="780806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sz="4000" dirty="0"/>
              <a:t>SQL Aggregate Functions</a:t>
            </a:r>
          </a:p>
        </p:txBody>
      </p:sp>
      <p:sp>
        <p:nvSpPr>
          <p:cNvPr id="82534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381000" indent="-381000"/>
            <a:r>
              <a:rPr lang="en-AU" sz="2300" dirty="0">
                <a:latin typeface="Calibri" pitchFamily="34" charset="0"/>
                <a:cs typeface="Calibri" pitchFamily="34" charset="0"/>
              </a:rPr>
              <a:t>The Select clause still has all the usual </a:t>
            </a:r>
            <a:r>
              <a:rPr lang="en-AU" sz="2300" b="1" dirty="0">
                <a:latin typeface="Calibri" pitchFamily="34" charset="0"/>
                <a:cs typeface="Calibri" pitchFamily="34" charset="0"/>
              </a:rPr>
              <a:t>clauses</a:t>
            </a:r>
            <a:r>
              <a:rPr lang="en-AU" sz="2300" dirty="0">
                <a:latin typeface="Calibri" pitchFamily="34" charset="0"/>
                <a:cs typeface="Calibri" pitchFamily="34" charset="0"/>
              </a:rPr>
              <a:t> available.</a:t>
            </a:r>
          </a:p>
          <a:p>
            <a:pPr marL="381000" indent="-381000"/>
            <a:endParaRPr lang="en-AU" sz="2300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AU" dirty="0">
                <a:latin typeface="Calibri" pitchFamily="34" charset="0"/>
                <a:cs typeface="Calibri" pitchFamily="34" charset="0"/>
              </a:rPr>
              <a:t>These examples use a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WHERE</a:t>
            </a:r>
            <a:r>
              <a:rPr lang="en-AU" dirty="0">
                <a:latin typeface="Calibri" pitchFamily="34" charset="0"/>
                <a:cs typeface="Calibri" pitchFamily="34" charset="0"/>
              </a:rPr>
              <a:t> clause</a:t>
            </a: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AU" dirty="0">
                <a:latin typeface="Calibri" pitchFamily="34" charset="0"/>
                <a:cs typeface="Calibri" pitchFamily="34" charset="0"/>
              </a:rPr>
              <a:t>Only rows that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meet the condition</a:t>
            </a:r>
            <a:r>
              <a:rPr lang="en-AU" dirty="0">
                <a:latin typeface="Calibri" pitchFamily="34" charset="0"/>
                <a:cs typeface="Calibri" pitchFamily="34" charset="0"/>
              </a:rPr>
              <a:t> are Counted</a:t>
            </a:r>
          </a:p>
          <a:p>
            <a:pPr marL="862013" lvl="1" indent="-381000">
              <a:buFont typeface="Arial Narrow" pitchFamily="34" charset="0"/>
              <a:buAutoNum type="arabicPeriod"/>
            </a:pPr>
            <a:endParaRPr lang="en-AU" dirty="0"/>
          </a:p>
          <a:p>
            <a:pPr marL="862013" lvl="1" indent="-381000">
              <a:buFont typeface="Arial Narrow" pitchFamily="34" charset="0"/>
              <a:buAutoNum type="arabicPeriod"/>
            </a:pPr>
            <a:endParaRPr lang="en-AU" dirty="0">
              <a:solidFill>
                <a:srgbClr val="0000FF"/>
              </a:solidFill>
            </a:endParaRPr>
          </a:p>
        </p:txBody>
      </p:sp>
      <p:sp>
        <p:nvSpPr>
          <p:cNvPr id="825348" name="Rectangle 4"/>
          <p:cNvSpPr>
            <a:spLocks noChangeArrowheads="1"/>
          </p:cNvSpPr>
          <p:nvPr/>
        </p:nvSpPr>
        <p:spPr bwMode="auto">
          <a:xfrm>
            <a:off x="3130550" y="2903965"/>
            <a:ext cx="53927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99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88900" defTabSz="457200">
              <a:tabLst>
                <a:tab pos="12573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SELECT	COUNT(*) </a:t>
            </a:r>
            <a:br>
              <a:rPr lang="en-AU" dirty="0">
                <a:solidFill>
                  <a:srgbClr val="0033CC"/>
                </a:solidFill>
                <a:latin typeface="Calibri"/>
              </a:rPr>
            </a:br>
            <a:r>
              <a:rPr lang="en-AU" dirty="0">
                <a:solidFill>
                  <a:srgbClr val="0033CC"/>
                </a:solidFill>
                <a:latin typeface="Calibri"/>
              </a:rPr>
              <a:t>FROM movie </a:t>
            </a:r>
          </a:p>
          <a:p>
            <a:pPr marL="88900" defTabSz="457200">
              <a:tabLst>
                <a:tab pos="12573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WHERE  </a:t>
            </a:r>
            <a:r>
              <a:rPr lang="en-AU" dirty="0" err="1">
                <a:solidFill>
                  <a:srgbClr val="0033CC"/>
                </a:solidFill>
                <a:latin typeface="Calibri"/>
              </a:rPr>
              <a:t>relyear</a:t>
            </a:r>
            <a:r>
              <a:rPr lang="en-AU" dirty="0">
                <a:solidFill>
                  <a:srgbClr val="0033CC"/>
                </a:solidFill>
                <a:latin typeface="Calibri"/>
              </a:rPr>
              <a:t> = 2004;</a:t>
            </a:r>
          </a:p>
        </p:txBody>
      </p:sp>
      <p:sp>
        <p:nvSpPr>
          <p:cNvPr id="825351" name="Rectangle 7"/>
          <p:cNvSpPr>
            <a:spLocks noChangeArrowheads="1"/>
          </p:cNvSpPr>
          <p:nvPr/>
        </p:nvSpPr>
        <p:spPr bwMode="auto">
          <a:xfrm>
            <a:off x="3183731" y="4676815"/>
            <a:ext cx="539273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99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88900" defTabSz="457200">
              <a:tabLst>
                <a:tab pos="12573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SELECT	COUNT(*) </a:t>
            </a:r>
            <a:br>
              <a:rPr lang="en-AU" dirty="0">
                <a:solidFill>
                  <a:srgbClr val="0033CC"/>
                </a:solidFill>
                <a:latin typeface="Calibri"/>
              </a:rPr>
            </a:br>
            <a:r>
              <a:rPr lang="en-AU" dirty="0">
                <a:solidFill>
                  <a:srgbClr val="0033CC"/>
                </a:solidFill>
                <a:latin typeface="Calibri"/>
              </a:rPr>
              <a:t>FROM movie </a:t>
            </a:r>
          </a:p>
          <a:p>
            <a:pPr marL="88900" defTabSz="457200">
              <a:tabLst>
                <a:tab pos="12573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WHERE  </a:t>
            </a:r>
            <a:r>
              <a:rPr lang="en-AU" dirty="0" err="1">
                <a:solidFill>
                  <a:srgbClr val="0033CC"/>
                </a:solidFill>
                <a:latin typeface="Calibri"/>
              </a:rPr>
              <a:t>relyear</a:t>
            </a:r>
            <a:r>
              <a:rPr lang="en-AU" dirty="0">
                <a:solidFill>
                  <a:srgbClr val="0033CC"/>
                </a:solidFill>
                <a:latin typeface="Calibri"/>
              </a:rPr>
              <a:t> &gt;= 2000</a:t>
            </a:r>
          </a:p>
          <a:p>
            <a:pPr marL="88900" defTabSz="457200">
              <a:tabLst>
                <a:tab pos="12573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AND       </a:t>
            </a:r>
            <a:r>
              <a:rPr lang="en-AU" dirty="0" err="1">
                <a:solidFill>
                  <a:srgbClr val="0033CC"/>
                </a:solidFill>
                <a:latin typeface="Calibri"/>
              </a:rPr>
              <a:t>relyear</a:t>
            </a:r>
            <a:r>
              <a:rPr lang="en-AU" dirty="0">
                <a:solidFill>
                  <a:srgbClr val="0033CC"/>
                </a:solidFill>
                <a:latin typeface="Calibri"/>
              </a:rPr>
              <a:t> &lt;= 2009;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95476" y="2937630"/>
          <a:ext cx="1580994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994">
                  <a:extLst>
                    <a:ext uri="{9D8B030D-6E8A-4147-A177-3AD203B41FA5}">
                      <a16:colId xmlns:a16="http://schemas.microsoft.com/office/drawing/2014/main" val="36578767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COUNT(*)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526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000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5234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95475" y="4710602"/>
          <a:ext cx="1580994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994">
                  <a:extLst>
                    <a:ext uri="{9D8B030D-6E8A-4147-A177-3AD203B41FA5}">
                      <a16:colId xmlns:a16="http://schemas.microsoft.com/office/drawing/2014/main" val="36578767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COUNT(*)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526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000" dirty="0"/>
                        <a:t>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52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251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8263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sz="4000" dirty="0"/>
              <a:t>SQL Aggregate Functions</a:t>
            </a:r>
          </a:p>
        </p:txBody>
      </p:sp>
      <p:sp>
        <p:nvSpPr>
          <p:cNvPr id="826372" name="Rectangle 4"/>
          <p:cNvSpPr>
            <a:spLocks noGrp="1" noChangeArrowheads="1"/>
          </p:cNvSpPr>
          <p:nvPr>
            <p:ph idx="1"/>
          </p:nvPr>
        </p:nvSpPr>
        <p:spPr>
          <a:xfrm>
            <a:off x="2007476" y="908050"/>
            <a:ext cx="8660524" cy="5233988"/>
          </a:xfrm>
          <a:noFill/>
          <a:ln/>
        </p:spPr>
        <p:txBody>
          <a:bodyPr/>
          <a:lstStyle/>
          <a:p>
            <a:pPr marL="381000" indent="-381000"/>
            <a:r>
              <a:rPr lang="en-AU" sz="2300" dirty="0">
                <a:latin typeface="Calibri" pitchFamily="34" charset="0"/>
                <a:cs typeface="Calibri" pitchFamily="34" charset="0"/>
              </a:rPr>
              <a:t>This is a list of the most </a:t>
            </a:r>
            <a:r>
              <a:rPr lang="en-AU" sz="2300" b="1" dirty="0">
                <a:latin typeface="Calibri" pitchFamily="34" charset="0"/>
                <a:cs typeface="Calibri" pitchFamily="34" charset="0"/>
              </a:rPr>
              <a:t>widely used</a:t>
            </a:r>
            <a:r>
              <a:rPr lang="en-AU" sz="2300" dirty="0">
                <a:latin typeface="Calibri" pitchFamily="34" charset="0"/>
                <a:cs typeface="Calibri" pitchFamily="34" charset="0"/>
              </a:rPr>
              <a:t> aggregate functions</a:t>
            </a:r>
          </a:p>
          <a:p>
            <a:pPr marL="404813" indent="-381000"/>
            <a:r>
              <a:rPr lang="en-AU" dirty="0">
                <a:latin typeface="Calibri" pitchFamily="34" charset="0"/>
                <a:cs typeface="Calibri" pitchFamily="34" charset="0"/>
              </a:rPr>
              <a:t>In each case the function is applied over a number of rows</a:t>
            </a:r>
          </a:p>
          <a:p>
            <a:pPr marL="481013" lvl="1" indent="0">
              <a:buNone/>
              <a:tabLst>
                <a:tab pos="1619250" algn="l"/>
                <a:tab pos="3228975" algn="l"/>
                <a:tab pos="4486275" algn="l"/>
                <a:tab pos="574357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  <a:sym typeface="Wingdings" pitchFamily="2" charset="2"/>
              </a:rPr>
              <a:t> </a:t>
            </a:r>
            <a:r>
              <a:rPr lang="en-AU" dirty="0">
                <a:latin typeface="Calibri" pitchFamily="34" charset="0"/>
                <a:cs typeface="Calibri" pitchFamily="34" charset="0"/>
              </a:rPr>
              <a:t>Sum	</a:t>
            </a:r>
            <a:r>
              <a:rPr lang="en-AU" dirty="0">
                <a:latin typeface="Calibri" pitchFamily="34" charset="0"/>
                <a:cs typeface="Calibri" pitchFamily="34" charset="0"/>
                <a:sym typeface="Wingdings" pitchFamily="2" charset="2"/>
              </a:rPr>
              <a:t> </a:t>
            </a:r>
            <a:r>
              <a:rPr lang="en-AU" dirty="0">
                <a:latin typeface="Calibri" pitchFamily="34" charset="0"/>
                <a:cs typeface="Calibri" pitchFamily="34" charset="0"/>
              </a:rPr>
              <a:t>Count	</a:t>
            </a:r>
            <a:r>
              <a:rPr lang="en-AU" dirty="0">
                <a:latin typeface="Calibri" pitchFamily="34" charset="0"/>
                <a:cs typeface="Calibri" pitchFamily="34" charset="0"/>
                <a:sym typeface="Wingdings" pitchFamily="2" charset="2"/>
              </a:rPr>
              <a:t> 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Avg</a:t>
            </a:r>
            <a:r>
              <a:rPr lang="en-AU" dirty="0">
                <a:latin typeface="Calibri" pitchFamily="34" charset="0"/>
                <a:cs typeface="Calibri" pitchFamily="34" charset="0"/>
              </a:rPr>
              <a:t>	</a:t>
            </a:r>
            <a:r>
              <a:rPr lang="en-AU" dirty="0">
                <a:latin typeface="Calibri" pitchFamily="34" charset="0"/>
                <a:cs typeface="Calibri" pitchFamily="34" charset="0"/>
                <a:sym typeface="Wingdings" pitchFamily="2" charset="2"/>
              </a:rPr>
              <a:t> </a:t>
            </a:r>
            <a:r>
              <a:rPr lang="en-AU" dirty="0">
                <a:latin typeface="Calibri" pitchFamily="34" charset="0"/>
                <a:cs typeface="Calibri" pitchFamily="34" charset="0"/>
              </a:rPr>
              <a:t>Min	</a:t>
            </a:r>
            <a:r>
              <a:rPr lang="en-AU" dirty="0">
                <a:latin typeface="Calibri" pitchFamily="34" charset="0"/>
                <a:cs typeface="Calibri" pitchFamily="34" charset="0"/>
                <a:sym typeface="Wingdings" pitchFamily="2" charset="2"/>
              </a:rPr>
              <a:t> </a:t>
            </a:r>
            <a:r>
              <a:rPr lang="en-AU" dirty="0">
                <a:latin typeface="Calibri" pitchFamily="34" charset="0"/>
                <a:cs typeface="Calibri" pitchFamily="34" charset="0"/>
              </a:rPr>
              <a:t>Max</a:t>
            </a:r>
          </a:p>
          <a:p>
            <a:pPr marL="404813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404813" indent="-381000"/>
            <a:r>
              <a:rPr lang="en-AU" dirty="0">
                <a:latin typeface="Calibri" pitchFamily="34" charset="0"/>
                <a:cs typeface="Calibri" pitchFamily="34" charset="0"/>
              </a:rPr>
              <a:t>When using Sum, 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Avg</a:t>
            </a:r>
            <a:r>
              <a:rPr lang="en-AU" dirty="0">
                <a:latin typeface="Calibri" pitchFamily="34" charset="0"/>
                <a:cs typeface="Calibri" pitchFamily="34" charset="0"/>
              </a:rPr>
              <a:t>, Min &amp; Max you </a:t>
            </a:r>
            <a:r>
              <a:rPr lang="en-AU" b="1" u="sng" dirty="0">
                <a:latin typeface="Calibri" pitchFamily="34" charset="0"/>
                <a:cs typeface="Calibri" pitchFamily="34" charset="0"/>
              </a:rPr>
              <a:t>must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AU" dirty="0">
                <a:latin typeface="Calibri" pitchFamily="34" charset="0"/>
                <a:cs typeface="Calibri" pitchFamily="34" charset="0"/>
              </a:rPr>
              <a:t>specify a column name</a:t>
            </a:r>
          </a:p>
          <a:p>
            <a:pPr marL="404813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404813" indent="-381000">
              <a:tabLst>
                <a:tab pos="1343025" algn="l"/>
                <a:tab pos="1524000" algn="l"/>
              </a:tabLst>
            </a:pPr>
            <a:r>
              <a:rPr lang="en-AU" sz="2000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	</a:t>
            </a:r>
            <a:r>
              <a:rPr lang="en-AU" sz="2000" b="1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SUM( </a:t>
            </a:r>
            <a:r>
              <a:rPr lang="en-AU" sz="2000" b="1" dirty="0" err="1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run_time</a:t>
            </a:r>
            <a:r>
              <a:rPr lang="en-AU" sz="2000" b="1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 ) </a:t>
            </a:r>
            <a:r>
              <a:rPr lang="en-AU" sz="2000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movie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;</a:t>
            </a:r>
          </a:p>
          <a:p>
            <a:pPr marL="404813" indent="-381000">
              <a:tabLst>
                <a:tab pos="1343025" algn="l"/>
                <a:tab pos="1524000" algn="l"/>
              </a:tabLst>
            </a:pPr>
            <a:r>
              <a:rPr lang="en-AU" sz="2000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	</a:t>
            </a:r>
            <a:r>
              <a:rPr lang="en-AU" sz="2000" b="1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AVG( </a:t>
            </a:r>
            <a:r>
              <a:rPr lang="en-AU" sz="2000" b="1" dirty="0" err="1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run_time</a:t>
            </a:r>
            <a:r>
              <a:rPr lang="en-AU" sz="2000" b="1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 ) </a:t>
            </a:r>
            <a:r>
              <a:rPr lang="en-AU" sz="2000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movie;</a:t>
            </a:r>
          </a:p>
          <a:p>
            <a:pPr marL="404813" indent="-381000">
              <a:tabLst>
                <a:tab pos="1343025" algn="l"/>
                <a:tab pos="1524000" algn="l"/>
              </a:tabLst>
            </a:pPr>
            <a:r>
              <a:rPr lang="en-AU" sz="2000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	</a:t>
            </a:r>
            <a:r>
              <a:rPr lang="en-AU" sz="2000" b="1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MIN( </a:t>
            </a:r>
            <a:r>
              <a:rPr lang="en-AU" sz="2000" b="1" dirty="0" err="1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run_time</a:t>
            </a:r>
            <a:r>
              <a:rPr lang="en-AU" sz="2000" b="1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 ) </a:t>
            </a:r>
            <a:r>
              <a:rPr lang="en-AU" sz="2000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movie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;</a:t>
            </a:r>
          </a:p>
          <a:p>
            <a:pPr marL="404813" indent="-381000">
              <a:tabLst>
                <a:tab pos="1343025" algn="l"/>
                <a:tab pos="1524000" algn="l"/>
              </a:tabLst>
            </a:pPr>
            <a:r>
              <a:rPr lang="en-AU" sz="2000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	</a:t>
            </a:r>
            <a:r>
              <a:rPr lang="en-AU" sz="2000" b="1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MAX( </a:t>
            </a:r>
            <a:r>
              <a:rPr lang="en-AU" sz="2000" b="1" dirty="0" err="1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run_time</a:t>
            </a:r>
            <a:r>
              <a:rPr lang="en-AU" sz="2000" b="1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 ) </a:t>
            </a:r>
            <a:r>
              <a:rPr lang="en-AU" sz="2000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movie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; </a:t>
            </a:r>
          </a:p>
          <a:p>
            <a:pPr marL="404813" indent="-381000">
              <a:tabLst>
                <a:tab pos="1343025" algn="l"/>
                <a:tab pos="1524000" algn="l"/>
              </a:tabLst>
            </a:pPr>
            <a:r>
              <a:rPr lang="en-AU" sz="2000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	</a:t>
            </a:r>
            <a:r>
              <a:rPr lang="en-AU" sz="2000" b="1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SUM( runtime ) </a:t>
            </a:r>
            <a:r>
              <a:rPr lang="en-AU" sz="2000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movie WHERE UPPER(title) = 'HAMLET';</a:t>
            </a:r>
          </a:p>
          <a:p>
            <a:pPr marL="404813" indent="-381000">
              <a:tabLst>
                <a:tab pos="1343025" algn="l"/>
                <a:tab pos="1524000" algn="l"/>
              </a:tabLst>
            </a:pPr>
            <a:r>
              <a:rPr lang="en-AU" sz="2000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	</a:t>
            </a:r>
            <a:r>
              <a:rPr lang="en-AU" sz="2000" b="1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MIN( </a:t>
            </a:r>
            <a:r>
              <a:rPr lang="en-AU" sz="2000" b="1" dirty="0" err="1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run_time</a:t>
            </a:r>
            <a:r>
              <a:rPr lang="en-AU" sz="2000" b="1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 ) </a:t>
            </a:r>
            <a:r>
              <a:rPr lang="en-AU" sz="2000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movie WHERE year = 2005;</a:t>
            </a:r>
          </a:p>
        </p:txBody>
      </p:sp>
    </p:spTree>
    <p:extLst>
      <p:ext uri="{BB962C8B-B14F-4D97-AF65-F5344CB8AC3E}">
        <p14:creationId xmlns:p14="http://schemas.microsoft.com/office/powerpoint/2010/main" val="4162629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8912226" y="5779008"/>
            <a:ext cx="1755775" cy="10353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987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sz="4000" dirty="0"/>
              <a:t>SQL Round Function</a:t>
            </a:r>
            <a:endParaRPr lang="en-AU" sz="2800" dirty="0"/>
          </a:p>
        </p:txBody>
      </p:sp>
      <p:sp>
        <p:nvSpPr>
          <p:cNvPr id="798724" name="Rectangle 4"/>
          <p:cNvSpPr>
            <a:spLocks noGrp="1" noChangeArrowheads="1"/>
          </p:cNvSpPr>
          <p:nvPr>
            <p:ph idx="1"/>
          </p:nvPr>
        </p:nvSpPr>
        <p:spPr>
          <a:xfrm>
            <a:off x="1863504" y="809191"/>
            <a:ext cx="8010626" cy="2651426"/>
          </a:xfrm>
          <a:noFill/>
          <a:ln/>
        </p:spPr>
        <p:txBody>
          <a:bodyPr>
            <a:normAutofit fontScale="92500" lnSpcReduction="10000"/>
          </a:bodyPr>
          <a:lstStyle/>
          <a:p>
            <a:pPr marL="381000" indent="-381000"/>
            <a:r>
              <a:rPr lang="en-AU" sz="2300" dirty="0">
                <a:latin typeface="Calibri" pitchFamily="34" charset="0"/>
                <a:cs typeface="Calibri" pitchFamily="34" charset="0"/>
              </a:rPr>
              <a:t>When dealing with averages or when dividing numbers, results often contain a </a:t>
            </a:r>
            <a:r>
              <a:rPr lang="en-AU" sz="2300" b="1" dirty="0">
                <a:latin typeface="Calibri" pitchFamily="34" charset="0"/>
                <a:cs typeface="Calibri" pitchFamily="34" charset="0"/>
              </a:rPr>
              <a:t>large</a:t>
            </a:r>
            <a:r>
              <a:rPr lang="en-AU" sz="2300" dirty="0">
                <a:latin typeface="Calibri" pitchFamily="34" charset="0"/>
                <a:cs typeface="Calibri" pitchFamily="34" charset="0"/>
              </a:rPr>
              <a:t> number of digits</a:t>
            </a:r>
            <a:r>
              <a:rPr lang="en-AU" sz="2300" b="1" dirty="0">
                <a:latin typeface="Calibri" pitchFamily="34" charset="0"/>
                <a:cs typeface="Calibri" pitchFamily="34" charset="0"/>
              </a:rPr>
              <a:t> after the decimal place</a:t>
            </a:r>
          </a:p>
          <a:p>
            <a:pPr marL="381000" indent="-381000"/>
            <a:endParaRPr lang="en-AU" sz="900" b="1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AU" sz="23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sz="2300" b="1" dirty="0">
                <a:latin typeface="Calibri" pitchFamily="34" charset="0"/>
                <a:cs typeface="Calibri" pitchFamily="34" charset="0"/>
              </a:rPr>
              <a:t>Round()</a:t>
            </a:r>
            <a:r>
              <a:rPr lang="en-AU" sz="2300" dirty="0">
                <a:latin typeface="Calibri" pitchFamily="34" charset="0"/>
                <a:cs typeface="Calibri" pitchFamily="34" charset="0"/>
              </a:rPr>
              <a:t> function is useful in this situation.</a:t>
            </a:r>
          </a:p>
          <a:p>
            <a:pPr marL="1268413" lvl="2" indent="-381000">
              <a:buNone/>
            </a:pPr>
            <a:r>
              <a:rPr lang="en-AU" sz="2300" b="1" dirty="0">
                <a:latin typeface="Calibri" pitchFamily="34" charset="0"/>
                <a:cs typeface="Calibri" pitchFamily="34" charset="0"/>
              </a:rPr>
              <a:t>Syntax</a:t>
            </a:r>
            <a:r>
              <a:rPr lang="en-AU" sz="2300" dirty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1268413" lvl="2" indent="-381000">
              <a:buNone/>
            </a:pPr>
            <a:r>
              <a:rPr lang="en-US" b="1" dirty="0">
                <a:solidFill>
                  <a:srgbClr val="000099"/>
                </a:solidFill>
                <a:latin typeface="Calibri" pitchFamily="34" charset="0"/>
                <a:cs typeface="Calibri" pitchFamily="34" charset="0"/>
              </a:rPr>
              <a:t>          ROUND ( number, [ </a:t>
            </a:r>
            <a:r>
              <a:rPr lang="en-US" b="1" dirty="0" err="1">
                <a:solidFill>
                  <a:srgbClr val="000099"/>
                </a:solidFill>
                <a:latin typeface="Calibri" pitchFamily="34" charset="0"/>
                <a:cs typeface="Calibri" pitchFamily="34" charset="0"/>
              </a:rPr>
              <a:t>decimal_places</a:t>
            </a:r>
            <a:r>
              <a:rPr lang="en-US" b="1" dirty="0">
                <a:solidFill>
                  <a:srgbClr val="000099"/>
                </a:solidFill>
                <a:latin typeface="Calibri" pitchFamily="34" charset="0"/>
                <a:cs typeface="Calibri" pitchFamily="34" charset="0"/>
              </a:rPr>
              <a:t> ] ) </a:t>
            </a:r>
          </a:p>
          <a:p>
            <a:pPr marL="381000" indent="-381000"/>
            <a:endParaRPr lang="en-AU" sz="1600" b="1" dirty="0">
              <a:solidFill>
                <a:srgbClr val="000099"/>
              </a:solidFill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US" sz="2000" dirty="0">
                <a:latin typeface="Calibri" pitchFamily="34" charset="0"/>
                <a:cs typeface="Calibri" pitchFamily="34" charset="0"/>
              </a:rPr>
              <a:t>If the number of decimal places is 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omitted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, then the round function will </a:t>
            </a:r>
            <a:br>
              <a:rPr lang="en-US" sz="2000" dirty="0">
                <a:latin typeface="Calibri" pitchFamily="34" charset="0"/>
                <a:cs typeface="Calibri" pitchFamily="34" charset="0"/>
              </a:rPr>
            </a:br>
            <a:r>
              <a:rPr lang="en-US" sz="2000" dirty="0">
                <a:latin typeface="Calibri" pitchFamily="34" charset="0"/>
                <a:cs typeface="Calibri" pitchFamily="34" charset="0"/>
              </a:rPr>
              <a:t>round the number 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to 0 decimal places. </a:t>
            </a:r>
            <a:endParaRPr lang="en-AU" sz="2000" b="1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sz="2300" b="1" dirty="0"/>
          </a:p>
          <a:p>
            <a:pPr marL="862013" lvl="1" indent="-381000"/>
            <a:endParaRPr lang="en-AU" dirty="0"/>
          </a:p>
          <a:p>
            <a:pPr marL="862013" lvl="1" indent="-381000">
              <a:buFont typeface="Arial Narrow" pitchFamily="34" charset="0"/>
              <a:buAutoNum type="arabicPeriod"/>
            </a:pPr>
            <a:endParaRPr lang="en-AU" dirty="0"/>
          </a:p>
          <a:p>
            <a:pPr marL="862013" lvl="1" indent="-381000">
              <a:buFont typeface="Arial Narrow" pitchFamily="34" charset="0"/>
              <a:buAutoNum type="arabicPeriod"/>
            </a:pPr>
            <a:endParaRPr lang="en-AU" dirty="0">
              <a:solidFill>
                <a:srgbClr val="0000FF"/>
              </a:solidFill>
            </a:endParaRPr>
          </a:p>
        </p:txBody>
      </p:sp>
      <p:sp>
        <p:nvSpPr>
          <p:cNvPr id="798722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98727" name="Rectangle 7"/>
          <p:cNvSpPr>
            <a:spLocks noChangeArrowheads="1"/>
          </p:cNvSpPr>
          <p:nvPr/>
        </p:nvSpPr>
        <p:spPr bwMode="auto">
          <a:xfrm>
            <a:off x="2003426" y="4515674"/>
            <a:ext cx="55546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99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177800" defTabSz="457200">
              <a:tabLst>
                <a:tab pos="125730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SELECT   AVG( runtime ) FROM movie </a:t>
            </a:r>
          </a:p>
        </p:txBody>
      </p:sp>
      <p:sp>
        <p:nvSpPr>
          <p:cNvPr id="798732" name="Rectangle 12"/>
          <p:cNvSpPr>
            <a:spLocks noChangeArrowheads="1"/>
          </p:cNvSpPr>
          <p:nvPr/>
        </p:nvSpPr>
        <p:spPr bwMode="auto">
          <a:xfrm>
            <a:off x="2003426" y="5354638"/>
            <a:ext cx="55546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99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177800" defTabSz="457200">
              <a:tabLst>
                <a:tab pos="125730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SELECT   </a:t>
            </a:r>
            <a:r>
              <a:rPr lang="en-AU" sz="2000" dirty="0">
                <a:solidFill>
                  <a:srgbClr val="FF0000"/>
                </a:solidFill>
                <a:latin typeface="Calibri"/>
              </a:rPr>
              <a:t>ROUND( 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AVG (runtime )</a:t>
            </a:r>
            <a:r>
              <a:rPr lang="en-AU" sz="2000" dirty="0">
                <a:solidFill>
                  <a:srgbClr val="FF0000"/>
                </a:solidFill>
                <a:latin typeface="Calibri"/>
              </a:rPr>
              <a:t>, 2)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FROM movie </a:t>
            </a:r>
          </a:p>
        </p:txBody>
      </p:sp>
      <p:sp>
        <p:nvSpPr>
          <p:cNvPr id="798735" name="Rectangle 15"/>
          <p:cNvSpPr>
            <a:spLocks noChangeArrowheads="1"/>
          </p:cNvSpPr>
          <p:nvPr/>
        </p:nvSpPr>
        <p:spPr bwMode="auto">
          <a:xfrm>
            <a:off x="1981200" y="5997477"/>
            <a:ext cx="633818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99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177800" defTabSz="457200">
              <a:tabLst>
                <a:tab pos="125730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SELECT   </a:t>
            </a:r>
            <a:r>
              <a:rPr lang="en-AU" sz="2000" dirty="0">
                <a:solidFill>
                  <a:srgbClr val="FF0000"/>
                </a:solidFill>
                <a:latin typeface="Calibri"/>
              </a:rPr>
              <a:t>ROUND(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AVG (runtime ) </a:t>
            </a:r>
            <a:r>
              <a:rPr lang="en-AU" sz="2000" dirty="0">
                <a:solidFill>
                  <a:srgbClr val="FF0000"/>
                </a:solidFill>
                <a:latin typeface="Calibri"/>
              </a:rPr>
              <a:t>)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AS "AVG_RUNTIME"</a:t>
            </a:r>
          </a:p>
          <a:p>
            <a:pPr marL="177800" defTabSz="457200">
              <a:tabLst>
                <a:tab pos="125730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FROM     movie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87762" y="4293109"/>
          <a:ext cx="314093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939">
                  <a:extLst>
                    <a:ext uri="{9D8B030D-6E8A-4147-A177-3AD203B41FA5}">
                      <a16:colId xmlns:a16="http://schemas.microsoft.com/office/drawing/2014/main" val="3657876704"/>
                    </a:ext>
                  </a:extLst>
                </a:gridCol>
              </a:tblGrid>
              <a:tr h="125678">
                <a:tc>
                  <a:txBody>
                    <a:bodyPr/>
                    <a:lstStyle/>
                    <a:p>
                      <a:r>
                        <a:rPr lang="en-AU" sz="16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AVG(RUNTIME)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526344"/>
                  </a:ext>
                </a:extLst>
              </a:tr>
              <a:tr h="125678">
                <a:tc>
                  <a:txBody>
                    <a:bodyPr/>
                    <a:lstStyle/>
                    <a:p>
                      <a:r>
                        <a:rPr lang="en-AU" sz="1600" dirty="0"/>
                        <a:t>121.5094339622641509433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52349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558088" y="5125602"/>
          <a:ext cx="2770612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612">
                  <a:extLst>
                    <a:ext uri="{9D8B030D-6E8A-4147-A177-3AD203B41FA5}">
                      <a16:colId xmlns:a16="http://schemas.microsoft.com/office/drawing/2014/main" val="3657876704"/>
                    </a:ext>
                  </a:extLst>
                </a:gridCol>
              </a:tblGrid>
              <a:tr h="125678">
                <a:tc>
                  <a:txBody>
                    <a:bodyPr/>
                    <a:lstStyle/>
                    <a:p>
                      <a:r>
                        <a:rPr lang="en-AU" sz="16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ROUND(AVG(RUNTIME),2)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526344"/>
                  </a:ext>
                </a:extLst>
              </a:tr>
              <a:tr h="125678">
                <a:tc>
                  <a:txBody>
                    <a:bodyPr/>
                    <a:lstStyle/>
                    <a:p>
                      <a:r>
                        <a:rPr lang="en-AU" sz="1600" dirty="0"/>
                        <a:t>121.51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52349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688264" y="5969973"/>
          <a:ext cx="1640437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437">
                  <a:extLst>
                    <a:ext uri="{9D8B030D-6E8A-4147-A177-3AD203B41FA5}">
                      <a16:colId xmlns:a16="http://schemas.microsoft.com/office/drawing/2014/main" val="3657876704"/>
                    </a:ext>
                  </a:extLst>
                </a:gridCol>
              </a:tblGrid>
              <a:tr h="118336">
                <a:tc>
                  <a:txBody>
                    <a:bodyPr/>
                    <a:lstStyle/>
                    <a:p>
                      <a:r>
                        <a:rPr lang="en-AU" sz="16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AVG_RUNTIME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526344"/>
                  </a:ext>
                </a:extLst>
              </a:tr>
              <a:tr h="125678">
                <a:tc>
                  <a:txBody>
                    <a:bodyPr/>
                    <a:lstStyle/>
                    <a:p>
                      <a:r>
                        <a:rPr lang="en-AU" sz="1600" dirty="0"/>
                        <a:t>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52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133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 Aggregate </a:t>
            </a:r>
            <a:r>
              <a:rPr lang="en-AU" dirty="0" err="1"/>
              <a:t>vs</a:t>
            </a:r>
            <a:r>
              <a:rPr lang="en-AU" dirty="0"/>
              <a:t> Non-aggregate</a:t>
            </a:r>
          </a:p>
        </p:txBody>
      </p:sp>
      <p:sp>
        <p:nvSpPr>
          <p:cNvPr id="829444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Items listed in the Select Clause of a SELECT statement</a:t>
            </a:r>
          </a:p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     are generally either</a:t>
            </a: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681038" lvl="1" indent="-200025"/>
            <a:r>
              <a:rPr lang="en-AU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Non-aggregate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expressions (Typically columns names)</a:t>
            </a:r>
          </a:p>
          <a:p>
            <a:pPr marL="1082675" lvl="2" indent="-195263"/>
            <a:r>
              <a:rPr lang="en-AU" sz="2000" dirty="0">
                <a:latin typeface="Calibri" pitchFamily="34" charset="0"/>
                <a:cs typeface="Calibri" pitchFamily="34" charset="0"/>
              </a:rPr>
              <a:t>TITLE</a:t>
            </a:r>
          </a:p>
          <a:p>
            <a:pPr marL="1082675" lvl="2" indent="-195263"/>
            <a:r>
              <a:rPr lang="en-AU" sz="2000" dirty="0">
                <a:latin typeface="Calibri" pitchFamily="34" charset="0"/>
                <a:cs typeface="Calibri" pitchFamily="34" charset="0"/>
              </a:rPr>
              <a:t>RUNTIME</a:t>
            </a:r>
          </a:p>
          <a:p>
            <a:pPr marL="1082675" lvl="2" indent="-195263"/>
            <a:r>
              <a:rPr lang="en-AU" sz="2000" dirty="0">
                <a:latin typeface="Calibri" pitchFamily="34" charset="0"/>
                <a:cs typeface="Calibri" pitchFamily="34" charset="0"/>
              </a:rPr>
              <a:t>RELYEAR</a:t>
            </a:r>
          </a:p>
          <a:p>
            <a:pPr marL="1082675" lvl="2" indent="-195263"/>
            <a:r>
              <a:rPr lang="en-AU" sz="2000" dirty="0">
                <a:latin typeface="Calibri" pitchFamily="34" charset="0"/>
                <a:cs typeface="Calibri" pitchFamily="34" charset="0"/>
              </a:rPr>
              <a:t>MOVIENO…</a:t>
            </a:r>
          </a:p>
          <a:p>
            <a:pPr marL="1082675" lvl="2" indent="-195263"/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1082675" lvl="2" indent="-195263"/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681038" lvl="1" indent="-200025"/>
            <a:r>
              <a:rPr lang="en-AU" sz="2000" dirty="0">
                <a:latin typeface="Calibri" pitchFamily="34" charset="0"/>
                <a:cs typeface="Calibri" pitchFamily="34" charset="0"/>
              </a:rPr>
              <a:t>SQL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AU" sz="2000" b="1" dirty="0">
                <a:solidFill>
                  <a:srgbClr val="009900"/>
                </a:solidFill>
                <a:latin typeface="Calibri" pitchFamily="34" charset="0"/>
                <a:cs typeface="Calibri" pitchFamily="34" charset="0"/>
              </a:rPr>
              <a:t>Aggregate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expressions:</a:t>
            </a:r>
          </a:p>
          <a:p>
            <a:pPr marL="1082675" lvl="2" indent="-195263"/>
            <a:r>
              <a:rPr lang="en-AU" sz="2000" b="1" dirty="0">
                <a:latin typeface="Calibri" pitchFamily="34" charset="0"/>
                <a:cs typeface="Calibri" pitchFamily="34" charset="0"/>
              </a:rPr>
              <a:t>AVG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(RUNTIME)</a:t>
            </a:r>
          </a:p>
          <a:p>
            <a:pPr marL="1082675" lvl="2" indent="-195263"/>
            <a:r>
              <a:rPr lang="en-AU" sz="2000" b="1" dirty="0">
                <a:latin typeface="Calibri" pitchFamily="34" charset="0"/>
                <a:cs typeface="Calibri" pitchFamily="34" charset="0"/>
              </a:rPr>
              <a:t>MIN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(RELYEAR)</a:t>
            </a:r>
          </a:p>
          <a:p>
            <a:pPr marL="1082675" lvl="2" indent="-195263"/>
            <a:r>
              <a:rPr lang="en-AU" sz="2000" b="1" dirty="0">
                <a:latin typeface="Calibri" pitchFamily="34" charset="0"/>
                <a:cs typeface="Calibri" pitchFamily="34" charset="0"/>
              </a:rPr>
              <a:t>SUM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(RUNTIME)</a:t>
            </a:r>
          </a:p>
          <a:p>
            <a:pPr marL="1082675" lvl="2" indent="-195263"/>
            <a:r>
              <a:rPr lang="en-AU" sz="2000" b="1" dirty="0">
                <a:latin typeface="Calibri" pitchFamily="34" charset="0"/>
                <a:cs typeface="Calibri" pitchFamily="34" charset="0"/>
              </a:rPr>
              <a:t>COUNT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(*)…</a:t>
            </a:r>
          </a:p>
          <a:p>
            <a:pPr marL="1082675" lvl="2" indent="-195263"/>
            <a:endParaRPr lang="en-AU" dirty="0"/>
          </a:p>
        </p:txBody>
      </p:sp>
      <p:sp>
        <p:nvSpPr>
          <p:cNvPr id="829442" name="Rectangle 2"/>
          <p:cNvSpPr>
            <a:spLocks noChangeArrowheads="1"/>
          </p:cNvSpPr>
          <p:nvPr/>
        </p:nvSpPr>
        <p:spPr bwMode="auto">
          <a:xfrm>
            <a:off x="8934450" y="5803272"/>
            <a:ext cx="1733550" cy="10547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007786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1304</Words>
  <Application>Microsoft Office PowerPoint</Application>
  <PresentationFormat>Widescreen</PresentationFormat>
  <Paragraphs>435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Narrow</vt:lpstr>
      <vt:lpstr>Calibri</vt:lpstr>
      <vt:lpstr>Courier New</vt:lpstr>
      <vt:lpstr>Open Sans</vt:lpstr>
      <vt:lpstr>Times New Roman</vt:lpstr>
      <vt:lpstr>Wingdings</vt:lpstr>
      <vt:lpstr>Swinburne_Tiles</vt:lpstr>
      <vt:lpstr>Visio</vt:lpstr>
      <vt:lpstr>INF10025  Data Management and Analytics Lecture 7 – Part 2</vt:lpstr>
      <vt:lpstr>Movie Database</vt:lpstr>
      <vt:lpstr>MovieActor Entity</vt:lpstr>
      <vt:lpstr>MovieActor / Casting Entity</vt:lpstr>
      <vt:lpstr>The completed ERD</vt:lpstr>
      <vt:lpstr>Converting the Movie ERD To RM</vt:lpstr>
      <vt:lpstr>Relationships</vt:lpstr>
      <vt:lpstr>Movies &amp; Actors &amp; Casting</vt:lpstr>
      <vt:lpstr>Relationships</vt:lpstr>
      <vt:lpstr>Students, Subjects, Enrolments</vt:lpstr>
      <vt:lpstr>Relationships</vt:lpstr>
      <vt:lpstr>Books, Persons, Loans</vt:lpstr>
      <vt:lpstr>Relationships</vt:lpstr>
      <vt:lpstr>Relationships</vt:lpstr>
      <vt:lpstr>Relationships</vt:lpstr>
      <vt:lpstr>SQL Aggregate Functions</vt:lpstr>
      <vt:lpstr>SQL COUNT() Function</vt:lpstr>
      <vt:lpstr>SQL Aggregate Functions</vt:lpstr>
      <vt:lpstr>SQL Aggregate Functions</vt:lpstr>
      <vt:lpstr>SQL Round Function</vt:lpstr>
      <vt:lpstr>SQL Aggregate vs Non-aggregate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 Data Management and Analytics Lecture 7 – Part 2</dc:title>
  <dc:creator>Robert Tipping</dc:creator>
  <cp:lastModifiedBy>Robert Tipping</cp:lastModifiedBy>
  <cp:revision>1</cp:revision>
  <dcterms:created xsi:type="dcterms:W3CDTF">2023-03-31T01:35:45Z</dcterms:created>
  <dcterms:modified xsi:type="dcterms:W3CDTF">2023-04-13T05:45:16Z</dcterms:modified>
</cp:coreProperties>
</file>