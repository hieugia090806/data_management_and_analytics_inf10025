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422" r:id="rId2"/>
    <p:sldId id="402" r:id="rId3"/>
    <p:sldId id="403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16" r:id="rId16"/>
    <p:sldId id="418" r:id="rId17"/>
    <p:sldId id="419" r:id="rId18"/>
    <p:sldId id="420" r:id="rId19"/>
    <p:sldId id="42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60BEF-63F6-4EF5-8795-6A19C52014B0}" type="datetimeFigureOut">
              <a:rPr lang="en-AU" smtClean="0"/>
              <a:t>13/04/2023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3CDAF-27FC-4706-9203-6C0039F18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48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930" y="4862096"/>
            <a:ext cx="5679440" cy="4605250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1230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8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36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5" name="Picture 7" descr="corpV_3 300_lzw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80784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A1D595-1EAF-B3CA-096B-6E72AE9C4578}"/>
              </a:ext>
            </a:extLst>
          </p:cNvPr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0" i="0" u="none" strike="noStrike" kern="1200" cap="none" spc="0" normalizeH="0" baseline="0" noProof="0" dirty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 Management &amp; Analytics   </a:t>
            </a:r>
          </a:p>
        </p:txBody>
      </p:sp>
      <p:pic>
        <p:nvPicPr>
          <p:cNvPr id="6" name="Picture 5" descr="KNOWING Logo RGB.png">
            <a:extLst>
              <a:ext uri="{FF2B5EF4-FFF2-40B4-BE49-F238E27FC236}">
                <a16:creationId xmlns:a16="http://schemas.microsoft.com/office/drawing/2014/main" id="{D562B274-86C5-1054-ACF2-497295C86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516" y="5573716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21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80"/>
            <a:ext cx="10972800" cy="1058779"/>
          </a:xfrm>
        </p:spPr>
        <p:txBody>
          <a:bodyPr anchor="t">
            <a:normAutofit/>
          </a:bodyPr>
          <a:lstStyle>
            <a:lvl1pPr>
              <a:defRPr sz="3300" b="0">
                <a:latin typeface="+mn-lt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5" cy="3917482"/>
          </a:xfrm>
          <a:noFill/>
        </p:spPr>
        <p:txBody>
          <a:bodyPr/>
          <a:lstStyle>
            <a:lvl1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2pPr>
            <a:lvl3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0" i="0" u="none" strike="noStrike" kern="1200" cap="none" spc="0" normalizeH="0" baseline="0" noProof="0" dirty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Database Analysis and Design   </a:t>
            </a:r>
          </a:p>
        </p:txBody>
      </p: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fld id="{A0B7F734-0547-4653-B8DE-E21D4CE8AB45}" type="slidenum">
              <a:rPr kumimoji="0" lang="en-AU" sz="1800" b="1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161E"/>
                </a:buClr>
                <a:buSzPct val="85000"/>
                <a:buFont typeface="Wingdings" pitchFamily="2" charset="2"/>
                <a:buNone/>
                <a:tabLst/>
                <a:defRPr/>
              </a:pPr>
              <a:t>‹#›</a:t>
            </a:fld>
            <a:endParaRPr kumimoji="0" lang="en-AU" sz="1800" b="1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8617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3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395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1344618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3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2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14818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OWING Logo RGB.png">
            <a:extLst>
              <a:ext uri="{FF2B5EF4-FFF2-40B4-BE49-F238E27FC236}">
                <a16:creationId xmlns:a16="http://schemas.microsoft.com/office/drawing/2014/main" id="{76A2C585-110A-9CEF-DC80-A478B0B3B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6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41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8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fld id="{A0B7F734-0547-4653-B8DE-E21D4CE8AB45}" type="slidenum">
              <a:rPr kumimoji="0" lang="en-AU" sz="1800" b="1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161E"/>
                </a:buClr>
                <a:buSzPct val="85000"/>
                <a:buFont typeface="Wingdings" pitchFamily="2" charset="2"/>
                <a:buNone/>
                <a:tabLst/>
                <a:defRPr/>
              </a:pPr>
              <a:t>‹#›</a:t>
            </a:fld>
            <a:endParaRPr kumimoji="0" lang="en-AU" sz="1800" b="1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>
          <a:xfrm rot="18000966">
            <a:off x="11299700" y="-55435"/>
            <a:ext cx="56540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0" i="0" u="none" strike="noStrike" kern="1200" cap="none" spc="0" normalizeH="0" baseline="0" noProof="0" dirty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Database Analysis and Design   </a:t>
            </a:r>
          </a:p>
        </p:txBody>
      </p:sp>
    </p:spTree>
    <p:extLst>
      <p:ext uri="{BB962C8B-B14F-4D97-AF65-F5344CB8AC3E}">
        <p14:creationId xmlns:p14="http://schemas.microsoft.com/office/powerpoint/2010/main" val="425535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3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rgbClr val="000000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rgbClr val="000000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rgbClr val="000000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type="ctrTitle"/>
          </p:nvPr>
        </p:nvSpPr>
        <p:spPr>
          <a:xfrm>
            <a:off x="3836988" y="2406503"/>
            <a:ext cx="6021388" cy="1143000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tx1"/>
                </a:solidFill>
              </a:rPr>
              <a:t>INF10025 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sz="3200" dirty="0"/>
              <a:t>Data Management and Analytics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>
                <a:solidFill>
                  <a:schemeClr val="tx1"/>
                </a:solidFill>
              </a:rPr>
              <a:t>Lecture 7 – Part 3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512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836988" y="3636335"/>
            <a:ext cx="5726112" cy="171989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AU" b="1" dirty="0"/>
              <a:t>Group By / Having</a:t>
            </a:r>
          </a:p>
          <a:p>
            <a:r>
              <a:rPr lang="en-AU" b="1" dirty="0"/>
              <a:t>MS Access &amp; SQL</a:t>
            </a:r>
          </a:p>
          <a:p>
            <a:endParaRPr lang="en-AU" b="1" dirty="0"/>
          </a:p>
          <a:p>
            <a:endParaRPr lang="en-AU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 Group By</a:t>
            </a:r>
          </a:p>
        </p:txBody>
      </p:sp>
      <p:sp>
        <p:nvSpPr>
          <p:cNvPr id="808964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Group By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clause must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always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be used in </a:t>
            </a:r>
            <a:br>
              <a:rPr lang="en-AU" sz="2000" dirty="0"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latin typeface="Calibri" pitchFamily="34" charset="0"/>
                <a:cs typeface="Calibri" pitchFamily="34" charset="0"/>
              </a:rPr>
              <a:t>conjunction with an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aggregate expression</a:t>
            </a:r>
            <a:br>
              <a:rPr lang="en-AU" sz="2000" b="1" dirty="0"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latin typeface="Calibri" pitchFamily="34" charset="0"/>
                <a:cs typeface="Calibri" pitchFamily="34" charset="0"/>
              </a:rPr>
              <a:t>whenever you want a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non aggregate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expression</a:t>
            </a:r>
            <a:br>
              <a:rPr lang="en-AU" sz="2000" dirty="0"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latin typeface="Calibri" pitchFamily="34" charset="0"/>
                <a:cs typeface="Calibri" pitchFamily="34" charset="0"/>
              </a:rPr>
              <a:t>in 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select clause</a:t>
            </a:r>
          </a:p>
          <a:p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681038" lvl="1" indent="-200025"/>
            <a:r>
              <a:rPr lang="en-AU" sz="2000" dirty="0">
                <a:latin typeface="Calibri" pitchFamily="34" charset="0"/>
                <a:cs typeface="Calibri" pitchFamily="34" charset="0"/>
              </a:rPr>
              <a:t>Add a </a:t>
            </a:r>
            <a:r>
              <a:rPr lang="en-AU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non-aggregate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expression to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both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Select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clause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Group By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clause </a:t>
            </a:r>
          </a:p>
          <a:p>
            <a:pPr marL="1082675" lvl="2" indent="-195263"/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681038" lvl="1" indent="-200025"/>
            <a:r>
              <a:rPr lang="en-AU" sz="2000" dirty="0">
                <a:latin typeface="Calibri" pitchFamily="34" charset="0"/>
                <a:cs typeface="Calibri" pitchFamily="34" charset="0"/>
              </a:rPr>
              <a:t>Add an </a:t>
            </a:r>
            <a:r>
              <a:rPr lang="en-AU" sz="2000" b="1" dirty="0">
                <a:solidFill>
                  <a:srgbClr val="009900"/>
                </a:solidFill>
                <a:latin typeface="Calibri" pitchFamily="34" charset="0"/>
                <a:cs typeface="Calibri" pitchFamily="34" charset="0"/>
              </a:rPr>
              <a:t>aggregate</a:t>
            </a:r>
            <a:r>
              <a:rPr lang="en-AU" sz="2000" dirty="0">
                <a:solidFill>
                  <a:srgbClr val="0099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expression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only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to the: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Select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clause</a:t>
            </a:r>
          </a:p>
          <a:p>
            <a:pPr marL="1082675" lvl="2" indent="-195263"/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681038" lvl="1" indent="-200025"/>
            <a:endParaRPr lang="en-AU" dirty="0">
              <a:solidFill>
                <a:srgbClr val="008000"/>
              </a:solidFill>
            </a:endParaRPr>
          </a:p>
          <a:p>
            <a:pPr>
              <a:buFont typeface="Wingdings" pitchFamily="2" charset="2"/>
              <a:buNone/>
            </a:pPr>
            <a:endParaRPr lang="en-AU" dirty="0"/>
          </a:p>
        </p:txBody>
      </p:sp>
      <p:sp>
        <p:nvSpPr>
          <p:cNvPr id="808962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08967" name="Rectangle 7"/>
          <p:cNvSpPr>
            <a:spLocks noChangeArrowheads="1"/>
          </p:cNvSpPr>
          <p:nvPr/>
        </p:nvSpPr>
        <p:spPr bwMode="auto">
          <a:xfrm>
            <a:off x="2832100" y="5114042"/>
            <a:ext cx="47307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	</a:t>
            </a:r>
            <a:r>
              <a:rPr lang="en-US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rgbClr val="D1161E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COUNT(*)</a:t>
            </a:r>
            <a:r>
              <a:rPr lang="en-AU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	 movie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GROUP BY 	</a:t>
            </a:r>
            <a:r>
              <a:rPr lang="en-US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rgbClr val="D1161E"/>
                </a:solidFill>
                <a:latin typeface="Calibri" pitchFamily="34" charset="0"/>
                <a:cs typeface="Calibri" pitchFamily="34" charset="0"/>
              </a:rPr>
              <a:t>relyear</a:t>
            </a:r>
            <a:endParaRPr lang="en-AU" dirty="0">
              <a:solidFill>
                <a:srgbClr val="D1161E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850" y="1289699"/>
            <a:ext cx="2205414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853864" y="500950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AU" sz="1200" dirty="0">
                <a:solidFill>
                  <a:srgbClr val="0033CC"/>
                </a:solidFill>
                <a:latin typeface="Calibri"/>
              </a:rPr>
              <a:t>Aggregate Expression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9511" y="365128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AU" sz="1200" dirty="0">
                <a:solidFill>
                  <a:srgbClr val="0033CC"/>
                </a:solidFill>
                <a:latin typeface="Calibri"/>
              </a:rPr>
              <a:t>Non Aggregate Expression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7996519" y="962614"/>
            <a:ext cx="143435" cy="367160"/>
          </a:xfrm>
          <a:prstGeom prst="straightConnector1">
            <a:avLst/>
          </a:prstGeom>
          <a:ln>
            <a:solidFill>
              <a:srgbClr val="0033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2" idx="2"/>
          </p:cNvCxnSpPr>
          <p:nvPr/>
        </p:nvCxnSpPr>
        <p:spPr>
          <a:xfrm flipH="1">
            <a:off x="9303732" y="962614"/>
            <a:ext cx="7332" cy="367160"/>
          </a:xfrm>
          <a:prstGeom prst="straightConnector1">
            <a:avLst/>
          </a:prstGeom>
          <a:ln>
            <a:solidFill>
              <a:srgbClr val="0033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14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912226" y="5779008"/>
            <a:ext cx="1755775" cy="10353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099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 Group By</a:t>
            </a:r>
          </a:p>
        </p:txBody>
      </p:sp>
      <p:sp>
        <p:nvSpPr>
          <p:cNvPr id="809988" name="Rectangle 4"/>
          <p:cNvSpPr>
            <a:spLocks noGrp="1" noChangeArrowheads="1"/>
          </p:cNvSpPr>
          <p:nvPr>
            <p:ph idx="1"/>
          </p:nvPr>
        </p:nvSpPr>
        <p:spPr>
          <a:xfrm>
            <a:off x="2200275" y="860425"/>
            <a:ext cx="7729538" cy="5233988"/>
          </a:xfrm>
          <a:noFill/>
          <a:ln/>
        </p:spPr>
        <p:txBody>
          <a:bodyPr/>
          <a:lstStyle/>
          <a:p>
            <a:r>
              <a:rPr lang="en-AU" sz="2000" dirty="0">
                <a:latin typeface="Calibri" pitchFamily="34" charset="0"/>
                <a:cs typeface="Calibri" pitchFamily="34" charset="0"/>
              </a:rPr>
              <a:t>We want count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how many movies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exist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for each rating code</a:t>
            </a:r>
          </a:p>
          <a:p>
            <a:endParaRPr lang="en-AU" sz="2000" b="1" dirty="0">
              <a:latin typeface="Calibri" pitchFamily="34" charset="0"/>
              <a:cs typeface="Calibri" pitchFamily="34" charset="0"/>
            </a:endParaRPr>
          </a:p>
          <a:p>
            <a:r>
              <a:rPr lang="en-AU" sz="2000" dirty="0">
                <a:latin typeface="Calibri" pitchFamily="34" charset="0"/>
                <a:cs typeface="Calibri" pitchFamily="34" charset="0"/>
              </a:rPr>
              <a:t>Add the column </a:t>
            </a:r>
            <a:r>
              <a:rPr lang="en-AU" sz="2000" b="1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rating_code</a:t>
            </a:r>
            <a:r>
              <a:rPr lang="en-AU" sz="2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(non-aggregate expression) to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both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Select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clause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Group By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clause </a:t>
            </a:r>
          </a:p>
          <a:p>
            <a:pPr marL="1082675" lvl="2" indent="-195263"/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r>
              <a:rPr lang="en-AU" sz="2000" dirty="0">
                <a:latin typeface="Calibri" pitchFamily="34" charset="0"/>
                <a:cs typeface="Calibri" pitchFamily="34" charset="0"/>
              </a:rPr>
              <a:t>Add the </a:t>
            </a:r>
            <a:r>
              <a:rPr lang="en-AU" sz="2000" b="1" dirty="0">
                <a:solidFill>
                  <a:srgbClr val="009900"/>
                </a:solidFill>
                <a:latin typeface="Calibri" pitchFamily="34" charset="0"/>
                <a:cs typeface="Calibri" pitchFamily="34" charset="0"/>
              </a:rPr>
              <a:t>COUNT(*)</a:t>
            </a:r>
            <a:r>
              <a:rPr lang="en-AU" sz="2000" dirty="0">
                <a:solidFill>
                  <a:srgbClr val="0099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(aggregate expression) to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only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the: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Select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clause</a:t>
            </a:r>
          </a:p>
          <a:p>
            <a:pPr marL="681038" lvl="1" indent="-200025"/>
            <a:endParaRPr lang="en-AU" dirty="0">
              <a:solidFill>
                <a:srgbClr val="008000"/>
              </a:solidFill>
            </a:endParaRPr>
          </a:p>
          <a:p>
            <a:pPr>
              <a:buFont typeface="Wingdings" pitchFamily="2" charset="2"/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809986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09989" name="Rectangle 5"/>
          <p:cNvSpPr>
            <a:spLocks noChangeArrowheads="1"/>
          </p:cNvSpPr>
          <p:nvPr/>
        </p:nvSpPr>
        <p:spPr bwMode="auto">
          <a:xfrm>
            <a:off x="2152650" y="4895891"/>
            <a:ext cx="46101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	</a:t>
            </a:r>
            <a:r>
              <a:rPr lang="en-US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rgbClr val="D1161E"/>
                </a:solidFill>
                <a:latin typeface="Calibri" pitchFamily="34" charset="0"/>
                <a:cs typeface="Calibri" pitchFamily="34" charset="0"/>
              </a:rPr>
              <a:t>rating_code</a:t>
            </a:r>
            <a:r>
              <a:rPr lang="en-AU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COUNT(*)</a:t>
            </a:r>
            <a:r>
              <a:rPr lang="en-AU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	 movie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GROUP BY 	</a:t>
            </a:r>
            <a:r>
              <a:rPr lang="en-US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rgbClr val="D1161E"/>
                </a:solidFill>
                <a:latin typeface="Calibri" pitchFamily="34" charset="0"/>
                <a:cs typeface="Calibri" pitchFamily="34" charset="0"/>
              </a:rPr>
              <a:t>rating_code</a:t>
            </a:r>
            <a:endParaRPr lang="en-AU" dirty="0">
              <a:solidFill>
                <a:srgbClr val="D1161E"/>
              </a:solidFill>
              <a:latin typeface="Calibri" pitchFamily="34" charset="0"/>
              <a:cs typeface="Calibri" pitchFamily="34" charset="0"/>
            </a:endParaRPr>
          </a:p>
          <a:p>
            <a:pPr defTabSz="457200">
              <a:tabLst>
                <a:tab pos="1524000" algn="l"/>
              </a:tabLst>
            </a:pPr>
            <a:endParaRPr lang="en-AU" dirty="0">
              <a:solidFill>
                <a:srgbClr val="0C64A7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825" y="3772664"/>
            <a:ext cx="3400686" cy="201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3572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0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110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 Group By</a:t>
            </a:r>
          </a:p>
        </p:txBody>
      </p:sp>
      <p:sp>
        <p:nvSpPr>
          <p:cNvPr id="811012" name="Rectangle 4"/>
          <p:cNvSpPr>
            <a:spLocks noGrp="1" noChangeArrowheads="1"/>
          </p:cNvSpPr>
          <p:nvPr>
            <p:ph idx="1"/>
          </p:nvPr>
        </p:nvSpPr>
        <p:spPr>
          <a:xfrm>
            <a:off x="2007476" y="908050"/>
            <a:ext cx="8408112" cy="5233988"/>
          </a:xfrm>
          <a:noFill/>
          <a:ln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We want to list the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average </a:t>
            </a:r>
            <a:r>
              <a:rPr lang="en-AU" dirty="0">
                <a:latin typeface="Calibri" pitchFamily="34" charset="0"/>
                <a:cs typeface="Calibri" pitchFamily="34" charset="0"/>
              </a:rPr>
              <a:t>running length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of movies for each year</a:t>
            </a:r>
          </a:p>
          <a:p>
            <a:r>
              <a:rPr lang="en-AU" dirty="0">
                <a:latin typeface="Calibri" pitchFamily="34" charset="0"/>
                <a:cs typeface="Calibri" pitchFamily="34" charset="0"/>
              </a:rPr>
              <a:t>Add the column </a:t>
            </a:r>
            <a:r>
              <a:rPr lang="en-AU" b="1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AU" sz="1600" dirty="0">
                <a:latin typeface="Calibri" pitchFamily="34" charset="0"/>
                <a:cs typeface="Calibri" pitchFamily="34" charset="0"/>
              </a:rPr>
              <a:t>(non-aggregate expression)</a:t>
            </a:r>
            <a:r>
              <a:rPr lang="en-AU" dirty="0">
                <a:latin typeface="Calibri" pitchFamily="34" charset="0"/>
                <a:cs typeface="Calibri" pitchFamily="34" charset="0"/>
              </a:rPr>
              <a:t> 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to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both</a:t>
            </a:r>
            <a:r>
              <a:rPr lang="en-AU" dirty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1082675" lvl="2" indent="-195263"/>
            <a:r>
              <a:rPr lang="en-AU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Select</a:t>
            </a:r>
            <a:r>
              <a:rPr lang="en-AU" dirty="0">
                <a:latin typeface="Calibri" pitchFamily="34" charset="0"/>
                <a:cs typeface="Calibri" pitchFamily="34" charset="0"/>
              </a:rPr>
              <a:t> clause</a:t>
            </a:r>
          </a:p>
          <a:p>
            <a:pPr marL="1082675" lvl="2" indent="-195263"/>
            <a:r>
              <a:rPr lang="en-AU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Group By</a:t>
            </a:r>
            <a:r>
              <a:rPr lang="en-AU" dirty="0">
                <a:latin typeface="Calibri" pitchFamily="34" charset="0"/>
                <a:cs typeface="Calibri" pitchFamily="34" charset="0"/>
              </a:rPr>
              <a:t> clause </a:t>
            </a:r>
          </a:p>
          <a:p>
            <a:pPr marL="1082675" lvl="2" indent="-195263"/>
            <a:endParaRPr lang="en-AU" dirty="0">
              <a:latin typeface="Calibri" pitchFamily="34" charset="0"/>
              <a:cs typeface="Calibri" pitchFamily="34" charset="0"/>
            </a:endParaRPr>
          </a:p>
          <a:p>
            <a:r>
              <a:rPr lang="en-AU" dirty="0">
                <a:latin typeface="Calibri" pitchFamily="34" charset="0"/>
                <a:cs typeface="Calibri" pitchFamily="34" charset="0"/>
              </a:rPr>
              <a:t>Add the </a:t>
            </a:r>
            <a:r>
              <a:rPr lang="en-AU" b="1" dirty="0">
                <a:solidFill>
                  <a:srgbClr val="009900"/>
                </a:solidFill>
                <a:latin typeface="Calibri" pitchFamily="34" charset="0"/>
                <a:cs typeface="Calibri" pitchFamily="34" charset="0"/>
              </a:rPr>
              <a:t>AVG(runtime)</a:t>
            </a:r>
            <a:r>
              <a:rPr lang="en-AU" dirty="0">
                <a:solidFill>
                  <a:srgbClr val="0099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AU" dirty="0">
                <a:latin typeface="Calibri" pitchFamily="34" charset="0"/>
                <a:cs typeface="Calibri" pitchFamily="34" charset="0"/>
              </a:rPr>
              <a:t>(aggregate expression) to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b="1" dirty="0">
                <a:latin typeface="Calibri" pitchFamily="34" charset="0"/>
                <a:cs typeface="Calibri" pitchFamily="34" charset="0"/>
              </a:rPr>
              <a:t>only</a:t>
            </a:r>
            <a:r>
              <a:rPr lang="en-AU" dirty="0">
                <a:latin typeface="Calibri" pitchFamily="34" charset="0"/>
                <a:cs typeface="Calibri" pitchFamily="34" charset="0"/>
              </a:rPr>
              <a:t> the:</a:t>
            </a:r>
          </a:p>
          <a:p>
            <a:pPr marL="1082675" lvl="2" indent="-195263"/>
            <a:r>
              <a:rPr lang="en-AU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Select </a:t>
            </a:r>
            <a:r>
              <a:rPr lang="en-AU" dirty="0">
                <a:latin typeface="Calibri" pitchFamily="34" charset="0"/>
                <a:cs typeface="Calibri" pitchFamily="34" charset="0"/>
              </a:rPr>
              <a:t>clause</a:t>
            </a:r>
          </a:p>
          <a:p>
            <a:pPr marL="1082675" lvl="2" indent="-195263"/>
            <a:endParaRPr lang="en-AU" dirty="0">
              <a:solidFill>
                <a:srgbClr val="008000"/>
              </a:solidFill>
              <a:latin typeface="Calibri" pitchFamily="34" charset="0"/>
              <a:cs typeface="Calibri" pitchFamily="34" charset="0"/>
            </a:endParaRPr>
          </a:p>
          <a:p>
            <a:pPr marL="1082675" lvl="2" indent="-195263"/>
            <a:endParaRPr lang="en-AU" dirty="0">
              <a:solidFill>
                <a:srgbClr val="008000"/>
              </a:solidFill>
              <a:latin typeface="Calibri" pitchFamily="34" charset="0"/>
              <a:cs typeface="Calibri" pitchFamily="34" charset="0"/>
            </a:endParaRPr>
          </a:p>
          <a:p>
            <a:pPr marL="1082675" lvl="2" indent="-195263"/>
            <a:endParaRPr lang="en-AU" dirty="0">
              <a:solidFill>
                <a:srgbClr val="008000"/>
              </a:solidFill>
              <a:latin typeface="Calibri" pitchFamily="34" charset="0"/>
              <a:cs typeface="Calibri" pitchFamily="34" charset="0"/>
            </a:endParaRPr>
          </a:p>
          <a:p>
            <a:pPr marL="1082675" lvl="2" indent="-195263"/>
            <a:endParaRPr lang="en-AU" dirty="0">
              <a:solidFill>
                <a:srgbClr val="008000"/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en-AU" dirty="0">
                <a:solidFill>
                  <a:srgbClr val="990000"/>
                </a:solidFill>
                <a:latin typeface="Calibri" pitchFamily="34" charset="0"/>
                <a:cs typeface="Calibri" pitchFamily="34" charset="0"/>
              </a:rPr>
              <a:t>Notice how the </a:t>
            </a:r>
            <a:r>
              <a:rPr lang="en-AU" b="1" dirty="0">
                <a:solidFill>
                  <a:srgbClr val="990000"/>
                </a:solidFill>
                <a:latin typeface="Calibri" pitchFamily="34" charset="0"/>
                <a:cs typeface="Calibri" pitchFamily="34" charset="0"/>
              </a:rPr>
              <a:t>result set</a:t>
            </a:r>
            <a:r>
              <a:rPr lang="en-AU" dirty="0">
                <a:solidFill>
                  <a:srgbClr val="990000"/>
                </a:solidFill>
                <a:latin typeface="Calibri" pitchFamily="34" charset="0"/>
                <a:cs typeface="Calibri" pitchFamily="34" charset="0"/>
              </a:rPr>
              <a:t> is displayed in </a:t>
            </a:r>
            <a:br>
              <a:rPr lang="en-AU" dirty="0">
                <a:solidFill>
                  <a:srgbClr val="990000"/>
                </a:solidFill>
                <a:latin typeface="Calibri" pitchFamily="34" charset="0"/>
                <a:cs typeface="Calibri" pitchFamily="34" charset="0"/>
              </a:rPr>
            </a:br>
            <a:r>
              <a:rPr lang="en-AU" b="1" dirty="0">
                <a:solidFill>
                  <a:srgbClr val="990000"/>
                </a:solidFill>
                <a:latin typeface="Calibri" pitchFamily="34" charset="0"/>
                <a:cs typeface="Calibri" pitchFamily="34" charset="0"/>
              </a:rPr>
              <a:t>random</a:t>
            </a:r>
            <a:r>
              <a:rPr lang="en-AU" dirty="0">
                <a:solidFill>
                  <a:srgbClr val="990000"/>
                </a:solidFill>
                <a:latin typeface="Calibri" pitchFamily="34" charset="0"/>
                <a:cs typeface="Calibri" pitchFamily="34" charset="0"/>
              </a:rPr>
              <a:t> year sequence. </a:t>
            </a:r>
            <a:r>
              <a:rPr lang="en-AU" b="1" dirty="0">
                <a:solidFill>
                  <a:srgbClr val="990000"/>
                </a:solidFill>
                <a:latin typeface="Calibri" pitchFamily="34" charset="0"/>
                <a:cs typeface="Calibri" pitchFamily="34" charset="0"/>
              </a:rPr>
              <a:t>Not</a:t>
            </a:r>
            <a:r>
              <a:rPr lang="en-AU" dirty="0">
                <a:solidFill>
                  <a:srgbClr val="990000"/>
                </a:solidFill>
                <a:latin typeface="Calibri" pitchFamily="34" charset="0"/>
                <a:cs typeface="Calibri" pitchFamily="34" charset="0"/>
              </a:rPr>
              <a:t> user friendly.</a:t>
            </a:r>
          </a:p>
        </p:txBody>
      </p:sp>
      <p:sp>
        <p:nvSpPr>
          <p:cNvPr id="811013" name="Rectangle 5"/>
          <p:cNvSpPr>
            <a:spLocks noChangeArrowheads="1"/>
          </p:cNvSpPr>
          <p:nvPr/>
        </p:nvSpPr>
        <p:spPr bwMode="auto">
          <a:xfrm>
            <a:off x="2390775" y="4194870"/>
            <a:ext cx="42052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SELECT	</a:t>
            </a:r>
            <a:r>
              <a:rPr lang="en-AU" dirty="0" err="1">
                <a:solidFill>
                  <a:srgbClr val="FF0000"/>
                </a:solidFill>
                <a:latin typeface="Calibri"/>
              </a:rPr>
              <a:t>relyear</a:t>
            </a:r>
            <a:r>
              <a:rPr lang="en-AU" dirty="0">
                <a:solidFill>
                  <a:srgbClr val="0C64A7"/>
                </a:solidFill>
                <a:latin typeface="Calibri"/>
              </a:rPr>
              <a:t>, </a:t>
            </a:r>
            <a:r>
              <a:rPr lang="en-AU" dirty="0">
                <a:solidFill>
                  <a:srgbClr val="008000"/>
                </a:solidFill>
                <a:latin typeface="Calibri"/>
              </a:rPr>
              <a:t>AVG(runtime)</a:t>
            </a:r>
            <a:r>
              <a:rPr lang="en-AU" dirty="0">
                <a:solidFill>
                  <a:srgbClr val="0C64A7"/>
                </a:solidFill>
                <a:latin typeface="Calibri"/>
              </a:rPr>
              <a:t>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FROM 	movie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GROUP BY 	</a:t>
            </a:r>
            <a:r>
              <a:rPr lang="en-AU" dirty="0" err="1">
                <a:solidFill>
                  <a:srgbClr val="FF0000"/>
                </a:solidFill>
                <a:latin typeface="Calibri"/>
              </a:rPr>
              <a:t>relyear</a:t>
            </a:r>
            <a:endParaRPr lang="en-AU" dirty="0">
              <a:solidFill>
                <a:srgbClr val="FF0000"/>
              </a:solidFill>
              <a:latin typeface="Calibri"/>
            </a:endParaRPr>
          </a:p>
        </p:txBody>
      </p:sp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438" y="981075"/>
            <a:ext cx="2985404" cy="463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835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 Group By</a:t>
            </a:r>
          </a:p>
        </p:txBody>
      </p:sp>
      <p:sp>
        <p:nvSpPr>
          <p:cNvPr id="812036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AU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dirty="0">
                <a:solidFill>
                  <a:srgbClr val="B2331A"/>
                </a:solidFill>
                <a:latin typeface="Calibri" pitchFamily="34" charset="0"/>
                <a:cs typeface="Calibri" pitchFamily="34" charset="0"/>
              </a:rPr>
              <a:t>ORDER BY</a:t>
            </a:r>
            <a:r>
              <a:rPr lang="en-AU" dirty="0">
                <a:latin typeface="Calibri" pitchFamily="34" charset="0"/>
                <a:cs typeface="Calibri" pitchFamily="34" charset="0"/>
              </a:rPr>
              <a:t> clause causes rows in the result set to be sequenced by a specified column. </a:t>
            </a:r>
          </a:p>
        </p:txBody>
      </p:sp>
      <p:sp>
        <p:nvSpPr>
          <p:cNvPr id="812034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12037" name="Rectangle 5"/>
          <p:cNvSpPr>
            <a:spLocks noChangeArrowheads="1"/>
          </p:cNvSpPr>
          <p:nvPr/>
        </p:nvSpPr>
        <p:spPr bwMode="auto">
          <a:xfrm>
            <a:off x="1901825" y="1861225"/>
            <a:ext cx="420528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SELECT	</a:t>
            </a:r>
            <a:r>
              <a:rPr lang="en-AU" dirty="0" err="1">
                <a:solidFill>
                  <a:srgbClr val="0033CC"/>
                </a:solidFill>
                <a:latin typeface="Calibri"/>
              </a:rPr>
              <a:t>relyear</a:t>
            </a:r>
            <a:r>
              <a:rPr lang="en-AU" dirty="0">
                <a:solidFill>
                  <a:srgbClr val="0033CC"/>
                </a:solidFill>
                <a:latin typeface="Calibri"/>
              </a:rPr>
              <a:t>, AVG(runtime)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FROM 	movie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GROUP BY 	</a:t>
            </a:r>
            <a:r>
              <a:rPr lang="en-AU" dirty="0" err="1">
                <a:solidFill>
                  <a:srgbClr val="0033CC"/>
                </a:solidFill>
                <a:latin typeface="Calibri"/>
              </a:rPr>
              <a:t>relyear</a:t>
            </a:r>
            <a:endParaRPr lang="en-AU" dirty="0">
              <a:solidFill>
                <a:srgbClr val="0033CC"/>
              </a:solidFill>
              <a:latin typeface="Calibri"/>
            </a:endParaRP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B2331A"/>
                </a:solidFill>
                <a:latin typeface="Calibri" pitchFamily="34" charset="0"/>
                <a:cs typeface="Calibri" pitchFamily="34" charset="0"/>
              </a:rPr>
              <a:t>ORDER BY   	</a:t>
            </a:r>
            <a:r>
              <a:rPr lang="en-AU" dirty="0" err="1">
                <a:solidFill>
                  <a:srgbClr val="B2331A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dirty="0">
                <a:solidFill>
                  <a:srgbClr val="B2331A"/>
                </a:solidFill>
                <a:latin typeface="Calibri" pitchFamily="34" charset="0"/>
                <a:cs typeface="Calibri" pitchFamily="34" charset="0"/>
              </a:rPr>
              <a:t> DESC</a:t>
            </a:r>
          </a:p>
        </p:txBody>
      </p:sp>
      <p:pic>
        <p:nvPicPr>
          <p:cNvPr id="8499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51"/>
          <a:stretch/>
        </p:blipFill>
        <p:spPr bwMode="auto">
          <a:xfrm>
            <a:off x="1809750" y="3243262"/>
            <a:ext cx="3305175" cy="332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388100" y="1861225"/>
            <a:ext cx="420528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SELECT	</a:t>
            </a:r>
            <a:r>
              <a:rPr lang="en-AU" dirty="0" err="1">
                <a:solidFill>
                  <a:srgbClr val="0033CC"/>
                </a:solidFill>
                <a:latin typeface="Calibri"/>
              </a:rPr>
              <a:t>relyear</a:t>
            </a:r>
            <a:r>
              <a:rPr lang="en-AU" dirty="0">
                <a:solidFill>
                  <a:srgbClr val="0033CC"/>
                </a:solidFill>
                <a:latin typeface="Calibri"/>
              </a:rPr>
              <a:t>, AVG(runtime)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FROM 	movie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GROUP BY 	</a:t>
            </a:r>
            <a:r>
              <a:rPr lang="en-AU" dirty="0" err="1">
                <a:solidFill>
                  <a:srgbClr val="0033CC"/>
                </a:solidFill>
                <a:latin typeface="Calibri"/>
              </a:rPr>
              <a:t>relyear</a:t>
            </a:r>
            <a:endParaRPr lang="en-AU" dirty="0">
              <a:solidFill>
                <a:srgbClr val="0033CC"/>
              </a:solidFill>
              <a:latin typeface="Calibri"/>
            </a:endParaRP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B2331A"/>
                </a:solidFill>
                <a:latin typeface="Calibri" pitchFamily="34" charset="0"/>
                <a:cs typeface="Calibri" pitchFamily="34" charset="0"/>
              </a:rPr>
              <a:t>ORDER BY   	</a:t>
            </a:r>
            <a:r>
              <a:rPr lang="en-AU" dirty="0">
                <a:solidFill>
                  <a:srgbClr val="B2331A"/>
                </a:solidFill>
                <a:latin typeface="Calibri"/>
              </a:rPr>
              <a:t>AVG(runtime)  ASC</a:t>
            </a:r>
            <a:endParaRPr lang="en-AU" dirty="0">
              <a:solidFill>
                <a:srgbClr val="B2331A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4996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20"/>
          <a:stretch/>
        </p:blipFill>
        <p:spPr bwMode="auto">
          <a:xfrm>
            <a:off x="6615113" y="3243263"/>
            <a:ext cx="3338512" cy="34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 bwMode="auto">
          <a:xfrm>
            <a:off x="6107113" y="1676559"/>
            <a:ext cx="0" cy="51147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59077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 Group By</a:t>
            </a:r>
          </a:p>
        </p:txBody>
      </p:sp>
      <p:sp>
        <p:nvSpPr>
          <p:cNvPr id="812036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AU" sz="2000" dirty="0">
                <a:latin typeface="Calibri" pitchFamily="34" charset="0"/>
                <a:cs typeface="Calibri" pitchFamily="34" charset="0"/>
              </a:rPr>
              <a:t>Using 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Column Number </a:t>
            </a:r>
            <a:br>
              <a:rPr lang="en-AU" sz="2000" b="1" dirty="0"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latin typeface="Calibri" pitchFamily="34" charset="0"/>
                <a:cs typeface="Calibri" pitchFamily="34" charset="0"/>
              </a:rPr>
              <a:t>in the Order By clause </a:t>
            </a:r>
            <a:br>
              <a:rPr lang="en-AU" dirty="0">
                <a:solidFill>
                  <a:srgbClr val="990000"/>
                </a:solidFill>
                <a:latin typeface="Calibri" pitchFamily="34" charset="0"/>
                <a:cs typeface="Calibri" pitchFamily="34" charset="0"/>
              </a:rPr>
            </a:br>
            <a:endParaRPr lang="en-AU" dirty="0">
              <a:solidFill>
                <a:srgbClr val="990000"/>
              </a:solidFill>
            </a:endParaRPr>
          </a:p>
        </p:txBody>
      </p:sp>
      <p:sp>
        <p:nvSpPr>
          <p:cNvPr id="812034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12037" name="Rectangle 5"/>
          <p:cNvSpPr>
            <a:spLocks noChangeArrowheads="1"/>
          </p:cNvSpPr>
          <p:nvPr/>
        </p:nvSpPr>
        <p:spPr bwMode="auto">
          <a:xfrm>
            <a:off x="2787650" y="2587666"/>
            <a:ext cx="448945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	</a:t>
            </a:r>
            <a:r>
              <a:rPr lang="en-AU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,  COUNT(*)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	movie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GROUP BY 	</a:t>
            </a:r>
            <a:r>
              <a:rPr lang="en-AU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relyear</a:t>
            </a:r>
            <a:endParaRPr lang="en-AU" dirty="0">
              <a:solidFill>
                <a:srgbClr val="0033CC"/>
              </a:solidFill>
              <a:latin typeface="Calibri" pitchFamily="34" charset="0"/>
              <a:cs typeface="Calibri" pitchFamily="34" charset="0"/>
            </a:endParaRP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ORDER BY   	2 DESC</a:t>
            </a:r>
          </a:p>
        </p:txBody>
      </p:sp>
      <p:sp>
        <p:nvSpPr>
          <p:cNvPr id="7" name="Text Box 121"/>
          <p:cNvSpPr txBox="1">
            <a:spLocks noChangeArrowheads="1"/>
          </p:cNvSpPr>
          <p:nvPr/>
        </p:nvSpPr>
        <p:spPr bwMode="auto">
          <a:xfrm>
            <a:off x="2500313" y="5110638"/>
            <a:ext cx="390048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88900" indent="-1588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71575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808163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2444750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3081338" indent="-457200"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35385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9957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44529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910138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8900" algn="l"/>
                <a:tab pos="1778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defTabSz="457200"/>
            <a:r>
              <a:rPr lang="en-US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The 2 refers to the 2</a:t>
            </a:r>
            <a:r>
              <a:rPr lang="en-US" baseline="30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nd</a:t>
            </a:r>
            <a:r>
              <a:rPr lang="en-US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 column of the result set.</a:t>
            </a:r>
          </a:p>
          <a:p>
            <a:pPr algn="ctr" defTabSz="457200"/>
            <a:r>
              <a:rPr lang="en-US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So the rows appear in descending count(*) sequence</a:t>
            </a:r>
            <a:endParaRPr lang="en-AU" dirty="0">
              <a:solidFill>
                <a:srgbClr val="0033CC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738" y="885825"/>
            <a:ext cx="2328862" cy="5891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Arrow Connector 2"/>
          <p:cNvCxnSpPr/>
          <p:nvPr/>
        </p:nvCxnSpPr>
        <p:spPr bwMode="auto">
          <a:xfrm flipV="1">
            <a:off x="3838575" y="3880329"/>
            <a:ext cx="476250" cy="115839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19519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843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 Group By</a:t>
            </a:r>
          </a:p>
        </p:txBody>
      </p:sp>
      <p:sp>
        <p:nvSpPr>
          <p:cNvPr id="784388" name="Rectangle 4"/>
          <p:cNvSpPr>
            <a:spLocks noGrp="1" noChangeArrowheads="1"/>
          </p:cNvSpPr>
          <p:nvPr>
            <p:ph idx="1"/>
          </p:nvPr>
        </p:nvSpPr>
        <p:spPr>
          <a:xfrm>
            <a:off x="1914526" y="908050"/>
            <a:ext cx="8501063" cy="5233988"/>
          </a:xfrm>
          <a:noFill/>
          <a:ln/>
        </p:spPr>
        <p:txBody>
          <a:bodyPr>
            <a:normAutofit/>
          </a:bodyPr>
          <a:lstStyle/>
          <a:p>
            <a:r>
              <a:rPr lang="en-AU" dirty="0">
                <a:latin typeface="Calibri" pitchFamily="34" charset="0"/>
                <a:cs typeface="Calibri" pitchFamily="34" charset="0"/>
              </a:rPr>
              <a:t>Consider this result set</a:t>
            </a:r>
          </a:p>
          <a:p>
            <a:pPr marL="681038" lvl="1" indent="-200025"/>
            <a:r>
              <a:rPr lang="en-AU" dirty="0">
                <a:latin typeface="Calibri" pitchFamily="34" charset="0"/>
                <a:cs typeface="Calibri" pitchFamily="34" charset="0"/>
              </a:rPr>
              <a:t>It shows a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count</a:t>
            </a:r>
            <a:r>
              <a:rPr lang="en-AU" dirty="0">
                <a:latin typeface="Calibri" pitchFamily="34" charset="0"/>
                <a:cs typeface="Calibri" pitchFamily="34" charset="0"/>
              </a:rPr>
              <a:t> of movies by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year</a:t>
            </a:r>
          </a:p>
          <a:p>
            <a:pPr marL="681038" lvl="1" indent="-200025"/>
            <a:endParaRPr lang="en-AU" b="1" dirty="0">
              <a:latin typeface="Calibri" pitchFamily="34" charset="0"/>
              <a:cs typeface="Calibri" pitchFamily="34" charset="0"/>
            </a:endParaRPr>
          </a:p>
          <a:p>
            <a:pPr marL="681038" lvl="1" indent="-200025"/>
            <a:r>
              <a:rPr lang="en-AU" dirty="0">
                <a:latin typeface="Calibri" pitchFamily="34" charset="0"/>
                <a:cs typeface="Calibri" pitchFamily="34" charset="0"/>
              </a:rPr>
              <a:t>Within each year</a:t>
            </a:r>
          </a:p>
          <a:p>
            <a:pPr marL="1236663" lvl="2" indent="-200025"/>
            <a:r>
              <a:rPr lang="en-AU" dirty="0">
                <a:latin typeface="Calibri" pitchFamily="34" charset="0"/>
                <a:cs typeface="Calibri" pitchFamily="34" charset="0"/>
              </a:rPr>
              <a:t>It shows a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count</a:t>
            </a:r>
            <a:r>
              <a:rPr lang="en-AU" dirty="0">
                <a:latin typeface="Calibri" pitchFamily="34" charset="0"/>
                <a:cs typeface="Calibri" pitchFamily="34" charset="0"/>
              </a:rPr>
              <a:t> of movies 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by 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rating_code</a:t>
            </a:r>
            <a:endParaRPr lang="en-AU" b="1" dirty="0">
              <a:latin typeface="Calibri" pitchFamily="34" charset="0"/>
              <a:cs typeface="Calibri" pitchFamily="34" charset="0"/>
            </a:endParaRPr>
          </a:p>
          <a:p>
            <a:pPr marL="1236663" lvl="2" indent="-200025"/>
            <a:endParaRPr lang="en-AU" b="1" dirty="0">
              <a:latin typeface="Calibri" pitchFamily="34" charset="0"/>
              <a:cs typeface="Calibri" pitchFamily="34" charset="0"/>
            </a:endParaRPr>
          </a:p>
          <a:p>
            <a:r>
              <a:rPr lang="en-AU" dirty="0">
                <a:latin typeface="Calibri" pitchFamily="34" charset="0"/>
                <a:cs typeface="Calibri" pitchFamily="34" charset="0"/>
              </a:rPr>
              <a:t>So we can see that in 2013:</a:t>
            </a:r>
          </a:p>
          <a:p>
            <a:pPr lvl="1"/>
            <a:r>
              <a:rPr lang="en-AU" dirty="0">
                <a:latin typeface="Calibri" pitchFamily="34" charset="0"/>
                <a:cs typeface="Calibri" pitchFamily="34" charset="0"/>
              </a:rPr>
              <a:t>There were 4 'M' movies</a:t>
            </a:r>
          </a:p>
          <a:p>
            <a:pPr lvl="1"/>
            <a:r>
              <a:rPr lang="en-AU" dirty="0">
                <a:latin typeface="Calibri" pitchFamily="34" charset="0"/>
                <a:cs typeface="Calibri" pitchFamily="34" charset="0"/>
              </a:rPr>
              <a:t>There were 6 'PG' movies</a:t>
            </a:r>
          </a:p>
          <a:p>
            <a:pPr marL="476250" lvl="1" indent="0"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19050" indent="0"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This result is similar to the similar to previous group by results.</a:t>
            </a:r>
          </a:p>
          <a:p>
            <a:pPr marL="19050" indent="0"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However this example has </a:t>
            </a:r>
          </a:p>
          <a:p>
            <a:pPr marL="819150" lvl="1" indent="-342900"/>
            <a:r>
              <a:rPr lang="en-AU" dirty="0">
                <a:latin typeface="Calibri" pitchFamily="34" charset="0"/>
                <a:cs typeface="Calibri" pitchFamily="34" charset="0"/>
              </a:rPr>
              <a:t>	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two </a:t>
            </a:r>
            <a:r>
              <a:rPr lang="en-AU" b="1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non-aggregate</a:t>
            </a:r>
            <a:r>
              <a:rPr lang="en-AU" dirty="0">
                <a:latin typeface="Calibri" pitchFamily="34" charset="0"/>
                <a:cs typeface="Calibri" pitchFamily="34" charset="0"/>
              </a:rPr>
              <a:t> expressions</a:t>
            </a:r>
          </a:p>
          <a:p>
            <a:pPr marL="819150" lvl="1" indent="-342900"/>
            <a:r>
              <a:rPr lang="en-AU" dirty="0">
                <a:latin typeface="Calibri" pitchFamily="34" charset="0"/>
                <a:cs typeface="Calibri" pitchFamily="34" charset="0"/>
              </a:rPr>
              <a:t>	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one </a:t>
            </a:r>
            <a:r>
              <a:rPr lang="en-AU" b="1" dirty="0">
                <a:solidFill>
                  <a:srgbClr val="009900"/>
                </a:solidFill>
                <a:latin typeface="Calibri" pitchFamily="34" charset="0"/>
                <a:cs typeface="Calibri" pitchFamily="34" charset="0"/>
              </a:rPr>
              <a:t>aggregate </a:t>
            </a:r>
            <a:r>
              <a:rPr lang="en-AU" dirty="0">
                <a:latin typeface="Calibri" pitchFamily="34" charset="0"/>
                <a:cs typeface="Calibri" pitchFamily="34" charset="0"/>
              </a:rPr>
              <a:t>expression</a:t>
            </a:r>
          </a:p>
          <a:p>
            <a:endParaRPr lang="en-AU" dirty="0">
              <a:latin typeface="Calibri" pitchFamily="34" charset="0"/>
              <a:cs typeface="Calibri" pitchFamily="34" charset="0"/>
            </a:endParaRPr>
          </a:p>
          <a:p>
            <a:endParaRPr lang="en-AU" dirty="0"/>
          </a:p>
          <a:p>
            <a:endParaRPr lang="en-AU" dirty="0"/>
          </a:p>
        </p:txBody>
      </p:sp>
      <p:pic>
        <p:nvPicPr>
          <p:cNvPr id="8806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707"/>
          <a:stretch/>
        </p:blipFill>
        <p:spPr bwMode="auto">
          <a:xfrm>
            <a:off x="7067550" y="981075"/>
            <a:ext cx="3503493" cy="88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67" b="30619"/>
          <a:stretch/>
        </p:blipFill>
        <p:spPr bwMode="auto">
          <a:xfrm>
            <a:off x="7067550" y="2076450"/>
            <a:ext cx="3503493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81"/>
          <a:stretch/>
        </p:blipFill>
        <p:spPr bwMode="auto">
          <a:xfrm>
            <a:off x="7067549" y="3467101"/>
            <a:ext cx="3503493" cy="895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024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685800" indent="-685800"/>
            <a:r>
              <a:rPr lang="en-AU" dirty="0"/>
              <a:t>SQL Group By with multiple </a:t>
            </a:r>
            <a:br>
              <a:rPr lang="en-AU" dirty="0"/>
            </a:br>
            <a:r>
              <a:rPr lang="en-AU" dirty="0"/>
              <a:t>  non-aggregate columns</a:t>
            </a:r>
          </a:p>
        </p:txBody>
      </p:sp>
      <p:sp>
        <p:nvSpPr>
          <p:cNvPr id="813060" name="Rectangle 4"/>
          <p:cNvSpPr>
            <a:spLocks noGrp="1" noChangeArrowheads="1"/>
          </p:cNvSpPr>
          <p:nvPr>
            <p:ph idx="1"/>
          </p:nvPr>
        </p:nvSpPr>
        <p:spPr>
          <a:xfrm>
            <a:off x="2192338" y="1419225"/>
            <a:ext cx="8223250" cy="4722813"/>
          </a:xfrm>
          <a:noFill/>
          <a:ln/>
        </p:spPr>
        <p:txBody>
          <a:bodyPr/>
          <a:lstStyle/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We want the count of each rating type in each year</a:t>
            </a:r>
          </a:p>
          <a:p>
            <a:endParaRPr lang="en-AU" sz="1100" dirty="0">
              <a:latin typeface="Calibri" pitchFamily="34" charset="0"/>
              <a:cs typeface="Calibri" pitchFamily="34" charset="0"/>
            </a:endParaRPr>
          </a:p>
          <a:p>
            <a:r>
              <a:rPr lang="en-AU" sz="2000" dirty="0">
                <a:latin typeface="Calibri" pitchFamily="34" charset="0"/>
                <a:cs typeface="Calibri" pitchFamily="34" charset="0"/>
              </a:rPr>
              <a:t>Add </a:t>
            </a:r>
            <a:r>
              <a:rPr lang="en-AU" sz="2000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sz="20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rating_code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(non-aggregate expressions)</a:t>
            </a:r>
            <a:br>
              <a:rPr lang="en-AU" sz="2000" dirty="0"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latin typeface="Calibri" pitchFamily="34" charset="0"/>
                <a:cs typeface="Calibri" pitchFamily="34" charset="0"/>
              </a:rPr>
              <a:t> to both: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Select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clause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Group By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clause  </a:t>
            </a:r>
          </a:p>
          <a:p>
            <a:pPr marL="1082675" lvl="2" indent="-195263"/>
            <a:endParaRPr lang="en-AU" sz="1050" dirty="0">
              <a:latin typeface="Calibri" pitchFamily="34" charset="0"/>
              <a:cs typeface="Calibri" pitchFamily="34" charset="0"/>
            </a:endParaRPr>
          </a:p>
          <a:p>
            <a:r>
              <a:rPr lang="en-AU" sz="2000" dirty="0">
                <a:latin typeface="Calibri" pitchFamily="34" charset="0"/>
                <a:cs typeface="Calibri" pitchFamily="34" charset="0"/>
              </a:rPr>
              <a:t>Add </a:t>
            </a:r>
            <a:r>
              <a:rPr lang="en-AU" sz="2000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COUNT(*)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(aggregate expression) to ONLY the:</a:t>
            </a:r>
          </a:p>
          <a:p>
            <a:pPr marL="1082675" lvl="2" indent="-195263"/>
            <a:r>
              <a:rPr lang="en-AU" sz="20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Select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clause</a:t>
            </a:r>
          </a:p>
          <a:p>
            <a:pPr marL="1082675" lvl="2" indent="-195263"/>
            <a:endParaRPr lang="en-AU" dirty="0">
              <a:solidFill>
                <a:srgbClr val="008000"/>
              </a:solidFill>
            </a:endParaRPr>
          </a:p>
          <a:p>
            <a:pPr marL="1082675" lvl="2" indent="-195263"/>
            <a:endParaRPr lang="en-AU" dirty="0">
              <a:solidFill>
                <a:srgbClr val="008000"/>
              </a:solidFill>
            </a:endParaRPr>
          </a:p>
          <a:p>
            <a:pPr marL="1082675" lvl="2" indent="-195263"/>
            <a:endParaRPr lang="en-AU" dirty="0">
              <a:solidFill>
                <a:srgbClr val="008000"/>
              </a:solidFill>
            </a:endParaRPr>
          </a:p>
          <a:p>
            <a:pPr marL="1082675" lvl="2" indent="-195263"/>
            <a:endParaRPr lang="en-AU" dirty="0">
              <a:solidFill>
                <a:srgbClr val="008000"/>
              </a:solidFill>
            </a:endParaRPr>
          </a:p>
          <a:p>
            <a:pPr marL="1082675" lvl="2" indent="-195263"/>
            <a:endParaRPr lang="en-AU" dirty="0">
              <a:solidFill>
                <a:srgbClr val="008000"/>
              </a:solidFill>
            </a:endParaRPr>
          </a:p>
          <a:p>
            <a:pPr marL="1082675" lvl="2" indent="-195263"/>
            <a:endParaRPr lang="en-AU" dirty="0">
              <a:solidFill>
                <a:srgbClr val="990000"/>
              </a:solidFill>
            </a:endParaRPr>
          </a:p>
        </p:txBody>
      </p:sp>
      <p:sp>
        <p:nvSpPr>
          <p:cNvPr id="813058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13061" name="Rectangle 5"/>
          <p:cNvSpPr>
            <a:spLocks noChangeArrowheads="1"/>
          </p:cNvSpPr>
          <p:nvPr/>
        </p:nvSpPr>
        <p:spPr bwMode="auto">
          <a:xfrm>
            <a:off x="2504282" y="4751672"/>
            <a:ext cx="5999957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57200">
              <a:tabLst>
                <a:tab pos="15240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	</a:t>
            </a:r>
            <a:r>
              <a:rPr lang="en-AU" sz="2000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sz="2000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dirty="0" err="1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rating_code</a:t>
            </a:r>
            <a:r>
              <a:rPr lang="en-AU" sz="2000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COUNT(*) </a:t>
            </a:r>
          </a:p>
          <a:p>
            <a:pPr defTabSz="457200">
              <a:tabLst>
                <a:tab pos="15240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	movie </a:t>
            </a:r>
          </a:p>
          <a:p>
            <a:pPr defTabSz="457200">
              <a:tabLst>
                <a:tab pos="15240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GROUP BY 	</a:t>
            </a:r>
            <a:r>
              <a:rPr lang="en-AU" sz="2000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sz="2000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dirty="0" err="1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rating_code</a:t>
            </a:r>
            <a:endParaRPr lang="en-AU" sz="2000" dirty="0">
              <a:solidFill>
                <a:srgbClr val="6C008D">
                  <a:lumMod val="60000"/>
                  <a:lumOff val="40000"/>
                </a:srgbClr>
              </a:solidFill>
              <a:latin typeface="Calibri" pitchFamily="34" charset="0"/>
              <a:cs typeface="Calibri" pitchFamily="34" charset="0"/>
            </a:endParaRPr>
          </a:p>
          <a:p>
            <a:pPr defTabSz="457200">
              <a:tabLst>
                <a:tab pos="1524000" algn="l"/>
              </a:tabLst>
            </a:pPr>
            <a:r>
              <a:rPr lang="en-AU" sz="2000" dirty="0">
                <a:solidFill>
                  <a:srgbClr val="B2331A"/>
                </a:solidFill>
                <a:latin typeface="Calibri" pitchFamily="34" charset="0"/>
                <a:cs typeface="Calibri" pitchFamily="34" charset="0"/>
              </a:rPr>
              <a:t>ORDER BY 	</a:t>
            </a:r>
            <a:r>
              <a:rPr lang="en-AU" sz="2000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sz="2000" dirty="0">
                <a:solidFill>
                  <a:srgbClr val="B2331A"/>
                </a:solidFill>
                <a:latin typeface="Calibri" pitchFamily="34" charset="0"/>
                <a:cs typeface="Calibri" pitchFamily="34" charset="0"/>
              </a:rPr>
              <a:t>,  </a:t>
            </a:r>
            <a:r>
              <a:rPr lang="en-AU" sz="2000" dirty="0" err="1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rating_code</a:t>
            </a:r>
            <a:endParaRPr lang="en-AU" sz="2000" dirty="0">
              <a:solidFill>
                <a:srgbClr val="6C008D">
                  <a:lumMod val="60000"/>
                  <a:lumOff val="4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239" y="2085974"/>
            <a:ext cx="2163762" cy="3792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00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6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151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 Group By </a:t>
            </a:r>
          </a:p>
        </p:txBody>
      </p:sp>
      <p:sp>
        <p:nvSpPr>
          <p:cNvPr id="815108" name="Rectangle 4"/>
          <p:cNvSpPr>
            <a:spLocks noGrp="1" noChangeArrowheads="1"/>
          </p:cNvSpPr>
          <p:nvPr>
            <p:ph idx="1"/>
          </p:nvPr>
        </p:nvSpPr>
        <p:spPr>
          <a:xfrm>
            <a:off x="1981201" y="908050"/>
            <a:ext cx="5629275" cy="5233988"/>
          </a:xfrm>
          <a:noFill/>
          <a:ln/>
        </p:spPr>
        <p:txBody>
          <a:bodyPr/>
          <a:lstStyle/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Consider this SQL statement</a:t>
            </a:r>
          </a:p>
          <a:p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r>
              <a:rPr lang="en-AU" sz="2000" dirty="0">
                <a:latin typeface="Calibri" pitchFamily="34" charset="0"/>
                <a:cs typeface="Calibri" pitchFamily="34" charset="0"/>
              </a:rPr>
              <a:t>The result set lists 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number of movies per year</a:t>
            </a:r>
          </a:p>
          <a:p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r>
              <a:rPr lang="en-AU" sz="2000" dirty="0">
                <a:latin typeface="Calibri" pitchFamily="34" charset="0"/>
                <a:cs typeface="Calibri" pitchFamily="34" charset="0"/>
              </a:rPr>
              <a:t>Many of the years have a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small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number of movies </a:t>
            </a:r>
          </a:p>
          <a:p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r>
              <a:rPr lang="en-AU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Suppose we are only interested in only years that have a total of </a:t>
            </a:r>
            <a:r>
              <a:rPr lang="en-AU" sz="2000" b="1" u="sng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5 or more movies</a:t>
            </a:r>
          </a:p>
          <a:p>
            <a:endParaRPr lang="en-AU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15121" name="Rectangle 17"/>
          <p:cNvSpPr>
            <a:spLocks noChangeArrowheads="1"/>
          </p:cNvSpPr>
          <p:nvPr/>
        </p:nvSpPr>
        <p:spPr bwMode="auto">
          <a:xfrm>
            <a:off x="3435350" y="1399015"/>
            <a:ext cx="36972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SELECT	</a:t>
            </a:r>
            <a:r>
              <a:rPr lang="en-AU" dirty="0" err="1">
                <a:solidFill>
                  <a:srgbClr val="FF0000"/>
                </a:solidFill>
                <a:latin typeface="Calibri"/>
              </a:rPr>
              <a:t>relyear</a:t>
            </a:r>
            <a:r>
              <a:rPr lang="en-AU" dirty="0">
                <a:solidFill>
                  <a:srgbClr val="0C64A7"/>
                </a:solidFill>
                <a:latin typeface="Calibri"/>
              </a:rPr>
              <a:t>, </a:t>
            </a:r>
            <a:r>
              <a:rPr lang="en-AU" dirty="0">
                <a:solidFill>
                  <a:srgbClr val="008000"/>
                </a:solidFill>
                <a:latin typeface="Calibri"/>
              </a:rPr>
              <a:t>COUNT(*)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FROM 	movie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/>
              </a:rPr>
              <a:t>GROUP BY 	</a:t>
            </a:r>
            <a:r>
              <a:rPr lang="en-AU" dirty="0" err="1">
                <a:solidFill>
                  <a:srgbClr val="FF0000"/>
                </a:solidFill>
                <a:latin typeface="Calibri"/>
              </a:rPr>
              <a:t>relyear</a:t>
            </a:r>
            <a:endParaRPr lang="en-AU" dirty="0">
              <a:solidFill>
                <a:srgbClr val="FF0000"/>
              </a:solidFill>
              <a:latin typeface="Calibri"/>
            </a:endParaRPr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976" y="304800"/>
            <a:ext cx="2378962" cy="611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2803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473" y="1"/>
            <a:ext cx="2634703" cy="677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0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 Group By </a:t>
            </a:r>
          </a:p>
        </p:txBody>
      </p:sp>
      <p:sp>
        <p:nvSpPr>
          <p:cNvPr id="830468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Calibri" pitchFamily="34" charset="0"/>
              <a:cs typeface="Calibri" pitchFamily="34" charset="0"/>
            </a:endParaRPr>
          </a:p>
          <a:p>
            <a:endParaRPr lang="en-AU" dirty="0">
              <a:latin typeface="Calibri" pitchFamily="34" charset="0"/>
              <a:cs typeface="Calibri" pitchFamily="34" charset="0"/>
            </a:endParaRPr>
          </a:p>
          <a:p>
            <a:endParaRPr lang="en-AU" dirty="0">
              <a:latin typeface="Calibri" pitchFamily="34" charset="0"/>
              <a:cs typeface="Calibri" pitchFamily="34" charset="0"/>
            </a:endParaRPr>
          </a:p>
          <a:p>
            <a:endParaRPr lang="en-AU" dirty="0">
              <a:latin typeface="Calibri" pitchFamily="34" charset="0"/>
              <a:cs typeface="Calibri" pitchFamily="34" charset="0"/>
            </a:endParaRPr>
          </a:p>
          <a:p>
            <a:endParaRPr lang="en-AU" dirty="0">
              <a:latin typeface="Calibri" pitchFamily="34" charset="0"/>
              <a:cs typeface="Calibri" pitchFamily="34" charset="0"/>
            </a:endParaRPr>
          </a:p>
          <a:p>
            <a:endParaRPr lang="en-AU" b="1" dirty="0">
              <a:solidFill>
                <a:schemeClr val="accent2"/>
              </a:solidFill>
              <a:latin typeface="Calibri" pitchFamily="34" charset="0"/>
              <a:cs typeface="Calibri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AU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	</a:t>
            </a:r>
            <a:endParaRPr lang="en-AU" b="1" dirty="0">
              <a:solidFill>
                <a:schemeClr val="accent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30466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30479" name="Rectangle 15"/>
          <p:cNvSpPr>
            <a:spLocks noChangeArrowheads="1"/>
          </p:cNvSpPr>
          <p:nvPr/>
        </p:nvSpPr>
        <p:spPr bwMode="auto">
          <a:xfrm>
            <a:off x="2218885" y="1164658"/>
            <a:ext cx="43275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57200">
              <a:tabLst>
                <a:tab pos="15240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	</a:t>
            </a:r>
            <a:r>
              <a:rPr lang="en-AU" sz="2000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sz="2000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COUNT(*) </a:t>
            </a:r>
          </a:p>
          <a:p>
            <a:pPr defTabSz="457200">
              <a:tabLst>
                <a:tab pos="15240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	movie </a:t>
            </a:r>
          </a:p>
          <a:p>
            <a:pPr defTabSz="457200">
              <a:tabLst>
                <a:tab pos="15240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GROUP BY 	</a:t>
            </a:r>
            <a:r>
              <a:rPr lang="en-AU" sz="2000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relyear</a:t>
            </a:r>
            <a:endParaRPr lang="en-AU" sz="200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Line 24"/>
          <p:cNvSpPr>
            <a:spLocks noChangeShapeType="1"/>
          </p:cNvSpPr>
          <p:nvPr/>
        </p:nvSpPr>
        <p:spPr bwMode="auto">
          <a:xfrm>
            <a:off x="7988299" y="85726"/>
            <a:ext cx="2384426" cy="31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>
            <a:off x="8015560" y="457201"/>
            <a:ext cx="2384426" cy="31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7988299" y="771526"/>
            <a:ext cx="2384426" cy="31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8034610" y="1184316"/>
            <a:ext cx="2384426" cy="31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>
            <a:off x="7988299" y="1527216"/>
            <a:ext cx="2384426" cy="31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29" name="Line 24"/>
          <p:cNvSpPr>
            <a:spLocks noChangeShapeType="1"/>
          </p:cNvSpPr>
          <p:nvPr/>
        </p:nvSpPr>
        <p:spPr bwMode="auto">
          <a:xfrm>
            <a:off x="8015560" y="1870116"/>
            <a:ext cx="2384426" cy="31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30" name="Line 24"/>
          <p:cNvSpPr>
            <a:spLocks noChangeShapeType="1"/>
          </p:cNvSpPr>
          <p:nvPr/>
        </p:nvSpPr>
        <p:spPr bwMode="auto">
          <a:xfrm>
            <a:off x="8015560" y="2285673"/>
            <a:ext cx="2384426" cy="31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31" name="Line 24"/>
          <p:cNvSpPr>
            <a:spLocks noChangeShapeType="1"/>
          </p:cNvSpPr>
          <p:nvPr/>
        </p:nvSpPr>
        <p:spPr bwMode="auto">
          <a:xfrm>
            <a:off x="8015560" y="2670450"/>
            <a:ext cx="2384426" cy="31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32" name="Line 24"/>
          <p:cNvSpPr>
            <a:spLocks noChangeShapeType="1"/>
          </p:cNvSpPr>
          <p:nvPr/>
        </p:nvSpPr>
        <p:spPr bwMode="auto">
          <a:xfrm>
            <a:off x="8015560" y="3386213"/>
            <a:ext cx="2384426" cy="31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33" name="Line 24"/>
          <p:cNvSpPr>
            <a:spLocks noChangeShapeType="1"/>
          </p:cNvSpPr>
          <p:nvPr/>
        </p:nvSpPr>
        <p:spPr bwMode="auto">
          <a:xfrm>
            <a:off x="8034610" y="3790951"/>
            <a:ext cx="2384426" cy="31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34" name="Line 24"/>
          <p:cNvSpPr>
            <a:spLocks noChangeShapeType="1"/>
          </p:cNvSpPr>
          <p:nvPr/>
        </p:nvSpPr>
        <p:spPr bwMode="auto">
          <a:xfrm>
            <a:off x="8034610" y="5248276"/>
            <a:ext cx="2384426" cy="314325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114551" y="2827611"/>
            <a:ext cx="571499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AU" sz="2000" dirty="0">
                <a:solidFill>
                  <a:srgbClr val="D1161E"/>
                </a:solidFill>
                <a:latin typeface="Calibri" pitchFamily="34" charset="0"/>
                <a:cs typeface="Calibri" pitchFamily="34" charset="0"/>
              </a:rPr>
              <a:t>So we only want to keep rows that have a</a:t>
            </a:r>
            <a:br>
              <a:rPr lang="en-AU" sz="2000" dirty="0">
                <a:solidFill>
                  <a:srgbClr val="D1161E"/>
                </a:solidFill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solidFill>
                  <a:srgbClr val="D1161E"/>
                </a:solidFill>
                <a:latin typeface="Calibri" pitchFamily="34" charset="0"/>
                <a:cs typeface="Calibri" pitchFamily="34" charset="0"/>
              </a:rPr>
              <a:t>COUNT(*) value &gt;= 5 in the result set </a:t>
            </a:r>
          </a:p>
          <a:p>
            <a:pPr defTabSz="457200"/>
            <a:endParaRPr lang="en-AU" sz="2000" dirty="0">
              <a:solidFill>
                <a:srgbClr val="D1161E"/>
              </a:solidFill>
              <a:latin typeface="Calibri" pitchFamily="34" charset="0"/>
              <a:cs typeface="Calibri" pitchFamily="34" charset="0"/>
            </a:endParaRPr>
          </a:p>
          <a:p>
            <a:pPr defTabSz="457200"/>
            <a:endParaRPr lang="en-AU" sz="2000" dirty="0">
              <a:solidFill>
                <a:srgbClr val="D1161E"/>
              </a:solidFill>
              <a:latin typeface="Calibri" pitchFamily="34" charset="0"/>
              <a:cs typeface="Calibri" pitchFamily="34" charset="0"/>
            </a:endParaRPr>
          </a:p>
          <a:p>
            <a:pPr defTabSz="457200"/>
            <a:r>
              <a:rPr lang="en-AU" sz="2000" dirty="0">
                <a:solidFill>
                  <a:srgbClr val="D1161E"/>
                </a:solidFill>
                <a:latin typeface="Calibri" pitchFamily="34" charset="0"/>
                <a:cs typeface="Calibri" pitchFamily="34" charset="0"/>
              </a:rPr>
              <a:t>We want to keep the rows that are not crossed out</a:t>
            </a:r>
          </a:p>
        </p:txBody>
      </p:sp>
    </p:spTree>
    <p:extLst>
      <p:ext uri="{BB962C8B-B14F-4D97-AF65-F5344CB8AC3E}">
        <p14:creationId xmlns:p14="http://schemas.microsoft.com/office/powerpoint/2010/main" val="2457720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 Group By Having</a:t>
            </a:r>
          </a:p>
        </p:txBody>
      </p:sp>
      <p:sp>
        <p:nvSpPr>
          <p:cNvPr id="816132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Having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clause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only keeps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a row in 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result set</a:t>
            </a:r>
            <a:br>
              <a:rPr lang="en-AU" sz="2000" dirty="0"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latin typeface="Calibri" pitchFamily="34" charset="0"/>
                <a:cs typeface="Calibri" pitchFamily="34" charset="0"/>
              </a:rPr>
              <a:t>if a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 value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that meets a specified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criteria</a:t>
            </a:r>
          </a:p>
          <a:p>
            <a:endParaRPr lang="en-AU" sz="2000" b="1" dirty="0">
              <a:latin typeface="Calibri" pitchFamily="34" charset="0"/>
              <a:cs typeface="Calibri" pitchFamily="34" charset="0"/>
            </a:endParaRPr>
          </a:p>
          <a:p>
            <a:r>
              <a:rPr lang="en-AU" sz="2000" b="1" dirty="0">
                <a:latin typeface="Calibri" pitchFamily="34" charset="0"/>
                <a:cs typeface="Calibri" pitchFamily="34" charset="0"/>
              </a:rPr>
              <a:t>Usage:</a:t>
            </a:r>
          </a:p>
          <a:p>
            <a:pPr marL="681038" lvl="1" indent="-200025"/>
            <a:r>
              <a:rPr lang="en-AU" sz="2000" dirty="0">
                <a:latin typeface="Calibri" pitchFamily="34" charset="0"/>
                <a:cs typeface="Calibri" pitchFamily="34" charset="0"/>
              </a:rPr>
              <a:t>Copy the aggregate expression </a:t>
            </a:r>
            <a:br>
              <a:rPr lang="en-AU" sz="2000" dirty="0"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latin typeface="Calibri" pitchFamily="34" charset="0"/>
                <a:cs typeface="Calibri" pitchFamily="34" charset="0"/>
              </a:rPr>
              <a:t>in the Select clause and place it in the </a:t>
            </a:r>
            <a:br>
              <a:rPr lang="en-AU" sz="2000" dirty="0"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latin typeface="Calibri" pitchFamily="34" charset="0"/>
                <a:cs typeface="Calibri" pitchFamily="34" charset="0"/>
              </a:rPr>
              <a:t>Having clause</a:t>
            </a:r>
          </a:p>
          <a:p>
            <a:pPr marL="1082675" lvl="2" indent="-195263"/>
            <a:r>
              <a:rPr lang="en-AU" sz="2000" b="1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Count(*)</a:t>
            </a:r>
            <a:r>
              <a:rPr lang="en-AU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  </a:t>
            </a:r>
          </a:p>
          <a:p>
            <a:pPr marL="1082675" lvl="2" indent="-195263"/>
            <a:endParaRPr lang="en-AU" dirty="0">
              <a:solidFill>
                <a:srgbClr val="008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16130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816143" name="Rectangle 15"/>
          <p:cNvSpPr>
            <a:spLocks noChangeArrowheads="1"/>
          </p:cNvSpPr>
          <p:nvPr/>
        </p:nvSpPr>
        <p:spPr bwMode="auto">
          <a:xfrm>
            <a:off x="2997200" y="4321191"/>
            <a:ext cx="446087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57200">
              <a:tabLst>
                <a:tab pos="15240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	</a:t>
            </a:r>
            <a:r>
              <a:rPr lang="en-AU" sz="2000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,</a:t>
            </a:r>
            <a:r>
              <a:rPr lang="en-AU" sz="2000" dirty="0">
                <a:solidFill>
                  <a:srgbClr val="D1161E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AU" sz="2000" dirty="0">
                <a:solidFill>
                  <a:srgbClr val="009900"/>
                </a:solidFill>
                <a:latin typeface="Calibri" pitchFamily="34" charset="0"/>
                <a:cs typeface="Calibri" pitchFamily="34" charset="0"/>
              </a:rPr>
              <a:t>COUNT(*) </a:t>
            </a:r>
          </a:p>
          <a:p>
            <a:pPr defTabSz="457200">
              <a:tabLst>
                <a:tab pos="15240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	movie </a:t>
            </a:r>
          </a:p>
          <a:p>
            <a:pPr defTabSz="457200">
              <a:tabLst>
                <a:tab pos="1524000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GROUP BY 	</a:t>
            </a:r>
            <a:r>
              <a:rPr lang="en-AU" sz="2000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relyear</a:t>
            </a:r>
            <a:endParaRPr lang="en-AU" sz="2000" dirty="0">
              <a:solidFill>
                <a:srgbClr val="0033CC"/>
              </a:solidFill>
              <a:latin typeface="Calibri" pitchFamily="34" charset="0"/>
              <a:cs typeface="Calibri" pitchFamily="34" charset="0"/>
            </a:endParaRPr>
          </a:p>
          <a:p>
            <a:pPr defTabSz="457200">
              <a:tabLst>
                <a:tab pos="1524000" algn="l"/>
              </a:tabLst>
            </a:pPr>
            <a:r>
              <a:rPr lang="en-AU" sz="2000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HAVING	COUNT(*) &gt;= 5</a:t>
            </a:r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61"/>
          <a:stretch/>
        </p:blipFill>
        <p:spPr bwMode="auto">
          <a:xfrm>
            <a:off x="8110537" y="2100264"/>
            <a:ext cx="2431648" cy="2919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5974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 Group By Having Example 2</a:t>
            </a:r>
          </a:p>
        </p:txBody>
      </p:sp>
      <p:sp>
        <p:nvSpPr>
          <p:cNvPr id="788484" name="Rectangle 4"/>
          <p:cNvSpPr>
            <a:spLocks noGrp="1" noChangeArrowheads="1"/>
          </p:cNvSpPr>
          <p:nvPr>
            <p:ph idx="1"/>
          </p:nvPr>
        </p:nvSpPr>
        <p:spPr>
          <a:xfrm>
            <a:off x="1981200" y="1087656"/>
            <a:ext cx="8010626" cy="5263269"/>
          </a:xfrm>
          <a:noFill/>
          <a:ln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This example has a </a:t>
            </a:r>
            <a:r>
              <a:rPr lang="en-AU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WHERE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clause</a:t>
            </a:r>
          </a:p>
          <a:p>
            <a:pPr marL="381000" indent="-381000"/>
            <a:r>
              <a:rPr lang="en-AU" sz="2000" dirty="0">
                <a:latin typeface="Calibri" pitchFamily="34" charset="0"/>
                <a:cs typeface="Calibri" pitchFamily="34" charset="0"/>
              </a:rPr>
              <a:t>Only movie rows in years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1990-93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are selected</a:t>
            </a:r>
          </a:p>
          <a:p>
            <a:pPr marL="381000" indent="-381000"/>
            <a:r>
              <a:rPr lang="en-AU" sz="2000" dirty="0">
                <a:latin typeface="Calibri" pitchFamily="34" charset="0"/>
                <a:cs typeface="Calibri" pitchFamily="34" charset="0"/>
              </a:rPr>
              <a:t>The result has 10 rows.</a:t>
            </a: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sz="20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WHERE</a:t>
            </a:r>
            <a:r>
              <a:rPr lang="en-AU" sz="20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 clause specifies which </a:t>
            </a:r>
            <a:br>
              <a:rPr lang="en-AU" sz="20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rows from the MOVIE table will be</a:t>
            </a:r>
            <a:br>
              <a:rPr lang="en-AU" sz="20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used to build the result set</a:t>
            </a:r>
          </a:p>
          <a:p>
            <a:pPr marL="381000" indent="-381000"/>
            <a:endParaRPr lang="en-AU" dirty="0"/>
          </a:p>
        </p:txBody>
      </p:sp>
      <p:sp>
        <p:nvSpPr>
          <p:cNvPr id="788482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88485" name="Rectangle 5"/>
          <p:cNvSpPr>
            <a:spLocks noChangeArrowheads="1"/>
          </p:cNvSpPr>
          <p:nvPr/>
        </p:nvSpPr>
        <p:spPr bwMode="auto">
          <a:xfrm>
            <a:off x="2133278" y="2466860"/>
            <a:ext cx="6924676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457200" indent="-457200" defTabSz="457200"/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		</a:t>
            </a:r>
            <a:r>
              <a:rPr lang="en-AU" sz="2000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rating_code</a:t>
            </a: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, COUNT(*) </a:t>
            </a:r>
          </a:p>
          <a:p>
            <a:pPr marL="457200" indent="-457200" defTabSz="457200"/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		movie</a:t>
            </a:r>
          </a:p>
          <a:p>
            <a:pPr marL="457200" indent="-457200" defTabSz="457200"/>
            <a:r>
              <a:rPr lang="en-AU" sz="2000" dirty="0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WHERE 		</a:t>
            </a:r>
            <a:r>
              <a:rPr lang="en-AU" sz="2000" dirty="0" err="1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sz="2000" dirty="0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 &gt;= 1990 </a:t>
            </a:r>
          </a:p>
          <a:p>
            <a:pPr marL="457200" indent="-457200" defTabSz="457200"/>
            <a:r>
              <a:rPr lang="en-AU" sz="2000" dirty="0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AND                </a:t>
            </a:r>
            <a:r>
              <a:rPr lang="en-AU" sz="2000" dirty="0" err="1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sz="2000" dirty="0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 &lt;= 1993</a:t>
            </a:r>
          </a:p>
          <a:p>
            <a:pPr marL="457200" indent="-457200" defTabSz="457200"/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GROUP BY  	</a:t>
            </a:r>
            <a:r>
              <a:rPr lang="en-AU" sz="2000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rating_code</a:t>
            </a:r>
            <a:endParaRPr lang="en-AU" sz="2000" dirty="0">
              <a:solidFill>
                <a:srgbClr val="0033CC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defTabSz="457200"/>
            <a:r>
              <a:rPr lang="en-AU" sz="2000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ORDER BY	1, 2</a:t>
            </a:r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5" y="3724274"/>
            <a:ext cx="3199758" cy="296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9726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2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884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 Group By Having Example 2</a:t>
            </a:r>
          </a:p>
        </p:txBody>
      </p:sp>
      <p:sp>
        <p:nvSpPr>
          <p:cNvPr id="788484" name="Rectangle 4"/>
          <p:cNvSpPr>
            <a:spLocks noGrp="1" noChangeArrowheads="1"/>
          </p:cNvSpPr>
          <p:nvPr>
            <p:ph idx="1"/>
          </p:nvPr>
        </p:nvSpPr>
        <p:spPr>
          <a:xfrm>
            <a:off x="1981200" y="1087655"/>
            <a:ext cx="8010626" cy="5471087"/>
          </a:xfrm>
          <a:noFill/>
          <a:ln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This example now has a </a:t>
            </a:r>
            <a:r>
              <a:rPr lang="en-AU" sz="2000" b="1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HAVING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clause</a:t>
            </a:r>
          </a:p>
          <a:p>
            <a:pPr marL="381000" indent="-381000"/>
            <a:r>
              <a:rPr lang="en-AU" sz="20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AU" sz="2000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having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clause evaluates rows in 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result set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using the Aggregate Count(*) expression</a:t>
            </a: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solidFill>
                <a:schemeClr val="accent2"/>
              </a:solidFill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The </a:t>
            </a:r>
            <a:r>
              <a:rPr lang="en-AU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HAVING</a:t>
            </a:r>
            <a:r>
              <a:rPr lang="en-AU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 clause specifies which </a:t>
            </a:r>
            <a:br>
              <a:rPr lang="en-AU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</a:br>
            <a:r>
              <a:rPr lang="en-AU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rows from the result set are kept</a:t>
            </a:r>
            <a:br>
              <a:rPr lang="en-AU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</a:br>
            <a:r>
              <a:rPr lang="en-AU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or eliminated.</a:t>
            </a:r>
          </a:p>
          <a:p>
            <a:pPr marL="381000" indent="-381000"/>
            <a:endParaRPr lang="en-AU" dirty="0"/>
          </a:p>
        </p:txBody>
      </p:sp>
      <p:sp>
        <p:nvSpPr>
          <p:cNvPr id="788485" name="Rectangle 5"/>
          <p:cNvSpPr>
            <a:spLocks noChangeArrowheads="1"/>
          </p:cNvSpPr>
          <p:nvPr/>
        </p:nvSpPr>
        <p:spPr bwMode="auto">
          <a:xfrm>
            <a:off x="2133278" y="2420691"/>
            <a:ext cx="692467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457200" indent="-457200" defTabSz="457200"/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		</a:t>
            </a:r>
            <a:r>
              <a:rPr lang="en-AU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rating_code</a:t>
            </a: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, COUNT(*) </a:t>
            </a:r>
          </a:p>
          <a:p>
            <a:pPr marL="457200" indent="-457200" defTabSz="457200"/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		movie</a:t>
            </a:r>
          </a:p>
          <a:p>
            <a:pPr marL="457200" indent="-457200" defTabSz="457200"/>
            <a:r>
              <a:rPr lang="en-AU" dirty="0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WHERE 		</a:t>
            </a:r>
            <a:r>
              <a:rPr lang="en-AU" dirty="0" err="1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dirty="0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 &gt;= 1990 </a:t>
            </a:r>
          </a:p>
          <a:p>
            <a:pPr marL="457200" indent="-457200" defTabSz="457200"/>
            <a:r>
              <a:rPr lang="en-AU" dirty="0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AND                  </a:t>
            </a:r>
            <a:r>
              <a:rPr lang="en-AU" dirty="0" err="1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dirty="0">
                <a:solidFill>
                  <a:srgbClr val="6C008D">
                    <a:lumMod val="60000"/>
                    <a:lumOff val="40000"/>
                  </a:srgbClr>
                </a:solidFill>
                <a:latin typeface="Calibri" pitchFamily="34" charset="0"/>
                <a:cs typeface="Calibri" pitchFamily="34" charset="0"/>
              </a:rPr>
              <a:t> &lt;= 1993</a:t>
            </a:r>
          </a:p>
          <a:p>
            <a:pPr marL="457200" indent="-457200" defTabSz="457200"/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GROUP BY  	</a:t>
            </a:r>
            <a:r>
              <a:rPr lang="en-AU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rating_code</a:t>
            </a:r>
            <a:endParaRPr lang="en-AU" dirty="0">
              <a:solidFill>
                <a:srgbClr val="0033CC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defTabSz="457200"/>
            <a:r>
              <a:rPr lang="en-AU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HAVING           COUNT(*) &gt; 1</a:t>
            </a:r>
          </a:p>
          <a:p>
            <a:pPr marL="457200" indent="-457200" defTabSz="457200"/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ORDER BY	1, 2</a:t>
            </a:r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5" y="3724274"/>
            <a:ext cx="3199758" cy="296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Line 24"/>
          <p:cNvSpPr>
            <a:spLocks noChangeShapeType="1"/>
          </p:cNvSpPr>
          <p:nvPr/>
        </p:nvSpPr>
        <p:spPr bwMode="auto">
          <a:xfrm>
            <a:off x="7529785" y="4029076"/>
            <a:ext cx="2919140" cy="157162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8" name="Line 24"/>
          <p:cNvSpPr>
            <a:spLocks noChangeShapeType="1"/>
          </p:cNvSpPr>
          <p:nvPr/>
        </p:nvSpPr>
        <p:spPr bwMode="auto">
          <a:xfrm>
            <a:off x="7529785" y="5081588"/>
            <a:ext cx="2919140" cy="157162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9" name="Line 24"/>
          <p:cNvSpPr>
            <a:spLocks noChangeShapeType="1"/>
          </p:cNvSpPr>
          <p:nvPr/>
        </p:nvSpPr>
        <p:spPr bwMode="auto">
          <a:xfrm>
            <a:off x="7529785" y="5343526"/>
            <a:ext cx="2919140" cy="157162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  <p:sp>
        <p:nvSpPr>
          <p:cNvPr id="10" name="Line 24"/>
          <p:cNvSpPr>
            <a:spLocks noChangeShapeType="1"/>
          </p:cNvSpPr>
          <p:nvPr/>
        </p:nvSpPr>
        <p:spPr bwMode="auto">
          <a:xfrm>
            <a:off x="7529785" y="5591176"/>
            <a:ext cx="2919140" cy="157162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defTabSz="457200"/>
            <a:endParaRPr lang="en-AU">
              <a:solidFill>
                <a:srgbClr val="000000">
                  <a:lumMod val="85000"/>
                  <a:lumOff val="1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3798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56" name="Rectangle 1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99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sz="4000" dirty="0"/>
              <a:t>SQL Typical Error Message</a:t>
            </a:r>
          </a:p>
        </p:txBody>
      </p:sp>
      <p:sp>
        <p:nvSpPr>
          <p:cNvPr id="799748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381000" indent="-381000"/>
            <a:r>
              <a:rPr lang="en-AU" sz="2000" dirty="0">
                <a:latin typeface="Calibri" pitchFamily="34" charset="0"/>
                <a:cs typeface="Calibri" pitchFamily="34" charset="0"/>
              </a:rPr>
              <a:t>Most Aggregate expressions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must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have a matching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Group By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clause</a:t>
            </a:r>
          </a:p>
          <a:p>
            <a:pPr marL="381000" indent="-381000"/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sz="2000" dirty="0">
                <a:latin typeface="Calibri" pitchFamily="34" charset="0"/>
                <a:cs typeface="Calibri" pitchFamily="34" charset="0"/>
              </a:rPr>
              <a:t>Students often encounter the </a:t>
            </a:r>
            <a:br>
              <a:rPr lang="en-AU" sz="2000" dirty="0"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latin typeface="Calibri" pitchFamily="34" charset="0"/>
                <a:cs typeface="Calibri" pitchFamily="34" charset="0"/>
              </a:rPr>
              <a:t>"</a:t>
            </a:r>
            <a:r>
              <a:rPr lang="en-AU" sz="2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Not a single-group group function error" </a:t>
            </a:r>
            <a:br>
              <a:rPr lang="en-AU" sz="2000" dirty="0"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latin typeface="Calibri" pitchFamily="34" charset="0"/>
                <a:cs typeface="Calibri" pitchFamily="34" charset="0"/>
              </a:rPr>
              <a:t>when using aggregate expressions </a:t>
            </a:r>
          </a:p>
          <a:p>
            <a:pPr marL="381000" indent="-381000"/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sz="2000" dirty="0">
                <a:latin typeface="Calibri" pitchFamily="34" charset="0"/>
                <a:cs typeface="Calibri" pitchFamily="34" charset="0"/>
              </a:rPr>
              <a:t>If you see this error, check if you are using non-aggregate and aggregate expressions correctly</a:t>
            </a:r>
          </a:p>
          <a:p>
            <a:pPr marL="381000" indent="-381000"/>
            <a:endParaRPr lang="en-AU" dirty="0"/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1739900" y="5182583"/>
            <a:ext cx="43275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	</a:t>
            </a:r>
            <a:r>
              <a:rPr lang="en-AU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COUNT(*)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	movie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GROUP BY 	</a:t>
            </a:r>
            <a:r>
              <a:rPr lang="en-AU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relyear</a:t>
            </a:r>
            <a:endParaRPr lang="en-AU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06126" y="5505749"/>
            <a:ext cx="7889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6000" dirty="0">
                <a:solidFill>
                  <a:srgbClr val="009900"/>
                </a:solidFill>
                <a:latin typeface="Calibri"/>
                <a:sym typeface="Wingdings"/>
              </a:rPr>
              <a:t></a:t>
            </a:r>
            <a:endParaRPr lang="en-AU" sz="6000" dirty="0">
              <a:solidFill>
                <a:srgbClr val="009900"/>
              </a:solidFill>
              <a:latin typeface="Calibri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6156324" y="5228749"/>
            <a:ext cx="4327525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SELECT	</a:t>
            </a:r>
            <a:r>
              <a:rPr lang="en-AU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relyear</a:t>
            </a:r>
            <a:r>
              <a:rPr lang="en-AU" dirty="0">
                <a:solidFill>
                  <a:srgbClr val="0C64A7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AU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COUNT(*) </a:t>
            </a:r>
          </a:p>
          <a:p>
            <a:pPr defTabSz="457200">
              <a:tabLst>
                <a:tab pos="1524000" algn="l"/>
              </a:tabLst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FROM 	movie </a:t>
            </a:r>
          </a:p>
          <a:p>
            <a:pPr defTabSz="457200">
              <a:tabLst>
                <a:tab pos="1524000" algn="l"/>
              </a:tabLst>
            </a:pPr>
            <a:endParaRPr lang="en-AU" dirty="0">
              <a:solidFill>
                <a:srgbClr val="0033CC"/>
              </a:solidFill>
              <a:latin typeface="Calibri" pitchFamily="34" charset="0"/>
              <a:cs typeface="Calibri" pitchFamily="34" charset="0"/>
            </a:endParaRPr>
          </a:p>
          <a:p>
            <a:pPr defTabSz="457200">
              <a:tabLst>
                <a:tab pos="1524000" algn="l"/>
              </a:tabLst>
            </a:pPr>
            <a:endParaRPr lang="en-AU" dirty="0">
              <a:solidFill>
                <a:srgbClr val="0033CC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0909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0" y="5838826"/>
            <a:ext cx="42576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9391651" y="5423327"/>
            <a:ext cx="575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4800" dirty="0">
                <a:solidFill>
                  <a:srgbClr val="FF0000"/>
                </a:solidFill>
                <a:latin typeface="Calibri"/>
                <a:sym typeface="Wingdings"/>
              </a:rPr>
              <a:t></a:t>
            </a:r>
            <a:endParaRPr lang="en-AU" sz="4800" dirty="0">
              <a:solidFill>
                <a:srgbClr val="FF0000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5848350" y="4629150"/>
            <a:ext cx="0" cy="2057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868179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56" name="Rectangle 12"/>
          <p:cNvSpPr>
            <a:spLocks noChangeArrowheads="1"/>
          </p:cNvSpPr>
          <p:nvPr/>
        </p:nvSpPr>
        <p:spPr bwMode="auto">
          <a:xfrm>
            <a:off x="8934450" y="5736623"/>
            <a:ext cx="1733550" cy="10437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99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sz="4000" dirty="0"/>
              <a:t>MS Access and SQL</a:t>
            </a:r>
          </a:p>
        </p:txBody>
      </p:sp>
      <p:sp>
        <p:nvSpPr>
          <p:cNvPr id="799748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You can use SQL in MS Access</a:t>
            </a: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Steps:</a:t>
            </a:r>
          </a:p>
          <a:p>
            <a:pPr marL="757238" lvl="1" indent="-457200">
              <a:buFont typeface="+mj-lt"/>
              <a:buAutoNum type="arabicPeriod"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Create a Query by Design</a:t>
            </a:r>
          </a:p>
          <a:p>
            <a:pPr marL="757238" lvl="1" indent="-457200">
              <a:buFont typeface="+mj-lt"/>
              <a:buAutoNum type="arabicPeriod"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Do not add any table to the query</a:t>
            </a:r>
          </a:p>
          <a:p>
            <a:pPr marL="757238" lvl="1" indent="-457200">
              <a:buFont typeface="+mj-lt"/>
              <a:buAutoNum type="arabicPeriod"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Click the SQL icon at the bottom right of the design window</a:t>
            </a:r>
          </a:p>
          <a:p>
            <a:pPr marL="757238" lvl="1" indent="-457200">
              <a:buFont typeface="+mj-lt"/>
              <a:buAutoNum type="arabicPeriod"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Type your SQL</a:t>
            </a:r>
          </a:p>
          <a:p>
            <a:pPr marL="757238" lvl="1" indent="-457200">
              <a:buFont typeface="+mj-lt"/>
              <a:buAutoNum type="arabicPeriod"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Click the View icon on the menu bar to view the Query By Design window / run the query </a:t>
            </a:r>
          </a:p>
          <a:p>
            <a:pPr marL="757238" lvl="1" indent="-457200">
              <a:buFont typeface="+mj-lt"/>
              <a:buAutoNum type="arabicPeriod"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969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56" name="Rectangle 12"/>
          <p:cNvSpPr>
            <a:spLocks noChangeArrowheads="1"/>
          </p:cNvSpPr>
          <p:nvPr/>
        </p:nvSpPr>
        <p:spPr bwMode="auto">
          <a:xfrm>
            <a:off x="8934450" y="5736623"/>
            <a:ext cx="1733550" cy="10437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99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sz="4000" dirty="0"/>
              <a:t>MS Access and SQL</a:t>
            </a:r>
          </a:p>
        </p:txBody>
      </p:sp>
      <p:sp>
        <p:nvSpPr>
          <p:cNvPr id="799748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You can use SQL in MS Access</a:t>
            </a:r>
          </a:p>
          <a:p>
            <a:pPr marL="757238" lvl="1" indent="-457200">
              <a:buFont typeface="+mj-lt"/>
              <a:buAutoNum type="arabicPeriod"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226" y="1661863"/>
            <a:ext cx="5829300" cy="334327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387" y="3665958"/>
            <a:ext cx="3027065" cy="2592558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737050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56" name="Rectangle 12"/>
          <p:cNvSpPr>
            <a:spLocks noChangeArrowheads="1"/>
          </p:cNvSpPr>
          <p:nvPr/>
        </p:nvSpPr>
        <p:spPr bwMode="auto">
          <a:xfrm>
            <a:off x="8934450" y="5736623"/>
            <a:ext cx="1733550" cy="10437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99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sz="4000" dirty="0"/>
              <a:t>MS Access and SQL</a:t>
            </a:r>
          </a:p>
        </p:txBody>
      </p:sp>
      <p:sp>
        <p:nvSpPr>
          <p:cNvPr id="799748" name="Rectangle 4"/>
          <p:cNvSpPr>
            <a:spLocks noGrp="1" noChangeArrowheads="1"/>
          </p:cNvSpPr>
          <p:nvPr>
            <p:ph idx="1"/>
          </p:nvPr>
        </p:nvSpPr>
        <p:spPr>
          <a:xfrm>
            <a:off x="1981200" y="1087655"/>
            <a:ext cx="8010626" cy="4249116"/>
          </a:xfrm>
          <a:noFill/>
          <a:ln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A more complex example:</a:t>
            </a: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If you run the query and then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return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to 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SQL window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, the query will often be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reformatted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– usually with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more brackets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added to the code.</a:t>
            </a: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757238" lvl="1" indent="-457200">
              <a:buFont typeface="+mj-lt"/>
              <a:buAutoNum type="arabicPeriod"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1504507"/>
            <a:ext cx="4150659" cy="26693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856" y="5138625"/>
            <a:ext cx="8070289" cy="14944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644" y="823158"/>
            <a:ext cx="5434906" cy="218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03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56" name="Rectangle 12"/>
          <p:cNvSpPr>
            <a:spLocks noChangeArrowheads="1"/>
          </p:cNvSpPr>
          <p:nvPr/>
        </p:nvSpPr>
        <p:spPr bwMode="auto">
          <a:xfrm>
            <a:off x="8934450" y="5736623"/>
            <a:ext cx="1733550" cy="10437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99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sz="4000" dirty="0"/>
              <a:t>MS Access and SQL</a:t>
            </a:r>
          </a:p>
        </p:txBody>
      </p:sp>
      <p:sp>
        <p:nvSpPr>
          <p:cNvPr id="799748" name="Rectangle 4"/>
          <p:cNvSpPr>
            <a:spLocks noGrp="1" noChangeArrowheads="1"/>
          </p:cNvSpPr>
          <p:nvPr>
            <p:ph idx="1"/>
          </p:nvPr>
        </p:nvSpPr>
        <p:spPr>
          <a:xfrm>
            <a:off x="1981200" y="1087655"/>
            <a:ext cx="8010626" cy="5321458"/>
          </a:xfrm>
          <a:noFill/>
          <a:ln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An example with inner joins:</a:t>
            </a: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When you use INNER JOINS in you Access SQL, you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must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enclose the table names and join clauses with brackets.</a:t>
            </a:r>
          </a:p>
          <a:p>
            <a:pPr lvl="2"/>
            <a:r>
              <a:rPr lang="en-AU" sz="1600" dirty="0">
                <a:latin typeface="Calibri" pitchFamily="34" charset="0"/>
                <a:cs typeface="Calibri" pitchFamily="34" charset="0"/>
              </a:rPr>
              <a:t>Always true, if two inner joins are used</a:t>
            </a:r>
          </a:p>
          <a:p>
            <a:pPr lvl="2"/>
            <a:r>
              <a:rPr lang="en-AU" sz="1600" dirty="0">
                <a:latin typeface="Calibri" pitchFamily="34" charset="0"/>
                <a:cs typeface="Calibri" pitchFamily="34" charset="0"/>
              </a:rPr>
              <a:t>Sometimes true is one inner join is used.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</a:t>
            </a: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757238" lvl="1" indent="-457200">
              <a:buFont typeface="+mj-lt"/>
              <a:buAutoNum type="arabicPeriod"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513" y="920132"/>
            <a:ext cx="4569424" cy="17715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225" y="1713607"/>
            <a:ext cx="3754288" cy="275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54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56" name="Rectangle 12"/>
          <p:cNvSpPr>
            <a:spLocks noChangeArrowheads="1"/>
          </p:cNvSpPr>
          <p:nvPr/>
        </p:nvSpPr>
        <p:spPr bwMode="auto">
          <a:xfrm>
            <a:off x="8934450" y="5736623"/>
            <a:ext cx="1733550" cy="10437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799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sz="4000" dirty="0"/>
              <a:t>MS Access and SQL</a:t>
            </a:r>
          </a:p>
        </p:txBody>
      </p:sp>
      <p:sp>
        <p:nvSpPr>
          <p:cNvPr id="799748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Example with four tables and three inner joins:</a:t>
            </a: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SELECT </a:t>
            </a:r>
            <a:r>
              <a:rPr lang="en-AU" sz="2000" dirty="0" err="1">
                <a:latin typeface="Calibri" pitchFamily="34" charset="0"/>
                <a:cs typeface="Calibri" pitchFamily="34" charset="0"/>
              </a:rPr>
              <a:t>E.enrolmentid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dirty="0" err="1">
                <a:latin typeface="Calibri" pitchFamily="34" charset="0"/>
                <a:cs typeface="Calibri" pitchFamily="34" charset="0"/>
              </a:rPr>
              <a:t>S.firstname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dirty="0" err="1">
                <a:latin typeface="Calibri" pitchFamily="34" charset="0"/>
                <a:cs typeface="Calibri" pitchFamily="34" charset="0"/>
              </a:rPr>
              <a:t>S.lastname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dirty="0" err="1">
                <a:latin typeface="Calibri" pitchFamily="34" charset="0"/>
                <a:cs typeface="Calibri" pitchFamily="34" charset="0"/>
              </a:rPr>
              <a:t>C.coursename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dirty="0" err="1">
                <a:latin typeface="Calibri" pitchFamily="34" charset="0"/>
                <a:cs typeface="Calibri" pitchFamily="34" charset="0"/>
              </a:rPr>
              <a:t>O.orgname</a:t>
            </a: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FROM 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(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sz="2000" b="1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( </a:t>
            </a:r>
            <a:r>
              <a:rPr lang="en-AU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enrolment E </a:t>
            </a:r>
          </a:p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                   INNER JOIN student S           </a:t>
            </a:r>
            <a:r>
              <a:rPr lang="en-AU" sz="1100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ON </a:t>
            </a:r>
            <a:r>
              <a:rPr lang="en-AU" sz="2000" dirty="0" err="1">
                <a:latin typeface="Calibri" pitchFamily="34" charset="0"/>
                <a:cs typeface="Calibri" pitchFamily="34" charset="0"/>
              </a:rPr>
              <a:t>E.studentid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= </a:t>
            </a:r>
            <a:r>
              <a:rPr lang="en-AU" sz="2000" dirty="0" err="1">
                <a:latin typeface="Calibri" pitchFamily="34" charset="0"/>
                <a:cs typeface="Calibri" pitchFamily="34" charset="0"/>
              </a:rPr>
              <a:t>S.studentid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)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                   INNER JOIN course C             ON </a:t>
            </a:r>
            <a:r>
              <a:rPr lang="en-AU" sz="2000" dirty="0" err="1">
                <a:latin typeface="Calibri" pitchFamily="34" charset="0"/>
                <a:cs typeface="Calibri" pitchFamily="34" charset="0"/>
              </a:rPr>
              <a:t>E.courseid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= </a:t>
            </a:r>
            <a:r>
              <a:rPr lang="en-AU" sz="2000" dirty="0" err="1">
                <a:latin typeface="Calibri" pitchFamily="34" charset="0"/>
                <a:cs typeface="Calibri" pitchFamily="34" charset="0"/>
              </a:rPr>
              <a:t>C.courseid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sz="2000" b="1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)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                   INNER JOIN organization O  ON </a:t>
            </a:r>
            <a:r>
              <a:rPr lang="en-AU" sz="2000" dirty="0" err="1">
                <a:latin typeface="Calibri" pitchFamily="34" charset="0"/>
                <a:cs typeface="Calibri" pitchFamily="34" charset="0"/>
              </a:rPr>
              <a:t>S.orgid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= </a:t>
            </a:r>
            <a:r>
              <a:rPr lang="en-AU" sz="2000" dirty="0" err="1">
                <a:latin typeface="Calibri" pitchFamily="34" charset="0"/>
                <a:cs typeface="Calibri" pitchFamily="34" charset="0"/>
              </a:rPr>
              <a:t>O.orgid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0" indent="0">
              <a:buNone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757238" lvl="1" indent="-457200">
              <a:buFont typeface="+mj-lt"/>
              <a:buAutoNum type="arabicPeriod"/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/>
          </a:p>
        </p:txBody>
      </p:sp>
      <p:graphicFrame>
        <p:nvGraphicFramePr>
          <p:cNvPr id="9" name="Object 39"/>
          <p:cNvGraphicFramePr>
            <a:graphicFrameLocks noChangeAspect="1"/>
          </p:cNvGraphicFramePr>
          <p:nvPr/>
        </p:nvGraphicFramePr>
        <p:xfrm>
          <a:off x="2936603" y="4502089"/>
          <a:ext cx="6099821" cy="1598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0720496" imgH="7588620" progId="Visio.Drawing.11">
                  <p:embed/>
                </p:oleObj>
              </mc:Choice>
              <mc:Fallback>
                <p:oleObj name="Visio" r:id="rId2" imgW="10720496" imgH="7588620" progId="Visio.Drawing.11">
                  <p:embed/>
                  <p:pic>
                    <p:nvPicPr>
                      <p:cNvPr id="9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l="9567" t="37598" r="7547" b="37064"/>
                      <a:stretch>
                        <a:fillRect/>
                      </a:stretch>
                    </p:blipFill>
                    <p:spPr bwMode="auto">
                      <a:xfrm>
                        <a:off x="2936603" y="4502089"/>
                        <a:ext cx="6099821" cy="1598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7480678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1182</Words>
  <Application>Microsoft Office PowerPoint</Application>
  <PresentationFormat>Widescreen</PresentationFormat>
  <Paragraphs>247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Narrow</vt:lpstr>
      <vt:lpstr>Calibri</vt:lpstr>
      <vt:lpstr>Open Sans</vt:lpstr>
      <vt:lpstr>Wingdings</vt:lpstr>
      <vt:lpstr>Swinburne_Tiles</vt:lpstr>
      <vt:lpstr>Visio</vt:lpstr>
      <vt:lpstr>INF10025  Data Management and Analytics Lecture 7 – Part 3</vt:lpstr>
      <vt:lpstr>SQL Group By</vt:lpstr>
      <vt:lpstr>SQL Group By</vt:lpstr>
      <vt:lpstr>SQL Group By</vt:lpstr>
      <vt:lpstr>SQL Group By</vt:lpstr>
      <vt:lpstr>SQL Group By</vt:lpstr>
      <vt:lpstr>SQL Group By</vt:lpstr>
      <vt:lpstr>SQL Group By with multiple    non-aggregate columns</vt:lpstr>
      <vt:lpstr>SQL Group By </vt:lpstr>
      <vt:lpstr>SQL Group By </vt:lpstr>
      <vt:lpstr>SQL Group By Having</vt:lpstr>
      <vt:lpstr>SQL Group By Having Example 2</vt:lpstr>
      <vt:lpstr>SQL Group By Having Example 2</vt:lpstr>
      <vt:lpstr>SQL Typical Error Message</vt:lpstr>
      <vt:lpstr>MS Access and SQL</vt:lpstr>
      <vt:lpstr>MS Access and SQL</vt:lpstr>
      <vt:lpstr>MS Access and SQL</vt:lpstr>
      <vt:lpstr>MS Access and SQL</vt:lpstr>
      <vt:lpstr>MS Access and 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 Data Management and Analytics Lecture 7 – Part 3</dc:title>
  <dc:creator>Robert Tipping</dc:creator>
  <cp:lastModifiedBy>Robert Tipping</cp:lastModifiedBy>
  <cp:revision>1</cp:revision>
  <dcterms:created xsi:type="dcterms:W3CDTF">2023-03-31T03:43:26Z</dcterms:created>
  <dcterms:modified xsi:type="dcterms:W3CDTF">2023-04-13T06:41:32Z</dcterms:modified>
</cp:coreProperties>
</file>