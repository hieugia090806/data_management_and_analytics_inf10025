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</p:sldMasterIdLst>
  <p:notesMasterIdLst>
    <p:notesMasterId r:id="rId25"/>
  </p:notesMasterIdLst>
  <p:sldIdLst>
    <p:sldId id="441" r:id="rId3"/>
    <p:sldId id="470" r:id="rId4"/>
    <p:sldId id="471" r:id="rId5"/>
    <p:sldId id="472" r:id="rId6"/>
    <p:sldId id="473" r:id="rId7"/>
    <p:sldId id="474" r:id="rId8"/>
    <p:sldId id="475" r:id="rId9"/>
    <p:sldId id="476" r:id="rId10"/>
    <p:sldId id="477" r:id="rId11"/>
    <p:sldId id="478" r:id="rId12"/>
    <p:sldId id="479" r:id="rId13"/>
    <p:sldId id="480" r:id="rId14"/>
    <p:sldId id="481" r:id="rId15"/>
    <p:sldId id="482" r:id="rId16"/>
    <p:sldId id="483" r:id="rId17"/>
    <p:sldId id="484" r:id="rId18"/>
    <p:sldId id="485" r:id="rId19"/>
    <p:sldId id="486" r:id="rId20"/>
    <p:sldId id="487" r:id="rId21"/>
    <p:sldId id="488" r:id="rId22"/>
    <p:sldId id="489" r:id="rId23"/>
    <p:sldId id="49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80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8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480AB2-A51D-4064-A3D3-73F234193C0F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F6E434-4813-4385-97F1-A4E854C40F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4194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8549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199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2065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012846"/>
            <a:ext cx="10363200" cy="1470025"/>
          </a:xfrm>
        </p:spPr>
        <p:txBody>
          <a:bodyPr anchor="b" anchorCtr="0">
            <a:normAutofit/>
          </a:bodyPr>
          <a:lstStyle>
            <a:lvl1pPr algn="ctr">
              <a:defRPr sz="4800" b="0">
                <a:latin typeface="Open Sans"/>
                <a:cs typeface="Open Sans"/>
              </a:defRPr>
            </a:lvl1pPr>
          </a:lstStyle>
          <a:p>
            <a:r>
              <a:rPr lang="en-AU" dirty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604008"/>
            <a:ext cx="8534400" cy="1752600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Open Sans"/>
                <a:cs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Subtitle</a:t>
            </a:r>
            <a:endParaRPr lang="en-US" dirty="0"/>
          </a:p>
        </p:txBody>
      </p:sp>
      <p:pic>
        <p:nvPicPr>
          <p:cNvPr id="8" name="Picture 7" descr="Swinburne Logo 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82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05878"/>
            <a:ext cx="10972800" cy="1058779"/>
          </a:xfrm>
        </p:spPr>
        <p:txBody>
          <a:bodyPr anchor="t">
            <a:normAutofit/>
          </a:bodyPr>
          <a:lstStyle>
            <a:lvl1pPr>
              <a:defRPr sz="44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87655"/>
            <a:ext cx="10680834" cy="3917482"/>
          </a:xfrm>
          <a:noFill/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971678-C506-499C-9A15-7287DAC05B98}"/>
              </a:ext>
            </a:extLst>
          </p:cNvPr>
          <p:cNvSpPr txBox="1"/>
          <p:nvPr userDrawn="1"/>
        </p:nvSpPr>
        <p:spPr>
          <a:xfrm>
            <a:off x="381012" y="6382790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F3ACB68-B3AC-4511-9780-21946B043BB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27388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44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44703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3844703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KNOWING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092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1344616"/>
            <a:ext cx="9487359" cy="1465609"/>
          </a:xfrm>
        </p:spPr>
        <p:txBody>
          <a:bodyPr anchor="b" anchorCtr="0">
            <a:normAutofit/>
          </a:bodyPr>
          <a:lstStyle>
            <a:lvl1pPr>
              <a:defRPr sz="4000" b="0">
                <a:latin typeface="Open Sans"/>
                <a:cs typeface="Open Sans"/>
              </a:defRPr>
            </a:lvl1pPr>
          </a:lstStyle>
          <a:p>
            <a:r>
              <a:rPr lang="en-AU" dirty="0"/>
              <a:t>Heading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2927805"/>
            <a:ext cx="9487359" cy="2563256"/>
          </a:xfrm>
          <a:noFill/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Sub-heading</a:t>
            </a:r>
          </a:p>
        </p:txBody>
      </p:sp>
      <p:pic>
        <p:nvPicPr>
          <p:cNvPr id="6" name="Picture 5" descr="Swinburne Logo 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  <p:pic>
        <p:nvPicPr>
          <p:cNvPr id="7" name="Picture 6" descr="KNOWING Logo RGB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070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7806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623" y="1229710"/>
            <a:ext cx="11488755" cy="2280252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 baseline="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6552" y="3649334"/>
            <a:ext cx="9144000" cy="2388859"/>
          </a:xfrm>
          <a:noFill/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552010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 dirty="0"/>
              <a:t>CRICOS</a:t>
            </a:r>
            <a:r>
              <a:rPr lang="en-AU" sz="800" baseline="0" dirty="0"/>
              <a:t> 00111D</a:t>
            </a:r>
          </a:p>
          <a:p>
            <a:pPr algn="r"/>
            <a:r>
              <a:rPr lang="en-AU" sz="800" baseline="0" dirty="0"/>
              <a:t>TOID 3059</a:t>
            </a:r>
            <a:endParaRPr lang="en-AU" sz="800" dirty="0"/>
          </a:p>
        </p:txBody>
      </p:sp>
      <p:pic>
        <p:nvPicPr>
          <p:cNvPr id="9" name="Picture 8" descr="Swinburne Logo RG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10" y="0"/>
            <a:ext cx="545168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026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12" y="1509387"/>
            <a:ext cx="11503576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2126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1509387"/>
            <a:ext cx="5675588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509387"/>
            <a:ext cx="5675589" cy="453668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32064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2333299"/>
            <a:ext cx="5675588" cy="372854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2333299"/>
            <a:ext cx="5675589" cy="372854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3"/>
          </p:nvPr>
        </p:nvSpPr>
        <p:spPr>
          <a:xfrm>
            <a:off x="344211" y="1509387"/>
            <a:ext cx="5675588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0" i="0" u="none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4"/>
          </p:nvPr>
        </p:nvSpPr>
        <p:spPr>
          <a:xfrm>
            <a:off x="6172199" y="1509387"/>
            <a:ext cx="56755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0" u="none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2609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8437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177647"/>
            <a:ext cx="11490877" cy="207005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4212" y="3335008"/>
            <a:ext cx="11490877" cy="2687421"/>
          </a:xfrm>
          <a:noFill/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pic>
        <p:nvPicPr>
          <p:cNvPr id="8" name="Picture 7" descr="Swinburne Logo RG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10" y="0"/>
            <a:ext cx="545168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075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75268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697" y="5486400"/>
            <a:ext cx="4665555" cy="12432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" y="0"/>
            <a:ext cx="12192000" cy="5358064"/>
          </a:xfrm>
          <a:noFill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4946" y="5358064"/>
            <a:ext cx="7127055" cy="14999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2234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9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9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/>
              <a:t>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7639"/>
            <a:ext cx="10972800" cy="3991833"/>
          </a:xfrm>
          <a:prstGeom prst="rect">
            <a:avLst/>
          </a:prstGeom>
          <a:solidFill>
            <a:srgbClr val="F6F6F6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KNOWING Logo RGB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215" y="5866083"/>
            <a:ext cx="1219200" cy="9144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206367" y="6710785"/>
            <a:ext cx="95497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2379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400" b="0" kern="1200">
          <a:solidFill>
            <a:schemeClr val="tx1"/>
          </a:solidFill>
          <a:latin typeface="Open Sans"/>
          <a:ea typeface="+mj-ea"/>
          <a:cs typeface="Open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alphaModFix amt="9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vert="horz" lIns="91440" tIns="108000" rIns="91440" bIns="10800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4212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9465A-8857-432B-B8F7-DAABA936F9E1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79992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u="none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000" indent="-342000" algn="l" defTabSz="914400" rtl="0" eaLnBrk="1" latinLnBrk="0" hangingPunct="1">
        <a:lnSpc>
          <a:spcPct val="100000"/>
        </a:lnSpc>
        <a:spcBef>
          <a:spcPts val="768"/>
        </a:spcBef>
        <a:buFontTx/>
        <a:buBlip>
          <a:blip r:embed="rId11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600" indent="-284400" algn="l" defTabSz="914400" rtl="0" eaLnBrk="1" latinLnBrk="0" hangingPunct="1">
        <a:lnSpc>
          <a:spcPct val="100000"/>
        </a:lnSpc>
        <a:spcBef>
          <a:spcPts val="672"/>
        </a:spcBef>
        <a:buFont typeface="Open Sans" panose="020B0606030504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400" rtl="0" eaLnBrk="1" latinLnBrk="0" hangingPunct="1">
        <a:lnSpc>
          <a:spcPct val="100000"/>
        </a:lnSpc>
        <a:spcBef>
          <a:spcPts val="57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oleObject" Target="../embeddings/oleObject4.bin"/><Relationship Id="rId4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INF10025</a:t>
            </a:r>
            <a:br>
              <a:rPr lang="en-AU" dirty="0"/>
            </a:br>
            <a:r>
              <a:rPr lang="en-AU" dirty="0"/>
              <a:t>Data Management and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b="1"/>
              <a:t>Week 5 – Part 2</a:t>
            </a:r>
            <a:endParaRPr lang="en-AU" b="1" dirty="0"/>
          </a:p>
          <a:p>
            <a:endParaRPr lang="en-AU" b="1" dirty="0"/>
          </a:p>
          <a:p>
            <a:r>
              <a:rPr lang="en-AU" dirty="0"/>
              <a:t>Entity Relationship Modelling and Diagrams</a:t>
            </a:r>
          </a:p>
          <a:p>
            <a:r>
              <a:rPr lang="en-AU" dirty="0"/>
              <a:t>SQL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AF3DD-A242-4BD9-B60A-0883CE78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6898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74638"/>
            <a:ext cx="10972800" cy="784905"/>
          </a:xfrm>
        </p:spPr>
        <p:txBody>
          <a:bodyPr/>
          <a:lstStyle/>
          <a:p>
            <a:r>
              <a:rPr lang="en-AU" dirty="0">
                <a:solidFill>
                  <a:srgbClr val="FF0000"/>
                </a:solidFill>
              </a:rPr>
              <a:t>ERD to Relation Model Conversion</a:t>
            </a:r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888999"/>
            <a:ext cx="10668000" cy="5480269"/>
          </a:xfrm>
          <a:noFill/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endParaRPr lang="en-AU" sz="2400" dirty="0">
              <a:latin typeface="Open Sans"/>
              <a:cs typeface="Open Sans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AU" sz="2400" dirty="0">
                <a:latin typeface="Open Sans"/>
                <a:cs typeface="Open Sans"/>
              </a:rPr>
              <a:t>What next?</a:t>
            </a:r>
          </a:p>
          <a:p>
            <a:pPr marL="0" lvl="1" indent="0">
              <a:lnSpc>
                <a:spcPct val="80000"/>
              </a:lnSpc>
              <a:buNone/>
            </a:pPr>
            <a:r>
              <a:rPr lang="en-AU" sz="2400" dirty="0">
                <a:latin typeface="Open Sans"/>
                <a:cs typeface="Open Sans"/>
              </a:rPr>
              <a:t>Soon, we will begin to translate the ERD into a Relational Schema</a:t>
            </a:r>
          </a:p>
          <a:p>
            <a:pPr marL="0" indent="0">
              <a:lnSpc>
                <a:spcPct val="80000"/>
              </a:lnSpc>
              <a:buNone/>
            </a:pPr>
            <a:endParaRPr lang="en-AU" sz="2400" dirty="0">
              <a:latin typeface="Open Sans"/>
              <a:cs typeface="Open Sans"/>
            </a:endParaRPr>
          </a:p>
          <a:p>
            <a:pPr marL="0" lvl="1" indent="0">
              <a:lnSpc>
                <a:spcPct val="80000"/>
              </a:lnSpc>
              <a:buNone/>
            </a:pPr>
            <a:r>
              <a:rPr lang="en-AU" sz="2400" dirty="0">
                <a:latin typeface="Open Sans"/>
                <a:cs typeface="Open Sans"/>
              </a:rPr>
              <a:t>E.g.      This: </a:t>
            </a:r>
          </a:p>
          <a:p>
            <a:pPr marL="0" indent="0">
              <a:lnSpc>
                <a:spcPct val="80000"/>
              </a:lnSpc>
              <a:buNone/>
            </a:pPr>
            <a:endParaRPr lang="en-AU" sz="2400" dirty="0">
              <a:latin typeface="Open Sans"/>
              <a:cs typeface="Open Sans"/>
            </a:endParaRPr>
          </a:p>
          <a:p>
            <a:pPr marL="0" indent="0">
              <a:lnSpc>
                <a:spcPct val="80000"/>
              </a:lnSpc>
              <a:buNone/>
            </a:pPr>
            <a:endParaRPr lang="en-AU" sz="2400" dirty="0">
              <a:latin typeface="Open Sans"/>
              <a:cs typeface="Open Sans"/>
            </a:endParaRPr>
          </a:p>
          <a:p>
            <a:pPr marL="0" indent="0">
              <a:lnSpc>
                <a:spcPct val="80000"/>
              </a:lnSpc>
              <a:buNone/>
            </a:pPr>
            <a:endParaRPr lang="en-AU" sz="2400" dirty="0">
              <a:latin typeface="Open Sans"/>
              <a:cs typeface="Open Sans"/>
            </a:endParaRPr>
          </a:p>
          <a:p>
            <a:pPr marL="0" indent="0">
              <a:lnSpc>
                <a:spcPct val="80000"/>
              </a:lnSpc>
              <a:buNone/>
            </a:pPr>
            <a:endParaRPr lang="en-AU" sz="2400" dirty="0">
              <a:latin typeface="Open Sans"/>
              <a:cs typeface="Open Sans"/>
            </a:endParaRPr>
          </a:p>
          <a:p>
            <a:pPr marL="0" indent="0">
              <a:lnSpc>
                <a:spcPct val="80000"/>
              </a:lnSpc>
              <a:buNone/>
            </a:pPr>
            <a:endParaRPr lang="en-AU" sz="2400" dirty="0">
              <a:latin typeface="Open Sans"/>
              <a:cs typeface="Open Sans"/>
            </a:endParaRPr>
          </a:p>
          <a:p>
            <a:pPr marL="0" indent="0">
              <a:lnSpc>
                <a:spcPct val="80000"/>
              </a:lnSpc>
              <a:buNone/>
            </a:pPr>
            <a:endParaRPr lang="en-AU" sz="2400" dirty="0">
              <a:latin typeface="Open Sans"/>
              <a:cs typeface="Open Sans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AU" sz="2400" dirty="0">
                <a:latin typeface="Open Sans"/>
                <a:cs typeface="Open Sans"/>
              </a:rPr>
              <a:t>			will be translated to:     	LECTURER (LectId, LecName, Age)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AU" sz="2400" dirty="0">
                <a:latin typeface="Open Sans"/>
                <a:cs typeface="Open Sans"/>
              </a:rPr>
              <a:t>											Primary Key (LecId)</a:t>
            </a:r>
          </a:p>
          <a:p>
            <a:pPr marL="0" indent="0">
              <a:lnSpc>
                <a:spcPct val="80000"/>
              </a:lnSpc>
              <a:buNone/>
            </a:pPr>
            <a:endParaRPr lang="en-AU" sz="2400" dirty="0">
              <a:latin typeface="Open Sans"/>
              <a:cs typeface="Open Sans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AU" sz="2400" dirty="0">
                <a:latin typeface="Open Sans"/>
                <a:cs typeface="Open Sans"/>
              </a:rPr>
              <a:t>                                    or simply:      	LECTURER (</a:t>
            </a:r>
            <a:r>
              <a:rPr lang="en-AU" sz="2400" u="sng" dirty="0">
                <a:latin typeface="Open Sans"/>
                <a:cs typeface="Open Sans"/>
              </a:rPr>
              <a:t>LectId</a:t>
            </a:r>
            <a:r>
              <a:rPr lang="en-AU" sz="2400" dirty="0">
                <a:latin typeface="Open Sans"/>
                <a:cs typeface="Open Sans"/>
              </a:rPr>
              <a:t>, LecName, Age)</a:t>
            </a:r>
            <a:endParaRPr lang="en-US" sz="2400" dirty="0">
              <a:latin typeface="Open Sans"/>
              <a:cs typeface="Open Sans"/>
            </a:endParaRPr>
          </a:p>
        </p:txBody>
      </p:sp>
      <p:graphicFrame>
        <p:nvGraphicFramePr>
          <p:cNvPr id="23557" name="Object 6"/>
          <p:cNvGraphicFramePr>
            <a:graphicFrameLocks noChangeAspect="1"/>
          </p:cNvGraphicFramePr>
          <p:nvPr/>
        </p:nvGraphicFramePr>
        <p:xfrm>
          <a:off x="3216828" y="2023303"/>
          <a:ext cx="2092325" cy="239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31595" imgH="3660526" progId="Visio.Drawing.11">
                  <p:embed/>
                </p:oleObj>
              </mc:Choice>
              <mc:Fallback>
                <p:oleObj name="Visio" r:id="rId2" imgW="8331595" imgH="3660526" progId="Visio.Drawing.11">
                  <p:embed/>
                  <p:pic>
                    <p:nvPicPr>
                      <p:cNvPr id="2355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0158" t="10538" r="38290" b="38278"/>
                      <a:stretch>
                        <a:fillRect/>
                      </a:stretch>
                    </p:blipFill>
                    <p:spPr bwMode="auto">
                      <a:xfrm>
                        <a:off x="3216828" y="2023303"/>
                        <a:ext cx="2092325" cy="2395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9240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Relational Data Model (RDM)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0229" y="800100"/>
            <a:ext cx="11205027" cy="5341938"/>
          </a:xfrm>
        </p:spPr>
        <p:txBody>
          <a:bodyPr>
            <a:noAutofit/>
          </a:bodyPr>
          <a:lstStyle/>
          <a:p>
            <a:pPr marL="0" lvl="1" indent="0">
              <a:buNone/>
            </a:pPr>
            <a:r>
              <a:rPr lang="en-AU" dirty="0"/>
              <a:t>Developed by E. F. Codd in 1970. </a:t>
            </a:r>
          </a:p>
          <a:p>
            <a:pPr marL="742950" lvl="2" indent="-342900">
              <a:buFont typeface="Arial" panose="020B0604020202020204" pitchFamily="34" charset="0"/>
              <a:buChar char="•"/>
            </a:pPr>
            <a:r>
              <a:rPr lang="en-AU" dirty="0"/>
              <a:t>Data represented in the form of 2 dimensional tables.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AU" sz="11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Each two-dimensional table is called a relation. </a:t>
            </a:r>
          </a:p>
          <a:p>
            <a:pPr marL="742950" lvl="2" indent="-342900">
              <a:buFont typeface="Arial" panose="020B0604020202020204" pitchFamily="34" charset="0"/>
              <a:buChar char="•"/>
            </a:pPr>
            <a:r>
              <a:rPr lang="en-AU" dirty="0"/>
              <a:t>A relation has the following properties: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AU" sz="1050" dirty="0"/>
          </a:p>
          <a:p>
            <a:pPr marL="1257300" lvl="4" indent="-342900">
              <a:buFont typeface="Wingdings" panose="05000000000000000000" pitchFamily="2" charset="2"/>
              <a:buChar char="ü"/>
            </a:pPr>
            <a:r>
              <a:rPr lang="en-AU" dirty="0"/>
              <a:t>A set of uniquely named columns called Attributes.</a:t>
            </a:r>
          </a:p>
          <a:p>
            <a:pPr marL="1257300" lvl="4" indent="-342900">
              <a:buFont typeface="Wingdings" panose="05000000000000000000" pitchFamily="2" charset="2"/>
              <a:buChar char="ü"/>
            </a:pPr>
            <a:r>
              <a:rPr lang="en-AU" dirty="0"/>
              <a:t>A list of unnamed/unnumbered rows called Rows (or Tuples)</a:t>
            </a:r>
          </a:p>
          <a:p>
            <a:pPr marL="1257300" lvl="4" indent="-342900">
              <a:buFont typeface="Wingdings" panose="05000000000000000000" pitchFamily="2" charset="2"/>
              <a:buChar char="ü"/>
            </a:pPr>
            <a:r>
              <a:rPr lang="en-AU" dirty="0"/>
              <a:t>The order of the rows is irrelevant. </a:t>
            </a:r>
          </a:p>
          <a:p>
            <a:pPr marL="1257300" lvl="4" indent="-342900">
              <a:buFont typeface="Wingdings" panose="05000000000000000000" pitchFamily="2" charset="2"/>
              <a:buChar char="ü"/>
            </a:pPr>
            <a:r>
              <a:rPr lang="en-AU" dirty="0"/>
              <a:t>If rows are shuffled, the relation still has the same meaning.</a:t>
            </a:r>
          </a:p>
          <a:p>
            <a:pPr marL="800100" lvl="3" indent="-342900">
              <a:buFont typeface="Arial" panose="020B0604020202020204" pitchFamily="34" charset="0"/>
              <a:buChar char="•"/>
            </a:pPr>
            <a:endParaRPr lang="en-AU" sz="1100" dirty="0"/>
          </a:p>
          <a:p>
            <a:pPr marL="742950" lvl="2" indent="-342900">
              <a:buFont typeface="Arial" panose="020B0604020202020204" pitchFamily="34" charset="0"/>
              <a:buChar char="•"/>
            </a:pPr>
            <a:r>
              <a:rPr lang="en-AU" dirty="0"/>
              <a:t>A Row consists of a sequence of cells</a:t>
            </a:r>
          </a:p>
          <a:p>
            <a:pPr marL="800100" lvl="3" indent="-342900">
              <a:buFont typeface="Arial" panose="020B0604020202020204" pitchFamily="34" charset="0"/>
              <a:buChar char="•"/>
            </a:pPr>
            <a:r>
              <a:rPr lang="en-AU" dirty="0"/>
              <a:t>One cell for each Attribute</a:t>
            </a:r>
          </a:p>
          <a:p>
            <a:pPr marL="800100" lvl="3" indent="-342900">
              <a:buFont typeface="Arial" panose="020B0604020202020204" pitchFamily="34" charset="0"/>
              <a:buChar char="•"/>
            </a:pPr>
            <a:r>
              <a:rPr lang="en-AU" dirty="0"/>
              <a:t>Only one value per cell is allowed.</a:t>
            </a:r>
          </a:p>
          <a:p>
            <a:pPr marL="742950" lvl="2" indent="-342900">
              <a:buFont typeface="Arial" panose="020B0604020202020204" pitchFamily="34" charset="0"/>
              <a:buChar char="•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782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dirty="0"/>
              <a:t>Conversion to Relational Schema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087655"/>
            <a:ext cx="10680834" cy="5951774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AU" dirty="0"/>
              <a:t>During </a:t>
            </a:r>
            <a:r>
              <a:rPr lang="en-AU" b="1" dirty="0"/>
              <a:t>conversion</a:t>
            </a:r>
            <a:r>
              <a:rPr lang="en-AU" dirty="0"/>
              <a:t> from an ERD to a Relational Model:</a:t>
            </a:r>
          </a:p>
          <a:p>
            <a:r>
              <a:rPr lang="en-AU" dirty="0"/>
              <a:t>The </a:t>
            </a:r>
            <a:r>
              <a:rPr lang="en-AU" b="1" dirty="0"/>
              <a:t>name</a:t>
            </a:r>
            <a:r>
              <a:rPr lang="en-AU" dirty="0"/>
              <a:t> of each </a:t>
            </a:r>
            <a:r>
              <a:rPr lang="en-AU" b="1" dirty="0"/>
              <a:t>entity</a:t>
            </a:r>
            <a:r>
              <a:rPr lang="en-AU" dirty="0"/>
              <a:t> becomes the name of the </a:t>
            </a:r>
            <a:r>
              <a:rPr lang="en-AU" b="1" dirty="0"/>
              <a:t>relation</a:t>
            </a:r>
          </a:p>
          <a:p>
            <a:r>
              <a:rPr lang="en-AU" dirty="0"/>
              <a:t>The </a:t>
            </a:r>
            <a:r>
              <a:rPr lang="en-AU" b="1" dirty="0"/>
              <a:t>name</a:t>
            </a:r>
            <a:r>
              <a:rPr lang="en-AU" dirty="0"/>
              <a:t> of each </a:t>
            </a:r>
            <a:r>
              <a:rPr lang="en-AU" b="1" dirty="0"/>
              <a:t>attribute</a:t>
            </a:r>
            <a:r>
              <a:rPr lang="en-AU" dirty="0"/>
              <a:t> becomes an </a:t>
            </a:r>
            <a:r>
              <a:rPr lang="en-AU" b="1" dirty="0"/>
              <a:t>attribute</a:t>
            </a:r>
            <a:r>
              <a:rPr lang="en-AU" dirty="0"/>
              <a:t> name </a:t>
            </a:r>
            <a:br>
              <a:rPr lang="en-AU" dirty="0"/>
            </a:br>
            <a:r>
              <a:rPr lang="en-AU" dirty="0"/>
              <a:t>in the relation</a:t>
            </a:r>
          </a:p>
          <a:p>
            <a:r>
              <a:rPr lang="en-AU" dirty="0"/>
              <a:t>Underline the Primary Key value</a:t>
            </a:r>
          </a:p>
          <a:p>
            <a:endParaRPr lang="en-AU" sz="1400" dirty="0"/>
          </a:p>
          <a:p>
            <a:pPr>
              <a:buFont typeface="Wingdings" pitchFamily="2" charset="2"/>
              <a:buNone/>
            </a:pPr>
            <a:r>
              <a:rPr lang="en-AU" b="1" dirty="0">
                <a:solidFill>
                  <a:srgbClr val="0000FF"/>
                </a:solidFill>
              </a:rPr>
              <a:t>LECTURER (</a:t>
            </a:r>
            <a:r>
              <a:rPr lang="en-AU" b="1" u="sng" dirty="0">
                <a:solidFill>
                  <a:srgbClr val="0000FF"/>
                </a:solidFill>
              </a:rPr>
              <a:t>LecId</a:t>
            </a:r>
            <a:r>
              <a:rPr lang="en-AU" b="1" dirty="0">
                <a:solidFill>
                  <a:srgbClr val="0000FF"/>
                </a:solidFill>
              </a:rPr>
              <a:t>, LecName, Age)</a:t>
            </a:r>
          </a:p>
          <a:p>
            <a:pPr lvl="1"/>
            <a:r>
              <a:rPr lang="en-AU" i="1" dirty="0"/>
              <a:t>The above is called a </a:t>
            </a:r>
            <a:r>
              <a:rPr lang="en-AU" b="1" i="1" dirty="0"/>
              <a:t>Relational Schema</a:t>
            </a:r>
          </a:p>
          <a:p>
            <a:pPr lvl="1"/>
            <a:r>
              <a:rPr lang="en-AU" i="1" dirty="0"/>
              <a:t>The </a:t>
            </a:r>
            <a:r>
              <a:rPr lang="en-AU" b="1" i="1" dirty="0"/>
              <a:t>Lecturer</a:t>
            </a:r>
            <a:r>
              <a:rPr lang="en-AU" i="1" dirty="0"/>
              <a:t> </a:t>
            </a:r>
            <a:r>
              <a:rPr lang="en-AU" b="1" i="1" dirty="0"/>
              <a:t>Entity</a:t>
            </a:r>
            <a:r>
              <a:rPr lang="en-AU" i="1" dirty="0"/>
              <a:t> becomes a </a:t>
            </a:r>
            <a:r>
              <a:rPr lang="en-AU" b="1" i="1" dirty="0"/>
              <a:t>Lecturer</a:t>
            </a:r>
            <a:r>
              <a:rPr lang="en-AU" i="1" dirty="0"/>
              <a:t> </a:t>
            </a:r>
            <a:r>
              <a:rPr lang="en-AU" b="1" i="1" dirty="0"/>
              <a:t>Relation</a:t>
            </a:r>
          </a:p>
          <a:p>
            <a:pPr lvl="2"/>
            <a:r>
              <a:rPr lang="en-AU" i="1" dirty="0"/>
              <a:t>The name of the </a:t>
            </a:r>
            <a:r>
              <a:rPr lang="en-AU" b="1" i="1" dirty="0"/>
              <a:t>relation</a:t>
            </a:r>
            <a:r>
              <a:rPr lang="en-AU" i="1" dirty="0"/>
              <a:t> is normally written in </a:t>
            </a:r>
            <a:r>
              <a:rPr lang="en-AU" b="1" i="1" dirty="0"/>
              <a:t>uppercase.</a:t>
            </a:r>
          </a:p>
          <a:p>
            <a:pPr lvl="2"/>
            <a:r>
              <a:rPr lang="en-AU" i="1" dirty="0"/>
              <a:t>The names of </a:t>
            </a:r>
            <a:r>
              <a:rPr lang="en-AU" b="1" i="1" dirty="0"/>
              <a:t>attributes</a:t>
            </a:r>
            <a:r>
              <a:rPr lang="en-AU" i="1" dirty="0"/>
              <a:t> are normally written in </a:t>
            </a:r>
            <a:r>
              <a:rPr lang="en-AU" b="1" i="1" dirty="0"/>
              <a:t>lowercase</a:t>
            </a:r>
            <a:r>
              <a:rPr lang="en-AU" i="1" dirty="0"/>
              <a:t> or capitalized lower case.</a:t>
            </a:r>
          </a:p>
        </p:txBody>
      </p:sp>
      <p:graphicFrame>
        <p:nvGraphicFramePr>
          <p:cNvPr id="26629" name="Object 50"/>
          <p:cNvGraphicFramePr>
            <a:graphicFrameLocks noChangeAspect="1"/>
          </p:cNvGraphicFramePr>
          <p:nvPr/>
        </p:nvGraphicFramePr>
        <p:xfrm>
          <a:off x="9835244" y="1555297"/>
          <a:ext cx="2092325" cy="239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31595" imgH="3660526" progId="Visio.Drawing.11">
                  <p:embed/>
                </p:oleObj>
              </mc:Choice>
              <mc:Fallback>
                <p:oleObj name="Visio" r:id="rId2" imgW="8331595" imgH="3660526" progId="Visio.Drawing.11">
                  <p:embed/>
                  <p:pic>
                    <p:nvPicPr>
                      <p:cNvPr id="26629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0158" t="10538" r="38290" b="38278"/>
                      <a:stretch>
                        <a:fillRect/>
                      </a:stretch>
                    </p:blipFill>
                    <p:spPr bwMode="auto">
                      <a:xfrm>
                        <a:off x="9835244" y="1555297"/>
                        <a:ext cx="2092325" cy="2395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8587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Nulls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08051"/>
            <a:ext cx="10972800" cy="3408363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AU" dirty="0"/>
              <a:t>A </a:t>
            </a:r>
            <a:r>
              <a:rPr lang="en-AU" b="1" dirty="0"/>
              <a:t>Null</a:t>
            </a:r>
            <a:r>
              <a:rPr lang="en-AU" dirty="0"/>
              <a:t> is a special value that may be assigned to an attribute when </a:t>
            </a:r>
            <a:br>
              <a:rPr lang="en-AU" dirty="0"/>
            </a:br>
            <a:r>
              <a:rPr lang="en-AU" dirty="0"/>
              <a:t>a value is </a:t>
            </a:r>
            <a:r>
              <a:rPr lang="en-AU" b="1" dirty="0"/>
              <a:t>unknown</a:t>
            </a:r>
            <a:r>
              <a:rPr lang="en-AU" dirty="0"/>
              <a:t> or </a:t>
            </a:r>
            <a:r>
              <a:rPr lang="en-AU" b="1" dirty="0"/>
              <a:t>inapplicable</a:t>
            </a:r>
            <a:r>
              <a:rPr lang="en-AU" dirty="0"/>
              <a:t>.</a:t>
            </a:r>
          </a:p>
          <a:p>
            <a:pPr marL="0" indent="0">
              <a:lnSpc>
                <a:spcPct val="80000"/>
              </a:lnSpc>
              <a:buNone/>
            </a:pPr>
            <a:endParaRPr lang="en-AU" dirty="0"/>
          </a:p>
          <a:p>
            <a:pPr marL="0" indent="0">
              <a:lnSpc>
                <a:spcPct val="80000"/>
              </a:lnSpc>
              <a:buNone/>
            </a:pPr>
            <a:r>
              <a:rPr lang="en-AU" dirty="0"/>
              <a:t>A Null is </a:t>
            </a:r>
            <a:r>
              <a:rPr lang="en-AU" b="1" dirty="0"/>
              <a:t>not</a:t>
            </a:r>
            <a:r>
              <a:rPr lang="en-AU" dirty="0"/>
              <a:t> a 'space'. It is </a:t>
            </a:r>
            <a:r>
              <a:rPr lang="en-AU" b="1" dirty="0"/>
              <a:t>not</a:t>
            </a:r>
            <a:r>
              <a:rPr lang="en-AU" dirty="0"/>
              <a:t> a zero. It has a value of </a:t>
            </a:r>
            <a:r>
              <a:rPr lang="en-AU" b="1" dirty="0"/>
              <a:t>NULL</a:t>
            </a:r>
            <a:r>
              <a:rPr lang="en-AU" dirty="0"/>
              <a:t>.</a:t>
            </a:r>
          </a:p>
          <a:p>
            <a:pPr marL="0" indent="0">
              <a:lnSpc>
                <a:spcPct val="80000"/>
              </a:lnSpc>
              <a:buNone/>
            </a:pPr>
            <a:endParaRPr lang="en-AU" dirty="0"/>
          </a:p>
          <a:p>
            <a:pPr marL="0" indent="0">
              <a:lnSpc>
                <a:spcPct val="80000"/>
              </a:lnSpc>
              <a:buNone/>
            </a:pPr>
            <a:endParaRPr lang="en-AU" dirty="0"/>
          </a:p>
          <a:p>
            <a:pPr marL="0" indent="0">
              <a:lnSpc>
                <a:spcPct val="80000"/>
              </a:lnSpc>
              <a:buNone/>
            </a:pPr>
            <a:endParaRPr lang="en-AU" dirty="0"/>
          </a:p>
          <a:p>
            <a:pPr marL="0" indent="0">
              <a:lnSpc>
                <a:spcPct val="80000"/>
              </a:lnSpc>
              <a:buNone/>
            </a:pPr>
            <a:endParaRPr lang="en-AU" dirty="0"/>
          </a:p>
          <a:p>
            <a:pPr marL="0" lvl="2" indent="0">
              <a:lnSpc>
                <a:spcPct val="80000"/>
              </a:lnSpc>
              <a:buNone/>
            </a:pPr>
            <a:r>
              <a:rPr lang="en-AU" dirty="0"/>
              <a:t>Q. Is Karen younger than John?</a:t>
            </a:r>
          </a:p>
          <a:p>
            <a:pPr marL="0" lvl="2" indent="0">
              <a:lnSpc>
                <a:spcPct val="80000"/>
              </a:lnSpc>
              <a:buNone/>
            </a:pPr>
            <a:r>
              <a:rPr lang="en-AU" dirty="0"/>
              <a:t>A. </a:t>
            </a:r>
            <a:r>
              <a:rPr lang="en-AU" b="1" dirty="0"/>
              <a:t>Unknown</a:t>
            </a:r>
            <a:r>
              <a:rPr lang="en-AU" dirty="0"/>
              <a:t>.   We do not know. It is </a:t>
            </a:r>
            <a:r>
              <a:rPr lang="en-AU" b="1" dirty="0"/>
              <a:t>neither</a:t>
            </a:r>
            <a:r>
              <a:rPr lang="en-AU" dirty="0"/>
              <a:t> True nor False.</a:t>
            </a:r>
          </a:p>
          <a:p>
            <a:pPr marL="0" indent="0">
              <a:lnSpc>
                <a:spcPct val="80000"/>
              </a:lnSpc>
              <a:buNone/>
            </a:pPr>
            <a:endParaRPr lang="en-AU" dirty="0"/>
          </a:p>
          <a:p>
            <a:pPr marL="0" indent="0">
              <a:lnSpc>
                <a:spcPct val="80000"/>
              </a:lnSpc>
              <a:buNone/>
            </a:pPr>
            <a:r>
              <a:rPr lang="en-AU" dirty="0"/>
              <a:t>Be </a:t>
            </a:r>
            <a:r>
              <a:rPr lang="en-AU" b="1" dirty="0"/>
              <a:t>careful</a:t>
            </a:r>
            <a:r>
              <a:rPr lang="en-AU" dirty="0"/>
              <a:t> with results from queries where NULLS may be found.</a:t>
            </a:r>
          </a:p>
          <a:p>
            <a:pPr marL="0" indent="0">
              <a:lnSpc>
                <a:spcPct val="80000"/>
              </a:lnSpc>
              <a:buNone/>
            </a:pPr>
            <a:endParaRPr lang="en-AU" dirty="0"/>
          </a:p>
          <a:p>
            <a:pPr marL="0" lvl="1" indent="0">
              <a:lnSpc>
                <a:spcPct val="80000"/>
              </a:lnSpc>
              <a:buNone/>
            </a:pPr>
            <a:r>
              <a:rPr lang="en-AU" dirty="0"/>
              <a:t>Task:   </a:t>
            </a:r>
            <a:r>
              <a:rPr lang="en-AU" b="1" dirty="0"/>
              <a:t>Select</a:t>
            </a:r>
            <a:r>
              <a:rPr lang="en-AU" dirty="0"/>
              <a:t> all lecturers older than Lecturer 207</a:t>
            </a:r>
          </a:p>
          <a:p>
            <a:pPr marL="0" lvl="1" indent="0">
              <a:lnSpc>
                <a:spcPct val="80000"/>
              </a:lnSpc>
              <a:buNone/>
            </a:pPr>
            <a:r>
              <a:rPr lang="en-AU" dirty="0"/>
              <a:t>            </a:t>
            </a:r>
            <a:r>
              <a:rPr lang="en-AU" b="1" dirty="0"/>
              <a:t>Would Karen Fry appear in that list?</a:t>
            </a:r>
          </a:p>
        </p:txBody>
      </p:sp>
      <p:graphicFrame>
        <p:nvGraphicFramePr>
          <p:cNvPr id="27705" name="Group 57"/>
          <p:cNvGraphicFramePr>
            <a:graphicFrameLocks noGrp="1"/>
          </p:cNvGraphicFramePr>
          <p:nvPr/>
        </p:nvGraphicFramePr>
        <p:xfrm>
          <a:off x="7708106" y="2612232"/>
          <a:ext cx="4103688" cy="1332866"/>
        </p:xfrm>
        <a:graphic>
          <a:graphicData uri="http://schemas.openxmlformats.org/drawingml/2006/table">
            <a:tbl>
              <a:tblPr/>
              <a:tblGrid>
                <a:gridCol w="1439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013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771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Karen Fry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0413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05878"/>
            <a:ext cx="11364686" cy="1058779"/>
          </a:xfrm>
        </p:spPr>
        <p:txBody>
          <a:bodyPr>
            <a:normAutofit fontScale="90000"/>
          </a:bodyPr>
          <a:lstStyle/>
          <a:p>
            <a:r>
              <a:rPr lang="en-AU" dirty="0"/>
              <a:t>Converting two entities to Relational Schema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3771" y="908050"/>
            <a:ext cx="9682211" cy="52339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/>
              <a:t>The </a:t>
            </a:r>
            <a:r>
              <a:rPr lang="en-AU" b="1" dirty="0"/>
              <a:t>relational schema </a:t>
            </a:r>
            <a:r>
              <a:rPr lang="en-AU" dirty="0"/>
              <a:t>for this ERD model would be written as: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LECTURER (LecId, LecName, Age)</a:t>
            </a:r>
          </a:p>
          <a:p>
            <a:pPr marL="0" indent="0">
              <a:buNone/>
            </a:pPr>
            <a:r>
              <a:rPr lang="en-AU" dirty="0"/>
              <a:t>Primary Key (LecId)</a:t>
            </a:r>
          </a:p>
          <a:p>
            <a:pPr marL="0" indent="0">
              <a:buNone/>
            </a:pPr>
            <a:endParaRPr lang="en-AU" sz="1050" dirty="0"/>
          </a:p>
          <a:p>
            <a:pPr marL="0" indent="0">
              <a:buNone/>
            </a:pPr>
            <a:r>
              <a:rPr lang="en-AU" dirty="0"/>
              <a:t>SUBJECT(SubjectCode, Title, CreditPoints)</a:t>
            </a:r>
          </a:p>
          <a:p>
            <a:pPr marL="0" indent="0">
              <a:buNone/>
            </a:pPr>
            <a:r>
              <a:rPr lang="en-AU" dirty="0"/>
              <a:t>Primary Key (SubjectCode)</a:t>
            </a:r>
          </a:p>
          <a:p>
            <a:pPr marL="0" indent="0">
              <a:buNone/>
            </a:pPr>
            <a:endParaRPr lang="en-AU" sz="900" dirty="0"/>
          </a:p>
          <a:p>
            <a:pPr marL="0" indent="0">
              <a:buNone/>
            </a:pPr>
            <a:r>
              <a:rPr lang="en-AU" dirty="0"/>
              <a:t>or</a:t>
            </a:r>
          </a:p>
          <a:p>
            <a:pPr marL="0" indent="0">
              <a:buNone/>
            </a:pPr>
            <a:r>
              <a:rPr lang="en-AU" dirty="0"/>
              <a:t>LECTURER (</a:t>
            </a:r>
            <a:r>
              <a:rPr lang="en-AU" u="sng" dirty="0"/>
              <a:t>LecId</a:t>
            </a:r>
            <a:r>
              <a:rPr lang="en-AU" dirty="0"/>
              <a:t>, LecName, Age)</a:t>
            </a:r>
          </a:p>
          <a:p>
            <a:pPr marL="0" indent="0">
              <a:buNone/>
            </a:pPr>
            <a:r>
              <a:rPr lang="en-AU" dirty="0"/>
              <a:t>SUBJECT(</a:t>
            </a:r>
            <a:r>
              <a:rPr lang="en-AU" u="sng" dirty="0"/>
              <a:t>SubjectCode</a:t>
            </a:r>
            <a:r>
              <a:rPr lang="en-AU" dirty="0"/>
              <a:t>, Title, CreditPoints)</a:t>
            </a:r>
          </a:p>
          <a:p>
            <a:pPr marL="0" indent="0">
              <a:buNone/>
            </a:pPr>
            <a:endParaRPr lang="en-AU" dirty="0"/>
          </a:p>
          <a:p>
            <a:pPr marL="0" lvl="3" indent="0">
              <a:buNone/>
            </a:pPr>
            <a:r>
              <a:rPr lang="en-AU" dirty="0"/>
              <a:t>Notice that there is </a:t>
            </a:r>
            <a:r>
              <a:rPr lang="en-AU" b="1" dirty="0"/>
              <a:t>nothing</a:t>
            </a:r>
            <a:r>
              <a:rPr lang="en-AU" dirty="0"/>
              <a:t> that associates a subject to a lecturer. </a:t>
            </a:r>
          </a:p>
          <a:p>
            <a:pPr marL="0" lvl="3" indent="0">
              <a:buNone/>
            </a:pPr>
            <a:r>
              <a:rPr lang="en-AU" dirty="0"/>
              <a:t>The two entities are currently </a:t>
            </a:r>
            <a:r>
              <a:rPr lang="en-AU" b="1" dirty="0"/>
              <a:t>unrelated</a:t>
            </a:r>
            <a:r>
              <a:rPr lang="en-AU" dirty="0"/>
              <a:t>.</a:t>
            </a:r>
          </a:p>
          <a:p>
            <a:endParaRPr lang="en-AU" b="1" dirty="0"/>
          </a:p>
          <a:p>
            <a:endParaRPr lang="en-AU" b="1" dirty="0"/>
          </a:p>
        </p:txBody>
      </p:sp>
      <p:grpSp>
        <p:nvGrpSpPr>
          <p:cNvPr id="30775" name="Group 65"/>
          <p:cNvGrpSpPr>
            <a:grpSpLocks/>
          </p:cNvGrpSpPr>
          <p:nvPr/>
        </p:nvGrpSpPr>
        <p:grpSpPr bwMode="auto">
          <a:xfrm>
            <a:off x="7307262" y="1384014"/>
            <a:ext cx="4884738" cy="2190750"/>
            <a:chOff x="0" y="2856"/>
            <a:chExt cx="3077" cy="1380"/>
          </a:xfrm>
        </p:grpSpPr>
        <p:graphicFrame>
          <p:nvGraphicFramePr>
            <p:cNvPr id="30777" name="Object 66"/>
            <p:cNvGraphicFramePr>
              <a:graphicFrameLocks noChangeAspect="1"/>
            </p:cNvGraphicFramePr>
            <p:nvPr/>
          </p:nvGraphicFramePr>
          <p:xfrm>
            <a:off x="0" y="2983"/>
            <a:ext cx="3077" cy="1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8331595" imgH="3660526" progId="Visio.Drawing.11">
                    <p:embed/>
                  </p:oleObj>
                </mc:Choice>
                <mc:Fallback>
                  <p:oleObj name="Visio" r:id="rId3" imgW="8331595" imgH="3660526" progId="Visio.Drawing.11">
                    <p:embed/>
                    <p:pic>
                      <p:nvPicPr>
                        <p:cNvPr id="30777" name="Object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324" t="10538" r="42509" b="38278"/>
                        <a:stretch>
                          <a:fillRect/>
                        </a:stretch>
                      </p:blipFill>
                      <p:spPr bwMode="auto">
                        <a:xfrm>
                          <a:off x="0" y="2983"/>
                          <a:ext cx="3077" cy="1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78" name="Rectangle 67"/>
            <p:cNvSpPr>
              <a:spLocks noChangeArrowheads="1"/>
            </p:cNvSpPr>
            <p:nvPr/>
          </p:nvSpPr>
          <p:spPr bwMode="auto">
            <a:xfrm>
              <a:off x="888" y="3750"/>
              <a:ext cx="2064" cy="486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miter lim="800000"/>
              <a:headEnd type="none" w="sm" len="sm"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marL="0" marR="0" lvl="0" indent="0" algn="l" defTabSz="457200" rtl="0" eaLnBrk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1161E"/>
                </a:buClr>
                <a:buSzPct val="85000"/>
                <a:buFont typeface="Wingdings" pitchFamily="2" charset="2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779" name="Rectangle 68"/>
            <p:cNvSpPr>
              <a:spLocks noChangeArrowheads="1"/>
            </p:cNvSpPr>
            <p:nvPr/>
          </p:nvSpPr>
          <p:spPr bwMode="auto">
            <a:xfrm>
              <a:off x="1638" y="2856"/>
              <a:ext cx="1320" cy="1122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miter lim="800000"/>
              <a:headEnd type="none" w="sm" len="sm"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marL="0" marR="0" lvl="0" indent="0" algn="l" defTabSz="457200" rtl="0" eaLnBrk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1161E"/>
                </a:buClr>
                <a:buSzPct val="85000"/>
                <a:buFont typeface="Wingdings" pitchFamily="2" charset="2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aphicFrame>
        <p:nvGraphicFramePr>
          <p:cNvPr id="30776" name="Object 69"/>
          <p:cNvGraphicFramePr>
            <a:graphicFrameLocks noChangeAspect="1"/>
          </p:cNvGraphicFramePr>
          <p:nvPr/>
        </p:nvGraphicFramePr>
        <p:xfrm>
          <a:off x="10399713" y="1582453"/>
          <a:ext cx="1503363" cy="195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8331595" imgH="3660526" progId="Visio.Drawing.11">
                  <p:embed/>
                </p:oleObj>
              </mc:Choice>
              <mc:Fallback>
                <p:oleObj name="Visio" r:id="rId5" imgW="8331595" imgH="3660526" progId="Visio.Drawing.11">
                  <p:embed/>
                  <p:pic>
                    <p:nvPicPr>
                      <p:cNvPr id="30776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0204" t="10538" r="42509" b="38278"/>
                      <a:stretch>
                        <a:fillRect/>
                      </a:stretch>
                    </p:blipFill>
                    <p:spPr bwMode="auto">
                      <a:xfrm>
                        <a:off x="10399713" y="1582453"/>
                        <a:ext cx="1503363" cy="195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3365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10234613" y="5481829"/>
            <a:ext cx="1885950" cy="134257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 type="none" w="sm" len="sm"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marL="0" marR="0" lvl="0" indent="0" algn="l" defTabSz="4572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85000"/>
              <a:buFont typeface="Wingdings" pitchFamily="2" charset="2"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Converting the M:1 relationship</a:t>
            </a:r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740229" y="869950"/>
            <a:ext cx="10682514" cy="9858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dirty="0"/>
              <a:t>The final step in the conversion process is converting any M:1 relationships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b="1" dirty="0"/>
              <a:t>Every</a:t>
            </a:r>
            <a:r>
              <a:rPr lang="en-AU" dirty="0"/>
              <a:t> M:1 relationship </a:t>
            </a:r>
            <a:r>
              <a:rPr lang="en-AU" b="1" dirty="0"/>
              <a:t>generates</a:t>
            </a:r>
            <a:r>
              <a:rPr lang="en-AU" dirty="0"/>
              <a:t> </a:t>
            </a:r>
            <a:br>
              <a:rPr lang="en-AU" dirty="0"/>
            </a:br>
            <a:r>
              <a:rPr lang="en-AU" dirty="0"/>
              <a:t>a single </a:t>
            </a:r>
            <a:r>
              <a:rPr lang="en-AU" b="1" dirty="0"/>
              <a:t>Foreign Key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This means that a relation</a:t>
            </a:r>
            <a:br>
              <a:rPr lang="en-AU" dirty="0"/>
            </a:br>
            <a:r>
              <a:rPr lang="en-AU" dirty="0"/>
              <a:t>will have an </a:t>
            </a:r>
            <a:r>
              <a:rPr lang="en-AU" b="1" dirty="0"/>
              <a:t>additional</a:t>
            </a:r>
            <a:r>
              <a:rPr lang="en-AU" dirty="0"/>
              <a:t> column(s)*</a:t>
            </a:r>
          </a:p>
          <a:p>
            <a:pPr marL="0" indent="0">
              <a:buNone/>
            </a:pPr>
            <a:r>
              <a:rPr lang="en-AU" dirty="0"/>
              <a:t>	– a foreign key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sz="2000" dirty="0"/>
              <a:t>* - This would be additional columns if</a:t>
            </a:r>
            <a:br>
              <a:rPr lang="en-AU" sz="2000" dirty="0"/>
            </a:br>
            <a:r>
              <a:rPr lang="en-AU" sz="2000" dirty="0"/>
              <a:t>      the key was a composite key.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31749" name="Object 43"/>
          <p:cNvGraphicFramePr>
            <a:graphicFrameLocks noChangeAspect="1"/>
          </p:cNvGraphicFramePr>
          <p:nvPr/>
        </p:nvGraphicFramePr>
        <p:xfrm>
          <a:off x="6742113" y="4064001"/>
          <a:ext cx="5287962" cy="268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31595" imgH="3660526" progId="Visio.Drawing.11">
                  <p:embed/>
                </p:oleObj>
              </mc:Choice>
              <mc:Fallback>
                <p:oleObj name="Visio" r:id="rId2" imgW="8331595" imgH="3660526" progId="Visio.Drawing.11">
                  <p:embed/>
                  <p:pic>
                    <p:nvPicPr>
                      <p:cNvPr id="31749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24" t="10538" r="44476" b="38278"/>
                      <a:stretch>
                        <a:fillRect/>
                      </a:stretch>
                    </p:blipFill>
                    <p:spPr bwMode="auto">
                      <a:xfrm>
                        <a:off x="6742113" y="4064001"/>
                        <a:ext cx="5287962" cy="2689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0" name="Line 44"/>
          <p:cNvSpPr>
            <a:spLocks noChangeShapeType="1"/>
          </p:cNvSpPr>
          <p:nvPr/>
        </p:nvSpPr>
        <p:spPr bwMode="auto">
          <a:xfrm flipH="1">
            <a:off x="9839326" y="3311525"/>
            <a:ext cx="485775" cy="2419350"/>
          </a:xfrm>
          <a:prstGeom prst="line">
            <a:avLst/>
          </a:prstGeom>
          <a:noFill/>
          <a:ln w="38100">
            <a:solidFill>
              <a:srgbClr val="FF00FF"/>
            </a:solidFill>
            <a:prstDash val="dash"/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751" name="Text Box 45"/>
          <p:cNvSpPr txBox="1">
            <a:spLocks noChangeArrowheads="1"/>
          </p:cNvSpPr>
          <p:nvPr/>
        </p:nvSpPr>
        <p:spPr bwMode="auto">
          <a:xfrm>
            <a:off x="9401175" y="2978150"/>
            <a:ext cx="1936428" cy="295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457200" marR="0" lvl="0" indent="-457200" algn="l" defTabSz="4572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en-AU" sz="2400" b="1" i="1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M:1 relationship</a:t>
            </a:r>
            <a:endParaRPr kumimoji="0" lang="en-US" sz="2400" b="1" i="1" u="none" strike="noStrike" kern="1200" cap="none" spc="0" normalizeH="0" baseline="0" noProof="0">
              <a:ln>
                <a:noFill/>
              </a:ln>
              <a:solidFill>
                <a:srgbClr val="FF00FF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8" name="Line 44"/>
          <p:cNvSpPr>
            <a:spLocks noChangeShapeType="1"/>
          </p:cNvSpPr>
          <p:nvPr/>
        </p:nvSpPr>
        <p:spPr bwMode="auto">
          <a:xfrm flipH="1">
            <a:off x="4452730" y="3120569"/>
            <a:ext cx="4604184" cy="50013"/>
          </a:xfrm>
          <a:prstGeom prst="line">
            <a:avLst/>
          </a:prstGeom>
          <a:noFill/>
          <a:ln w="38100">
            <a:solidFill>
              <a:srgbClr val="FF00FF"/>
            </a:solidFill>
            <a:prstDash val="dash"/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9094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10306050" y="5660571"/>
            <a:ext cx="1885950" cy="1151261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 type="none" w="sm" len="sm"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marL="0" marR="0" lvl="0" indent="0" algn="l" defTabSz="4572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85000"/>
              <a:buFont typeface="Wingdings" pitchFamily="2" charset="2"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Creating a Foreign Key column</a:t>
            </a:r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9600" y="869950"/>
            <a:ext cx="11058939" cy="598805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SzPct val="100000"/>
            </a:pPr>
            <a:r>
              <a:rPr lang="en-AU" dirty="0">
                <a:solidFill>
                  <a:schemeClr val="tx2"/>
                </a:solidFill>
              </a:rPr>
              <a:t>The </a:t>
            </a:r>
            <a:r>
              <a:rPr lang="en-AU" b="1" dirty="0">
                <a:solidFill>
                  <a:schemeClr val="tx2"/>
                </a:solidFill>
              </a:rPr>
              <a:t>foreign key</a:t>
            </a:r>
            <a:r>
              <a:rPr lang="en-AU" dirty="0">
                <a:solidFill>
                  <a:schemeClr val="tx2"/>
                </a:solidFill>
              </a:rPr>
              <a:t> column is added to the table at the </a:t>
            </a:r>
            <a:r>
              <a:rPr lang="en-AU" b="1" dirty="0">
                <a:solidFill>
                  <a:schemeClr val="tx2"/>
                </a:solidFill>
              </a:rPr>
              <a:t>MANY</a:t>
            </a:r>
            <a:r>
              <a:rPr lang="en-AU" dirty="0">
                <a:solidFill>
                  <a:schemeClr val="tx2"/>
                </a:solidFill>
              </a:rPr>
              <a:t> end of the relationship.</a:t>
            </a:r>
          </a:p>
          <a:p>
            <a:pPr>
              <a:lnSpc>
                <a:spcPct val="80000"/>
              </a:lnSpc>
              <a:buSzPct val="100000"/>
            </a:pPr>
            <a:endParaRPr lang="en-AU" dirty="0">
              <a:solidFill>
                <a:schemeClr val="tx2"/>
              </a:solidFill>
            </a:endParaRPr>
          </a:p>
          <a:p>
            <a:pPr>
              <a:lnSpc>
                <a:spcPct val="80000"/>
              </a:lnSpc>
              <a:buSzPct val="100000"/>
            </a:pPr>
            <a:r>
              <a:rPr lang="en-AU" dirty="0">
                <a:solidFill>
                  <a:schemeClr val="tx2"/>
                </a:solidFill>
              </a:rPr>
              <a:t>The foreign key column name is</a:t>
            </a:r>
            <a:br>
              <a:rPr lang="en-AU" dirty="0">
                <a:solidFill>
                  <a:schemeClr val="tx2"/>
                </a:solidFill>
              </a:rPr>
            </a:br>
            <a:r>
              <a:rPr lang="en-AU" dirty="0">
                <a:solidFill>
                  <a:schemeClr val="tx2"/>
                </a:solidFill>
              </a:rPr>
              <a:t>usually spelt the same as </a:t>
            </a:r>
            <a:br>
              <a:rPr lang="en-AU" dirty="0">
                <a:solidFill>
                  <a:schemeClr val="tx2"/>
                </a:solidFill>
              </a:rPr>
            </a:br>
            <a:r>
              <a:rPr lang="en-AU" dirty="0">
                <a:solidFill>
                  <a:schemeClr val="tx2"/>
                </a:solidFill>
              </a:rPr>
              <a:t>the Primary Key it refers to.</a:t>
            </a:r>
          </a:p>
          <a:p>
            <a:pPr marL="0" indent="0">
              <a:lnSpc>
                <a:spcPct val="80000"/>
              </a:lnSpc>
              <a:buClr>
                <a:schemeClr val="tx1"/>
              </a:buClr>
              <a:buSzPct val="85000"/>
            </a:pPr>
            <a:endParaRPr lang="en-AU" dirty="0"/>
          </a:p>
          <a:p>
            <a:pPr marL="0" indent="0">
              <a:lnSpc>
                <a:spcPct val="80000"/>
              </a:lnSpc>
              <a:buClr>
                <a:schemeClr val="tx1"/>
              </a:buClr>
              <a:buSzPct val="85000"/>
            </a:pPr>
            <a:endParaRPr lang="en-AU" dirty="0"/>
          </a:p>
          <a:p>
            <a:pPr marL="0" indent="0">
              <a:lnSpc>
                <a:spcPct val="80000"/>
              </a:lnSpc>
              <a:buClr>
                <a:schemeClr val="tx1"/>
              </a:buClr>
              <a:buSzPct val="85000"/>
            </a:pPr>
            <a:endParaRPr lang="en-US" dirty="0"/>
          </a:p>
          <a:p>
            <a:pPr marL="0" lvl="1" indent="0">
              <a:lnSpc>
                <a:spcPct val="150000"/>
              </a:lnSpc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sz="1600" dirty="0"/>
          </a:p>
          <a:p>
            <a:pPr marL="0" lvl="1" indent="0">
              <a:buNone/>
            </a:pPr>
            <a:r>
              <a:rPr lang="en-AU" dirty="0">
                <a:solidFill>
                  <a:schemeClr val="tx1"/>
                </a:solidFill>
              </a:rPr>
              <a:t>Note: An attribute named LecId is </a:t>
            </a:r>
            <a:r>
              <a:rPr lang="en-AU" b="1" dirty="0">
                <a:solidFill>
                  <a:schemeClr val="tx1"/>
                </a:solidFill>
              </a:rPr>
              <a:t>NOT</a:t>
            </a:r>
            <a:r>
              <a:rPr lang="en-AU" dirty="0">
                <a:solidFill>
                  <a:schemeClr val="tx1"/>
                </a:solidFill>
              </a:rPr>
              <a:t> added to the Subject entity.</a:t>
            </a:r>
          </a:p>
          <a:p>
            <a:pPr marL="0" lvl="1" indent="0">
              <a:buNone/>
            </a:pPr>
            <a:r>
              <a:rPr lang="en-AU" dirty="0">
                <a:solidFill>
                  <a:schemeClr val="tx1"/>
                </a:solidFill>
              </a:rPr>
              <a:t>           A </a:t>
            </a:r>
            <a:r>
              <a:rPr lang="en-AU" b="1" dirty="0">
                <a:solidFill>
                  <a:schemeClr val="tx1"/>
                </a:solidFill>
              </a:rPr>
              <a:t>single attribute </a:t>
            </a:r>
            <a:r>
              <a:rPr lang="en-AU" dirty="0">
                <a:solidFill>
                  <a:schemeClr val="tx1"/>
                </a:solidFill>
              </a:rPr>
              <a:t>name must only </a:t>
            </a:r>
            <a:r>
              <a:rPr lang="en-AU" b="1" dirty="0">
                <a:solidFill>
                  <a:schemeClr val="tx1"/>
                </a:solidFill>
              </a:rPr>
              <a:t>appear once </a:t>
            </a:r>
            <a:r>
              <a:rPr lang="en-AU" dirty="0">
                <a:solidFill>
                  <a:schemeClr val="tx1"/>
                </a:solidFill>
              </a:rPr>
              <a:t>in an entire </a:t>
            </a:r>
            <a:r>
              <a:rPr lang="en-AU" b="1" dirty="0">
                <a:solidFill>
                  <a:schemeClr val="tx1"/>
                </a:solidFill>
              </a:rPr>
              <a:t>ERD</a:t>
            </a:r>
          </a:p>
          <a:p>
            <a:pPr marL="0" lvl="1" indent="0">
              <a:buNone/>
            </a:pPr>
            <a:endParaRPr lang="en-AU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31749" name="Object 43"/>
          <p:cNvGraphicFramePr>
            <a:graphicFrameLocks noChangeAspect="1"/>
          </p:cNvGraphicFramePr>
          <p:nvPr/>
        </p:nvGraphicFramePr>
        <p:xfrm>
          <a:off x="5736229" y="1696974"/>
          <a:ext cx="5287962" cy="268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31595" imgH="3660526" progId="Visio.Drawing.11">
                  <p:embed/>
                </p:oleObj>
              </mc:Choice>
              <mc:Fallback>
                <p:oleObj name="Visio" r:id="rId2" imgW="8331595" imgH="3660526" progId="Visio.Drawing.11">
                  <p:embed/>
                  <p:pic>
                    <p:nvPicPr>
                      <p:cNvPr id="31749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24" t="10538" r="44476" b="38278"/>
                      <a:stretch>
                        <a:fillRect/>
                      </a:stretch>
                    </p:blipFill>
                    <p:spPr bwMode="auto">
                      <a:xfrm>
                        <a:off x="5736229" y="1696974"/>
                        <a:ext cx="5287962" cy="2689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0" name="Line 44"/>
          <p:cNvSpPr>
            <a:spLocks noChangeShapeType="1"/>
          </p:cNvSpPr>
          <p:nvPr/>
        </p:nvSpPr>
        <p:spPr bwMode="auto">
          <a:xfrm>
            <a:off x="7674935" y="3827031"/>
            <a:ext cx="308346" cy="651747"/>
          </a:xfrm>
          <a:prstGeom prst="line">
            <a:avLst/>
          </a:prstGeom>
          <a:noFill/>
          <a:ln w="38100">
            <a:solidFill>
              <a:srgbClr val="FF00FF"/>
            </a:solidFill>
            <a:prstDash val="dash"/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9600" y="4500734"/>
            <a:ext cx="844225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SUBJECT(</a:t>
            </a:r>
            <a:r>
              <a:rPr kumimoji="0" lang="en-AU" sz="3200" b="0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SubjectCode</a:t>
            </a: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Title, CreditPoints, </a:t>
            </a: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srgbClr val="F010C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LecId</a:t>
            </a: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</p:txBody>
      </p:sp>
      <p:sp>
        <p:nvSpPr>
          <p:cNvPr id="3" name="Oval 2"/>
          <p:cNvSpPr/>
          <p:nvPr/>
        </p:nvSpPr>
        <p:spPr bwMode="auto">
          <a:xfrm>
            <a:off x="7026348" y="3284771"/>
            <a:ext cx="723014" cy="744279"/>
          </a:xfrm>
          <a:prstGeom prst="ellipse">
            <a:avLst/>
          </a:prstGeom>
          <a:noFill/>
          <a:ln w="19050" cap="flat" cmpd="sng" algn="ctr">
            <a:solidFill>
              <a:srgbClr val="F010C5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1161E"/>
              </a:buClr>
              <a:buSzPct val="85000"/>
              <a:buFontTx/>
              <a:buNone/>
              <a:tabLst/>
              <a:defRPr/>
            </a:pPr>
            <a:endParaRPr kumimoji="0" lang="en-AU" sz="2400" b="1" i="1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9344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new column is a Foreign Key</a:t>
            </a:r>
          </a:p>
        </p:txBody>
      </p:sp>
      <p:graphicFrame>
        <p:nvGraphicFramePr>
          <p:cNvPr id="352368" name="Group 112"/>
          <p:cNvGraphicFramePr>
            <a:graphicFrameLocks noGrp="1"/>
          </p:cNvGraphicFramePr>
          <p:nvPr/>
        </p:nvGraphicFramePr>
        <p:xfrm>
          <a:off x="2476501" y="4276725"/>
          <a:ext cx="5565775" cy="2346770"/>
        </p:xfrm>
        <a:graphic>
          <a:graphicData uri="http://schemas.openxmlformats.org/drawingml/2006/table">
            <a:tbl>
              <a:tblPr/>
              <a:tblGrid>
                <a:gridCol w="1486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8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9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1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021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SubjectCode</a:t>
                      </a:r>
                    </a:p>
                  </a:txBody>
                  <a:tcPr marL="91448" marR="91448"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Title</a:t>
                      </a:r>
                    </a:p>
                  </a:txBody>
                  <a:tcPr marL="91448" marR="91448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CreditPoints</a:t>
                      </a:r>
                    </a:p>
                  </a:txBody>
                  <a:tcPr marL="91448" marR="91448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</a:p>
                  </a:txBody>
                  <a:tcPr marL="91448" marR="91448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076"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INF10005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Intro to Web </a:t>
                      </a:r>
                    </a:p>
                  </a:txBody>
                  <a:tcPr marL="91448" marR="91448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12.5</a:t>
                      </a:r>
                    </a:p>
                  </a:txBody>
                  <a:tcPr marL="91448" marR="91448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marL="91448" marR="91448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076"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INF10017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EBIS</a:t>
                      </a:r>
                    </a:p>
                  </a:txBody>
                  <a:tcPr marL="91448" marR="91448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12.5</a:t>
                      </a:r>
                    </a:p>
                  </a:txBody>
                  <a:tcPr marL="91448" marR="91448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marL="91448" marR="91448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076"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HPA30088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Honours Project</a:t>
                      </a:r>
                    </a:p>
                  </a:txBody>
                  <a:tcPr marL="91448" marR="91448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50</a:t>
                      </a:r>
                    </a:p>
                  </a:txBody>
                  <a:tcPr marL="91448" marR="91448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marL="91448" marR="91448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076"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MMD20006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Media Thesis A</a:t>
                      </a:r>
                    </a:p>
                  </a:txBody>
                  <a:tcPr marL="91448" marR="91448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25</a:t>
                      </a:r>
                    </a:p>
                  </a:txBody>
                  <a:tcPr marL="91448" marR="91448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119</a:t>
                      </a:r>
                    </a:p>
                  </a:txBody>
                  <a:tcPr marL="91448" marR="91448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805" name="Rectangle 63"/>
          <p:cNvSpPr>
            <a:spLocks noChangeArrowheads="1"/>
          </p:cNvSpPr>
          <p:nvPr/>
        </p:nvSpPr>
        <p:spPr bwMode="auto">
          <a:xfrm>
            <a:off x="4627564" y="3803651"/>
            <a:ext cx="13731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SUBJECT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graphicFrame>
        <p:nvGraphicFramePr>
          <p:cNvPr id="32806" name="Object 72"/>
          <p:cNvGraphicFramePr>
            <a:graphicFrameLocks noChangeAspect="1"/>
          </p:cNvGraphicFramePr>
          <p:nvPr/>
        </p:nvGraphicFramePr>
        <p:xfrm>
          <a:off x="6386514" y="1084521"/>
          <a:ext cx="4281487" cy="23136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31595" imgH="3660526" progId="Visio.Drawing.11">
                  <p:embed/>
                </p:oleObj>
              </mc:Choice>
              <mc:Fallback>
                <p:oleObj name="Visio" r:id="rId2" imgW="8331595" imgH="3660526" progId="Visio.Drawing.11">
                  <p:embed/>
                  <p:pic>
                    <p:nvPicPr>
                      <p:cNvPr id="32806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24" t="10538" r="44476" b="38278"/>
                      <a:stretch>
                        <a:fillRect/>
                      </a:stretch>
                    </p:blipFill>
                    <p:spPr bwMode="auto">
                      <a:xfrm>
                        <a:off x="6386514" y="1084521"/>
                        <a:ext cx="4281487" cy="23136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09" name="Text Box 113"/>
          <p:cNvSpPr txBox="1">
            <a:spLocks noChangeArrowheads="1"/>
          </p:cNvSpPr>
          <p:nvPr/>
        </p:nvSpPr>
        <p:spPr bwMode="auto">
          <a:xfrm>
            <a:off x="798286" y="843444"/>
            <a:ext cx="5202465" cy="2593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>
                <a:srgbClr val="D1161E"/>
              </a:buClr>
              <a:buSzPct val="85000"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Open Sans"/>
              </a:rPr>
              <a:t>The </a:t>
            </a: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Open Sans"/>
              </a:rPr>
              <a:t>foreign key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Open Sans"/>
              </a:rPr>
              <a:t> column is added to the table at the </a:t>
            </a: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Open Sans"/>
              </a:rPr>
              <a:t>MANY end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Open Sans"/>
              </a:rPr>
              <a:t> of the relationship.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>
                <a:srgbClr val="D1161E"/>
              </a:buClr>
              <a:buSzPct val="85000"/>
              <a:buFontTx/>
              <a:buNone/>
              <a:tabLst/>
              <a:defRPr/>
            </a:pP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Open Sans"/>
            </a:endParaRP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>
                <a:srgbClr val="D1161E"/>
              </a:buClr>
              <a:buSzPct val="85000"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Open Sans"/>
              </a:rPr>
              <a:t>The </a:t>
            </a: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Open Sans"/>
              </a:rPr>
              <a:t>foreign key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Open Sans"/>
              </a:rPr>
              <a:t> column name is usually spelt the same as the Primary Key it refers to.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Open Sans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7350642" y="2320773"/>
            <a:ext cx="723014" cy="744279"/>
          </a:xfrm>
          <a:prstGeom prst="ellipse">
            <a:avLst/>
          </a:prstGeom>
          <a:noFill/>
          <a:ln w="19050" cap="flat" cmpd="sng" algn="ctr">
            <a:solidFill>
              <a:srgbClr val="F010C5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1161E"/>
              </a:buClr>
              <a:buSzPct val="85000"/>
              <a:buFontTx/>
              <a:buNone/>
              <a:tabLst/>
              <a:defRPr/>
            </a:pPr>
            <a:endParaRPr kumimoji="0" lang="en-AU" sz="2400" b="1" i="1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2" name="Freeform 1"/>
          <p:cNvSpPr/>
          <p:nvPr/>
        </p:nvSpPr>
        <p:spPr bwMode="auto">
          <a:xfrm>
            <a:off x="8031126" y="2870791"/>
            <a:ext cx="381754" cy="1297172"/>
          </a:xfrm>
          <a:custGeom>
            <a:avLst/>
            <a:gdLst>
              <a:gd name="connsiteX0" fmla="*/ 31897 w 381754"/>
              <a:gd name="connsiteY0" fmla="*/ 0 h 1297172"/>
              <a:gd name="connsiteX1" fmla="*/ 350874 w 381754"/>
              <a:gd name="connsiteY1" fmla="*/ 425302 h 1297172"/>
              <a:gd name="connsiteX2" fmla="*/ 329609 w 381754"/>
              <a:gd name="connsiteY2" fmla="*/ 808074 h 1297172"/>
              <a:gd name="connsiteX3" fmla="*/ 0 w 381754"/>
              <a:gd name="connsiteY3" fmla="*/ 1297172 h 129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754" h="1297172">
                <a:moveTo>
                  <a:pt x="31897" y="0"/>
                </a:moveTo>
                <a:cubicBezTo>
                  <a:pt x="166576" y="145311"/>
                  <a:pt x="301255" y="290623"/>
                  <a:pt x="350874" y="425302"/>
                </a:cubicBezTo>
                <a:cubicBezTo>
                  <a:pt x="400493" y="559981"/>
                  <a:pt x="388088" y="662762"/>
                  <a:pt x="329609" y="808074"/>
                </a:cubicBezTo>
                <a:cubicBezTo>
                  <a:pt x="271130" y="953386"/>
                  <a:pt x="135565" y="1125279"/>
                  <a:pt x="0" y="1297172"/>
                </a:cubicBezTo>
              </a:path>
            </a:pathLst>
          </a:custGeom>
          <a:noFill/>
          <a:ln w="28575" cap="flat" cmpd="sng" algn="ctr">
            <a:solidFill>
              <a:srgbClr val="F010C5"/>
            </a:solidFill>
            <a:prstDash val="dash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1161E"/>
              </a:buClr>
              <a:buSzPct val="85000"/>
              <a:buFontTx/>
              <a:buNone/>
              <a:tabLst/>
              <a:defRPr/>
            </a:pPr>
            <a:endParaRPr kumimoji="0" lang="en-AU" sz="2400" b="1" i="1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8885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Converting two entities in the RM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08050"/>
            <a:ext cx="10972800" cy="52339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The relational schema for our model is finally written as this:</a:t>
            </a:r>
          </a:p>
          <a:p>
            <a:pPr marL="0" indent="0">
              <a:buNone/>
            </a:pPr>
            <a:endParaRPr lang="en-AU" sz="1050" dirty="0"/>
          </a:p>
          <a:p>
            <a:pPr marL="0" indent="0">
              <a:buNone/>
            </a:pPr>
            <a:r>
              <a:rPr lang="en-AU" dirty="0"/>
              <a:t>		LECTURER (</a:t>
            </a:r>
            <a:r>
              <a:rPr lang="en-AU" u="sng" dirty="0"/>
              <a:t>LecId</a:t>
            </a:r>
            <a:r>
              <a:rPr lang="en-AU" dirty="0"/>
              <a:t>, LecName, Age)</a:t>
            </a:r>
          </a:p>
          <a:p>
            <a:pPr marL="0" indent="0">
              <a:buNone/>
            </a:pPr>
            <a:r>
              <a:rPr lang="en-AU" dirty="0"/>
              <a:t>		SUBJECT(</a:t>
            </a:r>
            <a:r>
              <a:rPr lang="en-AU" u="sng" dirty="0"/>
              <a:t>SubjectCode</a:t>
            </a:r>
            <a:r>
              <a:rPr lang="en-AU" dirty="0"/>
              <a:t>, Title, CreditPoints, LecId)</a:t>
            </a:r>
          </a:p>
          <a:p>
            <a:pPr marL="0" indent="0">
              <a:buNone/>
            </a:pPr>
            <a:r>
              <a:rPr lang="en-AU" dirty="0"/>
              <a:t>		Foreign Key  (LecId)  References LECTURER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356356" name="Group 4"/>
          <p:cNvGraphicFramePr>
            <a:graphicFrameLocks noGrp="1"/>
          </p:cNvGraphicFramePr>
          <p:nvPr/>
        </p:nvGraphicFramePr>
        <p:xfrm>
          <a:off x="8331427" y="2957229"/>
          <a:ext cx="2241550" cy="1341436"/>
        </p:xfrm>
        <a:graphic>
          <a:graphicData uri="http://schemas.openxmlformats.org/drawingml/2006/table">
            <a:tbl>
              <a:tblPr/>
              <a:tblGrid>
                <a:gridCol w="67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LecName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37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119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Jane Pitt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26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Carol Kent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34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890" name="Text Box 62"/>
          <p:cNvSpPr txBox="1">
            <a:spLocks noChangeArrowheads="1"/>
          </p:cNvSpPr>
          <p:nvPr/>
        </p:nvSpPr>
        <p:spPr bwMode="auto">
          <a:xfrm>
            <a:off x="8666391" y="2422242"/>
            <a:ext cx="1571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LECTURER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graphicFrame>
        <p:nvGraphicFramePr>
          <p:cNvPr id="36892" name="Object 69"/>
          <p:cNvGraphicFramePr>
            <a:graphicFrameLocks noChangeAspect="1"/>
          </p:cNvGraphicFramePr>
          <p:nvPr/>
        </p:nvGraphicFramePr>
        <p:xfrm>
          <a:off x="406400" y="3337281"/>
          <a:ext cx="4550002" cy="1899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31595" imgH="3660526" progId="Visio.Drawing.11">
                  <p:embed/>
                </p:oleObj>
              </mc:Choice>
              <mc:Fallback>
                <p:oleObj name="Visio" r:id="rId2" imgW="8331595" imgH="3660526" progId="Visio.Drawing.11">
                  <p:embed/>
                  <p:pic>
                    <p:nvPicPr>
                      <p:cNvPr id="36892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907" t="10538" r="44371" b="38278"/>
                      <a:stretch>
                        <a:fillRect/>
                      </a:stretch>
                    </p:blipFill>
                    <p:spPr bwMode="auto">
                      <a:xfrm>
                        <a:off x="406400" y="3337281"/>
                        <a:ext cx="4550002" cy="18998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6422" name="Group 70"/>
          <p:cNvGraphicFramePr>
            <a:graphicFrameLocks noGrp="1"/>
          </p:cNvGraphicFramePr>
          <p:nvPr/>
        </p:nvGraphicFramePr>
        <p:xfrm>
          <a:off x="5787231" y="4967289"/>
          <a:ext cx="4724400" cy="1676400"/>
        </p:xfrm>
        <a:graphic>
          <a:graphicData uri="http://schemas.openxmlformats.org/drawingml/2006/table">
            <a:tbl>
              <a:tblPr/>
              <a:tblGrid>
                <a:gridCol w="128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8763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SubjectCode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Title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CreditPoints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INF10005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Intro to Web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INF10017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EBIS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HPA30088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Honours Project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MMD20006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Media Thesis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119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925" name="Rectangle 107"/>
          <p:cNvSpPr>
            <a:spLocks noChangeArrowheads="1"/>
          </p:cNvSpPr>
          <p:nvPr/>
        </p:nvSpPr>
        <p:spPr bwMode="auto">
          <a:xfrm>
            <a:off x="7919245" y="4524377"/>
            <a:ext cx="13731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SUBJECT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631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ERD to Relational Schema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08050"/>
            <a:ext cx="9050338" cy="52339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After this ERD is </a:t>
            </a:r>
            <a:r>
              <a:rPr lang="en-AU" b="1" dirty="0"/>
              <a:t>converted</a:t>
            </a:r>
            <a:r>
              <a:rPr lang="en-AU" dirty="0"/>
              <a:t> to a relational schema…</a:t>
            </a:r>
          </a:p>
          <a:p>
            <a:pPr marL="742950" lvl="2" indent="-342900">
              <a:buFont typeface="Arial" panose="020B0604020202020204" pitchFamily="34" charset="0"/>
              <a:buChar char="•"/>
            </a:pPr>
            <a:r>
              <a:rPr lang="en-AU" dirty="0"/>
              <a:t>How many columns will exist in table Dept?</a:t>
            </a:r>
          </a:p>
          <a:p>
            <a:pPr marL="742950" lvl="2" indent="-342900">
              <a:buFont typeface="Arial" panose="020B0604020202020204" pitchFamily="34" charset="0"/>
              <a:buChar char="•"/>
            </a:pPr>
            <a:r>
              <a:rPr lang="en-AU" dirty="0"/>
              <a:t>How many columns will exist in table Worker?</a:t>
            </a:r>
          </a:p>
          <a:p>
            <a:pPr marL="742950" lvl="2" indent="-342900">
              <a:buFont typeface="Arial" panose="020B0604020202020204" pitchFamily="34" charset="0"/>
              <a:buChar char="•"/>
            </a:pPr>
            <a:endParaRPr lang="en-AU" dirty="0"/>
          </a:p>
          <a:p>
            <a:pPr marL="0" lvl="1" indent="0">
              <a:buNone/>
            </a:pPr>
            <a:endParaRPr lang="en-AU" dirty="0"/>
          </a:p>
          <a:p>
            <a:pPr marL="0" lvl="1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970849" y="2516214"/>
          <a:ext cx="6989592" cy="3075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349443" imgH="2354670" progId="Visio.Drawing.11">
                  <p:embed/>
                </p:oleObj>
              </mc:Choice>
              <mc:Fallback>
                <p:oleObj name="Visio" r:id="rId2" imgW="5349443" imgH="2354670" progId="Visio.Drawing.11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70849" y="2516214"/>
                        <a:ext cx="6989592" cy="30758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9421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Relation </a:t>
            </a:r>
            <a:r>
              <a:rPr lang="en-AU" dirty="0" err="1"/>
              <a:t>vs</a:t>
            </a:r>
            <a:r>
              <a:rPr lang="en-AU" dirty="0"/>
              <a:t> Relationship</a:t>
            </a:r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9600" y="908050"/>
            <a:ext cx="9913938" cy="52339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dirty="0"/>
              <a:t>A confusing part of this process is the terminology having similarly sounding terms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sz="1050" dirty="0"/>
          </a:p>
          <a:p>
            <a:pPr marL="0" indent="0">
              <a:buNone/>
            </a:pPr>
            <a:r>
              <a:rPr lang="en-AU" dirty="0"/>
              <a:t>	LECTURER (</a:t>
            </a:r>
            <a:r>
              <a:rPr lang="en-AU" u="sng" dirty="0"/>
              <a:t>LecId</a:t>
            </a:r>
            <a:r>
              <a:rPr lang="en-AU" dirty="0"/>
              <a:t>, LecName, Age)</a:t>
            </a:r>
          </a:p>
          <a:p>
            <a:pPr marL="0" indent="0">
              <a:buNone/>
            </a:pPr>
            <a:endParaRPr lang="en-AU" sz="1100" dirty="0"/>
          </a:p>
          <a:p>
            <a:pPr marL="0" indent="0">
              <a:buNone/>
            </a:pPr>
            <a:r>
              <a:rPr lang="en-AU" dirty="0"/>
              <a:t>	SUBJECT(</a:t>
            </a:r>
            <a:r>
              <a:rPr lang="en-AU" u="sng" dirty="0"/>
              <a:t>SubjectCode</a:t>
            </a:r>
            <a:r>
              <a:rPr lang="en-AU" dirty="0"/>
              <a:t>, Title, CreditPoints, LecId)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3679751" y="1492028"/>
          <a:ext cx="5160835" cy="21549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31595" imgH="3660526" progId="Visio.Drawing.11">
                  <p:embed/>
                </p:oleObj>
              </mc:Choice>
              <mc:Fallback>
                <p:oleObj name="Visio" r:id="rId2" imgW="8331595" imgH="3660526" progId="Visio.Drawing.11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907" t="10538" r="44371" b="38278"/>
                      <a:stretch>
                        <a:fillRect/>
                      </a:stretch>
                    </p:blipFill>
                    <p:spPr bwMode="auto">
                      <a:xfrm>
                        <a:off x="3679751" y="1492028"/>
                        <a:ext cx="5160835" cy="21549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Line 44"/>
          <p:cNvSpPr>
            <a:spLocks noChangeShapeType="1"/>
          </p:cNvSpPr>
          <p:nvPr/>
        </p:nvSpPr>
        <p:spPr bwMode="auto">
          <a:xfrm flipV="1">
            <a:off x="6074735" y="3253563"/>
            <a:ext cx="85060" cy="525776"/>
          </a:xfrm>
          <a:prstGeom prst="line">
            <a:avLst/>
          </a:prstGeom>
          <a:noFill/>
          <a:ln w="38100">
            <a:solidFill>
              <a:srgbClr val="FF00FF"/>
            </a:solidFill>
            <a:prstDash val="dash"/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44878" y="3779339"/>
            <a:ext cx="41198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line shows a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Relationship</a:t>
            </a:r>
          </a:p>
        </p:txBody>
      </p:sp>
      <p:cxnSp>
        <p:nvCxnSpPr>
          <p:cNvPr id="4" name="Straight Connector 3"/>
          <p:cNvCxnSpPr/>
          <p:nvPr/>
        </p:nvCxnSpPr>
        <p:spPr bwMode="auto">
          <a:xfrm>
            <a:off x="2055628" y="4241004"/>
            <a:ext cx="824023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Rectangle 10"/>
          <p:cNvSpPr/>
          <p:nvPr/>
        </p:nvSpPr>
        <p:spPr>
          <a:xfrm>
            <a:off x="2833189" y="6221783"/>
            <a:ext cx="64830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Lecturer and Subject are both known as a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Relation</a:t>
            </a:r>
          </a:p>
        </p:txBody>
      </p:sp>
      <p:sp>
        <p:nvSpPr>
          <p:cNvPr id="12" name="Line 44"/>
          <p:cNvSpPr>
            <a:spLocks noChangeShapeType="1"/>
          </p:cNvSpPr>
          <p:nvPr/>
        </p:nvSpPr>
        <p:spPr bwMode="auto">
          <a:xfrm flipH="1" flipV="1">
            <a:off x="1843918" y="5624641"/>
            <a:ext cx="532071" cy="714118"/>
          </a:xfrm>
          <a:prstGeom prst="line">
            <a:avLst/>
          </a:prstGeom>
          <a:noFill/>
          <a:ln w="38100">
            <a:solidFill>
              <a:srgbClr val="FF00FF"/>
            </a:solidFill>
            <a:prstDash val="dash"/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5356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Terminology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Every system has it's own terminology!: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46116" name="Group 36"/>
          <p:cNvGraphicFramePr>
            <a:graphicFrameLocks noGrp="1"/>
          </p:cNvGraphicFramePr>
          <p:nvPr/>
        </p:nvGraphicFramePr>
        <p:xfrm>
          <a:off x="940206" y="2101624"/>
          <a:ext cx="10061623" cy="1824328"/>
        </p:xfrm>
        <a:graphic>
          <a:graphicData uri="http://schemas.openxmlformats.org/drawingml/2006/table">
            <a:tbl>
              <a:tblPr/>
              <a:tblGrid>
                <a:gridCol w="3181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2457">
                  <a:extLst>
                    <a:ext uri="{9D8B030D-6E8A-4147-A177-3AD203B41FA5}">
                      <a16:colId xmlns:a16="http://schemas.microsoft.com/office/drawing/2014/main" val="4153596664"/>
                    </a:ext>
                  </a:extLst>
                </a:gridCol>
                <a:gridCol w="3367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8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Relational Model terminology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 Narrow" pitchFamily="34" charset="0"/>
                        </a:rPr>
                        <a:t>MS Access RDBMS terminology</a:t>
                      </a: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Oracle RDBMS terminology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02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Relation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 Narrow" pitchFamily="34" charset="0"/>
                        </a:rPr>
                        <a:t>Table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Table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02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Attribute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 Narrow" pitchFamily="34" charset="0"/>
                        </a:rPr>
                        <a:t>Field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Column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02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Tuple or Row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 Narrow" pitchFamily="34" charset="0"/>
                        </a:rPr>
                        <a:t>Record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Row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029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Relational Schema to RDBMS table</a:t>
            </a:r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740229" y="908050"/>
            <a:ext cx="11263085" cy="52339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dirty="0"/>
              <a:t>Previously we created a Relational schema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		LECTURER (</a:t>
            </a:r>
            <a:r>
              <a:rPr lang="en-AU" u="sng" dirty="0"/>
              <a:t>LecId</a:t>
            </a:r>
            <a:r>
              <a:rPr lang="en-AU" dirty="0"/>
              <a:t>, LecName, Age)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		SUBJECT(</a:t>
            </a:r>
            <a:r>
              <a:rPr lang="en-AU" u="sng" dirty="0"/>
              <a:t>SubjectCode</a:t>
            </a:r>
            <a:r>
              <a:rPr lang="en-AU" dirty="0"/>
              <a:t>, Title, CreditPoints, LecId)</a:t>
            </a:r>
          </a:p>
          <a:p>
            <a:pPr marL="0" indent="0">
              <a:buNone/>
            </a:pPr>
            <a:r>
              <a:rPr lang="en-AU" dirty="0"/>
              <a:t>		Foreign Key (</a:t>
            </a:r>
            <a:r>
              <a:rPr lang="en-AU" dirty="0" err="1"/>
              <a:t>Lecid</a:t>
            </a:r>
            <a:r>
              <a:rPr lang="en-AU" dirty="0"/>
              <a:t>) References LECTURER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We will now </a:t>
            </a:r>
            <a:r>
              <a:rPr lang="en-AU" b="1" dirty="0"/>
              <a:t>create tables for this schema using SQL</a:t>
            </a:r>
          </a:p>
        </p:txBody>
      </p:sp>
    </p:spTree>
    <p:extLst>
      <p:ext uri="{BB962C8B-B14F-4D97-AF65-F5344CB8AC3E}">
        <p14:creationId xmlns:p14="http://schemas.microsoft.com/office/powerpoint/2010/main" val="400507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dirty="0"/>
              <a:t>Using Oracle &amp; </a:t>
            </a:r>
            <a:r>
              <a:rPr lang="en-AU" dirty="0" err="1"/>
              <a:t>iSQLJunioR</a:t>
            </a:r>
            <a:endParaRPr lang="en-AU" dirty="0"/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0229" y="774700"/>
            <a:ext cx="9932535" cy="5367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For a few weeks we will be using an Oracle Database.</a:t>
            </a:r>
          </a:p>
          <a:p>
            <a:pPr marL="0" indent="0">
              <a:buNone/>
            </a:pPr>
            <a:r>
              <a:rPr lang="en-AU" dirty="0"/>
              <a:t>Actually, you won't really experience much of Oracle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You will interface with Oracle using </a:t>
            </a:r>
            <a:r>
              <a:rPr lang="en-AU" b="1" dirty="0" err="1"/>
              <a:t>iSQL</a:t>
            </a:r>
            <a:r>
              <a:rPr lang="en-AU" b="1" dirty="0"/>
              <a:t> JR</a:t>
            </a:r>
          </a:p>
          <a:p>
            <a:pPr marL="742950" lvl="2" indent="-342900">
              <a:buFont typeface="Arial" panose="020B0604020202020204" pitchFamily="34" charset="0"/>
              <a:buChar char="•"/>
            </a:pPr>
            <a:r>
              <a:rPr lang="en-AU" dirty="0"/>
              <a:t>This is Swinburne's Web interface to Oracle </a:t>
            </a:r>
          </a:p>
          <a:p>
            <a:pPr marL="742950" lvl="2" indent="-342900">
              <a:buFont typeface="Arial" panose="020B0604020202020204" pitchFamily="34" charset="0"/>
              <a:buChar char="•"/>
            </a:pPr>
            <a:r>
              <a:rPr lang="en-AU" dirty="0"/>
              <a:t>Can be used anywhere, anytime</a:t>
            </a:r>
          </a:p>
          <a:p>
            <a:pPr marL="742950" lvl="2" indent="-342900">
              <a:buFont typeface="Arial" panose="020B0604020202020204" pitchFamily="34" charset="0"/>
              <a:buChar char="•"/>
            </a:pPr>
            <a:r>
              <a:rPr lang="en-AU" b="1" dirty="0"/>
              <a:t>No</a:t>
            </a:r>
            <a:r>
              <a:rPr lang="en-AU" dirty="0"/>
              <a:t> software is required to be installed on your computer</a:t>
            </a:r>
          </a:p>
          <a:p>
            <a:pPr marL="0" lvl="1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URL:   https://feenix-isqljr.swin.edu.au/</a:t>
            </a:r>
          </a:p>
        </p:txBody>
      </p:sp>
    </p:spTree>
    <p:extLst>
      <p:ext uri="{BB962C8B-B14F-4D97-AF65-F5344CB8AC3E}">
        <p14:creationId xmlns:p14="http://schemas.microsoft.com/office/powerpoint/2010/main" val="881172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dirty="0"/>
              <a:t>Using Oracle &amp; </a:t>
            </a:r>
            <a:r>
              <a:rPr lang="en-AU" dirty="0" err="1"/>
              <a:t>iSQLJunioR</a:t>
            </a:r>
            <a:endParaRPr lang="en-AU" dirty="0"/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0229" y="774700"/>
            <a:ext cx="9932535" cy="5367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err="1"/>
              <a:t>iSQL</a:t>
            </a:r>
            <a:r>
              <a:rPr lang="en-AU" dirty="0"/>
              <a:t> JR is used via a </a:t>
            </a:r>
            <a:r>
              <a:rPr lang="en-AU" b="1" dirty="0"/>
              <a:t>web browser</a:t>
            </a:r>
          </a:p>
          <a:p>
            <a:pPr marL="0" indent="0">
              <a:buNone/>
            </a:pPr>
            <a:r>
              <a:rPr lang="en-AU" b="1" dirty="0"/>
              <a:t>All data</a:t>
            </a:r>
            <a:r>
              <a:rPr lang="en-AU" dirty="0"/>
              <a:t> is stored on a Swinburne server.</a:t>
            </a:r>
          </a:p>
          <a:p>
            <a:pPr marL="0" indent="0">
              <a:buNone/>
            </a:pPr>
            <a:r>
              <a:rPr lang="en-AU" dirty="0"/>
              <a:t>No data is stored on your local computer.</a:t>
            </a:r>
          </a:p>
        </p:txBody>
      </p:sp>
      <p:sp>
        <p:nvSpPr>
          <p:cNvPr id="66565" name="Line 7"/>
          <p:cNvSpPr>
            <a:spLocks noChangeShapeType="1"/>
          </p:cNvSpPr>
          <p:nvPr/>
        </p:nvSpPr>
        <p:spPr bwMode="auto">
          <a:xfrm>
            <a:off x="3813292" y="5156030"/>
            <a:ext cx="857250" cy="241300"/>
          </a:xfrm>
          <a:prstGeom prst="line">
            <a:avLst/>
          </a:prstGeom>
          <a:noFill/>
          <a:ln w="38100">
            <a:solidFill>
              <a:srgbClr val="33CC33"/>
            </a:solidFill>
            <a:prstDash val="dash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014" y="2246614"/>
            <a:ext cx="8344774" cy="40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29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dirty="0"/>
              <a:t>SQL: Using Oracle </a:t>
            </a:r>
            <a:r>
              <a:rPr lang="en-AU" dirty="0" err="1"/>
              <a:t>iSQLJunioR</a:t>
            </a:r>
            <a:endParaRPr lang="en-AU" dirty="0"/>
          </a:p>
        </p:txBody>
      </p:sp>
      <p:sp>
        <p:nvSpPr>
          <p:cNvPr id="67587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login via ISQL Jr</a:t>
            </a:r>
          </a:p>
        </p:txBody>
      </p:sp>
      <p:sp>
        <p:nvSpPr>
          <p:cNvPr id="67588" name="Text Box 5"/>
          <p:cNvSpPr txBox="1">
            <a:spLocks noChangeArrowheads="1"/>
          </p:cNvSpPr>
          <p:nvPr/>
        </p:nvSpPr>
        <p:spPr bwMode="auto">
          <a:xfrm>
            <a:off x="6950076" y="4859339"/>
            <a:ext cx="37179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 prefix plus your student ID</a:t>
            </a:r>
          </a:p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eg</a:t>
            </a: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. s123456789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C64A7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7589" name="Text Box 8"/>
          <p:cNvSpPr txBox="1">
            <a:spLocks noChangeArrowheads="1"/>
          </p:cNvSpPr>
          <p:nvPr/>
        </p:nvSpPr>
        <p:spPr bwMode="auto">
          <a:xfrm>
            <a:off x="2408239" y="4532314"/>
            <a:ext cx="4160837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Password is </a:t>
            </a:r>
          </a:p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Date of Birth in </a:t>
            </a:r>
            <a:r>
              <a:rPr kumimoji="0" lang="en-AU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ddmmyy</a:t>
            </a: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format</a:t>
            </a:r>
          </a:p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251299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67590" name="Picture 10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07"/>
          <a:stretch/>
        </p:blipFill>
        <p:spPr bwMode="auto">
          <a:xfrm>
            <a:off x="1727200" y="2191657"/>
            <a:ext cx="7251700" cy="1966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7591" name="Line 6"/>
          <p:cNvSpPr>
            <a:spLocks noChangeShapeType="1"/>
          </p:cNvSpPr>
          <p:nvPr/>
        </p:nvSpPr>
        <p:spPr bwMode="auto">
          <a:xfrm flipH="1" flipV="1">
            <a:off x="8351839" y="2546350"/>
            <a:ext cx="1290637" cy="2306638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dash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592" name="Line 11"/>
          <p:cNvSpPr>
            <a:spLocks noChangeShapeType="1"/>
          </p:cNvSpPr>
          <p:nvPr/>
        </p:nvSpPr>
        <p:spPr bwMode="auto">
          <a:xfrm flipV="1">
            <a:off x="4003676" y="2940050"/>
            <a:ext cx="2760663" cy="1824038"/>
          </a:xfrm>
          <a:prstGeom prst="line">
            <a:avLst/>
          </a:prstGeom>
          <a:noFill/>
          <a:ln w="38100">
            <a:solidFill>
              <a:srgbClr val="0000FF"/>
            </a:solidFill>
            <a:prstDash val="dash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593" name="Text Box 12"/>
          <p:cNvSpPr txBox="1">
            <a:spLocks noChangeArrowheads="1"/>
          </p:cNvSpPr>
          <p:nvPr/>
        </p:nvSpPr>
        <p:spPr bwMode="auto">
          <a:xfrm>
            <a:off x="4022726" y="5964239"/>
            <a:ext cx="50831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Database Name is: </a:t>
            </a:r>
          </a:p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DAD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7594" name="Line 13"/>
          <p:cNvSpPr>
            <a:spLocks noChangeShapeType="1"/>
          </p:cNvSpPr>
          <p:nvPr/>
        </p:nvSpPr>
        <p:spPr bwMode="auto">
          <a:xfrm flipV="1">
            <a:off x="6556376" y="3270250"/>
            <a:ext cx="817563" cy="2624138"/>
          </a:xfrm>
          <a:prstGeom prst="line">
            <a:avLst/>
          </a:prstGeom>
          <a:noFill/>
          <a:ln w="38100">
            <a:solidFill>
              <a:srgbClr val="008000"/>
            </a:solidFill>
            <a:prstDash val="dash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9685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dirty="0"/>
              <a:t>SQL: Table storage and access</a:t>
            </a:r>
          </a:p>
        </p:txBody>
      </p:sp>
      <p:sp>
        <p:nvSpPr>
          <p:cNvPr id="68611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AU" dirty="0"/>
              <a:t>Your Oracle account:</a:t>
            </a:r>
          </a:p>
          <a:p>
            <a:pPr marL="742950" lvl="2" indent="-342900">
              <a:buFont typeface="Arial" panose="020B0604020202020204" pitchFamily="34" charset="0"/>
              <a:buChar char="•"/>
            </a:pPr>
            <a:r>
              <a:rPr lang="en-AU" dirty="0"/>
              <a:t>It is private (not shared)</a:t>
            </a:r>
          </a:p>
          <a:p>
            <a:pPr marL="742950" lvl="2" indent="-342900">
              <a:buFont typeface="Arial" panose="020B0604020202020204" pitchFamily="34" charset="0"/>
              <a:buChar char="•"/>
            </a:pPr>
            <a:r>
              <a:rPr lang="en-AU" dirty="0"/>
              <a:t>It is where your tables are stored</a:t>
            </a:r>
          </a:p>
          <a:p>
            <a:pPr marL="742950" lvl="2" indent="-342900">
              <a:buFont typeface="Arial" panose="020B0604020202020204" pitchFamily="34" charset="0"/>
              <a:buChar char="•"/>
            </a:pPr>
            <a:r>
              <a:rPr lang="en-AU" dirty="0"/>
              <a:t>Once a table is created and loaded with data it is permanent</a:t>
            </a:r>
          </a:p>
          <a:p>
            <a:pPr marL="1257300" lvl="4" indent="-342900">
              <a:buFont typeface="Arial" panose="020B0604020202020204" pitchFamily="34" charset="0"/>
              <a:buChar char="•"/>
            </a:pPr>
            <a:r>
              <a:rPr lang="en-AU" dirty="0"/>
              <a:t>Until the end of the semester</a:t>
            </a:r>
          </a:p>
          <a:p>
            <a:pPr marL="1257300" lvl="4" indent="-342900">
              <a:buFont typeface="Arial" panose="020B0604020202020204" pitchFamily="34" charset="0"/>
              <a:buChar char="•"/>
            </a:pPr>
            <a:r>
              <a:rPr lang="en-AU" dirty="0"/>
              <a:t>Or until you drop the table </a:t>
            </a:r>
          </a:p>
          <a:p>
            <a:pPr marL="0" lvl="2" indent="0">
              <a:buNone/>
            </a:pPr>
            <a:endParaRPr lang="en-AU" sz="1200" dirty="0"/>
          </a:p>
          <a:p>
            <a:pPr marL="0" lvl="1" indent="0">
              <a:buNone/>
            </a:pPr>
            <a:r>
              <a:rPr lang="en-AU" dirty="0"/>
              <a:t>Tables are restricted in number and capacity</a:t>
            </a:r>
          </a:p>
          <a:p>
            <a:pPr marL="0" lvl="1" indent="0">
              <a:buNone/>
            </a:pPr>
            <a:endParaRPr lang="en-AU" sz="1400" dirty="0"/>
          </a:p>
          <a:p>
            <a:pPr marL="0" lvl="1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61511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Executing statements in </a:t>
            </a:r>
            <a:r>
              <a:rPr lang="en-AU" dirty="0" err="1"/>
              <a:t>iSQL</a:t>
            </a:r>
            <a:r>
              <a:rPr lang="en-AU" dirty="0"/>
              <a:t> Jr</a:t>
            </a:r>
          </a:p>
        </p:txBody>
      </p:sp>
      <p:pic>
        <p:nvPicPr>
          <p:cNvPr id="7270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46" t="17412"/>
          <a:stretch>
            <a:fillRect/>
          </a:stretch>
        </p:blipFill>
        <p:spPr>
          <a:xfrm>
            <a:off x="4565651" y="1422401"/>
            <a:ext cx="6081713" cy="5235575"/>
          </a:xfrm>
        </p:spPr>
      </p:pic>
      <p:sp>
        <p:nvSpPr>
          <p:cNvPr id="72708" name="Rectangle 10"/>
          <p:cNvSpPr>
            <a:spLocks noChangeArrowheads="1"/>
          </p:cNvSpPr>
          <p:nvPr/>
        </p:nvSpPr>
        <p:spPr bwMode="auto">
          <a:xfrm>
            <a:off x="769257" y="908050"/>
            <a:ext cx="10813143" cy="5233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285750" marR="0" lvl="0" indent="-28575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Requirement: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List rows in the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movie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table </a:t>
            </a:r>
          </a:p>
          <a:p>
            <a:pPr marL="285750" marR="0" lvl="0" indent="-28575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Type the SQL query into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</a:t>
            </a:r>
            <a:r>
              <a:rPr kumimoji="0" lang="en-A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TextBox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Click Execute</a:t>
            </a:r>
          </a:p>
          <a:p>
            <a:pPr marL="285750" marR="0" lvl="0" indent="-28575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results appear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beneath in the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Result Set</a:t>
            </a:r>
          </a:p>
        </p:txBody>
      </p:sp>
    </p:spTree>
    <p:extLst>
      <p:ext uri="{BB962C8B-B14F-4D97-AF65-F5344CB8AC3E}">
        <p14:creationId xmlns:p14="http://schemas.microsoft.com/office/powerpoint/2010/main" val="3468836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812801" y="188913"/>
            <a:ext cx="9250364" cy="576262"/>
          </a:xfrm>
        </p:spPr>
        <p:txBody>
          <a:bodyPr>
            <a:normAutofit fontScale="90000"/>
          </a:bodyPr>
          <a:lstStyle/>
          <a:p>
            <a:pPr marL="685800" indent="-685800"/>
            <a:r>
              <a:rPr lang="en-AU" dirty="0"/>
              <a:t>SQL: Executing the Movie Table script</a:t>
            </a:r>
          </a:p>
        </p:txBody>
      </p:sp>
      <p:sp>
        <p:nvSpPr>
          <p:cNvPr id="70659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812799" y="746126"/>
            <a:ext cx="10378661" cy="5395913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Lab 1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AU" sz="2000" dirty="0"/>
              <a:t>Download a file CreateMovie01.TXT from Canvas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AU" sz="2000" dirty="0"/>
              <a:t>Open the file using </a:t>
            </a:r>
            <a:r>
              <a:rPr lang="en-AU" sz="2000" dirty="0" err="1"/>
              <a:t>NotePad</a:t>
            </a:r>
            <a:r>
              <a:rPr lang="en-AU" sz="2000" dirty="0"/>
              <a:t> (or </a:t>
            </a:r>
            <a:r>
              <a:rPr lang="en-AU" sz="2000" dirty="0" err="1"/>
              <a:t>NotePad</a:t>
            </a:r>
            <a:r>
              <a:rPr lang="en-AU" sz="2000" dirty="0"/>
              <a:t>++  or any other text editor)  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AU" sz="2000" dirty="0"/>
              <a:t>Choose SELECT ALL  &amp; Copy in Notepad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812799" y="2056685"/>
            <a:ext cx="11243366" cy="46166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CREATE TABLE MOVIE (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MOVIENO      NUMBER(6, 0) PRIMARY KEY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TITLE        VARCHAR(100)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RELYEAR      NUMBER(4)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RUNTIME      NUMBER(4)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RATINGCODE   VARCHAR(2)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COLOUR_CODE  VARCHAR(1)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TMDB_SCORE   NUMBER(3,1)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TMDB_VOTES   NUMBER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TMDB_ID      VARCHAR(12)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INSERT INTO MOVIE (MOVIENO, TITLE, RELYEAR, RUNTIME, RATINGCODE, COLOUR_CODE, TMDB_SCORE, TMDB_VOTES, TMDB_ID) VALUES(620, 'Ghostbusters', 1984, 107, 'PG', 'C',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                       6.8, 570, 'tt0087332' 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INSERT INTO MOVIE (MOVIENO, TITLE, RELYEAR, RUNTIME, RATINGCODE, COLOUR_CODE, TMDB_SCORE, TMDB_VOTES, TMDB_ID) VALUES (324668,'Jason Bourne', 2016, 123, 'M', 'C',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                        7.2, 121, 'tt4196776' );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F40117-2422-4F85-AA55-75EBCFEE2968}"/>
              </a:ext>
            </a:extLst>
          </p:cNvPr>
          <p:cNvSpPr/>
          <p:nvPr/>
        </p:nvSpPr>
        <p:spPr>
          <a:xfrm>
            <a:off x="6288157" y="2887681"/>
            <a:ext cx="553940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Varchar</a:t>
            </a: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() is used for text data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varchar requires a </a:t>
            </a: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maximum</a:t>
            </a: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length value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Number</a:t>
            </a: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() is used for numeric data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Number has an optional max length and decimal places</a:t>
            </a:r>
          </a:p>
        </p:txBody>
      </p:sp>
    </p:spTree>
    <p:extLst>
      <p:ext uri="{BB962C8B-B14F-4D97-AF65-F5344CB8AC3E}">
        <p14:creationId xmlns:p14="http://schemas.microsoft.com/office/powerpoint/2010/main" val="23329282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dirty="0"/>
              <a:t>SQL: Creating the Movie Table</a:t>
            </a:r>
          </a:p>
        </p:txBody>
      </p:sp>
      <p:sp>
        <p:nvSpPr>
          <p:cNvPr id="7168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9600" y="774700"/>
            <a:ext cx="9805988" cy="5367338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In </a:t>
            </a:r>
            <a:r>
              <a:rPr lang="en-AU" dirty="0" err="1"/>
              <a:t>iSQL</a:t>
            </a:r>
            <a:r>
              <a:rPr lang="en-AU" dirty="0"/>
              <a:t> Jr, Paste the statements into the textbox  &amp; click Execute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7168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38300"/>
            <a:ext cx="10067925" cy="523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685" name="Text Box 6"/>
          <p:cNvSpPr txBox="1">
            <a:spLocks noChangeArrowheads="1"/>
          </p:cNvSpPr>
          <p:nvPr/>
        </p:nvSpPr>
        <p:spPr bwMode="auto">
          <a:xfrm>
            <a:off x="4726781" y="5762625"/>
            <a:ext cx="43561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Ignore this error message when executing this script.</a:t>
            </a:r>
          </a:p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It is generated by the </a:t>
            </a:r>
            <a:r>
              <a:rPr kumimoji="0" lang="en-AU" sz="1600" b="1" i="0" u="sng" strike="noStrike" kern="1200" cap="none" spc="0" normalizeH="0" baseline="0" noProof="0" dirty="0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Drop Table</a:t>
            </a: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statement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C64A7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1686" name="Line 7"/>
          <p:cNvSpPr>
            <a:spLocks noChangeShapeType="1"/>
          </p:cNvSpPr>
          <p:nvPr/>
        </p:nvSpPr>
        <p:spPr bwMode="auto">
          <a:xfrm flipH="1" flipV="1">
            <a:off x="4742692" y="4879276"/>
            <a:ext cx="3271837" cy="925513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dash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27054" y="2492710"/>
            <a:ext cx="4588115" cy="160043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CREATE TABLE MOVIE (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MOVIENO      NUMBER(6, 0) PRIMARY KEY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TITLE        VARCHAR(100)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RELYEAR      NUMBER(4)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RUNTIME      NUMBER(4)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RATINGCODE   VARCHAR(2)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COLOUR_CODE  VARCHAR(1) </a:t>
            </a:r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 flipH="1" flipV="1">
            <a:off x="4552607" y="2341562"/>
            <a:ext cx="2515849" cy="300038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dash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7226299" y="2341562"/>
            <a:ext cx="4835071" cy="286232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If you try to create a table that already exists, Oracle will show an </a:t>
            </a: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Error</a:t>
            </a: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000" b="1" i="0" u="none" strike="noStrike" kern="1200" cap="none" spc="0" normalizeH="0" baseline="0" noProof="0" dirty="0">
              <a:ln>
                <a:noFill/>
              </a:ln>
              <a:solidFill>
                <a:srgbClr val="0C64A7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Hence the </a:t>
            </a: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Drop Table</a:t>
            </a: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statement at the top of the script.</a:t>
            </a:r>
          </a:p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000" b="1" i="0" u="none" strike="noStrike" kern="1200" cap="none" spc="0" normalizeH="0" baseline="0" noProof="0" dirty="0">
              <a:ln>
                <a:noFill/>
              </a:ln>
              <a:solidFill>
                <a:srgbClr val="0C64A7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However, if you try to drop a table that</a:t>
            </a:r>
            <a:b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does </a:t>
            </a: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not</a:t>
            </a: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exist, Oracle also shows</a:t>
            </a:r>
            <a:b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an </a:t>
            </a: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Error</a:t>
            </a: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.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C64A7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17739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Selecting rows from the Movie Table</a:t>
            </a:r>
          </a:p>
        </p:txBody>
      </p:sp>
      <p:sp>
        <p:nvSpPr>
          <p:cNvPr id="72708" name="Rectangle 10"/>
          <p:cNvSpPr>
            <a:spLocks noChangeArrowheads="1"/>
          </p:cNvSpPr>
          <p:nvPr/>
        </p:nvSpPr>
        <p:spPr bwMode="auto">
          <a:xfrm>
            <a:off x="740229" y="908050"/>
            <a:ext cx="9675359" cy="5233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342900" marR="0" lvl="0" indent="-34290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List rows in the movie table by typing an SQL query into the </a:t>
            </a:r>
            <a:r>
              <a:rPr kumimoji="0" lang="en-A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TextBox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Click Execute</a:t>
            </a:r>
          </a:p>
          <a:p>
            <a:pPr marL="342900" marR="0" lvl="0" indent="-34290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results appear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beneath in the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Result 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FC945F-164F-4B4E-AA7D-2E28990503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2221"/>
          <a:stretch/>
        </p:blipFill>
        <p:spPr>
          <a:xfrm>
            <a:off x="3445748" y="1779105"/>
            <a:ext cx="8699870" cy="4973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6744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_Tiles">
  <a:themeElements>
    <a:clrScheme name="Swinburne">
      <a:dk1>
        <a:srgbClr val="D1161E"/>
      </a:dk1>
      <a:lt1>
        <a:srgbClr val="FFFFFF"/>
      </a:lt1>
      <a:dk2>
        <a:srgbClr val="000000"/>
      </a:dk2>
      <a:lt2>
        <a:srgbClr val="FFFFFF"/>
      </a:lt2>
      <a:accent1>
        <a:srgbClr val="4A8E10"/>
      </a:accent1>
      <a:accent2>
        <a:srgbClr val="0C64A7"/>
      </a:accent2>
      <a:accent3>
        <a:srgbClr val="16B1CF"/>
      </a:accent3>
      <a:accent4>
        <a:srgbClr val="FEAE35"/>
      </a:accent4>
      <a:accent5>
        <a:srgbClr val="6C008D"/>
      </a:accent5>
      <a:accent6>
        <a:srgbClr val="6D6F72"/>
      </a:accent6>
      <a:hlink>
        <a:srgbClr val="6D6F72"/>
      </a:hlink>
      <a:folHlink>
        <a:srgbClr val="D116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winburne - Light">
  <a:themeElements>
    <a:clrScheme name="Swinburne">
      <a:dk1>
        <a:srgbClr val="000000"/>
      </a:dk1>
      <a:lt1>
        <a:sysClr val="window" lastClr="FFFFFF"/>
      </a:lt1>
      <a:dk2>
        <a:srgbClr val="212121"/>
      </a:dk2>
      <a:lt2>
        <a:srgbClr val="FFFFFF"/>
      </a:lt2>
      <a:accent1>
        <a:srgbClr val="DC2D27"/>
      </a:accent1>
      <a:accent2>
        <a:srgbClr val="00B3EF"/>
      </a:accent2>
      <a:accent3>
        <a:srgbClr val="85C441"/>
      </a:accent3>
      <a:accent4>
        <a:srgbClr val="FDB945"/>
      </a:accent4>
      <a:accent5>
        <a:srgbClr val="882786"/>
      </a:accent5>
      <a:accent6>
        <a:srgbClr val="00BED8"/>
      </a:accent6>
      <a:hlink>
        <a:srgbClr val="006098"/>
      </a:hlink>
      <a:folHlink>
        <a:srgbClr val="006098"/>
      </a:folHlink>
    </a:clrScheme>
    <a:fontScheme name="Swinburne Font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8F006C9-65F3-430C-8CBE-92C89A6F4650}" vid="{8B552470-14E2-4541-94E0-A0FC88D4D66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1960</TotalTime>
  <Words>1575</Words>
  <Application>Microsoft Office PowerPoint</Application>
  <PresentationFormat>Widescreen</PresentationFormat>
  <Paragraphs>311</Paragraphs>
  <Slides>22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Arial Narrow</vt:lpstr>
      <vt:lpstr>Calibri</vt:lpstr>
      <vt:lpstr>Courier New</vt:lpstr>
      <vt:lpstr>Open Sans</vt:lpstr>
      <vt:lpstr>Wingdings</vt:lpstr>
      <vt:lpstr>Swinburne_Tiles</vt:lpstr>
      <vt:lpstr>Swinburne - Light</vt:lpstr>
      <vt:lpstr>Visio</vt:lpstr>
      <vt:lpstr>INF10025 Data Management and Analytics</vt:lpstr>
      <vt:lpstr>ERD to Relation Model Conversion</vt:lpstr>
      <vt:lpstr>Relational Data Model (RDM)</vt:lpstr>
      <vt:lpstr>Conversion to Relational Schema</vt:lpstr>
      <vt:lpstr>Nulls</vt:lpstr>
      <vt:lpstr>Converting two entities to Relational Schema</vt:lpstr>
      <vt:lpstr>Converting the M:1 relationship</vt:lpstr>
      <vt:lpstr>Creating a Foreign Key column</vt:lpstr>
      <vt:lpstr>The new column is a Foreign Key</vt:lpstr>
      <vt:lpstr>Converting two entities in the RM</vt:lpstr>
      <vt:lpstr>ERD to Relational Schema</vt:lpstr>
      <vt:lpstr>Relation vs Relationship</vt:lpstr>
      <vt:lpstr>Terminology</vt:lpstr>
      <vt:lpstr>Relational Schema to RDBMS table</vt:lpstr>
      <vt:lpstr>Using Oracle &amp; iSQLJunioR</vt:lpstr>
      <vt:lpstr>Using Oracle &amp; iSQLJunioR</vt:lpstr>
      <vt:lpstr>SQL: Using Oracle iSQLJunioR</vt:lpstr>
      <vt:lpstr>SQL: Table storage and access</vt:lpstr>
      <vt:lpstr>Executing statements in iSQL Jr</vt:lpstr>
      <vt:lpstr>SQL: Executing the Movie Table script</vt:lpstr>
      <vt:lpstr>SQL: Creating the Movie Table</vt:lpstr>
      <vt:lpstr>Selecting rows from the Movie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INF10025 Data Management and Analytics</dc:title>
  <dc:creator>Robert Tipping</dc:creator>
  <cp:lastModifiedBy>Robert Tipping</cp:lastModifiedBy>
  <cp:revision>2</cp:revision>
  <dcterms:created xsi:type="dcterms:W3CDTF">2023-03-09T23:19:03Z</dcterms:created>
  <dcterms:modified xsi:type="dcterms:W3CDTF">2023-03-17T06:04:27Z</dcterms:modified>
</cp:coreProperties>
</file>