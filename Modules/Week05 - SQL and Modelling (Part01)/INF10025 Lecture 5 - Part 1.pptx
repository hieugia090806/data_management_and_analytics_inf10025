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sldIdLst>
    <p:sldId id="441" r:id="rId3"/>
    <p:sldId id="453" r:id="rId4"/>
    <p:sldId id="454" r:id="rId5"/>
    <p:sldId id="455" r:id="rId6"/>
    <p:sldId id="456" r:id="rId7"/>
    <p:sldId id="457" r:id="rId8"/>
    <p:sldId id="458" r:id="rId9"/>
    <p:sldId id="459" r:id="rId10"/>
    <p:sldId id="460" r:id="rId11"/>
    <p:sldId id="461" r:id="rId12"/>
    <p:sldId id="462" r:id="rId13"/>
    <p:sldId id="463" r:id="rId14"/>
    <p:sldId id="464" r:id="rId15"/>
    <p:sldId id="465" r:id="rId16"/>
    <p:sldId id="466" r:id="rId17"/>
    <p:sldId id="467" r:id="rId18"/>
    <p:sldId id="468" r:id="rId19"/>
    <p:sldId id="4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6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48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8" name="Picture 7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7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78"/>
            <a:ext cx="10972800" cy="1058779"/>
          </a:xfrm>
        </p:spPr>
        <p:txBody>
          <a:bodyPr anchor="t"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4" cy="3917482"/>
          </a:xfrm>
          <a:noFill/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71678-C506-499C-9A15-7287DAC05B98}"/>
              </a:ext>
            </a:extLst>
          </p:cNvPr>
          <p:cNvSpPr txBox="1"/>
          <p:nvPr userDrawn="1"/>
        </p:nvSpPr>
        <p:spPr>
          <a:xfrm>
            <a:off x="381012" y="638279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F3ACB68-B3AC-4511-9780-21946B043BB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431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67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344616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4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524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508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552" y="3649334"/>
            <a:ext cx="9144000" cy="2388859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552010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/>
              <a:t>CRICOS</a:t>
            </a:r>
            <a:r>
              <a:rPr lang="en-AU" sz="800" baseline="0" dirty="0"/>
              <a:t> 00111D</a:t>
            </a:r>
          </a:p>
          <a:p>
            <a:pPr algn="r"/>
            <a:r>
              <a:rPr lang="en-AU" sz="800" baseline="0" dirty="0"/>
              <a:t>TOID 3059</a:t>
            </a:r>
            <a:endParaRPr lang="en-AU" sz="800" dirty="0"/>
          </a:p>
        </p:txBody>
      </p:sp>
      <p:pic>
        <p:nvPicPr>
          <p:cNvPr id="9" name="Picture 8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320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1411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188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2333299"/>
            <a:ext cx="5675588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333299"/>
            <a:ext cx="5675589" cy="37285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>
          <a:xfrm>
            <a:off x="344211" y="1509387"/>
            <a:ext cx="5675588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4"/>
          </p:nvPr>
        </p:nvSpPr>
        <p:spPr>
          <a:xfrm>
            <a:off x="6172199" y="1509387"/>
            <a:ext cx="56755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383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70575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177647"/>
            <a:ext cx="11490877" cy="207005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212" y="3335008"/>
            <a:ext cx="11490877" cy="2687421"/>
          </a:xfrm>
          <a:noFill/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965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3842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97" y="5486400"/>
            <a:ext cx="4665555" cy="12432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2000" cy="5358064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4946" y="5358064"/>
            <a:ext cx="7127055" cy="14999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4456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39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7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224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vert="horz" lIns="91440" tIns="108000" rIns="91440" bIns="108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1536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1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Week 5 – Part 1</a:t>
            </a:r>
          </a:p>
          <a:p>
            <a:endParaRPr lang="en-AU" b="1" dirty="0"/>
          </a:p>
          <a:p>
            <a:r>
              <a:rPr lang="en-AU" dirty="0"/>
              <a:t>Entity Relationship Modelling and Diagrams</a:t>
            </a:r>
          </a:p>
          <a:p>
            <a:r>
              <a:rPr lang="en-AU" dirty="0"/>
              <a:t>SQL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F3DD-A242-4BD9-B60A-0883CE78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6898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Database Creation overview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12694" y="908050"/>
            <a:ext cx="9955306" cy="5233988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Creating a table is easy.</a:t>
            </a:r>
          </a:p>
          <a:p>
            <a:pPr marL="0" indent="0">
              <a:buNone/>
            </a:pPr>
            <a:r>
              <a:rPr lang="en-AU" b="1" dirty="0"/>
              <a:t>Creating multiple tables is just as easy.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AU" dirty="0"/>
              <a:t>Deciding </a:t>
            </a:r>
            <a:r>
              <a:rPr lang="en-AU" b="1" dirty="0"/>
              <a:t>what data</a:t>
            </a:r>
            <a:r>
              <a:rPr lang="en-AU" dirty="0"/>
              <a:t> is stored in each table can be a </a:t>
            </a:r>
            <a:r>
              <a:rPr lang="en-AU" b="1" dirty="0"/>
              <a:t>difficult</a:t>
            </a:r>
            <a:r>
              <a:rPr lang="en-AU" dirty="0"/>
              <a:t> decision.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One way to assist in the design of the database tables is to use </a:t>
            </a:r>
            <a:br>
              <a:rPr lang="en-AU" dirty="0"/>
            </a:br>
            <a:r>
              <a:rPr lang="en-AU" b="1" dirty="0"/>
              <a:t>E</a:t>
            </a:r>
            <a:r>
              <a:rPr lang="en-AU" dirty="0"/>
              <a:t>ntity </a:t>
            </a:r>
            <a:r>
              <a:rPr lang="en-AU" b="1" dirty="0"/>
              <a:t>R</a:t>
            </a:r>
            <a:r>
              <a:rPr lang="en-AU" dirty="0"/>
              <a:t>elationship </a:t>
            </a:r>
            <a:r>
              <a:rPr lang="en-AU" b="1" dirty="0"/>
              <a:t>M</a:t>
            </a:r>
            <a:r>
              <a:rPr lang="en-AU" dirty="0"/>
              <a:t>odels &amp; </a:t>
            </a:r>
            <a:r>
              <a:rPr lang="en-AU" b="1" dirty="0"/>
              <a:t>D</a:t>
            </a:r>
            <a:r>
              <a:rPr lang="en-AU" dirty="0"/>
              <a:t>iagrams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230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Entity Relationship Model &amp; Diagram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79929" y="908050"/>
            <a:ext cx="9888071" cy="5233988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Entity Relationship Model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AU" dirty="0"/>
              <a:t>A </a:t>
            </a:r>
            <a:r>
              <a:rPr lang="en-AU" b="1" dirty="0"/>
              <a:t>logical</a:t>
            </a:r>
            <a:r>
              <a:rPr lang="en-AU" dirty="0"/>
              <a:t> representation of </a:t>
            </a:r>
            <a:r>
              <a:rPr lang="en-AU" b="1" dirty="0"/>
              <a:t>data</a:t>
            </a:r>
            <a:r>
              <a:rPr lang="en-AU" dirty="0"/>
              <a:t> required by an organisation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AU" dirty="0"/>
              <a:t>Uses </a:t>
            </a:r>
            <a:r>
              <a:rPr lang="en-AU" b="1" dirty="0"/>
              <a:t>entities</a:t>
            </a:r>
            <a:r>
              <a:rPr lang="en-AU" dirty="0"/>
              <a:t> to represent people, objects, events…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AU" dirty="0"/>
              <a:t>Identifies </a:t>
            </a:r>
            <a:r>
              <a:rPr lang="en-AU" b="1" dirty="0"/>
              <a:t>relationships</a:t>
            </a:r>
            <a:r>
              <a:rPr lang="en-AU" dirty="0"/>
              <a:t> between various entities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AU" dirty="0"/>
              <a:t>Based around </a:t>
            </a:r>
            <a:r>
              <a:rPr lang="en-AU" b="1" dirty="0"/>
              <a:t>business rules</a:t>
            </a:r>
            <a:r>
              <a:rPr lang="en-AU" dirty="0"/>
              <a:t> of the organisation</a:t>
            </a:r>
          </a:p>
          <a:p>
            <a:pPr marL="0" lvl="1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Entity Relationship Diagram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AU" dirty="0"/>
              <a:t>A </a:t>
            </a:r>
            <a:r>
              <a:rPr lang="en-AU" b="1" dirty="0"/>
              <a:t>graphical</a:t>
            </a:r>
            <a:r>
              <a:rPr lang="en-AU" dirty="0"/>
              <a:t> representation of a the ERM</a:t>
            </a:r>
          </a:p>
          <a:p>
            <a:pPr marL="0" lvl="1" indent="0">
              <a:buNone/>
            </a:pPr>
            <a:endParaRPr lang="en-AU" dirty="0"/>
          </a:p>
          <a:p>
            <a:pPr marL="0" lvl="1" indent="0">
              <a:buNone/>
            </a:pPr>
            <a:r>
              <a:rPr lang="en-AU" dirty="0"/>
              <a:t>An ER Model / ER Diagram </a:t>
            </a:r>
            <a:r>
              <a:rPr lang="en-AU" b="1" dirty="0"/>
              <a:t>does not</a:t>
            </a:r>
            <a:r>
              <a:rPr lang="en-AU" dirty="0"/>
              <a:t> actually store any data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AU" dirty="0"/>
              <a:t>An ER Model is  a plan. </a:t>
            </a:r>
          </a:p>
        </p:txBody>
      </p:sp>
    </p:spTree>
    <p:extLst>
      <p:ext uri="{BB962C8B-B14F-4D97-AF65-F5344CB8AC3E}">
        <p14:creationId xmlns:p14="http://schemas.microsoft.com/office/powerpoint/2010/main" val="3744402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ERDs vs Access Relationship Diagrams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39588" y="908050"/>
            <a:ext cx="11255188" cy="52339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Entity-Relationship Diagram (</a:t>
            </a:r>
            <a:r>
              <a:rPr lang="en-US" b="1" dirty="0"/>
              <a:t>ERD</a:t>
            </a:r>
            <a:r>
              <a:rPr lang="en-US" dirty="0"/>
              <a:t>) use </a:t>
            </a:r>
            <a:r>
              <a:rPr lang="en-US" b="1" dirty="0"/>
              <a:t>natural</a:t>
            </a:r>
            <a:r>
              <a:rPr lang="en-US" dirty="0"/>
              <a:t> keys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	No surrogate key ( only real-world keys ) This will be discussed later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Access Relationship Diagram</a:t>
            </a:r>
            <a:r>
              <a:rPr lang="en-US" dirty="0"/>
              <a:t> matches the existing database </a:t>
            </a:r>
            <a:r>
              <a:rPr lang="en-US" b="1" dirty="0"/>
              <a:t>tables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	If surrogate keys are used in a table, </a:t>
            </a:r>
            <a:br>
              <a:rPr lang="en-US" dirty="0"/>
            </a:br>
            <a:r>
              <a:rPr lang="en-US" dirty="0"/>
              <a:t>  then these appear in the Access Relationship Diagram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 Access Relationship Diagram </a:t>
            </a:r>
            <a:r>
              <a:rPr lang="en-US" b="1" dirty="0">
                <a:solidFill>
                  <a:srgbClr val="FF0000"/>
                </a:solidFill>
              </a:rPr>
              <a:t>is not</a:t>
            </a:r>
            <a:r>
              <a:rPr lang="en-US" dirty="0"/>
              <a:t> an ERD </a:t>
            </a:r>
          </a:p>
          <a:p>
            <a:pPr marL="0" indent="0">
              <a:buNone/>
            </a:pPr>
            <a:endParaRPr lang="en-US" sz="800" dirty="0"/>
          </a:p>
          <a:p>
            <a:pPr marL="430213" indent="0">
              <a:buNone/>
            </a:pPr>
            <a:endParaRPr lang="en-AU" dirty="0"/>
          </a:p>
          <a:p>
            <a:pPr marL="887413" indent="-457200"/>
            <a:r>
              <a:rPr lang="en-AU" dirty="0"/>
              <a:t>ERD exists </a:t>
            </a:r>
            <a:r>
              <a:rPr lang="en-AU" b="1" dirty="0"/>
              <a:t>before</a:t>
            </a:r>
            <a:r>
              <a:rPr lang="en-AU" dirty="0"/>
              <a:t> a database is built</a:t>
            </a:r>
          </a:p>
          <a:p>
            <a:pPr marL="887413" indent="-457200"/>
            <a:r>
              <a:rPr lang="en-AU" dirty="0"/>
              <a:t>Access relationship diagram occurs </a:t>
            </a:r>
            <a:r>
              <a:rPr lang="en-AU" b="1" dirty="0"/>
              <a:t>after</a:t>
            </a:r>
            <a:r>
              <a:rPr lang="en-AU" dirty="0"/>
              <a:t> the database is built</a:t>
            </a:r>
          </a:p>
          <a:p>
            <a:pPr marL="887413" indent="-457200"/>
            <a:endParaRPr lang="en-AU" dirty="0"/>
          </a:p>
          <a:p>
            <a:pPr marL="887413" indent="-457200"/>
            <a:endParaRPr lang="en-AU" dirty="0"/>
          </a:p>
          <a:p>
            <a:pPr marL="887413" indent="-457200"/>
            <a:endParaRPr lang="en-AU" dirty="0"/>
          </a:p>
          <a:p>
            <a:pPr marL="887413" indent="-457200"/>
            <a:endParaRPr lang="en-AU" dirty="0"/>
          </a:p>
          <a:p>
            <a:pPr marL="887413" indent="-457200"/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774637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E-R Diagrams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38200" y="949995"/>
            <a:ext cx="10515600" cy="52326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An Entity-Relationship Diagram (</a:t>
            </a:r>
            <a:r>
              <a:rPr lang="en-US" b="1" dirty="0"/>
              <a:t>ERD</a:t>
            </a:r>
            <a:r>
              <a:rPr lang="en-US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is a way to express the </a:t>
            </a:r>
            <a:r>
              <a:rPr lang="en-US" b="1" dirty="0"/>
              <a:t>structure of information </a:t>
            </a:r>
            <a:r>
              <a:rPr lang="en-US" dirty="0"/>
              <a:t>used by an organization or business in the form of a </a:t>
            </a:r>
            <a:r>
              <a:rPr lang="en-US" b="1" dirty="0"/>
              <a:t>diagram</a:t>
            </a:r>
          </a:p>
          <a:p>
            <a:pPr marL="0" indent="0">
              <a:buNone/>
            </a:pPr>
            <a:endParaRPr lang="en-US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to assist in </a:t>
            </a:r>
            <a:r>
              <a:rPr lang="en-US" b="1" dirty="0"/>
              <a:t>database design</a:t>
            </a:r>
          </a:p>
          <a:p>
            <a:pPr marL="887413" indent="-457200"/>
            <a:endParaRPr lang="en-AU" dirty="0"/>
          </a:p>
          <a:p>
            <a:pPr marL="887413" indent="-457200"/>
            <a:endParaRPr lang="en-AU" dirty="0"/>
          </a:p>
          <a:p>
            <a:pPr marL="887413" indent="-457200"/>
            <a:endParaRPr lang="en-AU" dirty="0"/>
          </a:p>
          <a:p>
            <a:pPr marL="887413" indent="-457200"/>
            <a:endParaRPr lang="en-AU" dirty="0"/>
          </a:p>
          <a:p>
            <a:pPr marL="887413" indent="-457200"/>
            <a:endParaRPr lang="en-AU" dirty="0"/>
          </a:p>
          <a:p>
            <a:pPr marL="887413" indent="-457200"/>
            <a:endParaRPr lang="en-AU" dirty="0"/>
          </a:p>
          <a:p>
            <a:pPr marL="887413" indent="-457200"/>
            <a:endParaRPr lang="en-AU" dirty="0"/>
          </a:p>
          <a:p>
            <a:pPr marL="887413" indent="-457200"/>
            <a:endParaRPr lang="en-AU" sz="2000" dirty="0"/>
          </a:p>
          <a:p>
            <a:pPr marL="1619250" lvl="2" indent="-457200">
              <a:buNone/>
            </a:pPr>
            <a:r>
              <a:rPr lang="en-AU" sz="2000" dirty="0">
                <a:solidFill>
                  <a:schemeClr val="folHlink"/>
                </a:solidFill>
              </a:rPr>
              <a:t>391 Avatar               2009        		PG   Parental Guidance</a:t>
            </a:r>
          </a:p>
          <a:p>
            <a:pPr marL="1619250" lvl="2" indent="-457200">
              <a:buNone/>
            </a:pPr>
            <a:r>
              <a:rPr lang="en-AU" sz="2000" dirty="0">
                <a:solidFill>
                  <a:schemeClr val="folHlink"/>
                </a:solidFill>
              </a:rPr>
              <a:t>231 The Matrix        1999       		M    Mature Audience</a:t>
            </a:r>
          </a:p>
          <a:p>
            <a:pPr marL="1982788" lvl="2" indent="-457200">
              <a:buNone/>
            </a:pPr>
            <a:r>
              <a:rPr lang="en-AU" sz="2000" dirty="0">
                <a:solidFill>
                  <a:schemeClr val="folHlink"/>
                </a:solidFill>
              </a:rPr>
              <a:t>	</a:t>
            </a:r>
          </a:p>
          <a:p>
            <a:pPr marL="887413" indent="-457200"/>
            <a:endParaRPr lang="en-AU" sz="2000" dirty="0"/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2004240" y="2443338"/>
          <a:ext cx="6086475" cy="243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102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10538" r="42509" b="38278"/>
                      <a:stretch>
                        <a:fillRect/>
                      </a:stretch>
                    </p:blipFill>
                    <p:spPr bwMode="auto">
                      <a:xfrm>
                        <a:off x="2004240" y="2443338"/>
                        <a:ext cx="6086475" cy="243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8441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E-R Diagrams - Entities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47482" y="938438"/>
            <a:ext cx="9055100" cy="5367338"/>
          </a:xfrm>
        </p:spPr>
        <p:txBody>
          <a:bodyPr/>
          <a:lstStyle/>
          <a:p>
            <a:pPr marL="1257300" lvl="1" indent="-339725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The E-R Diagram has </a:t>
            </a:r>
            <a:r>
              <a:rPr lang="en-US" b="1" dirty="0"/>
              <a:t>three major components:</a:t>
            </a:r>
          </a:p>
          <a:p>
            <a:pPr marL="0" lvl="1" indent="0">
              <a:buNone/>
            </a:pPr>
            <a:endParaRPr lang="en-US" dirty="0"/>
          </a:p>
          <a:p>
            <a:pPr marL="0" lvl="1" indent="0">
              <a:buNone/>
            </a:pPr>
            <a:r>
              <a:rPr lang="en-US" b="1" dirty="0">
                <a:solidFill>
                  <a:srgbClr val="FF0000"/>
                </a:solidFill>
              </a:rPr>
              <a:t>Entities     		</a:t>
            </a:r>
          </a:p>
          <a:p>
            <a:pPr marL="0" lvl="2" indent="0">
              <a:buNone/>
            </a:pPr>
            <a:r>
              <a:rPr lang="en-US" dirty="0"/>
              <a:t>This diagram has two entities: </a:t>
            </a:r>
            <a:r>
              <a:rPr lang="en-US" dirty="0">
                <a:solidFill>
                  <a:srgbClr val="FF0000"/>
                </a:solidFill>
              </a:rPr>
              <a:t>Subject and Lecturer</a:t>
            </a:r>
            <a:endParaRPr lang="en-AU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723900" indent="-293688"/>
            <a:endParaRPr lang="en-AU" sz="2000" dirty="0"/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2439989" y="3460750"/>
          <a:ext cx="7102475" cy="283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112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10538" r="42509" b="38278"/>
                      <a:stretch>
                        <a:fillRect/>
                      </a:stretch>
                    </p:blipFill>
                    <p:spPr bwMode="auto">
                      <a:xfrm>
                        <a:off x="2439989" y="3460750"/>
                        <a:ext cx="7102475" cy="283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658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E-R Diagrams - Attributes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0" y="765176"/>
            <a:ext cx="9055100" cy="5376863"/>
          </a:xfrm>
        </p:spPr>
        <p:txBody>
          <a:bodyPr/>
          <a:lstStyle/>
          <a:p>
            <a:pPr marL="1257300" lvl="1" indent="-339725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The E-R Diagram has three major components:</a:t>
            </a:r>
          </a:p>
          <a:p>
            <a:pPr marL="0" lvl="1" indent="0">
              <a:buNone/>
            </a:pPr>
            <a:endParaRPr lang="en-US" sz="1600" dirty="0"/>
          </a:p>
          <a:p>
            <a:pPr marL="0" lvl="1" indent="0">
              <a:buNone/>
            </a:pPr>
            <a:r>
              <a:rPr lang="en-US" dirty="0">
                <a:solidFill>
                  <a:schemeClr val="tx2"/>
                </a:solidFill>
              </a:rPr>
              <a:t>Entities</a:t>
            </a:r>
            <a:r>
              <a:rPr lang="en-US" dirty="0"/>
              <a:t>:     			Subject, Lecturer</a:t>
            </a:r>
          </a:p>
          <a:p>
            <a:pPr marL="0" lvl="1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Attributes:</a:t>
            </a:r>
            <a:r>
              <a:rPr lang="en-US" dirty="0"/>
              <a:t>    		</a:t>
            </a:r>
            <a:r>
              <a:rPr lang="en-US" dirty="0">
                <a:solidFill>
                  <a:srgbClr val="0070C0"/>
                </a:solidFill>
              </a:rPr>
              <a:t>This diagram has six attributes:</a:t>
            </a:r>
          </a:p>
          <a:p>
            <a:pPr marL="0" lvl="2" indent="0">
              <a:buNone/>
            </a:pPr>
            <a:r>
              <a:rPr lang="en-US" dirty="0">
                <a:solidFill>
                  <a:srgbClr val="0070C0"/>
                </a:solidFill>
              </a:rPr>
              <a:t>       					</a:t>
            </a:r>
            <a:r>
              <a:rPr lang="en-US" dirty="0" err="1">
                <a:solidFill>
                  <a:srgbClr val="0070C0"/>
                </a:solidFill>
              </a:rPr>
              <a:t>SubjectCode</a:t>
            </a:r>
            <a:r>
              <a:rPr lang="en-US" dirty="0">
                <a:solidFill>
                  <a:srgbClr val="0070C0"/>
                </a:solidFill>
              </a:rPr>
              <a:t>, Title, </a:t>
            </a:r>
            <a:r>
              <a:rPr lang="en-US" dirty="0" err="1">
                <a:solidFill>
                  <a:srgbClr val="0070C0"/>
                </a:solidFill>
              </a:rPr>
              <a:t>CreditPoints</a:t>
            </a:r>
            <a:r>
              <a:rPr lang="en-US" dirty="0">
                <a:solidFill>
                  <a:srgbClr val="0070C0"/>
                </a:solidFill>
              </a:rPr>
              <a:t>, </a:t>
            </a:r>
          </a:p>
          <a:p>
            <a:pPr marL="0" lvl="2" indent="0">
              <a:buNone/>
            </a:pPr>
            <a:r>
              <a:rPr lang="en-US" dirty="0">
                <a:solidFill>
                  <a:srgbClr val="0070C0"/>
                </a:solidFill>
              </a:rPr>
              <a:t>						</a:t>
            </a:r>
            <a:r>
              <a:rPr lang="en-US" dirty="0" err="1">
                <a:solidFill>
                  <a:srgbClr val="0070C0"/>
                </a:solidFill>
              </a:rPr>
              <a:t>LecId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LecName</a:t>
            </a:r>
            <a:r>
              <a:rPr lang="en-US" dirty="0">
                <a:solidFill>
                  <a:srgbClr val="0070C0"/>
                </a:solidFill>
              </a:rPr>
              <a:t>, Age </a:t>
            </a:r>
            <a:endParaRPr lang="en-AU" dirty="0">
              <a:solidFill>
                <a:srgbClr val="0070C0"/>
              </a:solidFill>
            </a:endParaRPr>
          </a:p>
          <a:p>
            <a:pPr marL="723900" indent="-293688"/>
            <a:endParaRPr lang="en-AU" dirty="0">
              <a:solidFill>
                <a:srgbClr val="0033CC"/>
              </a:solidFill>
            </a:endParaRPr>
          </a:p>
          <a:p>
            <a:pPr marL="723900" indent="-293688"/>
            <a:endParaRPr lang="en-AU" sz="2000" dirty="0"/>
          </a:p>
          <a:p>
            <a:pPr marL="723900" indent="-293688"/>
            <a:endParaRPr lang="en-AU" sz="2000" dirty="0"/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221800"/>
              </p:ext>
            </p:extLst>
          </p:nvPr>
        </p:nvGraphicFramePr>
        <p:xfrm>
          <a:off x="2497139" y="3745300"/>
          <a:ext cx="7102475" cy="283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122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10538" r="42509" b="38278"/>
                      <a:stretch>
                        <a:fillRect/>
                      </a:stretch>
                    </p:blipFill>
                    <p:spPr bwMode="auto">
                      <a:xfrm>
                        <a:off x="2497139" y="3745300"/>
                        <a:ext cx="7102475" cy="283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0743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8000"/>
                </a:solidFill>
              </a:rPr>
              <a:t>E-R Diagrams - Relationships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0" y="727076"/>
            <a:ext cx="10058400" cy="5414963"/>
          </a:xfrm>
        </p:spPr>
        <p:txBody>
          <a:bodyPr/>
          <a:lstStyle/>
          <a:p>
            <a:pPr marL="1257300" lvl="1" indent="-339725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The E-R Diagram has three major components:</a:t>
            </a:r>
          </a:p>
          <a:p>
            <a:pPr marL="0" lvl="1" indent="0">
              <a:buNone/>
            </a:pPr>
            <a:r>
              <a:rPr lang="en-US" dirty="0">
                <a:solidFill>
                  <a:schemeClr val="tx1"/>
                </a:solidFill>
              </a:rPr>
              <a:t>Entities</a:t>
            </a:r>
            <a:r>
              <a:rPr lang="en-US" dirty="0"/>
              <a:t>:     		Subject, </a:t>
            </a:r>
            <a:r>
              <a:rPr lang="en-US" dirty="0" err="1"/>
              <a:t>Convenor</a:t>
            </a:r>
            <a:endParaRPr lang="en-US" dirty="0"/>
          </a:p>
          <a:p>
            <a:pPr marL="0" lvl="1" indent="0">
              <a:buNone/>
            </a:pPr>
            <a:r>
              <a:rPr lang="en-US" dirty="0">
                <a:solidFill>
                  <a:srgbClr val="1C0ECC"/>
                </a:solidFill>
              </a:rPr>
              <a:t>Attributes</a:t>
            </a:r>
            <a:r>
              <a:rPr lang="en-US" dirty="0"/>
              <a:t>:    		</a:t>
            </a:r>
            <a:r>
              <a:rPr lang="en-US" dirty="0" err="1"/>
              <a:t>SubjectCode</a:t>
            </a:r>
            <a:r>
              <a:rPr lang="en-US" dirty="0"/>
              <a:t>, Title, </a:t>
            </a:r>
            <a:r>
              <a:rPr lang="en-US" dirty="0" err="1"/>
              <a:t>CreditPoints</a:t>
            </a:r>
            <a:r>
              <a:rPr lang="en-US" dirty="0"/>
              <a:t>, </a:t>
            </a:r>
            <a:r>
              <a:rPr lang="en-US" dirty="0" err="1"/>
              <a:t>LecID</a:t>
            </a:r>
            <a:r>
              <a:rPr lang="en-US" dirty="0"/>
              <a:t>…</a:t>
            </a:r>
          </a:p>
          <a:p>
            <a:pPr marL="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Relationships:</a:t>
            </a:r>
            <a:r>
              <a:rPr lang="en-US" dirty="0"/>
              <a:t>	</a:t>
            </a:r>
            <a:r>
              <a:rPr lang="en-AU" dirty="0">
                <a:solidFill>
                  <a:srgbClr val="00B050"/>
                </a:solidFill>
              </a:rPr>
              <a:t>This diagram shows a that there is a </a:t>
            </a:r>
            <a:r>
              <a:rPr lang="en-AU" b="1" dirty="0">
                <a:solidFill>
                  <a:srgbClr val="00B050"/>
                </a:solidFill>
              </a:rPr>
              <a:t>relationship</a:t>
            </a:r>
          </a:p>
          <a:p>
            <a:pPr marL="0" lvl="1" indent="0">
              <a:buNone/>
            </a:pPr>
            <a:r>
              <a:rPr lang="en-AU" dirty="0">
                <a:solidFill>
                  <a:srgbClr val="00B050"/>
                </a:solidFill>
              </a:rPr>
              <a:t>					between the entities subject and lecturer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723900" indent="-293688"/>
            <a:endParaRPr lang="en-AU" sz="2000" dirty="0"/>
          </a:p>
          <a:p>
            <a:pPr marL="723900" indent="-293688"/>
            <a:endParaRPr lang="en-AU" sz="2000" dirty="0"/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2189718" y="3516211"/>
          <a:ext cx="7102475" cy="283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133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10538" r="42509" b="38278"/>
                      <a:stretch>
                        <a:fillRect/>
                      </a:stretch>
                    </p:blipFill>
                    <p:spPr bwMode="auto">
                      <a:xfrm>
                        <a:off x="2189718" y="3516211"/>
                        <a:ext cx="7102475" cy="283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2479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E-R Diagrams &amp; Sample Data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21453" y="717216"/>
            <a:ext cx="9857647" cy="5624513"/>
          </a:xfrm>
        </p:spPr>
        <p:txBody>
          <a:bodyPr>
            <a:normAutofit fontScale="92500" lnSpcReduction="10000"/>
          </a:bodyPr>
          <a:lstStyle/>
          <a:p>
            <a:pPr marL="1257300" lvl="1" indent="-339725">
              <a:buNone/>
            </a:pPr>
            <a:endParaRPr lang="en-US" sz="1400" dirty="0"/>
          </a:p>
          <a:p>
            <a:pPr marL="0" indent="0">
              <a:buNone/>
            </a:pPr>
            <a:r>
              <a:rPr lang="en-AU" dirty="0"/>
              <a:t>When building an ER Diagram, always  consider </a:t>
            </a:r>
            <a:r>
              <a:rPr lang="en-AU" b="1" dirty="0"/>
              <a:t>examples</a:t>
            </a:r>
            <a:r>
              <a:rPr lang="en-AU" dirty="0"/>
              <a:t> of data that would be stored in each entity. </a:t>
            </a:r>
          </a:p>
          <a:p>
            <a:pPr marL="0" lvl="1" indent="0">
              <a:buNone/>
            </a:pPr>
            <a:r>
              <a:rPr lang="en-AU" dirty="0"/>
              <a:t>After all, that's why we build a database – to store data</a:t>
            </a:r>
          </a:p>
          <a:p>
            <a:pPr marL="0" lvl="1" indent="0">
              <a:buNone/>
            </a:pPr>
            <a:endParaRPr lang="en-AU" dirty="0"/>
          </a:p>
          <a:p>
            <a:pPr marL="0" lvl="1" indent="0">
              <a:buNone/>
            </a:pPr>
            <a:endParaRPr lang="en-AU" dirty="0"/>
          </a:p>
          <a:p>
            <a:pPr marL="0" lvl="1" indent="0">
              <a:buNone/>
            </a:pPr>
            <a:endParaRPr lang="en-AU" dirty="0"/>
          </a:p>
          <a:p>
            <a:pPr marL="0" lvl="1" indent="0">
              <a:buNone/>
            </a:pPr>
            <a:endParaRPr lang="en-AU" dirty="0"/>
          </a:p>
          <a:p>
            <a:pPr marL="0" lvl="1" indent="0">
              <a:buNone/>
            </a:pPr>
            <a:endParaRPr lang="en-AU" sz="1400" dirty="0"/>
          </a:p>
          <a:p>
            <a:pPr marL="0" lvl="1" indent="0">
              <a:buNone/>
            </a:pPr>
            <a:endParaRPr lang="en-AU" dirty="0"/>
          </a:p>
          <a:p>
            <a:pPr marL="0" lvl="1" indent="0">
              <a:buNone/>
            </a:pPr>
            <a:r>
              <a:rPr lang="en-AU" dirty="0"/>
              <a:t>Subject Data</a:t>
            </a:r>
          </a:p>
          <a:p>
            <a:pPr marL="0" lvl="1" indent="0">
              <a:buNone/>
            </a:pPr>
            <a:r>
              <a:rPr lang="en-AU" dirty="0">
                <a:solidFill>
                  <a:srgbClr val="FF0000"/>
                </a:solidFill>
              </a:rPr>
              <a:t>		INF10002	   Database, Analysis &amp; Design	12.5</a:t>
            </a:r>
          </a:p>
          <a:p>
            <a:pPr marL="0" lvl="1" indent="0">
              <a:buNone/>
            </a:pPr>
            <a:r>
              <a:rPr lang="en-AU" dirty="0">
                <a:solidFill>
                  <a:srgbClr val="FF0000"/>
                </a:solidFill>
              </a:rPr>
              <a:t>		INF10003	   Intro to Business Info Systems	12.5</a:t>
            </a:r>
          </a:p>
          <a:p>
            <a:pPr marL="0" lvl="1" indent="0">
              <a:buNone/>
            </a:pPr>
            <a:r>
              <a:rPr lang="en-AU" dirty="0"/>
              <a:t>Lecturer Data</a:t>
            </a:r>
          </a:p>
          <a:p>
            <a:pPr marL="0" lvl="1" indent="0">
              <a:buNone/>
            </a:pPr>
            <a:r>
              <a:rPr lang="en-AU" dirty="0">
                <a:solidFill>
                  <a:srgbClr val="FF0000"/>
                </a:solidFill>
              </a:rPr>
              <a:t>		207		John Smith		37</a:t>
            </a:r>
          </a:p>
          <a:p>
            <a:pPr marL="0" lvl="1" indent="0">
              <a:buNone/>
            </a:pPr>
            <a:r>
              <a:rPr lang="en-AU" dirty="0">
                <a:solidFill>
                  <a:srgbClr val="FF0000"/>
                </a:solidFill>
              </a:rPr>
              <a:t>		119		Jane Pitt		26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14341" name="Object 6"/>
          <p:cNvGraphicFramePr>
            <a:graphicFrameLocks noChangeAspect="1"/>
          </p:cNvGraphicFramePr>
          <p:nvPr/>
        </p:nvGraphicFramePr>
        <p:xfrm>
          <a:off x="3773487" y="2230347"/>
          <a:ext cx="4645025" cy="185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1434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10538" r="42509" b="38278"/>
                      <a:stretch>
                        <a:fillRect/>
                      </a:stretch>
                    </p:blipFill>
                    <p:spPr bwMode="auto">
                      <a:xfrm>
                        <a:off x="3773487" y="2230347"/>
                        <a:ext cx="4645025" cy="185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3837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E-R Diagrams &amp; Business Rules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47165" y="908050"/>
            <a:ext cx="10959353" cy="55663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dirty="0"/>
              <a:t>Consider some </a:t>
            </a:r>
            <a:r>
              <a:rPr lang="en-AU" b="1" dirty="0"/>
              <a:t>business rules: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dirty="0"/>
              <a:t>A student must only be enrolled in one course at any time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dirty="0"/>
              <a:t>A student may enrol in many subjects at one time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dirty="0"/>
              <a:t>A subject must only have one convenor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dirty="0"/>
              <a:t>An employee must only have one tax file number</a:t>
            </a:r>
          </a:p>
          <a:p>
            <a:pPr marL="0" lvl="1" indent="0">
              <a:buNone/>
            </a:pPr>
            <a:endParaRPr lang="en-AU" sz="1400" dirty="0"/>
          </a:p>
          <a:p>
            <a:pPr marL="0" indent="0">
              <a:buNone/>
            </a:pPr>
            <a:r>
              <a:rPr lang="en-AU" dirty="0"/>
              <a:t>Some business rules are </a:t>
            </a:r>
            <a:r>
              <a:rPr lang="en-AU" b="1" dirty="0"/>
              <a:t>common</a:t>
            </a:r>
            <a:r>
              <a:rPr lang="en-AU" dirty="0"/>
              <a:t> amongst many organisations</a:t>
            </a:r>
          </a:p>
          <a:p>
            <a:pPr marL="0" indent="0">
              <a:buNone/>
            </a:pPr>
            <a:r>
              <a:rPr lang="en-AU" dirty="0"/>
              <a:t>Some business rules are </a:t>
            </a:r>
            <a:r>
              <a:rPr lang="en-AU" b="1" dirty="0"/>
              <a:t>unique</a:t>
            </a:r>
            <a:r>
              <a:rPr lang="en-AU" dirty="0"/>
              <a:t> to a single organisation</a:t>
            </a:r>
          </a:p>
          <a:p>
            <a:pPr marL="0" indent="0">
              <a:buNone/>
            </a:pPr>
            <a:endParaRPr lang="en-AU" sz="1200" dirty="0"/>
          </a:p>
          <a:p>
            <a:pPr marL="0" indent="0">
              <a:buNone/>
            </a:pPr>
            <a:r>
              <a:rPr lang="en-AU" b="1" dirty="0"/>
              <a:t>Very few</a:t>
            </a:r>
            <a:r>
              <a:rPr lang="en-AU" dirty="0"/>
              <a:t> organisations have identical business rules </a:t>
            </a:r>
          </a:p>
          <a:p>
            <a:pPr marL="400050" lvl="2" indent="0">
              <a:buNone/>
            </a:pPr>
            <a:r>
              <a:rPr lang="en-AU" dirty="0"/>
              <a:t>(Thank goodness – or jobs in the IT industry are in trouble)</a:t>
            </a:r>
          </a:p>
          <a:p>
            <a:pPr marL="0" lvl="1" indent="0">
              <a:buNone/>
            </a:pPr>
            <a:endParaRPr lang="en-AU" sz="1400" dirty="0"/>
          </a:p>
          <a:p>
            <a:pPr marL="0" lvl="1" indent="0">
              <a:buNone/>
            </a:pPr>
            <a:r>
              <a:rPr lang="en-AU" dirty="0"/>
              <a:t>Your ERD design and subsequent database design </a:t>
            </a:r>
            <a:r>
              <a:rPr lang="en-AU" b="1" dirty="0"/>
              <a:t>must </a:t>
            </a:r>
            <a:br>
              <a:rPr lang="en-AU" b="1" dirty="0"/>
            </a:br>
            <a:r>
              <a:rPr lang="en-AU" b="1" dirty="0"/>
              <a:t>meet the needs</a:t>
            </a:r>
            <a:r>
              <a:rPr lang="en-AU" dirty="0"/>
              <a:t> of the organisation's business rules</a:t>
            </a:r>
          </a:p>
        </p:txBody>
      </p:sp>
    </p:spTree>
    <p:extLst>
      <p:ext uri="{BB962C8B-B14F-4D97-AF65-F5344CB8AC3E}">
        <p14:creationId xmlns:p14="http://schemas.microsoft.com/office/powerpoint/2010/main" val="1825532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E-R Diagrams &amp; Business Rules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908050"/>
            <a:ext cx="11317941" cy="52339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dirty="0"/>
              <a:t>What are all of the organisation's business rules about data requirements?</a:t>
            </a:r>
          </a:p>
          <a:p>
            <a:pPr marL="0" indent="0">
              <a:buNone/>
            </a:pPr>
            <a:r>
              <a:rPr lang="en-AU" dirty="0"/>
              <a:t>Where are there business rules </a:t>
            </a:r>
            <a:r>
              <a:rPr lang="en-AU" b="1" dirty="0"/>
              <a:t>stored</a:t>
            </a:r>
            <a:r>
              <a:rPr lang="en-AU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lvl="1" indent="0">
              <a:buNone/>
            </a:pPr>
            <a:r>
              <a:rPr lang="en-US" b="1" dirty="0"/>
              <a:t>"Documenting rules and policies of an organization that govern data is exactly what data modeling is all about." </a:t>
            </a:r>
          </a:p>
          <a:p>
            <a:pPr marL="0" lvl="4" indent="0">
              <a:buNone/>
            </a:pPr>
            <a:r>
              <a:rPr lang="en-US" dirty="0"/>
              <a:t>                                                                   </a:t>
            </a:r>
            <a:r>
              <a:rPr lang="en-US" sz="1600" dirty="0"/>
              <a:t>Hoffer, Prescott, McFadden. Modern Database Management.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AU" dirty="0"/>
              <a:t>There is an entire industry based around obtaining business rules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Some computing jobs can be 'off-shored'.</a:t>
            </a:r>
          </a:p>
          <a:p>
            <a:pPr marL="0" indent="0">
              <a:buNone/>
            </a:pPr>
            <a:r>
              <a:rPr lang="en-AU" dirty="0"/>
              <a:t>Data modelling is </a:t>
            </a:r>
            <a:r>
              <a:rPr lang="en-AU" b="1" dirty="0"/>
              <a:t>not</a:t>
            </a:r>
            <a:r>
              <a:rPr lang="en-AU" dirty="0"/>
              <a:t> one of those jobs.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884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105879"/>
            <a:ext cx="10972800" cy="802172"/>
          </a:xfrm>
        </p:spPr>
        <p:txBody>
          <a:bodyPr/>
          <a:lstStyle/>
          <a:p>
            <a:r>
              <a:rPr lang="en-AU" dirty="0"/>
              <a:t>E-R Diagrams &amp; Business Rules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47261" y="848416"/>
            <a:ext cx="11744739" cy="52339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Why is discovering business rules so difficult?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AU" dirty="0"/>
              <a:t>No </a:t>
            </a:r>
            <a:r>
              <a:rPr lang="en-AU" b="1" dirty="0"/>
              <a:t>single</a:t>
            </a:r>
            <a:r>
              <a:rPr lang="en-AU" dirty="0"/>
              <a:t> person knows </a:t>
            </a:r>
            <a:r>
              <a:rPr lang="en-AU" b="1" dirty="0"/>
              <a:t>all </a:t>
            </a:r>
            <a:r>
              <a:rPr lang="en-AU" dirty="0"/>
              <a:t>of the business rules of an organisation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AU" dirty="0"/>
              <a:t>Individuals </a:t>
            </a:r>
            <a:r>
              <a:rPr lang="en-AU" b="1" dirty="0"/>
              <a:t>can't</a:t>
            </a:r>
            <a:r>
              <a:rPr lang="en-AU" dirty="0"/>
              <a:t> tell you every rule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AU" dirty="0"/>
              <a:t>Individuals </a:t>
            </a:r>
            <a:r>
              <a:rPr lang="en-AU" b="1" dirty="0"/>
              <a:t>won't</a:t>
            </a:r>
            <a:r>
              <a:rPr lang="en-AU" dirty="0"/>
              <a:t> to tell you every rule </a:t>
            </a:r>
            <a:r>
              <a:rPr lang="en-AU" dirty="0">
                <a:solidFill>
                  <a:schemeClr val="bg1">
                    <a:lumMod val="65000"/>
                  </a:schemeClr>
                </a:solidFill>
              </a:rPr>
              <a:t>(some will tell you rules that don't exist)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dirty="0"/>
              <a:t>Fear, distrust, changing their job…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AU" b="1" dirty="0"/>
              <a:t>Lack</a:t>
            </a:r>
            <a:r>
              <a:rPr lang="en-AU" dirty="0"/>
              <a:t> of existing documentation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AU" sz="14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AU" b="1" dirty="0"/>
              <a:t>Rules change</a:t>
            </a:r>
            <a:r>
              <a:rPr lang="en-AU" dirty="0"/>
              <a:t> as business needs changes, regulations change, competition changes, technology changes.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dirty="0"/>
              <a:t>Changes can occur during the modelling phase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Rule gathering </a:t>
            </a:r>
            <a:r>
              <a:rPr lang="en-US" dirty="0"/>
              <a:t>topic</a:t>
            </a:r>
            <a:r>
              <a:rPr lang="en-US" b="1" dirty="0"/>
              <a:t> </a:t>
            </a:r>
            <a:r>
              <a:rPr lang="en-US" dirty="0"/>
              <a:t>discussed in future subjects </a:t>
            </a:r>
            <a:br>
              <a:rPr lang="en-US" dirty="0"/>
            </a:br>
            <a:r>
              <a:rPr lang="en-US" dirty="0"/>
              <a:t>such as </a:t>
            </a:r>
            <a:r>
              <a:rPr lang="en-US" b="1" dirty="0"/>
              <a:t>RAM</a:t>
            </a:r>
            <a:r>
              <a:rPr lang="en-US" dirty="0"/>
              <a:t> </a:t>
            </a:r>
            <a:r>
              <a:rPr lang="en-US" sz="1800" dirty="0"/>
              <a:t>(Req. Analysis &amp; Modelling)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This semester in DAD, </a:t>
            </a:r>
            <a:r>
              <a:rPr lang="en-AU" b="1" dirty="0"/>
              <a:t>you will be given all of the business rules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59053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726141" y="1006680"/>
            <a:ext cx="9811684" cy="5135358"/>
          </a:xfrm>
          <a:noFill/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AU" sz="2800" dirty="0">
                <a:cs typeface="Open Sans"/>
              </a:rPr>
              <a:t>Cardinality constraints specify how many instances of one entity </a:t>
            </a:r>
            <a:br>
              <a:rPr lang="en-AU" sz="2800" dirty="0">
                <a:cs typeface="Open Sans"/>
              </a:rPr>
            </a:br>
            <a:r>
              <a:rPr lang="en-AU" sz="2800" dirty="0">
                <a:cs typeface="Open Sans"/>
              </a:rPr>
              <a:t>are related to instances of another entity</a:t>
            </a:r>
          </a:p>
          <a:p>
            <a:pPr marL="0" indent="0">
              <a:lnSpc>
                <a:spcPct val="80000"/>
              </a:lnSpc>
              <a:buNone/>
            </a:pPr>
            <a:endParaRPr lang="en-AU" sz="12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AU" sz="2800" dirty="0">
                <a:cs typeface="Open Sans"/>
              </a:rPr>
              <a:t>The answer is always </a:t>
            </a:r>
            <a:r>
              <a:rPr lang="en-AU" sz="2800" b="1" dirty="0">
                <a:cs typeface="Open Sans"/>
              </a:rPr>
              <a:t>One</a:t>
            </a:r>
            <a:r>
              <a:rPr lang="en-AU" sz="2800" dirty="0">
                <a:cs typeface="Open Sans"/>
              </a:rPr>
              <a:t> or </a:t>
            </a:r>
            <a:r>
              <a:rPr lang="en-AU" sz="2800" b="1" dirty="0">
                <a:cs typeface="Open Sans"/>
              </a:rPr>
              <a:t>Many</a:t>
            </a:r>
          </a:p>
          <a:p>
            <a:pPr marL="0" indent="0">
              <a:lnSpc>
                <a:spcPct val="80000"/>
              </a:lnSpc>
              <a:buNone/>
            </a:pPr>
            <a:endParaRPr lang="en-AU" sz="14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AU" sz="2800" dirty="0">
                <a:cs typeface="Open Sans"/>
              </a:rPr>
              <a:t>At Swinburne:</a:t>
            </a:r>
          </a:p>
          <a:p>
            <a:pPr marL="742950" lvl="2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cs typeface="Open Sans"/>
              </a:rPr>
              <a:t>How many lecturers convene a single subject</a:t>
            </a:r>
            <a:r>
              <a:rPr lang="en-US" sz="2800" dirty="0">
                <a:cs typeface="Open Sans"/>
              </a:rPr>
              <a:t>?</a:t>
            </a:r>
            <a:r>
              <a:rPr lang="en-AU" sz="2800" dirty="0">
                <a:cs typeface="Open Sans"/>
              </a:rPr>
              <a:t> 	</a:t>
            </a:r>
            <a:r>
              <a:rPr lang="en-AU" sz="2800" b="1" dirty="0">
                <a:cs typeface="Open Sans"/>
              </a:rPr>
              <a:t>ONE</a:t>
            </a:r>
          </a:p>
          <a:p>
            <a:pPr marL="742950" lvl="2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cs typeface="Open Sans"/>
              </a:rPr>
              <a:t>How many subjects can a lecturer convene</a:t>
            </a:r>
            <a:r>
              <a:rPr lang="en-US" sz="2800" dirty="0">
                <a:cs typeface="Open Sans"/>
              </a:rPr>
              <a:t>? 		</a:t>
            </a:r>
            <a:r>
              <a:rPr lang="en-US" sz="2800" b="1" dirty="0">
                <a:cs typeface="Open Sans"/>
              </a:rPr>
              <a:t>MANY</a:t>
            </a:r>
          </a:p>
          <a:p>
            <a:pPr marL="0" indent="0">
              <a:lnSpc>
                <a:spcPct val="80000"/>
              </a:lnSpc>
              <a:buNone/>
            </a:pPr>
            <a:endParaRPr lang="en-AU" sz="28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AU" sz="2800" dirty="0">
                <a:cs typeface="Open Sans"/>
              </a:rPr>
              <a:t>The </a:t>
            </a:r>
            <a:r>
              <a:rPr lang="en-AU" sz="2800" b="1" dirty="0">
                <a:cs typeface="Open Sans"/>
              </a:rPr>
              <a:t>Cardinality</a:t>
            </a:r>
            <a:r>
              <a:rPr lang="en-AU" sz="2800" dirty="0">
                <a:cs typeface="Open Sans"/>
              </a:rPr>
              <a:t> is drawn onto the Relationship line</a:t>
            </a:r>
          </a:p>
          <a:p>
            <a:pPr marL="0" indent="0">
              <a:lnSpc>
                <a:spcPct val="80000"/>
              </a:lnSpc>
              <a:buNone/>
            </a:pPr>
            <a:endParaRPr lang="en-AU" sz="2800" dirty="0">
              <a:cs typeface="Open Sans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AU" b="1" dirty="0">
                <a:cs typeface="Open Sans"/>
              </a:rPr>
              <a:t>ONE</a:t>
            </a:r>
            <a:r>
              <a:rPr lang="en-AU" dirty="0">
                <a:cs typeface="Open Sans"/>
              </a:rPr>
              <a:t> is drawn as a single line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AU" dirty="0">
                <a:cs typeface="Open Sans"/>
              </a:rPr>
              <a:t> 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AU" b="1" dirty="0">
                <a:cs typeface="Open Sans"/>
              </a:rPr>
              <a:t>MANY</a:t>
            </a:r>
            <a:r>
              <a:rPr lang="en-AU" dirty="0">
                <a:cs typeface="Open Sans"/>
              </a:rPr>
              <a:t> is drawn as a crow's foot</a:t>
            </a:r>
            <a:endParaRPr lang="en-US" dirty="0">
              <a:cs typeface="Open Sans"/>
            </a:endParaRPr>
          </a:p>
        </p:txBody>
      </p:sp>
      <p:graphicFrame>
        <p:nvGraphicFramePr>
          <p:cNvPr id="17413" name="Object 10"/>
          <p:cNvGraphicFramePr>
            <a:graphicFrameLocks noChangeAspect="1"/>
          </p:cNvGraphicFramePr>
          <p:nvPr/>
        </p:nvGraphicFramePr>
        <p:xfrm>
          <a:off x="5473700" y="5025559"/>
          <a:ext cx="2463800" cy="139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771660" imgH="1878733" progId="Visio.Drawing.11">
                  <p:embed/>
                </p:oleObj>
              </mc:Choice>
              <mc:Fallback>
                <p:oleObj name="Visio" r:id="rId2" imgW="4771660" imgH="1878733" progId="Visio.Drawing.11">
                  <p:embed/>
                  <p:pic>
                    <p:nvPicPr>
                      <p:cNvPr id="1741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365" t="33936" r="62654" b="31580"/>
                      <a:stretch>
                        <a:fillRect/>
                      </a:stretch>
                    </p:blipFill>
                    <p:spPr bwMode="auto">
                      <a:xfrm>
                        <a:off x="5473700" y="5025559"/>
                        <a:ext cx="2463800" cy="1395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105879"/>
            <a:ext cx="10972800" cy="802172"/>
          </a:xfrm>
        </p:spPr>
        <p:txBody>
          <a:bodyPr/>
          <a:lstStyle/>
          <a:p>
            <a:r>
              <a:rPr lang="en-AU" dirty="0"/>
              <a:t>Cardinality constraints</a:t>
            </a:r>
          </a:p>
        </p:txBody>
      </p:sp>
    </p:spTree>
    <p:extLst>
      <p:ext uri="{BB962C8B-B14F-4D97-AF65-F5344CB8AC3E}">
        <p14:creationId xmlns:p14="http://schemas.microsoft.com/office/powerpoint/2010/main" val="399345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596900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FF0000"/>
                </a:solidFill>
              </a:rPr>
              <a:t>Determining Cardinality  - part 1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812800" y="1117600"/>
            <a:ext cx="10406743" cy="5024438"/>
          </a:xfrm>
          <a:noFill/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Let's consider the "convened by" relationship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Let's consider the </a:t>
            </a:r>
            <a:r>
              <a:rPr lang="en-AU" sz="2400" b="1" dirty="0">
                <a:cs typeface="Open Sans"/>
              </a:rPr>
              <a:t>LEFT</a:t>
            </a:r>
            <a:r>
              <a:rPr lang="en-AU" sz="2400" dirty="0">
                <a:cs typeface="Open Sans"/>
              </a:rPr>
              <a:t> end of the relationship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Let's consider just ONE instance of a subject (e.g. INF10002)</a:t>
            </a: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How many lecturers convene this </a:t>
            </a:r>
            <a:r>
              <a:rPr lang="en-AU" sz="2400" b="1" dirty="0">
                <a:cs typeface="Open Sans"/>
              </a:rPr>
              <a:t>one</a:t>
            </a:r>
            <a:r>
              <a:rPr lang="en-AU" sz="2400" dirty="0">
                <a:cs typeface="Open Sans"/>
              </a:rPr>
              <a:t> subject?  ONE</a:t>
            </a:r>
          </a:p>
          <a:p>
            <a:pPr lvl="1">
              <a:lnSpc>
                <a:spcPct val="80000"/>
              </a:lnSpc>
            </a:pPr>
            <a:r>
              <a:rPr lang="en-AU" sz="2400" dirty="0">
                <a:cs typeface="Open Sans"/>
              </a:rPr>
              <a:t>Draw the cardinality symbol at the RIGHT end of the relationship</a:t>
            </a: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Now read this diagram </a:t>
            </a:r>
            <a:r>
              <a:rPr lang="en-AU" sz="2400" b="1" dirty="0">
                <a:cs typeface="Open Sans"/>
              </a:rPr>
              <a:t>left to right 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Start the sentence by using one instance of the subject entity</a:t>
            </a:r>
          </a:p>
          <a:p>
            <a:pPr marL="0" lvl="1" indent="0">
              <a:lnSpc>
                <a:spcPct val="80000"/>
              </a:lnSpc>
              <a:buNone/>
            </a:pPr>
            <a:endParaRPr lang="en-AU" sz="12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"One Subject is convened by ONE lecturer"</a:t>
            </a:r>
          </a:p>
        </p:txBody>
      </p:sp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7552077" y="871538"/>
          <a:ext cx="37798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184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34181" r="42509" b="38278"/>
                      <a:stretch>
                        <a:fillRect/>
                      </a:stretch>
                    </p:blipFill>
                    <p:spPr bwMode="auto">
                      <a:xfrm>
                        <a:off x="7552077" y="871538"/>
                        <a:ext cx="377983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3201534" y="3463925"/>
          <a:ext cx="6240462" cy="134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8331595" imgH="3660526" progId="Visio.Drawing.11">
                  <p:embed/>
                </p:oleObj>
              </mc:Choice>
              <mc:Fallback>
                <p:oleObj name="Visio" r:id="rId4" imgW="8331595" imgH="3660526" progId="Visio.Drawing.11">
                  <p:embed/>
                  <p:pic>
                    <p:nvPicPr>
                      <p:cNvPr id="184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34181" r="42509" b="38278"/>
                      <a:stretch>
                        <a:fillRect/>
                      </a:stretch>
                    </p:blipFill>
                    <p:spPr bwMode="auto">
                      <a:xfrm>
                        <a:off x="3201534" y="3463925"/>
                        <a:ext cx="6240462" cy="1341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8526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685800"/>
          </a:xfrm>
        </p:spPr>
        <p:txBody>
          <a:bodyPr>
            <a:normAutofit fontScale="90000"/>
          </a:bodyPr>
          <a:lstStyle/>
          <a:p>
            <a:r>
              <a:rPr lang="en-AU" dirty="0"/>
              <a:t>Determining Cardinality  - part 2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943429" y="1175657"/>
            <a:ext cx="9594396" cy="4966381"/>
          </a:xfrm>
          <a:noFill/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Let's again consider the "convened by" relationship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Let's consider the RIGHT end of the relationship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Let's consider ONE instance of a lecturer (e.g. Fred Smith)</a:t>
            </a: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How many subjects are convened by this one lecturer?  MANY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Draw the cardinality symbol at the LEFT end of the relationship</a:t>
            </a: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Now read this diagram right to left 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Start the sentence by using one instance of the lecturer entity</a:t>
            </a:r>
          </a:p>
          <a:p>
            <a:pPr marL="0" lvl="1" indent="0">
              <a:lnSpc>
                <a:spcPct val="80000"/>
              </a:lnSpc>
              <a:buNone/>
            </a:pPr>
            <a:endParaRPr lang="en-AU" sz="1200" dirty="0"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"One Lecturer convenes MANY Subjects"</a:t>
            </a:r>
          </a:p>
        </p:txBody>
      </p:sp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7982178" y="1008063"/>
          <a:ext cx="37798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194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34181" r="42509" b="38278"/>
                      <a:stretch>
                        <a:fillRect/>
                      </a:stretch>
                    </p:blipFill>
                    <p:spPr bwMode="auto">
                      <a:xfrm>
                        <a:off x="7982178" y="1008063"/>
                        <a:ext cx="377983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2975769" y="3658847"/>
          <a:ext cx="6240462" cy="134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8331440" imgH="3660660" progId="Visio.Drawing.11">
                  <p:embed/>
                </p:oleObj>
              </mc:Choice>
              <mc:Fallback>
                <p:oleObj name="Visio" r:id="rId4" imgW="8331440" imgH="3660660" progId="Visio.Drawing.11">
                  <p:embed/>
                  <p:pic>
                    <p:nvPicPr>
                      <p:cNvPr id="194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 l="1324" t="34181" r="42509" b="38278"/>
                      <a:stretch>
                        <a:fillRect/>
                      </a:stretch>
                    </p:blipFill>
                    <p:spPr bwMode="auto">
                      <a:xfrm>
                        <a:off x="2975769" y="3658847"/>
                        <a:ext cx="6240462" cy="1341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5222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654276"/>
          </a:xfrm>
        </p:spPr>
        <p:txBody>
          <a:bodyPr>
            <a:normAutofit fontScale="90000"/>
          </a:bodyPr>
          <a:lstStyle/>
          <a:p>
            <a:r>
              <a:rPr lang="en-AU" dirty="0"/>
              <a:t>Summary - Cardinality Constraints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725714" y="1311413"/>
            <a:ext cx="11141608" cy="3995738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800" dirty="0">
                <a:cs typeface="Open Sans"/>
              </a:rPr>
              <a:t>What does this diagram say?</a:t>
            </a:r>
          </a:p>
          <a:p>
            <a:pPr marL="0" indent="0">
              <a:buNone/>
            </a:pPr>
            <a:endParaRPr lang="en-AU" sz="1600" dirty="0">
              <a:cs typeface="Open Sans"/>
            </a:endParaRPr>
          </a:p>
          <a:p>
            <a:pPr marL="0" lvl="1" indent="0">
              <a:buNone/>
            </a:pPr>
            <a:r>
              <a:rPr lang="en-AU" dirty="0">
                <a:cs typeface="Open Sans"/>
              </a:rPr>
              <a:t>		ONE Subject is convened by ONE Lecturer</a:t>
            </a:r>
          </a:p>
          <a:p>
            <a:pPr marL="0" lvl="1" indent="0">
              <a:buNone/>
            </a:pPr>
            <a:r>
              <a:rPr lang="en-AU" dirty="0">
                <a:cs typeface="Open Sans"/>
              </a:rPr>
              <a:t>		ONE Lecturer convenes MANY Subjects </a:t>
            </a:r>
          </a:p>
          <a:p>
            <a:pPr marL="0" indent="0">
              <a:buNone/>
            </a:pPr>
            <a:endParaRPr lang="en-AU" sz="2800" dirty="0">
              <a:cs typeface="Open Sans"/>
            </a:endParaRPr>
          </a:p>
          <a:p>
            <a:pPr marL="0" indent="0">
              <a:buNone/>
            </a:pPr>
            <a:r>
              <a:rPr lang="en-AU" sz="2800" b="1" dirty="0">
                <a:cs typeface="Open Sans"/>
              </a:rPr>
              <a:t>Always</a:t>
            </a:r>
            <a:r>
              <a:rPr lang="en-AU" sz="2800" dirty="0">
                <a:cs typeface="Open Sans"/>
              </a:rPr>
              <a:t> begin each sentence with the word ONE (</a:t>
            </a:r>
            <a:r>
              <a:rPr lang="en-AU" sz="2800" b="1" u="sng" dirty="0">
                <a:cs typeface="Open Sans"/>
              </a:rPr>
              <a:t>never</a:t>
            </a:r>
            <a:r>
              <a:rPr lang="en-AU" sz="2800" dirty="0">
                <a:cs typeface="Open Sans"/>
              </a:rPr>
              <a:t> begin with "many")</a:t>
            </a:r>
          </a:p>
          <a:p>
            <a:pPr marL="0" indent="0">
              <a:buNone/>
            </a:pPr>
            <a:endParaRPr lang="en-AU" sz="1600" dirty="0">
              <a:cs typeface="Open Sans"/>
            </a:endParaRPr>
          </a:p>
          <a:p>
            <a:pPr marL="0" indent="0">
              <a:buNone/>
            </a:pPr>
            <a:r>
              <a:rPr lang="en-AU" sz="2800" dirty="0">
                <a:cs typeface="Open Sans"/>
              </a:rPr>
              <a:t>The only difficulty with this diagram is that the relationship name "Convened by" only reads left to right. </a:t>
            </a:r>
          </a:p>
          <a:p>
            <a:pPr marL="0" indent="0">
              <a:buNone/>
            </a:pPr>
            <a:br>
              <a:rPr lang="en-AU" sz="1200" dirty="0">
                <a:cs typeface="Open Sans"/>
              </a:rPr>
            </a:br>
            <a:r>
              <a:rPr lang="en-AU" sz="2800" dirty="0">
                <a:cs typeface="Open Sans"/>
              </a:rPr>
              <a:t>The reader must rephrase those words so that it makes sense when</a:t>
            </a:r>
            <a:br>
              <a:rPr lang="en-AU" sz="2800" dirty="0">
                <a:cs typeface="Open Sans"/>
              </a:rPr>
            </a:br>
            <a:r>
              <a:rPr lang="en-AU" sz="2800" dirty="0">
                <a:cs typeface="Open Sans"/>
              </a:rPr>
              <a:t>reading right to left</a:t>
            </a:r>
          </a:p>
        </p:txBody>
      </p:sp>
      <p:graphicFrame>
        <p:nvGraphicFramePr>
          <p:cNvPr id="20485" name="Object 6"/>
          <p:cNvGraphicFramePr>
            <a:graphicFrameLocks noChangeAspect="1"/>
          </p:cNvGraphicFramePr>
          <p:nvPr/>
        </p:nvGraphicFramePr>
        <p:xfrm>
          <a:off x="6295799" y="928914"/>
          <a:ext cx="5896201" cy="1267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2048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34181" r="42509" b="38278"/>
                      <a:stretch>
                        <a:fillRect/>
                      </a:stretch>
                    </p:blipFill>
                    <p:spPr bwMode="auto">
                      <a:xfrm>
                        <a:off x="6295799" y="928914"/>
                        <a:ext cx="5896201" cy="12674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0130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614362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FF0000"/>
                </a:solidFill>
              </a:rPr>
              <a:t>Entities Instances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769257" y="889000"/>
            <a:ext cx="11234057" cy="3995738"/>
          </a:xfrm>
          <a:noFill/>
        </p:spPr>
        <p:txBody>
          <a:bodyPr>
            <a:noAutofit/>
          </a:bodyPr>
          <a:lstStyle/>
          <a:p>
            <a:pPr marL="0" lvl="1" indent="0">
              <a:lnSpc>
                <a:spcPct val="80000"/>
              </a:lnSpc>
              <a:buNone/>
            </a:pPr>
            <a:endParaRPr lang="en-AU" sz="2400" dirty="0">
              <a:latin typeface="Open Sans"/>
              <a:cs typeface="Open Sans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An</a:t>
            </a:r>
            <a:r>
              <a:rPr lang="en-AU" sz="2400" b="1" dirty="0">
                <a:cs typeface="Open Sans"/>
              </a:rPr>
              <a:t> entity instance</a:t>
            </a:r>
            <a:r>
              <a:rPr lang="en-AU" sz="2400" dirty="0">
                <a:cs typeface="Open Sans"/>
              </a:rPr>
              <a:t> is one set of values for the attributes of an Entity</a:t>
            </a:r>
          </a:p>
          <a:p>
            <a:pPr marL="0" lvl="1" indent="0">
              <a:lnSpc>
                <a:spcPct val="80000"/>
              </a:lnSpc>
              <a:buNone/>
            </a:pPr>
            <a:endParaRPr lang="en-AU" sz="2400" dirty="0">
              <a:cs typeface="Open Sans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E.g. This is an </a:t>
            </a:r>
            <a:r>
              <a:rPr lang="en-AU" sz="2400" b="1" dirty="0">
                <a:cs typeface="Open Sans"/>
              </a:rPr>
              <a:t>instance</a:t>
            </a:r>
            <a:r>
              <a:rPr lang="en-AU" sz="2400" dirty="0">
                <a:cs typeface="Open Sans"/>
              </a:rPr>
              <a:t> of the Lecturer Entity</a:t>
            </a:r>
          </a:p>
          <a:p>
            <a:pPr marL="0" lvl="1" indent="0">
              <a:lnSpc>
                <a:spcPct val="80000"/>
              </a:lnSpc>
              <a:buNone/>
            </a:pPr>
            <a:endParaRPr lang="en-AU" sz="1000" dirty="0">
              <a:cs typeface="Open Sans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AU" sz="2400" dirty="0">
                <a:solidFill>
                  <a:srgbClr val="FF0000"/>
                </a:solidFill>
                <a:cs typeface="Open Sans"/>
              </a:rPr>
              <a:t>	LecId         	207 </a:t>
            </a:r>
            <a:br>
              <a:rPr lang="en-AU" sz="2400" dirty="0">
                <a:solidFill>
                  <a:srgbClr val="FF0000"/>
                </a:solidFill>
                <a:cs typeface="Open Sans"/>
              </a:rPr>
            </a:br>
            <a:r>
              <a:rPr lang="en-AU" sz="2400" dirty="0">
                <a:solidFill>
                  <a:srgbClr val="FF0000"/>
                </a:solidFill>
                <a:cs typeface="Open Sans"/>
              </a:rPr>
              <a:t>	LecName 	John Smith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AU" sz="2400" dirty="0">
                <a:solidFill>
                  <a:srgbClr val="FF0000"/>
                </a:solidFill>
                <a:cs typeface="Open Sans"/>
              </a:rPr>
              <a:t>   	Age     		37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   </a:t>
            </a:r>
          </a:p>
          <a:p>
            <a:pPr marL="0" lvl="1" indent="0">
              <a:lnSpc>
                <a:spcPct val="80000"/>
              </a:lnSpc>
              <a:buNone/>
            </a:pPr>
            <a:endParaRPr lang="en-AU" sz="2400" dirty="0">
              <a:cs typeface="Open Sans"/>
            </a:endParaRPr>
          </a:p>
          <a:p>
            <a:pPr marL="0" lvl="1" indent="0">
              <a:lnSpc>
                <a:spcPct val="80000"/>
              </a:lnSpc>
              <a:buNone/>
            </a:pPr>
            <a:endParaRPr lang="en-AU" sz="2400" dirty="0">
              <a:cs typeface="Open Sans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AU" sz="2400" dirty="0">
                <a:cs typeface="Open Sans"/>
              </a:rPr>
              <a:t>E.g. This is another </a:t>
            </a:r>
            <a:r>
              <a:rPr lang="en-AU" sz="2400" b="1" dirty="0">
                <a:cs typeface="Open Sans"/>
              </a:rPr>
              <a:t>instance</a:t>
            </a:r>
            <a:r>
              <a:rPr lang="en-AU" sz="2400" dirty="0">
                <a:cs typeface="Open Sans"/>
              </a:rPr>
              <a:t> of the Lecturer Entity</a:t>
            </a:r>
          </a:p>
          <a:p>
            <a:pPr marL="0" lvl="1" indent="0">
              <a:lnSpc>
                <a:spcPct val="80000"/>
              </a:lnSpc>
              <a:buNone/>
            </a:pPr>
            <a:endParaRPr lang="en-AU" sz="2000" dirty="0">
              <a:cs typeface="Open Sans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AU" sz="2400" dirty="0">
                <a:solidFill>
                  <a:srgbClr val="FF0000"/>
                </a:solidFill>
                <a:cs typeface="Open Sans"/>
              </a:rPr>
              <a:t>	LecId        	119 </a:t>
            </a:r>
            <a:br>
              <a:rPr lang="en-AU" sz="2400" dirty="0">
                <a:solidFill>
                  <a:srgbClr val="FF0000"/>
                </a:solidFill>
                <a:cs typeface="Open Sans"/>
              </a:rPr>
            </a:br>
            <a:r>
              <a:rPr lang="en-AU" sz="2400" dirty="0">
                <a:solidFill>
                  <a:srgbClr val="FF0000"/>
                </a:solidFill>
                <a:cs typeface="Open Sans"/>
              </a:rPr>
              <a:t>	LecName 	Jane Pitt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AU" sz="2400" dirty="0">
                <a:solidFill>
                  <a:srgbClr val="FF0000"/>
                </a:solidFill>
                <a:cs typeface="Open Sans"/>
              </a:rPr>
              <a:t>   	Age     		26</a:t>
            </a:r>
          </a:p>
        </p:txBody>
      </p:sp>
      <p:graphicFrame>
        <p:nvGraphicFramePr>
          <p:cNvPr id="21509" name="Object 7"/>
          <p:cNvGraphicFramePr>
            <a:graphicFrameLocks noChangeAspect="1"/>
          </p:cNvGraphicFramePr>
          <p:nvPr/>
        </p:nvGraphicFramePr>
        <p:xfrm>
          <a:off x="9212490" y="1990843"/>
          <a:ext cx="2239282" cy="3187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2150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0158" t="10538" r="42509" b="38278"/>
                      <a:stretch>
                        <a:fillRect/>
                      </a:stretch>
                    </p:blipFill>
                    <p:spPr bwMode="auto">
                      <a:xfrm>
                        <a:off x="9212490" y="1990843"/>
                        <a:ext cx="2239282" cy="31878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7135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458450" y="5805714"/>
            <a:ext cx="1733550" cy="10522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l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770391"/>
          </a:xfrm>
        </p:spPr>
        <p:txBody>
          <a:bodyPr/>
          <a:lstStyle/>
          <a:p>
            <a:r>
              <a:rPr lang="en-AU" dirty="0">
                <a:solidFill>
                  <a:srgbClr val="FF0000"/>
                </a:solidFill>
              </a:rPr>
              <a:t>E-R Diagrams – Identifiers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769257" y="1045028"/>
            <a:ext cx="11045372" cy="3839709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400" dirty="0">
                <a:cs typeface="Open Sans"/>
              </a:rPr>
              <a:t>An identifier is an attribute(s) that uniquely identifies an entity instance</a:t>
            </a:r>
          </a:p>
          <a:p>
            <a:pPr marL="812800"/>
            <a:r>
              <a:rPr lang="en-AU" sz="2400" dirty="0">
                <a:cs typeface="Open Sans"/>
              </a:rPr>
              <a:t>	Same concept as a Primary Key</a:t>
            </a:r>
            <a:br>
              <a:rPr lang="en-AU" sz="2400" dirty="0">
                <a:cs typeface="Open Sans"/>
              </a:rPr>
            </a:br>
            <a:endParaRPr lang="en-AU" sz="600" dirty="0">
              <a:cs typeface="Open Sans"/>
            </a:endParaRPr>
          </a:p>
          <a:p>
            <a:pPr marL="0" lvl="1" indent="0">
              <a:buNone/>
            </a:pPr>
            <a:r>
              <a:rPr lang="en-AU" sz="2400" b="1" dirty="0">
                <a:cs typeface="Open Sans"/>
              </a:rPr>
              <a:t>Rules</a:t>
            </a:r>
            <a:r>
              <a:rPr lang="en-AU" sz="2400" dirty="0">
                <a:cs typeface="Open Sans"/>
              </a:rPr>
              <a:t> 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en-AU" sz="2400" dirty="0"/>
              <a:t>Every entity must </a:t>
            </a:r>
            <a:r>
              <a:rPr lang="en-AU" sz="2400" dirty="0">
                <a:cs typeface="Open Sans"/>
              </a:rPr>
              <a:t>have an identifier 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en-AU" sz="2400" dirty="0">
                <a:cs typeface="Open Sans"/>
              </a:rPr>
              <a:t>Every instance of an entity must have a unique identifier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en-AU" sz="2400" dirty="0">
                <a:cs typeface="Open Sans"/>
              </a:rPr>
              <a:t>No duplicates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en-AU" sz="2400" dirty="0">
                <a:cs typeface="Open Sans"/>
              </a:rPr>
              <a:t>The value of an identifier cannot be empty / null</a:t>
            </a:r>
          </a:p>
          <a:p>
            <a:pPr marL="0" lvl="2" indent="0">
              <a:buNone/>
            </a:pPr>
            <a:endParaRPr lang="en-AU" dirty="0">
              <a:cs typeface="Open Sans"/>
            </a:endParaRPr>
          </a:p>
          <a:p>
            <a:pPr marL="0" lvl="1" indent="0">
              <a:buNone/>
            </a:pPr>
            <a:r>
              <a:rPr lang="en-AU" sz="2400" dirty="0">
                <a:cs typeface="Open Sans"/>
              </a:rPr>
              <a:t>Entity identifiers are </a:t>
            </a:r>
          </a:p>
          <a:p>
            <a:pPr marL="0" lvl="1" indent="0">
              <a:buNone/>
            </a:pPr>
            <a:r>
              <a:rPr lang="en-AU" sz="2400" u="sng" dirty="0">
                <a:cs typeface="Open Sans"/>
              </a:rPr>
              <a:t>underlined</a:t>
            </a:r>
            <a:r>
              <a:rPr lang="en-AU" sz="2400" dirty="0">
                <a:cs typeface="Open Sans"/>
              </a:rPr>
              <a:t> on the ERD</a:t>
            </a:r>
          </a:p>
        </p:txBody>
      </p:sp>
      <p:graphicFrame>
        <p:nvGraphicFramePr>
          <p:cNvPr id="22533" name="Object 8"/>
          <p:cNvGraphicFramePr>
            <a:graphicFrameLocks noChangeAspect="1"/>
          </p:cNvGraphicFramePr>
          <p:nvPr/>
        </p:nvGraphicFramePr>
        <p:xfrm>
          <a:off x="5529262" y="4300765"/>
          <a:ext cx="6053138" cy="241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2253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10538" r="42509" b="38278"/>
                      <a:stretch>
                        <a:fillRect/>
                      </a:stretch>
                    </p:blipFill>
                    <p:spPr bwMode="auto">
                      <a:xfrm>
                        <a:off x="5529262" y="4300765"/>
                        <a:ext cx="6053138" cy="241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6651689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winburne - Light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8F006C9-65F3-430C-8CBE-92C89A6F4650}" vid="{8B552470-14E2-4541-94E0-A0FC88D4D6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9988</TotalTime>
  <Words>1241</Words>
  <Application>Microsoft Office PowerPoint</Application>
  <PresentationFormat>Widescreen</PresentationFormat>
  <Paragraphs>218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Open Sans</vt:lpstr>
      <vt:lpstr>Wingdings</vt:lpstr>
      <vt:lpstr>Swinburne_Tiles</vt:lpstr>
      <vt:lpstr>Swinburne - Light</vt:lpstr>
      <vt:lpstr>Visio</vt:lpstr>
      <vt:lpstr>INF10025 Data Management and Analytics</vt:lpstr>
      <vt:lpstr>Database Creation overview</vt:lpstr>
      <vt:lpstr>Entity Relationship Model &amp; Diagram</vt:lpstr>
      <vt:lpstr>ERDs vs Access Relationship Diagrams</vt:lpstr>
      <vt:lpstr>E-R Diagrams</vt:lpstr>
      <vt:lpstr>E-R Diagrams - Entities</vt:lpstr>
      <vt:lpstr>E-R Diagrams - Attributes</vt:lpstr>
      <vt:lpstr>E-R Diagrams - Relationships</vt:lpstr>
      <vt:lpstr>E-R Diagrams &amp; Sample Data</vt:lpstr>
      <vt:lpstr>E-R Diagrams &amp; Business Rules</vt:lpstr>
      <vt:lpstr>E-R Diagrams &amp; Business Rules</vt:lpstr>
      <vt:lpstr>E-R Diagrams &amp; Business Rules</vt:lpstr>
      <vt:lpstr>Cardinality constraints</vt:lpstr>
      <vt:lpstr>Determining Cardinality  - part 1</vt:lpstr>
      <vt:lpstr>Determining Cardinality  - part 2</vt:lpstr>
      <vt:lpstr>Summary - Cardinality Constraints</vt:lpstr>
      <vt:lpstr>Entities Instances</vt:lpstr>
      <vt:lpstr>E-R Diagrams – Identifiers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</dc:title>
  <dc:creator>Robert Tipping</dc:creator>
  <cp:lastModifiedBy>Robert Tipping</cp:lastModifiedBy>
  <cp:revision>2</cp:revision>
  <dcterms:created xsi:type="dcterms:W3CDTF">2023-03-08T05:23:53Z</dcterms:created>
  <dcterms:modified xsi:type="dcterms:W3CDTF">2023-03-15T03:52:32Z</dcterms:modified>
</cp:coreProperties>
</file>