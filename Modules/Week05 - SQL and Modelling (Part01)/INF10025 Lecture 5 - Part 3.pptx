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notesMasterIdLst>
    <p:notesMasterId r:id="rId32"/>
  </p:notesMasterIdLst>
  <p:sldIdLst>
    <p:sldId id="441" r:id="rId3"/>
    <p:sldId id="491" r:id="rId4"/>
    <p:sldId id="492" r:id="rId5"/>
    <p:sldId id="493" r:id="rId6"/>
    <p:sldId id="494" r:id="rId7"/>
    <p:sldId id="495" r:id="rId8"/>
    <p:sldId id="496" r:id="rId9"/>
    <p:sldId id="497" r:id="rId10"/>
    <p:sldId id="498" r:id="rId11"/>
    <p:sldId id="499" r:id="rId12"/>
    <p:sldId id="500" r:id="rId13"/>
    <p:sldId id="501" r:id="rId14"/>
    <p:sldId id="502" r:id="rId15"/>
    <p:sldId id="516" r:id="rId16"/>
    <p:sldId id="517" r:id="rId17"/>
    <p:sldId id="518" r:id="rId18"/>
    <p:sldId id="503" r:id="rId19"/>
    <p:sldId id="504" r:id="rId20"/>
    <p:sldId id="505" r:id="rId21"/>
    <p:sldId id="506" r:id="rId22"/>
    <p:sldId id="507" r:id="rId23"/>
    <p:sldId id="508" r:id="rId24"/>
    <p:sldId id="509" r:id="rId25"/>
    <p:sldId id="510" r:id="rId26"/>
    <p:sldId id="511" r:id="rId27"/>
    <p:sldId id="512" r:id="rId28"/>
    <p:sldId id="513" r:id="rId29"/>
    <p:sldId id="514" r:id="rId30"/>
    <p:sldId id="51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4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27BDA-29E7-4623-937E-B7B8F111B3D9}" type="datetimeFigureOut">
              <a:rPr lang="en-AU" smtClean="0"/>
              <a:t>16/03/2023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CE011-3302-4565-AD35-DA4F3CE379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968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3848100" y="0"/>
            <a:ext cx="2944813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230" tIns="44115" rIns="88230" bIns="44115"/>
          <a:lstStyle>
            <a:lvl1pPr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5000"/>
              <a:buFont typeface="Wingdings" pitchFamily="2" charset="2"/>
              <a:buNone/>
              <a:tabLst/>
              <a:defRPr/>
            </a:pPr>
            <a:fld id="{80C7B6A8-EBB4-4AB3-964E-29850006023C}" type="datetime1">
              <a:rPr kumimoji="0" lang="en-AU" sz="24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85000"/>
                <a:buFont typeface="Wingdings" pitchFamily="2" charset="2"/>
                <a:buNone/>
                <a:tabLst/>
                <a:defRPr/>
              </a:pPr>
              <a:t>16/03/2023</a:t>
            </a:fld>
            <a:endParaRPr kumimoji="0" lang="en-AU" sz="24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77827" name="Rectangle 6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9434513"/>
            <a:ext cx="2944813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230" tIns="44115" rIns="88230" bIns="44115"/>
          <a:lstStyle>
            <a:lvl1pPr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l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4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Swinburne University of Technology</a:t>
            </a:r>
          </a:p>
        </p:txBody>
      </p:sp>
      <p:sp>
        <p:nvSpPr>
          <p:cNvPr id="7782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48100" y="9434513"/>
            <a:ext cx="2944813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230" tIns="44115" rIns="88230" bIns="44115"/>
          <a:lstStyle>
            <a:lvl1pPr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marR="0" lvl="0" indent="0" algn="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5000"/>
              <a:buFont typeface="Wingdings" pitchFamily="2" charset="2"/>
              <a:buNone/>
              <a:tabLst/>
              <a:defRPr/>
            </a:pPr>
            <a:fld id="{2D354D60-D1F9-404E-96A2-6FD048431D04}" type="slidenum">
              <a:rPr kumimoji="0" lang="en-AU" sz="24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pPr marL="0" marR="0" lvl="0" indent="0" algn="r" defTabSz="457200" rtl="0" eaLnBrk="0" fontAlgn="auto" latinLnBrk="0" hangingPunct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ct val="85000"/>
                <a:buFont typeface="Wingdings" pitchFamily="2" charset="2"/>
                <a:buNone/>
                <a:tabLst/>
                <a:defRPr/>
              </a:pPr>
              <a:t>3</a:t>
            </a:fld>
            <a:endParaRPr kumimoji="0" lang="en-AU" sz="24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778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06388" y="865188"/>
            <a:ext cx="6186487" cy="34813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875" y="4722813"/>
            <a:ext cx="4984750" cy="41783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230" tIns="44115" rIns="88230" bIns="44115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288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788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7E1A00-F47F-4F95-9E2A-9B68DDDD4D80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874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9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71678-C506-499C-9A15-7287DAC05B98}"/>
              </a:ext>
            </a:extLst>
          </p:cNvPr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814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2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1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525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pic>
        <p:nvPicPr>
          <p:cNvPr id="9" name="Picture 8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71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18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567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567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97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27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3943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6844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08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077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b="1"/>
              <a:t>Week 5 – Part 3</a:t>
            </a:r>
            <a:endParaRPr lang="en-AU" b="1" dirty="0"/>
          </a:p>
          <a:p>
            <a:endParaRPr lang="en-AU" b="1" dirty="0"/>
          </a:p>
          <a:p>
            <a:r>
              <a:rPr lang="en-AU" dirty="0"/>
              <a:t>Entity Relationship Modelling and Diagrams</a:t>
            </a:r>
          </a:p>
          <a:p>
            <a:r>
              <a:rPr lang="en-AU" dirty="0"/>
              <a:t>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F3DD-A242-4BD9-B60A-0883CE78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89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 Why learn SQL?</a:t>
            </a:r>
            <a:endParaRPr lang="en-AU" dirty="0"/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87654"/>
            <a:ext cx="10680834" cy="5242807"/>
          </a:xfrm>
        </p:spPr>
        <p:txBody>
          <a:bodyPr>
            <a:normAutofit fontScale="70000" lnSpcReduction="20000"/>
          </a:bodyPr>
          <a:lstStyle/>
          <a:p>
            <a:r>
              <a:rPr lang="en-AU" dirty="0"/>
              <a:t>Why learn SQL DML? Why not just use a GUI interface just like Access? </a:t>
            </a:r>
          </a:p>
          <a:p>
            <a:endParaRPr lang="en-AU" dirty="0"/>
          </a:p>
          <a:p>
            <a:r>
              <a:rPr lang="en-AU" dirty="0"/>
              <a:t>Programmers write SQL statements in their code</a:t>
            </a:r>
          </a:p>
          <a:p>
            <a:pPr lvl="1"/>
            <a:r>
              <a:rPr lang="en-AU" dirty="0"/>
              <a:t>A C# or VB or PHP applications request data from a database for student data.</a:t>
            </a:r>
          </a:p>
          <a:p>
            <a:pPr lvl="1"/>
            <a:r>
              <a:rPr lang="en-AU" dirty="0"/>
              <a:t>Programmer embeds  SQL statement in code  </a:t>
            </a:r>
          </a:p>
          <a:p>
            <a:pPr lvl="1"/>
            <a:r>
              <a:rPr lang="en-AU" dirty="0"/>
              <a:t>"SELECT Id, Name FROM Student where Id = 1234"    (or where id = [</a:t>
            </a:r>
            <a:r>
              <a:rPr lang="en-AU" dirty="0" err="1"/>
              <a:t>stuid_textbox</a:t>
            </a:r>
            <a:r>
              <a:rPr lang="en-AU" dirty="0"/>
              <a:t>] )</a:t>
            </a:r>
          </a:p>
          <a:p>
            <a:endParaRPr lang="en-AU" dirty="0"/>
          </a:p>
          <a:p>
            <a:r>
              <a:rPr lang="en-AU" dirty="0"/>
              <a:t>GUI software actually generates SQL statements </a:t>
            </a:r>
          </a:p>
          <a:p>
            <a:pPr lvl="1"/>
            <a:r>
              <a:rPr lang="en-AU" dirty="0"/>
              <a:t>The user usually doesn't see the SQL statement</a:t>
            </a:r>
          </a:p>
          <a:p>
            <a:pPr lvl="1"/>
            <a:r>
              <a:rPr lang="en-AU" dirty="0"/>
              <a:t>Experts sometimes need to modify / tweak the SQL</a:t>
            </a:r>
          </a:p>
          <a:p>
            <a:endParaRPr lang="en-AU" dirty="0"/>
          </a:p>
          <a:p>
            <a:r>
              <a:rPr lang="en-AU" dirty="0"/>
              <a:t>Database Administrators / Programmers use DML</a:t>
            </a:r>
          </a:p>
          <a:p>
            <a:endParaRPr lang="en-AU" dirty="0"/>
          </a:p>
          <a:p>
            <a:r>
              <a:rPr lang="en-AU" dirty="0"/>
              <a:t>Business Intelligence workers who know a bit of SQL</a:t>
            </a:r>
          </a:p>
          <a:p>
            <a:pPr lvl="1"/>
            <a:r>
              <a:rPr lang="en-AU" dirty="0"/>
              <a:t>Don't have to wait for database experts to write simple code</a:t>
            </a:r>
          </a:p>
          <a:p>
            <a:pPr lvl="1"/>
            <a:r>
              <a:rPr lang="en-AU" dirty="0"/>
              <a:t>3 days wait for SELECT * FROM STUDENT to be coded.</a:t>
            </a:r>
          </a:p>
          <a:p>
            <a:endParaRPr lang="en-AU" dirty="0"/>
          </a:p>
          <a:p>
            <a:r>
              <a:rPr lang="en-AU" dirty="0"/>
              <a:t>Some power end users use SQL statements when existing systems / reports are lacking</a:t>
            </a:r>
          </a:p>
          <a:p>
            <a:endParaRPr lang="en-AU" dirty="0"/>
          </a:p>
          <a:p>
            <a:r>
              <a:rPr lang="en-AU" dirty="0"/>
              <a:t>Used in INF20010 Database Systems (2nd database unit)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87FDAC-17CC-4413-A1BF-8FBA057E747F}"/>
              </a:ext>
            </a:extLst>
          </p:cNvPr>
          <p:cNvSpPr txBox="1"/>
          <p:nvPr/>
        </p:nvSpPr>
        <p:spPr>
          <a:xfrm>
            <a:off x="7768306" y="3853345"/>
            <a:ext cx="3668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DML = data manipulation language</a:t>
            </a:r>
          </a:p>
        </p:txBody>
      </p:sp>
    </p:spTree>
    <p:extLst>
      <p:ext uri="{BB962C8B-B14F-4D97-AF65-F5344CB8AC3E}">
        <p14:creationId xmlns:p14="http://schemas.microsoft.com/office/powerpoint/2010/main" val="2355103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Saving your work &amp; Notepad++</a:t>
            </a:r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711200" y="769257"/>
            <a:ext cx="10464800" cy="113574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SQL</a:t>
            </a:r>
            <a:r>
              <a:rPr lang="en-US" dirty="0"/>
              <a:t> statements typed into ISQL JR  </a:t>
            </a:r>
            <a:r>
              <a:rPr lang="en-US" b="1" dirty="0"/>
              <a:t>are not saved</a:t>
            </a:r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Solution. Copy and Paste the SQL statements into a text file.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AU" dirty="0"/>
              <a:t>Save the file on USB or Network drive</a:t>
            </a:r>
            <a:endParaRPr lang="en-US" dirty="0"/>
          </a:p>
          <a:p>
            <a:pPr marL="0" indent="0">
              <a:spcBef>
                <a:spcPts val="0"/>
              </a:spcBef>
              <a:buNone/>
            </a:pPr>
            <a:endParaRPr lang="en-US" sz="500" dirty="0"/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Notepad++</a:t>
            </a:r>
            <a:r>
              <a:rPr lang="en-US" dirty="0"/>
              <a:t> is far more powerful than Microsoft's Notepad.EXE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en-US" dirty="0"/>
              <a:t>Notepad++ is free</a:t>
            </a:r>
          </a:p>
          <a:p>
            <a:pPr marL="400050" lvl="2" indent="0">
              <a:spcBef>
                <a:spcPts val="0"/>
              </a:spcBef>
              <a:buNone/>
            </a:pPr>
            <a:r>
              <a:rPr lang="en-AU" dirty="0"/>
              <a:t>Download Notepad++ to your USB / network drive</a:t>
            </a:r>
            <a:endParaRPr lang="en-US" dirty="0"/>
          </a:p>
          <a:p>
            <a:pPr marL="400050" lvl="2" indent="0">
              <a:spcBef>
                <a:spcPts val="0"/>
              </a:spcBef>
              <a:buNone/>
            </a:pPr>
            <a:r>
              <a:rPr lang="en-US" dirty="0"/>
              <a:t>It can automagically highlights / colours SQL features </a:t>
            </a:r>
          </a:p>
          <a:p>
            <a:pPr marL="457200" lvl="3" indent="0">
              <a:spcBef>
                <a:spcPts val="0"/>
              </a:spcBef>
              <a:buNone/>
            </a:pPr>
            <a:r>
              <a:rPr lang="en-US" dirty="0"/>
              <a:t>From the menu choose Language / S / SQL. It will highlight:</a:t>
            </a:r>
          </a:p>
          <a:p>
            <a:pPr marL="1257300" lvl="5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2"/>
                </a:solidFill>
              </a:rPr>
              <a:t>Keywords</a:t>
            </a:r>
          </a:p>
          <a:p>
            <a:pPr marL="1257300" lvl="5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2"/>
                </a:solidFill>
              </a:rPr>
              <a:t>Comments</a:t>
            </a:r>
          </a:p>
          <a:p>
            <a:pPr marL="1257300" lvl="5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2"/>
                </a:solidFill>
              </a:rPr>
              <a:t>Numbers</a:t>
            </a:r>
          </a:p>
          <a:p>
            <a:pPr marL="1257300" lvl="5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2"/>
                </a:solidFill>
              </a:rPr>
              <a:t>Strings</a:t>
            </a:r>
          </a:p>
          <a:p>
            <a:pPr marL="1257300" lvl="5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2"/>
                </a:solidFill>
              </a:rPr>
              <a:t>Functions</a:t>
            </a:r>
          </a:p>
          <a:p>
            <a:pPr marL="1257300" lvl="5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AU" sz="2400" dirty="0">
              <a:solidFill>
                <a:schemeClr val="tx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75" y="4131132"/>
            <a:ext cx="6105525" cy="2552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09584" y="2521059"/>
            <a:ext cx="230524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3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Other editors:</a:t>
            </a:r>
          </a:p>
          <a:p>
            <a:pPr marL="457200" marR="0" lvl="3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Sublime</a:t>
            </a:r>
          </a:p>
          <a:p>
            <a:pPr marL="457200" marR="0" lvl="3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Brackets</a:t>
            </a:r>
          </a:p>
          <a:p>
            <a:pPr marL="457200" marR="0" lvl="3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more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090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SQL: DDL  &amp;  DML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199" y="908050"/>
            <a:ext cx="11103429" cy="52339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000" dirty="0"/>
              <a:t>Structured Query Language (SQL) is the language used by all RDBMSs</a:t>
            </a:r>
          </a:p>
          <a:p>
            <a:pPr marL="0" indent="0">
              <a:buNone/>
            </a:pPr>
            <a:r>
              <a:rPr lang="en-AU" sz="2000" dirty="0"/>
              <a:t>SQL statements can generally be placed in one of two groups:</a:t>
            </a:r>
          </a:p>
          <a:p>
            <a:pPr marL="0" indent="0">
              <a:buNone/>
            </a:pPr>
            <a:endParaRPr lang="en-AU" sz="2000" dirty="0"/>
          </a:p>
          <a:p>
            <a:pPr marL="0" lvl="1" indent="0">
              <a:buNone/>
            </a:pPr>
            <a:r>
              <a:rPr lang="en-AU" sz="2000" b="1" dirty="0"/>
              <a:t>DDL - Data Definition Language</a:t>
            </a:r>
            <a:r>
              <a:rPr lang="en-AU" sz="2000" dirty="0"/>
              <a:t> – maintains the database </a:t>
            </a:r>
            <a:r>
              <a:rPr lang="en-AU" sz="2000" b="1" dirty="0"/>
              <a:t>structures / objects</a:t>
            </a:r>
          </a:p>
          <a:p>
            <a:pPr marL="800100" lvl="3" indent="-342900"/>
            <a:r>
              <a:rPr lang="en-AU" sz="2000" dirty="0"/>
              <a:t>CREATE TABLE</a:t>
            </a:r>
          </a:p>
          <a:p>
            <a:pPr marL="800100" lvl="3" indent="-342900"/>
            <a:r>
              <a:rPr lang="en-AU" sz="2000" dirty="0"/>
              <a:t>ALTER TABLE</a:t>
            </a:r>
          </a:p>
          <a:p>
            <a:pPr marL="800100" lvl="3" indent="-342900"/>
            <a:r>
              <a:rPr lang="en-AU" sz="2000" dirty="0"/>
              <a:t>DROP TABLE…</a:t>
            </a:r>
          </a:p>
          <a:p>
            <a:pPr marL="0" indent="0">
              <a:buNone/>
            </a:pPr>
            <a:endParaRPr lang="en-AU" sz="2000" dirty="0"/>
          </a:p>
          <a:p>
            <a:pPr marL="0" lvl="1" indent="0">
              <a:buNone/>
            </a:pPr>
            <a:r>
              <a:rPr lang="en-AU" sz="2000" b="1" dirty="0"/>
              <a:t>DML  - Data Manipulation Language</a:t>
            </a:r>
            <a:r>
              <a:rPr lang="en-AU" sz="2000" dirty="0"/>
              <a:t>  – </a:t>
            </a:r>
            <a:r>
              <a:rPr lang="en-AU" sz="2000" b="1" dirty="0"/>
              <a:t>works with data</a:t>
            </a:r>
            <a:r>
              <a:rPr lang="en-AU" sz="2000" dirty="0"/>
              <a:t> within the database</a:t>
            </a:r>
          </a:p>
          <a:p>
            <a:pPr marL="800100" lvl="3" indent="-342900"/>
            <a:r>
              <a:rPr lang="en-AU" sz="2000" dirty="0"/>
              <a:t>Inserting Data</a:t>
            </a:r>
          </a:p>
          <a:p>
            <a:pPr marL="800100" lvl="3" indent="-342900"/>
            <a:r>
              <a:rPr lang="en-AU" sz="2000" dirty="0"/>
              <a:t>Querying Data (SELECT)</a:t>
            </a:r>
          </a:p>
          <a:p>
            <a:pPr marL="800100" lvl="3" indent="-342900"/>
            <a:r>
              <a:rPr lang="en-AU" sz="2000" dirty="0"/>
              <a:t>Updating Data</a:t>
            </a:r>
          </a:p>
          <a:p>
            <a:pPr marL="800100" lvl="3" indent="-342900"/>
            <a:r>
              <a:rPr lang="en-AU" sz="2000" dirty="0"/>
              <a:t>Deleting Data…</a:t>
            </a:r>
          </a:p>
          <a:p>
            <a:pPr marL="0" indent="0">
              <a:buNone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686177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 DDL: CREATE TABLE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599" y="908050"/>
            <a:ext cx="11117943" cy="523398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Syntax: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>
                <a:solidFill>
                  <a:srgbClr val="009900"/>
                </a:solidFill>
              </a:rPr>
              <a:t>CREATE TABLE </a:t>
            </a:r>
            <a:r>
              <a:rPr lang="en-AU" b="1" dirty="0">
                <a:solidFill>
                  <a:srgbClr val="7030A0"/>
                </a:solidFill>
              </a:rPr>
              <a:t>&lt;table-name&gt;</a:t>
            </a:r>
            <a:r>
              <a:rPr lang="en-AU" b="1" dirty="0"/>
              <a:t>   </a:t>
            </a:r>
            <a:r>
              <a:rPr lang="en-AU" b="1" dirty="0">
                <a:solidFill>
                  <a:srgbClr val="C00000"/>
                </a:solidFill>
              </a:rPr>
              <a:t>(</a:t>
            </a:r>
          </a:p>
          <a:p>
            <a:pPr lvl="1">
              <a:buFont typeface="Wingdings" pitchFamily="2" charset="2"/>
              <a:buNone/>
            </a:pPr>
            <a:r>
              <a:rPr lang="en-AU" b="1" dirty="0"/>
              <a:t>    </a:t>
            </a:r>
            <a:r>
              <a:rPr lang="en-AU" b="1" dirty="0">
                <a:solidFill>
                  <a:srgbClr val="7030A0"/>
                </a:solidFill>
              </a:rPr>
              <a:t>&lt;Column-name1&gt; </a:t>
            </a:r>
            <a:r>
              <a:rPr lang="en-AU" b="1" dirty="0"/>
              <a:t>       </a:t>
            </a:r>
            <a:r>
              <a:rPr lang="en-AU" b="1" dirty="0">
                <a:solidFill>
                  <a:srgbClr val="7030A0"/>
                </a:solidFill>
              </a:rPr>
              <a:t>&lt;data-type&gt;</a:t>
            </a:r>
            <a:r>
              <a:rPr lang="en-AU" b="1" dirty="0"/>
              <a:t>     [</a:t>
            </a:r>
            <a:r>
              <a:rPr lang="en-AU" b="1" dirty="0">
                <a:solidFill>
                  <a:srgbClr val="7030A0"/>
                </a:solidFill>
              </a:rPr>
              <a:t>&lt;max length&gt;</a:t>
            </a:r>
            <a:r>
              <a:rPr lang="en-AU" b="1" dirty="0"/>
              <a:t>]  ,</a:t>
            </a:r>
          </a:p>
          <a:p>
            <a:pPr lvl="1">
              <a:buNone/>
            </a:pPr>
            <a:r>
              <a:rPr lang="en-AU" b="1" dirty="0"/>
              <a:t>[ , </a:t>
            </a:r>
            <a:r>
              <a:rPr lang="en-AU" b="1" dirty="0">
                <a:solidFill>
                  <a:srgbClr val="7030A0"/>
                </a:solidFill>
              </a:rPr>
              <a:t>&lt;Column-name2&gt; </a:t>
            </a:r>
            <a:r>
              <a:rPr lang="en-AU" b="1" dirty="0"/>
              <a:t>       </a:t>
            </a:r>
            <a:r>
              <a:rPr lang="en-AU" b="1" dirty="0">
                <a:solidFill>
                  <a:srgbClr val="7030A0"/>
                </a:solidFill>
              </a:rPr>
              <a:t>&lt;data-type&gt; </a:t>
            </a:r>
            <a:r>
              <a:rPr lang="en-AU" b="1" dirty="0"/>
              <a:t>    [</a:t>
            </a:r>
            <a:r>
              <a:rPr lang="en-AU" b="1" dirty="0">
                <a:solidFill>
                  <a:srgbClr val="7030A0"/>
                </a:solidFill>
              </a:rPr>
              <a:t>&lt;max length&gt;</a:t>
            </a:r>
            <a:r>
              <a:rPr lang="en-AU" b="1" dirty="0"/>
              <a:t>]  ]…</a:t>
            </a:r>
          </a:p>
          <a:p>
            <a:pPr lvl="1">
              <a:buFont typeface="Wingdings" pitchFamily="2" charset="2"/>
              <a:buNone/>
            </a:pPr>
            <a:r>
              <a:rPr lang="en-AU" b="1" dirty="0"/>
              <a:t>[ , </a:t>
            </a:r>
            <a:r>
              <a:rPr lang="en-AU" b="1" dirty="0">
                <a:solidFill>
                  <a:srgbClr val="009900"/>
                </a:solidFill>
              </a:rPr>
              <a:t>PRIMARY KEY</a:t>
            </a:r>
            <a:r>
              <a:rPr lang="en-AU" b="1" dirty="0"/>
              <a:t> (</a:t>
            </a:r>
            <a:r>
              <a:rPr lang="en-AU" b="1" dirty="0">
                <a:solidFill>
                  <a:srgbClr val="7030A0"/>
                </a:solidFill>
              </a:rPr>
              <a:t>&lt;column-name&gt;</a:t>
            </a:r>
            <a:r>
              <a:rPr lang="en-AU" b="1" dirty="0"/>
              <a:t>)  ]</a:t>
            </a:r>
          </a:p>
          <a:p>
            <a:pPr lvl="1">
              <a:buFont typeface="Wingdings" pitchFamily="2" charset="2"/>
              <a:buNone/>
            </a:pPr>
            <a:r>
              <a:rPr lang="en-AU" b="1" dirty="0"/>
              <a:t>[ , </a:t>
            </a:r>
            <a:r>
              <a:rPr lang="en-AU" b="1" dirty="0">
                <a:solidFill>
                  <a:srgbClr val="009900"/>
                </a:solidFill>
              </a:rPr>
              <a:t>FOREIGN KEY</a:t>
            </a:r>
            <a:r>
              <a:rPr lang="en-AU" b="1" dirty="0"/>
              <a:t> (</a:t>
            </a:r>
            <a:r>
              <a:rPr lang="en-AU" b="1" dirty="0">
                <a:solidFill>
                  <a:srgbClr val="7030A0"/>
                </a:solidFill>
              </a:rPr>
              <a:t>&lt;column-name&gt;</a:t>
            </a:r>
            <a:r>
              <a:rPr lang="en-AU" b="1" dirty="0"/>
              <a:t>) </a:t>
            </a:r>
            <a:r>
              <a:rPr lang="en-AU" b="1" dirty="0">
                <a:solidFill>
                  <a:srgbClr val="009900"/>
                </a:solidFill>
              </a:rPr>
              <a:t>REFERENCES</a:t>
            </a:r>
            <a:r>
              <a:rPr lang="en-AU" b="1" dirty="0"/>
              <a:t> (</a:t>
            </a:r>
            <a:r>
              <a:rPr lang="en-AU" b="1" dirty="0">
                <a:solidFill>
                  <a:srgbClr val="7030A0"/>
                </a:solidFill>
              </a:rPr>
              <a:t>&lt;table-name&gt;</a:t>
            </a:r>
            <a:r>
              <a:rPr lang="en-AU" b="1" dirty="0"/>
              <a:t>)  ] </a:t>
            </a:r>
            <a:r>
              <a:rPr lang="en-AU" b="1" dirty="0">
                <a:solidFill>
                  <a:srgbClr val="C00000"/>
                </a:solidFill>
              </a:rPr>
              <a:t>) ;</a:t>
            </a:r>
          </a:p>
          <a:p>
            <a:pPr lvl="2">
              <a:buFont typeface="Wingdings" pitchFamily="2" charset="2"/>
              <a:buNone/>
            </a:pPr>
            <a:endParaRPr lang="en-AU" b="1" dirty="0"/>
          </a:p>
          <a:p>
            <a:endParaRPr lang="en-AU" b="1" dirty="0"/>
          </a:p>
          <a:p>
            <a:pPr marL="0" indent="0">
              <a:buNone/>
            </a:pPr>
            <a:r>
              <a:rPr lang="en-AU" dirty="0"/>
              <a:t>Words in uppercase green are Oracle Keywords</a:t>
            </a:r>
          </a:p>
          <a:p>
            <a:pPr marL="0" indent="0">
              <a:buNone/>
            </a:pPr>
            <a:r>
              <a:rPr lang="en-AU" dirty="0"/>
              <a:t>Words within </a:t>
            </a:r>
            <a:r>
              <a:rPr lang="en-AU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&lt; &gt;</a:t>
            </a:r>
            <a:r>
              <a:rPr lang="en-AU" dirty="0"/>
              <a:t> symbols are user defined. You supply the words</a:t>
            </a:r>
          </a:p>
          <a:p>
            <a:pPr marL="0" indent="0">
              <a:buNone/>
            </a:pPr>
            <a:r>
              <a:rPr lang="en-AU" dirty="0"/>
              <a:t>Words within [ ] symbols are optional.</a:t>
            </a:r>
          </a:p>
          <a:p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33842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 DDL: CREATE TABLE</a:t>
            </a: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908050"/>
            <a:ext cx="10972800" cy="5233988"/>
          </a:xfrm>
        </p:spPr>
        <p:txBody>
          <a:bodyPr>
            <a:normAutofit lnSpcReduction="10000"/>
          </a:bodyPr>
          <a:lstStyle/>
          <a:p>
            <a:pPr marL="285750" lvl="1">
              <a:spcBef>
                <a:spcPts val="0"/>
              </a:spcBef>
              <a:buFont typeface="Arial Narrow" pitchFamily="34" charset="0"/>
              <a:buNone/>
            </a:pPr>
            <a:r>
              <a:rPr lang="en-AU" dirty="0">
                <a:solidFill>
                  <a:srgbClr val="0000FF"/>
                </a:solidFill>
              </a:rPr>
              <a:t>CREATE TABLE Lecturer   (</a:t>
            </a:r>
          </a:p>
          <a:p>
            <a:pPr marL="285750" lvl="2" indent="-285750">
              <a:spcBef>
                <a:spcPts val="0"/>
              </a:spcBef>
              <a:buFont typeface="Wingdings" pitchFamily="2" charset="2"/>
              <a:buNone/>
            </a:pPr>
            <a:r>
              <a:rPr lang="en-AU" dirty="0">
                <a:solidFill>
                  <a:srgbClr val="0000FF"/>
                </a:solidFill>
              </a:rPr>
              <a:t>  LecId            	number</a:t>
            </a:r>
          </a:p>
          <a:p>
            <a:pPr marL="285750" lvl="2" indent="-285750">
              <a:spcBef>
                <a:spcPts val="0"/>
              </a:spcBef>
              <a:buFont typeface="Wingdings" pitchFamily="2" charset="2"/>
              <a:buNone/>
            </a:pPr>
            <a:r>
              <a:rPr lang="en-AU" dirty="0">
                <a:solidFill>
                  <a:srgbClr val="0000FF"/>
                </a:solidFill>
              </a:rPr>
              <a:t>, LecName      	varchar (50)</a:t>
            </a:r>
          </a:p>
          <a:p>
            <a:pPr marL="285750" lvl="2" indent="-285750">
              <a:spcBef>
                <a:spcPts val="0"/>
              </a:spcBef>
              <a:buFont typeface="Wingdings" pitchFamily="2" charset="2"/>
              <a:buNone/>
            </a:pPr>
            <a:r>
              <a:rPr lang="en-AU" dirty="0">
                <a:solidFill>
                  <a:srgbClr val="0000FF"/>
                </a:solidFill>
              </a:rPr>
              <a:t>, Age				number</a:t>
            </a:r>
          </a:p>
          <a:p>
            <a:pPr marL="285750" lvl="2" indent="-285750">
              <a:spcBef>
                <a:spcPts val="0"/>
              </a:spcBef>
              <a:buFont typeface="Wingdings" pitchFamily="2" charset="2"/>
              <a:buNone/>
            </a:pPr>
            <a:r>
              <a:rPr lang="en-AU" dirty="0">
                <a:solidFill>
                  <a:srgbClr val="0000FF"/>
                </a:solidFill>
              </a:rPr>
              <a:t>, PRIMARY KEY	(LecId)           </a:t>
            </a:r>
          </a:p>
          <a:p>
            <a:pPr marL="285750" lvl="2" indent="-285750">
              <a:spcBef>
                <a:spcPts val="0"/>
              </a:spcBef>
              <a:buFont typeface="Wingdings" pitchFamily="2" charset="2"/>
              <a:buNone/>
            </a:pPr>
            <a:r>
              <a:rPr lang="en-AU" dirty="0">
                <a:solidFill>
                  <a:srgbClr val="0000FF"/>
                </a:solidFill>
              </a:rPr>
              <a:t>) ;</a:t>
            </a:r>
          </a:p>
          <a:p>
            <a:pPr marL="285750" lvl="2" indent="-285750">
              <a:spcBef>
                <a:spcPts val="0"/>
              </a:spcBef>
              <a:buFont typeface="Wingdings" pitchFamily="2" charset="2"/>
              <a:buNone/>
            </a:pPr>
            <a:endParaRPr lang="en-AU" dirty="0">
              <a:solidFill>
                <a:srgbClr val="0000FF"/>
              </a:solidFill>
            </a:endParaRPr>
          </a:p>
          <a:p>
            <a:pPr marL="285750" lvl="1">
              <a:spcBef>
                <a:spcPts val="0"/>
              </a:spcBef>
              <a:buFont typeface="Arial Narrow" pitchFamily="34" charset="0"/>
              <a:buNone/>
            </a:pPr>
            <a:r>
              <a:rPr lang="en-AU" dirty="0">
                <a:solidFill>
                  <a:srgbClr val="0000FF"/>
                </a:solidFill>
              </a:rPr>
              <a:t>CREATE TABLE Subject   (</a:t>
            </a:r>
          </a:p>
          <a:p>
            <a:pPr marL="285750" lvl="2" indent="-285750">
              <a:spcBef>
                <a:spcPts val="0"/>
              </a:spcBef>
              <a:buNone/>
            </a:pPr>
            <a:r>
              <a:rPr lang="en-AU" dirty="0">
                <a:solidFill>
                  <a:srgbClr val="0000FF"/>
                </a:solidFill>
              </a:rPr>
              <a:t>  SubjectCode	varchar (10)</a:t>
            </a:r>
          </a:p>
          <a:p>
            <a:pPr marL="285750" lvl="2" indent="-285750">
              <a:spcBef>
                <a:spcPts val="0"/>
              </a:spcBef>
              <a:buNone/>
            </a:pPr>
            <a:r>
              <a:rPr lang="en-AU" dirty="0">
                <a:solidFill>
                  <a:srgbClr val="0000FF"/>
                </a:solidFill>
              </a:rPr>
              <a:t>, Title     			varchar (100)</a:t>
            </a:r>
          </a:p>
          <a:p>
            <a:pPr marL="285750" lvl="2" indent="-285750">
              <a:spcBef>
                <a:spcPts val="0"/>
              </a:spcBef>
              <a:buNone/>
            </a:pPr>
            <a:r>
              <a:rPr lang="en-AU" dirty="0">
                <a:solidFill>
                  <a:srgbClr val="0000FF"/>
                </a:solidFill>
              </a:rPr>
              <a:t>, CreditPoints		number</a:t>
            </a:r>
          </a:p>
          <a:p>
            <a:pPr marL="285750" lvl="2" indent="-285750">
              <a:spcBef>
                <a:spcPts val="0"/>
              </a:spcBef>
              <a:buNone/>
            </a:pPr>
            <a:r>
              <a:rPr lang="en-AU" dirty="0">
                <a:solidFill>
                  <a:srgbClr val="0000FF"/>
                </a:solidFill>
              </a:rPr>
              <a:t>, </a:t>
            </a:r>
            <a:r>
              <a:rPr lang="en-AU" dirty="0">
                <a:solidFill>
                  <a:srgbClr val="FF0000"/>
                </a:solidFill>
              </a:rPr>
              <a:t>LecId</a:t>
            </a:r>
            <a:r>
              <a:rPr lang="en-AU" dirty="0">
                <a:solidFill>
                  <a:srgbClr val="0000FF"/>
                </a:solidFill>
              </a:rPr>
              <a:t>             	number</a:t>
            </a:r>
          </a:p>
          <a:p>
            <a:pPr marL="285750" lvl="2" indent="-285750">
              <a:spcBef>
                <a:spcPts val="0"/>
              </a:spcBef>
              <a:buNone/>
            </a:pPr>
            <a:r>
              <a:rPr lang="en-AU" dirty="0">
                <a:solidFill>
                  <a:srgbClr val="0000FF"/>
                </a:solidFill>
              </a:rPr>
              <a:t>, PRIMARY KEY	(SubjectCode)</a:t>
            </a:r>
          </a:p>
          <a:p>
            <a:pPr marL="285750" lvl="2" indent="-285750">
              <a:spcBef>
                <a:spcPts val="0"/>
              </a:spcBef>
              <a:buNone/>
            </a:pPr>
            <a:r>
              <a:rPr lang="en-AU" dirty="0">
                <a:solidFill>
                  <a:srgbClr val="0000FF"/>
                </a:solidFill>
              </a:rPr>
              <a:t>, FOREIGN KEY   	(</a:t>
            </a:r>
            <a:r>
              <a:rPr lang="en-AU" dirty="0">
                <a:solidFill>
                  <a:srgbClr val="FF0000"/>
                </a:solidFill>
              </a:rPr>
              <a:t>LecId</a:t>
            </a:r>
            <a:r>
              <a:rPr lang="en-AU" dirty="0">
                <a:solidFill>
                  <a:srgbClr val="0000FF"/>
                </a:solidFill>
              </a:rPr>
              <a:t>)   REFERENCES Lecturer</a:t>
            </a:r>
          </a:p>
          <a:p>
            <a:pPr marL="285750" lvl="2" indent="-285750">
              <a:spcBef>
                <a:spcPts val="0"/>
              </a:spcBef>
              <a:buNone/>
            </a:pPr>
            <a:r>
              <a:rPr lang="en-AU" dirty="0">
                <a:solidFill>
                  <a:srgbClr val="0000FF"/>
                </a:solidFill>
              </a:rPr>
              <a:t>) ;</a:t>
            </a:r>
          </a:p>
          <a:p>
            <a:pPr lvl="2">
              <a:buFont typeface="Wingdings" pitchFamily="2" charset="2"/>
              <a:buNone/>
            </a:pPr>
            <a:endParaRPr lang="en-AU" b="1" dirty="0">
              <a:solidFill>
                <a:srgbClr val="0000FF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502400" y="940593"/>
            <a:ext cx="534287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Commas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brackets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important.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Errors if not used correctly.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Short Text is replaced by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varchar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varchar requires a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maximum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length value</a:t>
            </a:r>
          </a:p>
        </p:txBody>
      </p:sp>
    </p:spTree>
    <p:extLst>
      <p:ext uri="{BB962C8B-B14F-4D97-AF65-F5344CB8AC3E}">
        <p14:creationId xmlns:p14="http://schemas.microsoft.com/office/powerpoint/2010/main" val="288214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 DML: INSERT STATEMENT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774700"/>
            <a:ext cx="11350171" cy="5367338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Adding</a:t>
            </a:r>
            <a:r>
              <a:rPr lang="en-AU" dirty="0"/>
              <a:t> data to a table is done via </a:t>
            </a:r>
            <a:r>
              <a:rPr lang="en-AU" b="1" dirty="0"/>
              <a:t>Insert</a:t>
            </a:r>
            <a:r>
              <a:rPr lang="en-AU" dirty="0"/>
              <a:t> statements</a:t>
            </a:r>
          </a:p>
          <a:p>
            <a:pPr marL="0" indent="0">
              <a:buNone/>
            </a:pPr>
            <a:r>
              <a:rPr lang="en-AU" dirty="0"/>
              <a:t>You must specify the table name, column names, the values to be inserted</a:t>
            </a:r>
          </a:p>
          <a:p>
            <a:pPr>
              <a:buFont typeface="Wingdings" pitchFamily="2" charset="2"/>
              <a:buNone/>
            </a:pPr>
            <a:r>
              <a:rPr lang="en-AU" b="1" dirty="0"/>
              <a:t>Syntax: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/>
              <a:t>INSERT INTO &lt;table-name&gt;   (</a:t>
            </a:r>
            <a:r>
              <a:rPr lang="en-AU" sz="2000" b="1" dirty="0"/>
              <a:t>&lt;column-name1&gt; , &lt;column-name2&gt; , …)</a:t>
            </a:r>
            <a:endParaRPr lang="en-AU" b="1" dirty="0"/>
          </a:p>
          <a:p>
            <a:pPr lvl="1">
              <a:buFont typeface="Arial Narrow" pitchFamily="34" charset="0"/>
              <a:buNone/>
            </a:pPr>
            <a:r>
              <a:rPr lang="en-AU" b="1" dirty="0"/>
              <a:t>                                  VALUES  (</a:t>
            </a:r>
            <a:r>
              <a:rPr lang="en-AU" sz="2000" b="1" dirty="0"/>
              <a:t> &lt;value1&gt; ,               &lt;value2&gt; , …   </a:t>
            </a:r>
            <a:r>
              <a:rPr lang="en-AU" b="1" dirty="0"/>
              <a:t>) ;</a:t>
            </a:r>
          </a:p>
          <a:p>
            <a:pPr lvl="1">
              <a:buFont typeface="Arial Narrow" pitchFamily="34" charset="0"/>
              <a:buNone/>
            </a:pPr>
            <a:endParaRPr lang="en-AU" b="1" dirty="0"/>
          </a:p>
          <a:p>
            <a:pPr lvl="1">
              <a:buFont typeface="Arial Narrow" pitchFamily="34" charset="0"/>
              <a:buNone/>
            </a:pPr>
            <a:endParaRPr lang="en-AU" b="1" dirty="0"/>
          </a:p>
          <a:p>
            <a:pPr lvl="1">
              <a:buFont typeface="Arial Narrow" pitchFamily="34" charset="0"/>
              <a:buNone/>
            </a:pPr>
            <a:endParaRPr lang="en-AU" b="1" dirty="0"/>
          </a:p>
          <a:p>
            <a:pPr lvl="1">
              <a:buFont typeface="Arial Narrow" pitchFamily="34" charset="0"/>
              <a:buNone/>
            </a:pPr>
            <a:endParaRPr lang="en-AU" b="1" dirty="0"/>
          </a:p>
          <a:p>
            <a:pPr marL="0" lvl="1" indent="0">
              <a:buNone/>
            </a:pPr>
            <a:r>
              <a:rPr lang="en-AU" dirty="0"/>
              <a:t>Text data must be surrounded by </a:t>
            </a:r>
            <a:r>
              <a:rPr lang="en-AU" b="1" dirty="0"/>
              <a:t>single</a:t>
            </a:r>
            <a:r>
              <a:rPr lang="en-AU" dirty="0"/>
              <a:t> quotes  (not double quotes in Oracle)</a:t>
            </a:r>
          </a:p>
          <a:p>
            <a:pPr marL="0" lvl="1" indent="0">
              <a:buNone/>
            </a:pPr>
            <a:r>
              <a:rPr lang="en-AU" dirty="0"/>
              <a:t>Numeric data does not have quotes. </a:t>
            </a:r>
          </a:p>
          <a:p>
            <a:pPr marL="0" lvl="2" indent="0">
              <a:buNone/>
            </a:pPr>
            <a:r>
              <a:rPr lang="en-AU" dirty="0"/>
              <a:t>No punctuation is used (no commas, dollar signs…)</a:t>
            </a:r>
          </a:p>
          <a:p>
            <a:pPr marL="0" lvl="1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4037" name="Rectangle 1"/>
          <p:cNvSpPr>
            <a:spLocks noChangeArrowheads="1"/>
          </p:cNvSpPr>
          <p:nvPr/>
        </p:nvSpPr>
        <p:spPr bwMode="auto">
          <a:xfrm>
            <a:off x="949098" y="3176294"/>
            <a:ext cx="808037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arrow" pitchFamily="34" charset="0"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E.g. INSERT INTO  Lecturer ( LecId,  LecName, Age )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arrow" pitchFamily="34" charset="0"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                    VALUES  (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207,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'John Smith',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37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 ;</a:t>
            </a:r>
          </a:p>
        </p:txBody>
      </p:sp>
    </p:spTree>
    <p:extLst>
      <p:ext uri="{BB962C8B-B14F-4D97-AF65-F5344CB8AC3E}">
        <p14:creationId xmlns:p14="http://schemas.microsoft.com/office/powerpoint/2010/main" val="1316779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BEWARE of Smart Quotes 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774700"/>
            <a:ext cx="11248571" cy="5367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dirty="0"/>
              <a:t>Microsoft's Notepad or Don Ho's Notepad++ are typically used as</a:t>
            </a:r>
            <a:br>
              <a:rPr lang="en-AU" dirty="0"/>
            </a:br>
            <a:r>
              <a:rPr lang="en-AU" dirty="0"/>
              <a:t>SQL text editors (there are many others).</a:t>
            </a:r>
          </a:p>
          <a:p>
            <a:pPr marL="0" indent="0">
              <a:buNone/>
            </a:pPr>
            <a:endParaRPr lang="en-AU" sz="1100" dirty="0"/>
          </a:p>
          <a:p>
            <a:pPr marL="0" indent="0">
              <a:buNone/>
            </a:pPr>
            <a:r>
              <a:rPr lang="en-AU" b="1" dirty="0"/>
              <a:t>Beware of Word Processors such as MS Word.</a:t>
            </a:r>
          </a:p>
          <a:p>
            <a:pPr marL="0" indent="0">
              <a:buNone/>
            </a:pPr>
            <a:r>
              <a:rPr lang="en-AU" dirty="0"/>
              <a:t>Really beware of the </a:t>
            </a:r>
            <a:r>
              <a:rPr lang="en-AU" b="1" dirty="0"/>
              <a:t>Smart Quote</a:t>
            </a:r>
            <a:r>
              <a:rPr lang="en-AU" dirty="0"/>
              <a:t> feature.</a:t>
            </a:r>
          </a:p>
          <a:p>
            <a:pPr marL="0" indent="0">
              <a:buNone/>
            </a:pPr>
            <a:endParaRPr lang="en-AU" sz="1050" dirty="0"/>
          </a:p>
          <a:p>
            <a:pPr marL="0" indent="0">
              <a:buNone/>
            </a:pPr>
            <a:r>
              <a:rPr lang="en-AU" dirty="0"/>
              <a:t>Smart quotes are fancy looking quote symbols</a:t>
            </a:r>
          </a:p>
          <a:p>
            <a:pPr marL="0" indent="0">
              <a:buNone/>
            </a:pPr>
            <a:r>
              <a:rPr lang="en-AU" dirty="0"/>
              <a:t>          </a:t>
            </a:r>
            <a:r>
              <a:rPr lang="en-AU" sz="3200" dirty="0"/>
              <a:t> …VALUES  (207, </a:t>
            </a:r>
            <a:r>
              <a:rPr lang="en-AU" sz="3200" dirty="0">
                <a:solidFill>
                  <a:srgbClr val="FF0000"/>
                </a:solidFill>
              </a:rPr>
              <a:t>'</a:t>
            </a:r>
            <a:r>
              <a:rPr lang="en-AU" sz="3200" dirty="0"/>
              <a:t>John Smith</a:t>
            </a:r>
            <a:r>
              <a:rPr lang="en-AU" sz="3200" dirty="0">
                <a:solidFill>
                  <a:srgbClr val="FF0000"/>
                </a:solidFill>
              </a:rPr>
              <a:t>'</a:t>
            </a:r>
            <a:r>
              <a:rPr lang="en-AU" sz="3200" dirty="0"/>
              <a:t>, 37) ; </a:t>
            </a:r>
            <a:r>
              <a:rPr lang="en-AU" dirty="0"/>
              <a:t>  using notepad</a:t>
            </a:r>
          </a:p>
          <a:p>
            <a:pPr marL="0" indent="0">
              <a:buNone/>
            </a:pPr>
            <a:r>
              <a:rPr lang="en-AU" dirty="0"/>
              <a:t>          </a:t>
            </a:r>
            <a:r>
              <a:rPr lang="en-AU" sz="3200" dirty="0"/>
              <a:t> …VALUES  (207, </a:t>
            </a:r>
            <a:r>
              <a:rPr lang="en-AU" sz="3200" dirty="0">
                <a:solidFill>
                  <a:srgbClr val="FF0000"/>
                </a:solidFill>
              </a:rPr>
              <a:t>‘</a:t>
            </a:r>
            <a:r>
              <a:rPr lang="en-AU" sz="3200" dirty="0"/>
              <a:t>John Smith</a:t>
            </a:r>
            <a:r>
              <a:rPr lang="en-AU" sz="3200" dirty="0">
                <a:solidFill>
                  <a:srgbClr val="FF0000"/>
                </a:solidFill>
              </a:rPr>
              <a:t>’</a:t>
            </a:r>
            <a:r>
              <a:rPr lang="en-AU" sz="3200" dirty="0"/>
              <a:t>, 37) ; </a:t>
            </a:r>
            <a:r>
              <a:rPr lang="en-AU" dirty="0"/>
              <a:t>  using MS Word</a:t>
            </a:r>
          </a:p>
          <a:p>
            <a:pPr marL="0" indent="0">
              <a:buNone/>
            </a:pPr>
            <a:endParaRPr lang="en-AU" sz="1050" dirty="0"/>
          </a:p>
          <a:p>
            <a:pPr marL="0" indent="0">
              <a:buNone/>
            </a:pPr>
            <a:r>
              <a:rPr lang="en-AU" dirty="0"/>
              <a:t>The problem is that RDBMS software such as Oracle does not recognize smart quotes.</a:t>
            </a:r>
          </a:p>
          <a:p>
            <a:pPr marL="0" indent="0">
              <a:buNone/>
            </a:pPr>
            <a:r>
              <a:rPr lang="en-AU" dirty="0"/>
              <a:t>So Oracle does not view ‘John Smith’ as a text value.</a:t>
            </a:r>
          </a:p>
          <a:p>
            <a:pPr marL="0" indent="0">
              <a:buNone/>
            </a:pPr>
            <a:r>
              <a:rPr lang="en-US" dirty="0"/>
              <a:t>                             Error at line 1:</a:t>
            </a:r>
            <a:br>
              <a:rPr lang="en-US" dirty="0"/>
            </a:br>
            <a:r>
              <a:rPr lang="en-US" dirty="0"/>
              <a:t>                             ORA-00911: invalid character</a:t>
            </a: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lvl="1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531" t="26768" r="26258" b="11735"/>
          <a:stretch/>
        </p:blipFill>
        <p:spPr>
          <a:xfrm>
            <a:off x="7808687" y="1454433"/>
            <a:ext cx="1291770" cy="14659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706" y="1164657"/>
            <a:ext cx="1518694" cy="1898367"/>
          </a:xfrm>
          <a:prstGeom prst="rect">
            <a:avLst/>
          </a:prstGeom>
        </p:spPr>
      </p:pic>
      <p:cxnSp>
        <p:nvCxnSpPr>
          <p:cNvPr id="5" name="Straight Arrow Connector 4"/>
          <p:cNvCxnSpPr>
            <a:cxnSpLocks/>
          </p:cNvCxnSpPr>
          <p:nvPr/>
        </p:nvCxnSpPr>
        <p:spPr>
          <a:xfrm flipV="1">
            <a:off x="6295697" y="2187405"/>
            <a:ext cx="1817789" cy="1890609"/>
          </a:xfrm>
          <a:prstGeom prst="straightConnector1">
            <a:avLst/>
          </a:prstGeom>
          <a:ln w="5715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114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BEWARE of Smart Quotes </a:t>
            </a:r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774700"/>
            <a:ext cx="11260822" cy="5367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Solutions:</a:t>
            </a:r>
          </a:p>
          <a:p>
            <a:pPr marL="0" indent="0">
              <a:buNone/>
            </a:pPr>
            <a:r>
              <a:rPr lang="en-AU" dirty="0"/>
              <a:t>1. Don’t use MS Word (or </a:t>
            </a:r>
            <a:r>
              <a:rPr lang="en-AU" dirty="0" err="1"/>
              <a:t>Powerpoint</a:t>
            </a:r>
            <a:r>
              <a:rPr lang="en-AU" dirty="0"/>
              <a:t> or </a:t>
            </a:r>
            <a:r>
              <a:rPr lang="en-AU" dirty="0" err="1"/>
              <a:t>Onenote</a:t>
            </a:r>
            <a:r>
              <a:rPr lang="en-AU" dirty="0"/>
              <a:t>…)</a:t>
            </a:r>
          </a:p>
          <a:p>
            <a:pPr marL="0" indent="0">
              <a:buNone/>
            </a:pPr>
            <a:r>
              <a:rPr lang="en-AU" dirty="0"/>
              <a:t>2. If you a forced to, then disable the appropriate </a:t>
            </a:r>
            <a:r>
              <a:rPr lang="en-AU" b="1" dirty="0"/>
              <a:t>Auto Correct options </a:t>
            </a:r>
            <a:r>
              <a:rPr lang="en-AU" dirty="0"/>
              <a:t>within MS Word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2159164"/>
            <a:ext cx="5924550" cy="1657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78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6" r="8696" b="-11937"/>
          <a:stretch/>
        </p:blipFill>
        <p:spPr bwMode="auto">
          <a:xfrm>
            <a:off x="5755757" y="4345262"/>
            <a:ext cx="4873547" cy="20179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78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303"/>
          <a:stretch/>
        </p:blipFill>
        <p:spPr bwMode="auto">
          <a:xfrm>
            <a:off x="1524000" y="4027394"/>
            <a:ext cx="4111554" cy="265370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Oval 1"/>
          <p:cNvSpPr/>
          <p:nvPr/>
        </p:nvSpPr>
        <p:spPr bwMode="auto">
          <a:xfrm>
            <a:off x="5755756" y="5354246"/>
            <a:ext cx="2711304" cy="542260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  <a:buFontTx/>
              <a:buNone/>
              <a:tabLst/>
              <a:defRPr/>
            </a:pPr>
            <a:endParaRPr kumimoji="0" lang="en-AU" sz="2400" b="1" i="1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1772090" y="6092102"/>
            <a:ext cx="3016105" cy="542260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  <a:buFontTx/>
              <a:buNone/>
              <a:tabLst/>
              <a:defRPr/>
            </a:pPr>
            <a:endParaRPr kumimoji="0" lang="en-AU" sz="2400" b="1" i="1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7003310" y="3272480"/>
            <a:ext cx="2711304" cy="542260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  <a:buFontTx/>
              <a:buNone/>
              <a:tabLst/>
              <a:defRPr/>
            </a:pPr>
            <a:endParaRPr kumimoji="0" lang="en-AU" sz="2400" b="1" i="1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938130" y="2880404"/>
            <a:ext cx="1850064" cy="542260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  <a:buFontTx/>
              <a:buNone/>
              <a:tabLst/>
              <a:defRPr/>
            </a:pPr>
            <a:endParaRPr kumimoji="0" lang="en-AU" sz="2400" b="1" i="1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983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 DML: INSERT STATEMENT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599" y="774700"/>
            <a:ext cx="11408229" cy="5367338"/>
          </a:xfrm>
        </p:spPr>
        <p:txBody>
          <a:bodyPr/>
          <a:lstStyle/>
          <a:p>
            <a:endParaRPr lang="en-AU" sz="800" b="1" dirty="0"/>
          </a:p>
          <a:p>
            <a:pPr>
              <a:buFont typeface="Wingdings" pitchFamily="2" charset="2"/>
              <a:buNone/>
            </a:pPr>
            <a:r>
              <a:rPr lang="en-AU" b="1" dirty="0"/>
              <a:t>Code required to add 4 rows to the existing tables:</a:t>
            </a:r>
          </a:p>
          <a:p>
            <a:pPr lvl="1">
              <a:buFont typeface="Arial Narrow" pitchFamily="34" charset="0"/>
              <a:buNone/>
            </a:pPr>
            <a:r>
              <a:rPr lang="en-AU" dirty="0"/>
              <a:t>INSERT INTO  Lecturer  ( LecId,  LecName, Age ) </a:t>
            </a:r>
          </a:p>
          <a:p>
            <a:pPr lvl="1">
              <a:buFont typeface="Arial Narrow" pitchFamily="34" charset="0"/>
              <a:buNone/>
            </a:pPr>
            <a:r>
              <a:rPr lang="en-AU" dirty="0"/>
              <a:t>                               VALUES (</a:t>
            </a:r>
            <a:r>
              <a:rPr lang="en-AU" dirty="0">
                <a:solidFill>
                  <a:srgbClr val="0000FF"/>
                </a:solidFill>
              </a:rPr>
              <a:t>207, 'John Smith', 37</a:t>
            </a:r>
            <a:r>
              <a:rPr lang="en-AU" dirty="0"/>
              <a:t>) ;</a:t>
            </a:r>
          </a:p>
          <a:p>
            <a:pPr lvl="1">
              <a:buFont typeface="Arial Narrow" pitchFamily="34" charset="0"/>
              <a:buNone/>
            </a:pPr>
            <a:endParaRPr lang="en-AU" sz="1050" dirty="0"/>
          </a:p>
          <a:p>
            <a:pPr lvl="1">
              <a:buFont typeface="Arial Narrow" pitchFamily="34" charset="0"/>
              <a:buNone/>
            </a:pPr>
            <a:endParaRPr lang="en-AU" sz="400" dirty="0"/>
          </a:p>
          <a:p>
            <a:pPr lvl="1">
              <a:buFont typeface="Arial Narrow" pitchFamily="34" charset="0"/>
              <a:buNone/>
            </a:pPr>
            <a:r>
              <a:rPr lang="en-AU" dirty="0"/>
              <a:t>INSERT INTO  Lecturer ( LecId,  LecName, Age ) </a:t>
            </a:r>
          </a:p>
          <a:p>
            <a:pPr lvl="1">
              <a:buFont typeface="Arial Narrow" pitchFamily="34" charset="0"/>
              <a:buNone/>
            </a:pPr>
            <a:r>
              <a:rPr lang="en-AU" dirty="0"/>
              <a:t>                               VALUES (</a:t>
            </a:r>
            <a:r>
              <a:rPr lang="en-AU" dirty="0">
                <a:solidFill>
                  <a:srgbClr val="0000FF"/>
                </a:solidFill>
              </a:rPr>
              <a:t>345, 'Carol Kent', 34</a:t>
            </a:r>
            <a:r>
              <a:rPr lang="en-AU" dirty="0"/>
              <a:t>) ;</a:t>
            </a:r>
          </a:p>
          <a:p>
            <a:pPr lvl="1">
              <a:buFont typeface="Arial Narrow" pitchFamily="34" charset="0"/>
              <a:buNone/>
            </a:pPr>
            <a:endParaRPr lang="en-AU" sz="1050" dirty="0"/>
          </a:p>
          <a:p>
            <a:pPr lvl="1">
              <a:buFont typeface="Arial Narrow" pitchFamily="34" charset="0"/>
              <a:buNone/>
            </a:pPr>
            <a:endParaRPr lang="en-AU" sz="1000" dirty="0"/>
          </a:p>
          <a:p>
            <a:pPr lvl="1">
              <a:buFont typeface="Arial Narrow" pitchFamily="34" charset="0"/>
              <a:buNone/>
            </a:pPr>
            <a:r>
              <a:rPr lang="en-AU" dirty="0"/>
              <a:t>INSERT INTO  Subject ( SubjectCode,  Title , CreditPoints,  LecId ) </a:t>
            </a:r>
          </a:p>
          <a:p>
            <a:pPr lvl="2">
              <a:buFont typeface="Wingdings" pitchFamily="2" charset="2"/>
              <a:buNone/>
            </a:pPr>
            <a:r>
              <a:rPr lang="en-AU" dirty="0"/>
              <a:t>                   VALUES (</a:t>
            </a:r>
            <a:r>
              <a:rPr lang="en-AU" dirty="0">
                <a:solidFill>
                  <a:srgbClr val="0000FF"/>
                </a:solidFill>
              </a:rPr>
              <a:t>'HIT1405',  'Intro to Web',  12.5,   207</a:t>
            </a:r>
            <a:r>
              <a:rPr lang="en-AU" dirty="0"/>
              <a:t>) ;</a:t>
            </a:r>
          </a:p>
          <a:p>
            <a:pPr lvl="2">
              <a:buFont typeface="Wingdings" pitchFamily="2" charset="2"/>
              <a:buNone/>
            </a:pPr>
            <a:endParaRPr lang="en-AU" sz="1050" dirty="0"/>
          </a:p>
          <a:p>
            <a:pPr lvl="2">
              <a:buFont typeface="Wingdings" pitchFamily="2" charset="2"/>
              <a:buNone/>
            </a:pPr>
            <a:endParaRPr lang="en-AU" sz="400" dirty="0"/>
          </a:p>
          <a:p>
            <a:pPr lvl="1">
              <a:buFont typeface="Arial Narrow" pitchFamily="34" charset="0"/>
              <a:buNone/>
            </a:pPr>
            <a:r>
              <a:rPr lang="en-AU" dirty="0"/>
              <a:t>INSERT INTO  Subject ( SubjectCode,  Title , CreditPoints,  LecId ) </a:t>
            </a:r>
          </a:p>
          <a:p>
            <a:pPr lvl="2">
              <a:buFont typeface="Wingdings" pitchFamily="2" charset="2"/>
              <a:buNone/>
            </a:pPr>
            <a:r>
              <a:rPr lang="en-AU" dirty="0"/>
              <a:t>                   VALUES (</a:t>
            </a:r>
            <a:r>
              <a:rPr lang="en-AU" dirty="0">
                <a:solidFill>
                  <a:srgbClr val="0000FF"/>
                </a:solidFill>
              </a:rPr>
              <a:t>'HIT1407',  'EBIS',  12.5,   345</a:t>
            </a:r>
            <a:r>
              <a:rPr lang="en-AU" dirty="0"/>
              <a:t>) ;</a:t>
            </a:r>
          </a:p>
        </p:txBody>
      </p:sp>
    </p:spTree>
    <p:extLst>
      <p:ext uri="{BB962C8B-B14F-4D97-AF65-F5344CB8AC3E}">
        <p14:creationId xmlns:p14="http://schemas.microsoft.com/office/powerpoint/2010/main" val="4096622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 DML: INSERT STATEMENT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599" y="774700"/>
            <a:ext cx="11408229" cy="5367338"/>
          </a:xfrm>
        </p:spPr>
        <p:txBody>
          <a:bodyPr/>
          <a:lstStyle/>
          <a:p>
            <a:endParaRPr lang="en-AU" sz="800" b="1" dirty="0"/>
          </a:p>
          <a:p>
            <a:pPr>
              <a:buFont typeface="Wingdings" pitchFamily="2" charset="2"/>
              <a:buNone/>
            </a:pPr>
            <a:r>
              <a:rPr lang="en-AU" b="1" dirty="0"/>
              <a:t>Nulls</a:t>
            </a:r>
          </a:p>
          <a:p>
            <a:pPr>
              <a:buFont typeface="Wingdings" pitchFamily="2" charset="2"/>
              <a:buNone/>
            </a:pPr>
            <a:endParaRPr lang="en-AU" b="1" dirty="0"/>
          </a:p>
          <a:p>
            <a:pPr>
              <a:buFont typeface="Wingdings" pitchFamily="2" charset="2"/>
              <a:buNone/>
            </a:pPr>
            <a:r>
              <a:rPr lang="en-AU" dirty="0"/>
              <a:t>If a value is </a:t>
            </a:r>
            <a:r>
              <a:rPr lang="en-AU" b="1" dirty="0"/>
              <a:t>unknown</a:t>
            </a:r>
            <a:r>
              <a:rPr lang="en-AU" dirty="0"/>
              <a:t>, then use the </a:t>
            </a:r>
            <a:r>
              <a:rPr lang="en-AU" b="1" dirty="0"/>
              <a:t>Null</a:t>
            </a:r>
            <a:r>
              <a:rPr lang="en-AU" dirty="0"/>
              <a:t> keyword</a:t>
            </a:r>
          </a:p>
          <a:p>
            <a:pPr>
              <a:buFont typeface="Wingdings" pitchFamily="2" charset="2"/>
              <a:buNone/>
            </a:pPr>
            <a:br>
              <a:rPr lang="en-AU" dirty="0"/>
            </a:br>
            <a:r>
              <a:rPr lang="en-AU" dirty="0"/>
              <a:t>INSERT INTO  Lecturer ( LecId,  LecName, Age ) </a:t>
            </a:r>
          </a:p>
          <a:p>
            <a:pPr lvl="1">
              <a:buFont typeface="Arial Narrow" pitchFamily="34" charset="0"/>
              <a:buNone/>
            </a:pPr>
            <a:r>
              <a:rPr lang="en-AU" dirty="0"/>
              <a:t>                                 VALUES (</a:t>
            </a:r>
            <a:r>
              <a:rPr lang="en-AU" dirty="0">
                <a:solidFill>
                  <a:srgbClr val="0000FF"/>
                </a:solidFill>
              </a:rPr>
              <a:t>974, ‘Robert Tipping', </a:t>
            </a:r>
            <a:r>
              <a:rPr lang="en-AU" dirty="0">
                <a:solidFill>
                  <a:schemeClr val="accent2"/>
                </a:solidFill>
              </a:rPr>
              <a:t>Null</a:t>
            </a:r>
            <a:r>
              <a:rPr lang="en-AU" dirty="0"/>
              <a:t>) ;</a:t>
            </a:r>
          </a:p>
        </p:txBody>
      </p:sp>
    </p:spTree>
    <p:extLst>
      <p:ext uri="{BB962C8B-B14F-4D97-AF65-F5344CB8AC3E}">
        <p14:creationId xmlns:p14="http://schemas.microsoft.com/office/powerpoint/2010/main" val="3003451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 DML: SELECT STATEMENT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774700"/>
            <a:ext cx="9913938" cy="5367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The remainder of this lecture examines the </a:t>
            </a:r>
            <a:r>
              <a:rPr lang="en-AU" b="1" dirty="0"/>
              <a:t>SELECT</a:t>
            </a:r>
            <a:r>
              <a:rPr lang="en-AU" dirty="0"/>
              <a:t> clause</a:t>
            </a:r>
          </a:p>
          <a:p>
            <a:pPr marL="0" indent="0">
              <a:buNone/>
            </a:pPr>
            <a:r>
              <a:rPr lang="en-AU" dirty="0"/>
              <a:t>The </a:t>
            </a:r>
            <a:r>
              <a:rPr lang="en-AU" b="1" dirty="0"/>
              <a:t>Select</a:t>
            </a:r>
            <a:r>
              <a:rPr lang="en-AU" dirty="0"/>
              <a:t> clause is how users </a:t>
            </a:r>
            <a:r>
              <a:rPr lang="en-AU" b="1" dirty="0"/>
              <a:t>extract</a:t>
            </a:r>
            <a:r>
              <a:rPr lang="en-AU" dirty="0"/>
              <a:t> / display data stored in database tables</a:t>
            </a:r>
          </a:p>
          <a:p>
            <a:endParaRPr lang="en-AU" b="1" dirty="0"/>
          </a:p>
          <a:p>
            <a:r>
              <a:rPr lang="en-AU" b="1" dirty="0"/>
              <a:t>Syntax: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/>
              <a:t>SELECT &lt;item&gt;  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/>
              <a:t>FROM</a:t>
            </a:r>
            <a:r>
              <a:rPr lang="en-AU" dirty="0"/>
              <a:t>    </a:t>
            </a:r>
            <a:r>
              <a:rPr lang="en-AU" b="1" dirty="0"/>
              <a:t>&lt;table name&gt;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/>
              <a:t>…</a:t>
            </a:r>
          </a:p>
          <a:p>
            <a:endParaRPr lang="en-AU" sz="800" b="1" dirty="0"/>
          </a:p>
          <a:p>
            <a:pPr>
              <a:buFont typeface="Wingdings" pitchFamily="2" charset="2"/>
              <a:buNone/>
            </a:pPr>
            <a:r>
              <a:rPr lang="en-AU" b="1" dirty="0"/>
              <a:t>Example: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>
                <a:solidFill>
                  <a:srgbClr val="0000FF"/>
                </a:solidFill>
              </a:rPr>
              <a:t>SELECT  LecId,  LecName, Age 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>
                <a:solidFill>
                  <a:srgbClr val="0000FF"/>
                </a:solidFill>
              </a:rPr>
              <a:t>FROM Lecturer            ;</a:t>
            </a: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rgbClr val="0000FF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AU" b="1" dirty="0"/>
              <a:t>Output / Result Set:</a:t>
            </a:r>
          </a:p>
          <a:p>
            <a:pPr lvl="1">
              <a:buFont typeface="Arial Narrow" pitchFamily="34" charset="0"/>
              <a:buNone/>
            </a:pPr>
            <a:endParaRPr lang="en-AU" b="1" dirty="0"/>
          </a:p>
          <a:p>
            <a:pPr lvl="1">
              <a:buFont typeface="Arial Narrow" pitchFamily="34" charset="0"/>
              <a:buNone/>
            </a:pPr>
            <a:endParaRPr lang="en-AU" b="1" dirty="0"/>
          </a:p>
          <a:p>
            <a:pPr lvl="2">
              <a:buFont typeface="Wingdings" pitchFamily="2" charset="2"/>
              <a:buNone/>
            </a:pPr>
            <a:endParaRPr lang="en-AU" b="1" dirty="0"/>
          </a:p>
        </p:txBody>
      </p:sp>
      <p:graphicFrame>
        <p:nvGraphicFramePr>
          <p:cNvPr id="361515" name="Group 43"/>
          <p:cNvGraphicFramePr>
            <a:graphicFrameLocks noGrp="1"/>
          </p:cNvGraphicFramePr>
          <p:nvPr/>
        </p:nvGraphicFramePr>
        <p:xfrm>
          <a:off x="4337308" y="5384006"/>
          <a:ext cx="2943225" cy="1195389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LecId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LecName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Age 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207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John Smith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37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345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Carol Kent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34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6840280" y="1885729"/>
            <a:ext cx="3678865" cy="265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85725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85725" marR="0" lvl="0" indent="0" algn="ct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Each column name in the SELECT clause, </a:t>
            </a:r>
          </a:p>
          <a:p>
            <a:pPr marL="85725" marR="0" lvl="0" indent="0" algn="ct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causes a column to be included in the result set.</a:t>
            </a:r>
          </a:p>
          <a:p>
            <a:pPr marL="85725" marR="0" lvl="0" indent="0" algn="ct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C64A7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  <a:p>
            <a:pPr marL="85725" marR="0" lvl="0" indent="0" algn="ct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The sequence of column names in the select clause matches the sequence of columns in the result set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0C64A7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>
            <a:off x="5496910" y="3157871"/>
            <a:ext cx="1598550" cy="13870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/>
          <p:nvPr/>
        </p:nvCxnSpPr>
        <p:spPr bwMode="auto">
          <a:xfrm flipH="1">
            <a:off x="6840279" y="3157870"/>
            <a:ext cx="255182" cy="20308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94321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SQL: SELECT columns 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01689"/>
            <a:ext cx="9805988" cy="5233987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048000" algn="l"/>
                <a:tab pos="4394200" algn="l"/>
              </a:tabLst>
            </a:pPr>
            <a:r>
              <a:rPr lang="en-AU" dirty="0"/>
              <a:t>Only columns specified in the Select Clause are returned</a:t>
            </a:r>
          </a:p>
          <a:p>
            <a:pPr marL="0" indent="0">
              <a:buNone/>
              <a:tabLst>
                <a:tab pos="3048000" algn="l"/>
                <a:tab pos="4394200" algn="l"/>
              </a:tabLst>
            </a:pPr>
            <a:r>
              <a:rPr lang="en-AU" dirty="0"/>
              <a:t>Sequence of columns is based on the sequence of column names</a:t>
            </a:r>
          </a:p>
          <a:p>
            <a:pPr marL="0" indent="0">
              <a:buNone/>
              <a:tabLst>
                <a:tab pos="3048000" algn="l"/>
                <a:tab pos="4394200" algn="l"/>
              </a:tabLst>
            </a:pPr>
            <a:r>
              <a:rPr lang="en-AU" dirty="0"/>
              <a:t>The * symbol can be used to indicate all columns are required</a:t>
            </a:r>
          </a:p>
          <a:p>
            <a:pPr marL="0" indent="0">
              <a:buNone/>
              <a:tabLst>
                <a:tab pos="3048000" algn="l"/>
                <a:tab pos="4394200" algn="l"/>
              </a:tabLst>
            </a:pPr>
            <a:endParaRPr lang="en-AU" dirty="0"/>
          </a:p>
          <a:p>
            <a:pPr marL="0" indent="0">
              <a:buClr>
                <a:schemeClr val="bg1"/>
              </a:buClr>
              <a:buNone/>
              <a:tabLst>
                <a:tab pos="3048000" algn="l"/>
                <a:tab pos="4394200" algn="l"/>
              </a:tabLst>
            </a:pPr>
            <a:endParaRPr lang="en-US" dirty="0"/>
          </a:p>
        </p:txBody>
      </p:sp>
      <p:sp>
        <p:nvSpPr>
          <p:cNvPr id="53253" name="Line 4"/>
          <p:cNvSpPr>
            <a:spLocks noChangeShapeType="1"/>
          </p:cNvSpPr>
          <p:nvPr/>
        </p:nvSpPr>
        <p:spPr bwMode="auto">
          <a:xfrm flipH="1">
            <a:off x="3095625" y="2735263"/>
            <a:ext cx="249238" cy="3810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254" name="Line 5"/>
          <p:cNvSpPr>
            <a:spLocks noChangeShapeType="1"/>
          </p:cNvSpPr>
          <p:nvPr/>
        </p:nvSpPr>
        <p:spPr bwMode="auto">
          <a:xfrm flipH="1">
            <a:off x="3902076" y="2725738"/>
            <a:ext cx="15875" cy="3810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255" name="Line 11"/>
          <p:cNvSpPr>
            <a:spLocks noChangeShapeType="1"/>
          </p:cNvSpPr>
          <p:nvPr/>
        </p:nvSpPr>
        <p:spPr bwMode="auto">
          <a:xfrm flipV="1">
            <a:off x="8599489" y="3700626"/>
            <a:ext cx="26987" cy="461799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256" name="Line 12"/>
          <p:cNvSpPr>
            <a:spLocks noChangeShapeType="1"/>
          </p:cNvSpPr>
          <p:nvPr/>
        </p:nvSpPr>
        <p:spPr bwMode="auto">
          <a:xfrm flipV="1">
            <a:off x="7620001" y="3710152"/>
            <a:ext cx="26987" cy="461798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5405" name="Group 109"/>
          <p:cNvGraphicFramePr>
            <a:graphicFrameLocks noGrp="1"/>
          </p:cNvGraphicFramePr>
          <p:nvPr/>
        </p:nvGraphicFramePr>
        <p:xfrm>
          <a:off x="2778125" y="3192463"/>
          <a:ext cx="1708150" cy="1341436"/>
        </p:xfrm>
        <a:graphic>
          <a:graphicData uri="http://schemas.openxmlformats.org/drawingml/2006/table">
            <a:tbl>
              <a:tblPr/>
              <a:tblGrid>
                <a:gridCol w="67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374" name="Group 78"/>
          <p:cNvGraphicFramePr>
            <a:graphicFrameLocks noGrp="1"/>
          </p:cNvGraphicFramePr>
          <p:nvPr/>
        </p:nvGraphicFramePr>
        <p:xfrm>
          <a:off x="7527925" y="2292625"/>
          <a:ext cx="1708150" cy="1341436"/>
        </p:xfrm>
        <a:graphic>
          <a:graphicData uri="http://schemas.openxmlformats.org/drawingml/2006/table">
            <a:tbl>
              <a:tblPr/>
              <a:tblGrid>
                <a:gridCol w="67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291" name="Text Box 79"/>
          <p:cNvSpPr txBox="1">
            <a:spLocks noChangeArrowheads="1"/>
          </p:cNvSpPr>
          <p:nvPr/>
        </p:nvSpPr>
        <p:spPr bwMode="auto">
          <a:xfrm>
            <a:off x="1806575" y="2222500"/>
            <a:ext cx="2867773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SELECT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lecid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,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lecname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</a:t>
            </a:r>
          </a:p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FROM lecturer;</a:t>
            </a:r>
          </a:p>
        </p:txBody>
      </p:sp>
      <p:sp>
        <p:nvSpPr>
          <p:cNvPr id="53292" name="Text Box 80"/>
          <p:cNvSpPr txBox="1">
            <a:spLocks noChangeArrowheads="1"/>
          </p:cNvSpPr>
          <p:nvPr/>
        </p:nvSpPr>
        <p:spPr bwMode="auto">
          <a:xfrm>
            <a:off x="4799107" y="3571719"/>
            <a:ext cx="283438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SELECT age,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lecname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</a:t>
            </a:r>
          </a:p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FROM lecturer;</a:t>
            </a:r>
          </a:p>
        </p:txBody>
      </p:sp>
      <p:graphicFrame>
        <p:nvGraphicFramePr>
          <p:cNvPr id="55406" name="Group 110"/>
          <p:cNvGraphicFramePr>
            <a:graphicFrameLocks noGrp="1"/>
          </p:cNvGraphicFramePr>
          <p:nvPr/>
        </p:nvGraphicFramePr>
        <p:xfrm>
          <a:off x="6848011" y="4571526"/>
          <a:ext cx="2241550" cy="1341440"/>
        </p:xfrm>
        <a:graphic>
          <a:graphicData uri="http://schemas.openxmlformats.org/drawingml/2006/table">
            <a:tbl>
              <a:tblPr/>
              <a:tblGrid>
                <a:gridCol w="67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315" name="Text Box 111"/>
          <p:cNvSpPr txBox="1">
            <a:spLocks noChangeArrowheads="1"/>
          </p:cNvSpPr>
          <p:nvPr/>
        </p:nvSpPr>
        <p:spPr bwMode="auto">
          <a:xfrm>
            <a:off x="2931495" y="4990161"/>
            <a:ext cx="189474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SELECT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*</a:t>
            </a:r>
          </a:p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FROM lecturer;</a:t>
            </a:r>
          </a:p>
        </p:txBody>
      </p:sp>
      <p:sp>
        <p:nvSpPr>
          <p:cNvPr id="53316" name="Line 112"/>
          <p:cNvSpPr>
            <a:spLocks noChangeShapeType="1"/>
          </p:cNvSpPr>
          <p:nvPr/>
        </p:nvSpPr>
        <p:spPr bwMode="auto">
          <a:xfrm flipV="1">
            <a:off x="5881687" y="5359493"/>
            <a:ext cx="428625" cy="15875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227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E23B-29F1-4813-A188-DD9279FDA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SQL:DELETE command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C67E-629D-4D92-82AE-5FE1D9D06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56138"/>
            <a:ext cx="10680834" cy="5802923"/>
          </a:xfrm>
        </p:spPr>
        <p:txBody>
          <a:bodyPr>
            <a:noAutofit/>
          </a:bodyPr>
          <a:lstStyle/>
          <a:p>
            <a:r>
              <a:rPr lang="en-US" dirty="0"/>
              <a:t> When deleting rows in a table, it is a good idea to create a Select statement first. </a:t>
            </a:r>
          </a:p>
          <a:p>
            <a:r>
              <a:rPr lang="en-US" dirty="0"/>
              <a:t> Suppose you want to delete all movies that have a </a:t>
            </a:r>
            <a:r>
              <a:rPr lang="en-US" dirty="0" err="1"/>
              <a:t>run_time</a:t>
            </a:r>
            <a:r>
              <a:rPr lang="en-US" dirty="0"/>
              <a:t>  &lt; = 100 </a:t>
            </a:r>
          </a:p>
          <a:p>
            <a:r>
              <a:rPr lang="en-US" dirty="0"/>
              <a:t> Select the rows first </a:t>
            </a:r>
            <a:r>
              <a:rPr lang="en-US" dirty="0">
                <a:solidFill>
                  <a:schemeClr val="accent2"/>
                </a:solidFill>
              </a:rPr>
              <a:t>SELECT * </a:t>
            </a:r>
          </a:p>
          <a:p>
            <a:r>
              <a:rPr lang="en-US" dirty="0">
                <a:solidFill>
                  <a:schemeClr val="accent2"/>
                </a:solidFill>
              </a:rPr>
              <a:t>                                     FROM Movie</a:t>
            </a:r>
          </a:p>
          <a:p>
            <a:r>
              <a:rPr lang="en-US" dirty="0">
                <a:solidFill>
                  <a:schemeClr val="accent2"/>
                </a:solidFill>
              </a:rPr>
              <a:t>                                      WHERE </a:t>
            </a:r>
            <a:r>
              <a:rPr lang="en-US" dirty="0" err="1">
                <a:solidFill>
                  <a:schemeClr val="accent2"/>
                </a:solidFill>
              </a:rPr>
              <a:t>Run_time</a:t>
            </a:r>
            <a:r>
              <a:rPr lang="en-US" dirty="0">
                <a:solidFill>
                  <a:schemeClr val="accent2"/>
                </a:solidFill>
              </a:rPr>
              <a:t>  &lt; =100 ;</a:t>
            </a:r>
          </a:p>
          <a:p>
            <a:r>
              <a:rPr lang="en-US" dirty="0"/>
              <a:t>Check the result set. Are these the rows you want to delete? </a:t>
            </a:r>
          </a:p>
          <a:p>
            <a:r>
              <a:rPr lang="en-US" dirty="0"/>
              <a:t>Once satisfied, simply change the first few words of the statement:</a:t>
            </a:r>
          </a:p>
          <a:p>
            <a:r>
              <a:rPr lang="en-US" dirty="0"/>
              <a:t> Change from </a:t>
            </a:r>
            <a:r>
              <a:rPr lang="en-US" dirty="0">
                <a:solidFill>
                  <a:schemeClr val="accent2"/>
                </a:solidFill>
                <a:highlight>
                  <a:srgbClr val="FFFF00"/>
                </a:highlight>
              </a:rPr>
              <a:t>SELECT  * FROM </a:t>
            </a:r>
            <a:r>
              <a:rPr lang="en-US" dirty="0">
                <a:solidFill>
                  <a:schemeClr val="accent2"/>
                </a:solidFill>
              </a:rPr>
              <a:t>Movie    to 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pPr marL="1828800" lvl="4" indent="0">
              <a:buNone/>
            </a:pPr>
            <a:r>
              <a:rPr lang="en-US" dirty="0">
                <a:solidFill>
                  <a:schemeClr val="accent2"/>
                </a:solidFill>
                <a:highlight>
                  <a:srgbClr val="FFFF00"/>
                </a:highlight>
              </a:rPr>
              <a:t>DELETE </a:t>
            </a:r>
          </a:p>
          <a:p>
            <a:pPr marL="1828800" lvl="4" indent="0">
              <a:buNone/>
            </a:pPr>
            <a:r>
              <a:rPr lang="en-US" dirty="0">
                <a:solidFill>
                  <a:schemeClr val="accent2"/>
                </a:solidFill>
                <a:highlight>
                  <a:srgbClr val="FFFF00"/>
                </a:highlight>
              </a:rPr>
              <a:t>From  Movie</a:t>
            </a:r>
          </a:p>
          <a:p>
            <a:r>
              <a:rPr lang="en-US" dirty="0">
                <a:solidFill>
                  <a:schemeClr val="accent2"/>
                </a:solidFill>
              </a:rPr>
              <a:t>                   WHERE </a:t>
            </a:r>
            <a:r>
              <a:rPr lang="en-US" dirty="0" err="1">
                <a:solidFill>
                  <a:schemeClr val="accent2"/>
                </a:solidFill>
              </a:rPr>
              <a:t>Run_time</a:t>
            </a:r>
            <a:r>
              <a:rPr lang="en-US" dirty="0">
                <a:solidFill>
                  <a:schemeClr val="accent2"/>
                </a:solidFill>
              </a:rPr>
              <a:t>  &lt;= 100 ; </a:t>
            </a:r>
          </a:p>
        </p:txBody>
      </p:sp>
    </p:spTree>
    <p:extLst>
      <p:ext uri="{BB962C8B-B14F-4D97-AF65-F5344CB8AC3E}">
        <p14:creationId xmlns:p14="http://schemas.microsoft.com/office/powerpoint/2010/main" val="3088432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0378-6861-4AB9-8711-241C8C14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SQL:Update</a:t>
            </a:r>
            <a:r>
              <a:rPr lang="en-AU" dirty="0"/>
              <a:t>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95DAC-DF0A-481F-BA84-46BF06B19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87654"/>
            <a:ext cx="10680834" cy="47745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Updates one or more rows in a single table.</a:t>
            </a:r>
          </a:p>
          <a:p>
            <a:endParaRPr lang="en-US" dirty="0"/>
          </a:p>
          <a:p>
            <a:r>
              <a:rPr lang="en-US" dirty="0"/>
              <a:t>UPDATE &lt;table-name&gt;</a:t>
            </a:r>
          </a:p>
          <a:p>
            <a:r>
              <a:rPr lang="en-US" dirty="0"/>
              <a:t>SET &lt;column-name&gt; = &lt;value&gt; [ , … ]</a:t>
            </a:r>
          </a:p>
          <a:p>
            <a:r>
              <a:rPr lang="en-US" dirty="0"/>
              <a:t>WHERE &lt;condition&gt;</a:t>
            </a:r>
          </a:p>
          <a:p>
            <a:pPr lvl="5"/>
            <a:r>
              <a:rPr lang="en-US" dirty="0">
                <a:solidFill>
                  <a:schemeClr val="accent2"/>
                </a:solidFill>
                <a:highlight>
                  <a:srgbClr val="FFFF00"/>
                </a:highlight>
              </a:rPr>
              <a:t>UPDATE</a:t>
            </a:r>
            <a:r>
              <a:rPr lang="en-US" dirty="0">
                <a:solidFill>
                  <a:schemeClr val="accent2"/>
                </a:solidFill>
              </a:rPr>
              <a:t> student</a:t>
            </a:r>
          </a:p>
          <a:p>
            <a:pPr lvl="5"/>
            <a:r>
              <a:rPr lang="en-US" dirty="0">
                <a:solidFill>
                  <a:schemeClr val="accent2"/>
                </a:solidFill>
                <a:highlight>
                  <a:srgbClr val="FFFF00"/>
                </a:highlight>
              </a:rPr>
              <a:t>SET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Fees_Paid</a:t>
            </a:r>
            <a:r>
              <a:rPr lang="en-US" dirty="0">
                <a:solidFill>
                  <a:schemeClr val="accent2"/>
                </a:solidFill>
              </a:rPr>
              <a:t> = 'Y'</a:t>
            </a:r>
          </a:p>
          <a:p>
            <a:pPr lvl="5"/>
            <a:r>
              <a:rPr lang="en-US" dirty="0">
                <a:solidFill>
                  <a:schemeClr val="accent2"/>
                </a:solidFill>
                <a:highlight>
                  <a:srgbClr val="FFFF00"/>
                </a:highlight>
              </a:rPr>
              <a:t>WHERE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StuID</a:t>
            </a:r>
            <a:r>
              <a:rPr lang="en-US" dirty="0">
                <a:solidFill>
                  <a:schemeClr val="accent2"/>
                </a:solidFill>
              </a:rPr>
              <a:t> = 1122334 </a:t>
            </a:r>
          </a:p>
          <a:p>
            <a:pPr marL="0" lvl="5" indent="0"/>
            <a:r>
              <a:rPr lang="en-US" dirty="0">
                <a:highlight>
                  <a:srgbClr val="FFFF00"/>
                </a:highlight>
              </a:rPr>
              <a:t>Warning</a:t>
            </a:r>
            <a:r>
              <a:rPr lang="en-US" dirty="0">
                <a:solidFill>
                  <a:schemeClr val="accent2"/>
                </a:solidFill>
                <a:highlight>
                  <a:srgbClr val="FFFF00"/>
                </a:highlight>
              </a:rPr>
              <a:t>. </a:t>
            </a:r>
            <a:r>
              <a:rPr lang="en-US" dirty="0"/>
              <a:t>If you do not include the where clause, ALL rows from the table</a:t>
            </a:r>
          </a:p>
          <a:p>
            <a:pPr marL="0" lvl="5" indent="0"/>
            <a:r>
              <a:rPr lang="en-US" dirty="0"/>
              <a:t>will be updated!</a:t>
            </a:r>
          </a:p>
          <a:p>
            <a:pPr marL="0" lvl="5" indent="0"/>
            <a:r>
              <a:rPr lang="en-US" dirty="0">
                <a:solidFill>
                  <a:schemeClr val="accent2"/>
                </a:solidFill>
              </a:rPr>
              <a:t> Many DBMSs do not have an Undo or Oops feature.</a:t>
            </a:r>
          </a:p>
          <a:p>
            <a:pPr marL="0" lvl="5" indent="0"/>
            <a:r>
              <a:rPr lang="en-US" dirty="0">
                <a:solidFill>
                  <a:schemeClr val="accent2"/>
                </a:solidFill>
              </a:rPr>
              <a:t> </a:t>
            </a:r>
            <a:r>
              <a:rPr lang="en-US" dirty="0">
                <a:highlight>
                  <a:srgbClr val="FFFF00"/>
                </a:highlight>
              </a:rPr>
              <a:t>Suggestion: Before updating</a:t>
            </a:r>
            <a:r>
              <a:rPr lang="en-US" dirty="0">
                <a:solidFill>
                  <a:schemeClr val="accent2"/>
                </a:solidFill>
              </a:rPr>
              <a:t>, write a Select statement. Check the rows selected. </a:t>
            </a:r>
          </a:p>
          <a:p>
            <a:pPr marL="0" lvl="5" indent="0"/>
            <a:r>
              <a:rPr lang="en-US" dirty="0">
                <a:solidFill>
                  <a:schemeClr val="accent2"/>
                </a:solidFill>
              </a:rPr>
              <a:t>Then convert the Select statement to an Update statement</a:t>
            </a:r>
          </a:p>
          <a:p>
            <a:pPr lvl="5"/>
            <a:endParaRPr lang="en-US" dirty="0"/>
          </a:p>
          <a:p>
            <a:pPr lvl="5"/>
            <a:endParaRPr lang="en-US" dirty="0"/>
          </a:p>
          <a:p>
            <a:pPr lvl="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550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9BE2-C8D0-4BC7-81E2-9876C892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SQL:Update</a:t>
            </a:r>
            <a:r>
              <a:rPr lang="en-AU" dirty="0"/>
              <a:t>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29922-188E-474C-AF53-5515221FE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This example updates multiple columns in the same statement.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UPDATE &lt;table-name&gt;</a:t>
            </a:r>
          </a:p>
          <a:p>
            <a:r>
              <a:rPr lang="en-US" dirty="0">
                <a:solidFill>
                  <a:schemeClr val="tx1"/>
                </a:solidFill>
              </a:rPr>
              <a:t>SET &lt;column-name&gt; = &lt;value&gt; [ , … ]</a:t>
            </a:r>
          </a:p>
          <a:p>
            <a:r>
              <a:rPr lang="en-US" dirty="0">
                <a:solidFill>
                  <a:schemeClr val="tx1"/>
                </a:solidFill>
              </a:rPr>
              <a:t>WHERE &lt;condition&gt;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accent2"/>
                </a:solidFill>
                <a:highlight>
                  <a:srgbClr val="FFFF00"/>
                </a:highlight>
              </a:rPr>
              <a:t>UPDATE</a:t>
            </a:r>
            <a:r>
              <a:rPr lang="en-US" sz="2000" dirty="0">
                <a:solidFill>
                  <a:schemeClr val="accent2"/>
                </a:solidFill>
              </a:rPr>
              <a:t> employee</a:t>
            </a:r>
          </a:p>
          <a:p>
            <a:r>
              <a:rPr lang="en-US" sz="2000" dirty="0">
                <a:solidFill>
                  <a:schemeClr val="accent2"/>
                </a:solidFill>
                <a:highlight>
                  <a:srgbClr val="FFFF00"/>
                </a:highlight>
              </a:rPr>
              <a:t>SET</a:t>
            </a:r>
            <a:r>
              <a:rPr lang="en-US" sz="2000" dirty="0">
                <a:solidFill>
                  <a:schemeClr val="accent2"/>
                </a:solidFill>
              </a:rPr>
              <a:t> salary = salary + 5000, </a:t>
            </a:r>
          </a:p>
          <a:p>
            <a:r>
              <a:rPr lang="en-US" sz="2000" dirty="0">
                <a:solidFill>
                  <a:schemeClr val="accent2"/>
                </a:solidFill>
                <a:highlight>
                  <a:srgbClr val="FFFF00"/>
                </a:highlight>
              </a:rPr>
              <a:t>WHERE</a:t>
            </a:r>
            <a:r>
              <a:rPr lang="en-US" sz="2000" dirty="0">
                <a:solidFill>
                  <a:schemeClr val="accent2"/>
                </a:solidFill>
              </a:rPr>
              <a:t> UPPER(branch) = 'HAWTHORN'</a:t>
            </a:r>
          </a:p>
          <a:p>
            <a:r>
              <a:rPr lang="en-US" sz="2000" dirty="0">
                <a:solidFill>
                  <a:schemeClr val="accent2"/>
                </a:solidFill>
              </a:rPr>
              <a:t>OR </a:t>
            </a:r>
            <a:r>
              <a:rPr lang="en-US" sz="2000" dirty="0" err="1">
                <a:solidFill>
                  <a:schemeClr val="accent2"/>
                </a:solidFill>
              </a:rPr>
              <a:t>years_of_service</a:t>
            </a:r>
            <a:r>
              <a:rPr lang="en-US" sz="2000" dirty="0">
                <a:solidFill>
                  <a:schemeClr val="accent2"/>
                </a:solidFill>
              </a:rPr>
              <a:t> &gt;= 10;</a:t>
            </a:r>
            <a:endParaRPr lang="en-AU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271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7908" y="201613"/>
            <a:ext cx="11641015" cy="576262"/>
          </a:xfrm>
        </p:spPr>
        <p:txBody>
          <a:bodyPr>
            <a:noAutofit/>
          </a:bodyPr>
          <a:lstStyle/>
          <a:p>
            <a:pPr marL="685800" indent="-685800"/>
            <a:r>
              <a:rPr lang="en-AU" dirty="0"/>
              <a:t>SQL: Order By– sequence of result set rows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956" y="1022779"/>
            <a:ext cx="9689873" cy="45711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/>
              <a:t>The </a:t>
            </a:r>
            <a:r>
              <a:rPr lang="en-AU" sz="2000" b="1" dirty="0"/>
              <a:t>Order By</a:t>
            </a:r>
            <a:r>
              <a:rPr lang="en-AU" sz="2000" dirty="0"/>
              <a:t> clause specifies the sequence of rows in the result-set.</a:t>
            </a:r>
          </a:p>
          <a:p>
            <a:pPr marL="742950" lvl="2" indent="-342900"/>
            <a:r>
              <a:rPr lang="en-AU" sz="2000" dirty="0"/>
              <a:t>Use the column name or column number </a:t>
            </a:r>
          </a:p>
          <a:p>
            <a:pPr marL="742950" lvl="2" indent="-342900"/>
            <a:r>
              <a:rPr lang="en-AU" sz="2000" dirty="0"/>
              <a:t>Multiple columns can be specified.</a:t>
            </a:r>
          </a:p>
          <a:p>
            <a:pPr marL="742950" lvl="2" indent="-342900"/>
            <a:r>
              <a:rPr lang="en-AU" sz="2000" dirty="0"/>
              <a:t>Each column may be ordered in </a:t>
            </a:r>
            <a:r>
              <a:rPr lang="en-AU" sz="2000" dirty="0" err="1"/>
              <a:t>ASCending</a:t>
            </a:r>
            <a:r>
              <a:rPr lang="en-AU" sz="2000" dirty="0"/>
              <a:t> or </a:t>
            </a:r>
            <a:r>
              <a:rPr lang="en-AU" sz="2000" dirty="0" err="1"/>
              <a:t>DESCending</a:t>
            </a:r>
            <a:r>
              <a:rPr lang="en-AU" sz="2000" dirty="0"/>
              <a:t> sequence.   Ascending is the default</a:t>
            </a:r>
          </a:p>
          <a:p>
            <a:pPr marL="0" indent="0">
              <a:buNone/>
            </a:pPr>
            <a:endParaRPr lang="en-AU" sz="2000" dirty="0"/>
          </a:p>
        </p:txBody>
      </p:sp>
      <p:graphicFrame>
        <p:nvGraphicFramePr>
          <p:cNvPr id="58477" name="Group 109"/>
          <p:cNvGraphicFramePr>
            <a:graphicFrameLocks noGrp="1"/>
          </p:cNvGraphicFramePr>
          <p:nvPr/>
        </p:nvGraphicFramePr>
        <p:xfrm>
          <a:off x="7727950" y="2638425"/>
          <a:ext cx="1562100" cy="134144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294" name="Text Box 32"/>
          <p:cNvSpPr txBox="1">
            <a:spLocks noChangeArrowheads="1"/>
          </p:cNvSpPr>
          <p:nvPr/>
        </p:nvSpPr>
        <p:spPr bwMode="auto">
          <a:xfrm>
            <a:off x="2480662" y="2939020"/>
            <a:ext cx="287142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SELECT LecName, Age </a:t>
            </a:r>
          </a:p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FROM lecturer</a:t>
            </a:r>
          </a:p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ORDER BY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LecName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;</a:t>
            </a:r>
          </a:p>
        </p:txBody>
      </p:sp>
      <p:sp>
        <p:nvSpPr>
          <p:cNvPr id="54295" name="Line 33"/>
          <p:cNvSpPr>
            <a:spLocks noChangeShapeType="1"/>
          </p:cNvSpPr>
          <p:nvPr/>
        </p:nvSpPr>
        <p:spPr bwMode="auto">
          <a:xfrm>
            <a:off x="7092950" y="3273426"/>
            <a:ext cx="457200" cy="31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296" name="Text Box 110"/>
          <p:cNvSpPr txBox="1">
            <a:spLocks noChangeArrowheads="1"/>
          </p:cNvSpPr>
          <p:nvPr/>
        </p:nvSpPr>
        <p:spPr bwMode="auto">
          <a:xfrm>
            <a:off x="4526845" y="4171197"/>
            <a:ext cx="338278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SELECT LecName, Age </a:t>
            </a:r>
          </a:p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FROM lecturer</a:t>
            </a:r>
          </a:p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ORDER BY </a:t>
            </a:r>
            <a:r>
              <a:rPr kumimoji="0" lang="en-AU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LecName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DESC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;</a:t>
            </a:r>
          </a:p>
        </p:txBody>
      </p:sp>
      <p:graphicFrame>
        <p:nvGraphicFramePr>
          <p:cNvPr id="58536" name="Group 168"/>
          <p:cNvGraphicFramePr>
            <a:graphicFrameLocks noGrp="1"/>
          </p:cNvGraphicFramePr>
          <p:nvPr/>
        </p:nvGraphicFramePr>
        <p:xfrm>
          <a:off x="1933575" y="4054475"/>
          <a:ext cx="1562100" cy="134144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314" name="Line 136"/>
          <p:cNvSpPr>
            <a:spLocks noChangeShapeType="1"/>
          </p:cNvSpPr>
          <p:nvPr/>
        </p:nvSpPr>
        <p:spPr bwMode="auto">
          <a:xfrm flipH="1" flipV="1">
            <a:off x="3625497" y="4812117"/>
            <a:ext cx="771525" cy="2540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8594" name="Group 226"/>
          <p:cNvGraphicFramePr>
            <a:graphicFrameLocks noGrp="1"/>
          </p:cNvGraphicFramePr>
          <p:nvPr/>
        </p:nvGraphicFramePr>
        <p:xfrm>
          <a:off x="8940801" y="5248749"/>
          <a:ext cx="1562100" cy="134144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B2331A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B2331A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B2331A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B2331A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B2331A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B2331A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B2331A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2331A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4332" name="Text Box 227"/>
          <p:cNvSpPr txBox="1">
            <a:spLocks noChangeArrowheads="1"/>
          </p:cNvSpPr>
          <p:nvPr/>
        </p:nvSpPr>
        <p:spPr bwMode="auto">
          <a:xfrm>
            <a:off x="3912094" y="5498723"/>
            <a:ext cx="287142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B2331A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SELECT LecName, Age </a:t>
            </a:r>
          </a:p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B2331A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FROM lecturer</a:t>
            </a:r>
          </a:p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B2331A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ORDER BY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Age ASC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B2331A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;</a:t>
            </a:r>
          </a:p>
        </p:txBody>
      </p:sp>
      <p:sp>
        <p:nvSpPr>
          <p:cNvPr id="54333" name="Line 228"/>
          <p:cNvSpPr>
            <a:spLocks noChangeShapeType="1"/>
          </p:cNvSpPr>
          <p:nvPr/>
        </p:nvSpPr>
        <p:spPr bwMode="auto">
          <a:xfrm>
            <a:off x="7782596" y="6098734"/>
            <a:ext cx="457200" cy="3175"/>
          </a:xfrm>
          <a:prstGeom prst="line">
            <a:avLst/>
          </a:prstGeom>
          <a:noFill/>
          <a:ln w="9525">
            <a:solidFill>
              <a:srgbClr val="B2331A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4977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1" y="201613"/>
            <a:ext cx="8653464" cy="576262"/>
          </a:xfrm>
        </p:spPr>
        <p:txBody>
          <a:bodyPr>
            <a:noAutofit/>
          </a:bodyPr>
          <a:lstStyle/>
          <a:p>
            <a:pPr marL="685800" indent="-685800"/>
            <a:r>
              <a:rPr lang="en-AU" dirty="0"/>
              <a:t>SQL: </a:t>
            </a:r>
            <a:r>
              <a:rPr lang="en-AU"/>
              <a:t>Order By – </a:t>
            </a:r>
            <a:r>
              <a:rPr lang="en-AU" dirty="0"/>
              <a:t>column number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1201" y="965994"/>
            <a:ext cx="9704387" cy="5367338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en-AU" dirty="0"/>
              <a:t>A </a:t>
            </a:r>
            <a:r>
              <a:rPr lang="en-AU" b="1" dirty="0"/>
              <a:t>column number</a:t>
            </a:r>
            <a:r>
              <a:rPr lang="en-AU" dirty="0"/>
              <a:t> in the </a:t>
            </a:r>
            <a:r>
              <a:rPr lang="en-AU" b="1" dirty="0"/>
              <a:t>Order By</a:t>
            </a:r>
            <a:r>
              <a:rPr lang="en-AU" dirty="0"/>
              <a:t> clause </a:t>
            </a:r>
          </a:p>
          <a:p>
            <a:pPr marL="0" lvl="1" indent="0">
              <a:buNone/>
              <a:defRPr/>
            </a:pPr>
            <a:r>
              <a:rPr lang="en-AU" dirty="0"/>
              <a:t>refers to one of the columns in the select clause.</a:t>
            </a:r>
          </a:p>
          <a:p>
            <a:pPr marL="0" lvl="1" indent="0">
              <a:buNone/>
              <a:defRPr/>
            </a:pPr>
            <a:r>
              <a:rPr lang="en-AU" dirty="0"/>
              <a:t>This can be useful in more complex queries</a:t>
            </a:r>
          </a:p>
          <a:p>
            <a:pPr marL="0" lvl="1" indent="0">
              <a:buNone/>
              <a:defRPr/>
            </a:pPr>
            <a:endParaRPr lang="en-AU" dirty="0"/>
          </a:p>
          <a:p>
            <a:pPr marL="0" lvl="1" indent="0">
              <a:buNone/>
              <a:defRPr/>
            </a:pPr>
            <a:r>
              <a:rPr lang="en-AU" dirty="0"/>
              <a:t>This example sequences the result set by the 3rd column listed in the select clause</a:t>
            </a:r>
          </a:p>
          <a:p>
            <a:pPr marL="0" lvl="1" indent="0">
              <a:buNone/>
              <a:defRPr/>
            </a:pPr>
            <a:endParaRPr lang="en-AU" dirty="0"/>
          </a:p>
          <a:p>
            <a:pPr lvl="1">
              <a:defRPr/>
            </a:pPr>
            <a:endParaRPr lang="en-AU" dirty="0"/>
          </a:p>
          <a:p>
            <a:pPr lvl="1">
              <a:defRPr/>
            </a:pPr>
            <a:endParaRPr lang="en-AU" dirty="0"/>
          </a:p>
          <a:p>
            <a:pPr lvl="1">
              <a:defRPr/>
            </a:pPr>
            <a:endParaRPr lang="en-AU" dirty="0"/>
          </a:p>
          <a:p>
            <a:pPr lvl="1"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AU" dirty="0">
                <a:solidFill>
                  <a:srgbClr val="FF0000"/>
                </a:solidFill>
              </a:rPr>
              <a:t>So </a:t>
            </a:r>
            <a:r>
              <a:rPr lang="en-AU" b="1" dirty="0">
                <a:solidFill>
                  <a:srgbClr val="FF0000"/>
                </a:solidFill>
              </a:rPr>
              <a:t>3</a:t>
            </a:r>
            <a:r>
              <a:rPr lang="en-AU" dirty="0">
                <a:solidFill>
                  <a:srgbClr val="FF0000"/>
                </a:solidFill>
              </a:rPr>
              <a:t> means "Sort the displayed rows by the 3</a:t>
            </a:r>
            <a:r>
              <a:rPr lang="en-AU" baseline="30000" dirty="0">
                <a:solidFill>
                  <a:srgbClr val="FF0000"/>
                </a:solidFill>
              </a:rPr>
              <a:t>rd</a:t>
            </a:r>
            <a:r>
              <a:rPr lang="en-AU" dirty="0">
                <a:solidFill>
                  <a:srgbClr val="FF0000"/>
                </a:solidFill>
              </a:rPr>
              <a:t> column of the result set"</a:t>
            </a:r>
          </a:p>
        </p:txBody>
      </p:sp>
      <p:sp>
        <p:nvSpPr>
          <p:cNvPr id="55301" name="Text Box 30"/>
          <p:cNvSpPr txBox="1">
            <a:spLocks noChangeArrowheads="1"/>
          </p:cNvSpPr>
          <p:nvPr/>
        </p:nvSpPr>
        <p:spPr bwMode="auto">
          <a:xfrm>
            <a:off x="2105026" y="4044950"/>
            <a:ext cx="367292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SELECT LecId, LecName, Age </a:t>
            </a:r>
          </a:p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FROM lecturer</a:t>
            </a:r>
          </a:p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ORDER BY 3  DESC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;</a:t>
            </a:r>
          </a:p>
        </p:txBody>
      </p:sp>
      <p:graphicFrame>
        <p:nvGraphicFramePr>
          <p:cNvPr id="362653" name="Group 157"/>
          <p:cNvGraphicFramePr>
            <a:graphicFrameLocks noGrp="1"/>
          </p:cNvGraphicFramePr>
          <p:nvPr/>
        </p:nvGraphicFramePr>
        <p:xfrm>
          <a:off x="7526338" y="3828059"/>
          <a:ext cx="2889250" cy="1584704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324" name="Text Box 112"/>
          <p:cNvSpPr txBox="1">
            <a:spLocks noChangeArrowheads="1"/>
          </p:cNvSpPr>
          <p:nvPr/>
        </p:nvSpPr>
        <p:spPr bwMode="auto">
          <a:xfrm>
            <a:off x="3397250" y="3652838"/>
            <a:ext cx="2741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</a:t>
            </a:r>
          </a:p>
        </p:txBody>
      </p:sp>
      <p:sp>
        <p:nvSpPr>
          <p:cNvPr id="55325" name="Text Box 113"/>
          <p:cNvSpPr txBox="1">
            <a:spLocks noChangeArrowheads="1"/>
          </p:cNvSpPr>
          <p:nvPr/>
        </p:nvSpPr>
        <p:spPr bwMode="auto">
          <a:xfrm>
            <a:off x="4451350" y="3649663"/>
            <a:ext cx="2741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</a:t>
            </a:r>
          </a:p>
        </p:txBody>
      </p:sp>
      <p:sp>
        <p:nvSpPr>
          <p:cNvPr id="55326" name="Text Box 114"/>
          <p:cNvSpPr txBox="1">
            <a:spLocks noChangeArrowheads="1"/>
          </p:cNvSpPr>
          <p:nvPr/>
        </p:nvSpPr>
        <p:spPr bwMode="auto">
          <a:xfrm>
            <a:off x="5334000" y="3656013"/>
            <a:ext cx="2741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</a:t>
            </a:r>
          </a:p>
        </p:txBody>
      </p:sp>
      <p:sp>
        <p:nvSpPr>
          <p:cNvPr id="55327" name="Freeform 116"/>
          <p:cNvSpPr>
            <a:spLocks/>
          </p:cNvSpPr>
          <p:nvPr/>
        </p:nvSpPr>
        <p:spPr bwMode="auto">
          <a:xfrm>
            <a:off x="4255476" y="4419601"/>
            <a:ext cx="1192823" cy="733345"/>
          </a:xfrm>
          <a:custGeom>
            <a:avLst/>
            <a:gdLst>
              <a:gd name="T0" fmla="*/ 0 w 1272"/>
              <a:gd name="T1" fmla="*/ 1577031988 h 577"/>
              <a:gd name="T2" fmla="*/ 1224795938 w 1272"/>
              <a:gd name="T3" fmla="*/ 2024568322 h 577"/>
              <a:gd name="T4" fmla="*/ 2147483647 w 1272"/>
              <a:gd name="T5" fmla="*/ 1427853210 h 577"/>
              <a:gd name="T6" fmla="*/ 2147483647 w 1272"/>
              <a:gd name="T7" fmla="*/ 0 h 57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2" h="577">
                <a:moveTo>
                  <a:pt x="0" y="444"/>
                </a:moveTo>
                <a:cubicBezTo>
                  <a:pt x="148" y="510"/>
                  <a:pt x="296" y="577"/>
                  <a:pt x="486" y="570"/>
                </a:cubicBezTo>
                <a:cubicBezTo>
                  <a:pt x="676" y="563"/>
                  <a:pt x="1009" y="497"/>
                  <a:pt x="1140" y="402"/>
                </a:cubicBezTo>
                <a:cubicBezTo>
                  <a:pt x="1271" y="307"/>
                  <a:pt x="1271" y="153"/>
                  <a:pt x="1272" y="0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lg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394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667657" y="201613"/>
            <a:ext cx="8697007" cy="576262"/>
          </a:xfrm>
        </p:spPr>
        <p:txBody>
          <a:bodyPr>
            <a:noAutofit/>
          </a:bodyPr>
          <a:lstStyle/>
          <a:p>
            <a:pPr marL="685800" indent="-685800"/>
            <a:r>
              <a:rPr lang="en-AU" dirty="0"/>
              <a:t>SQL: Order By– multi column 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7657" y="774700"/>
            <a:ext cx="10000343" cy="5367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Multiple columns</a:t>
            </a:r>
            <a:r>
              <a:rPr lang="en-AU" dirty="0"/>
              <a:t> can be used the Order By clause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Rows in the result set are in ascending age sequence</a:t>
            </a:r>
          </a:p>
          <a:p>
            <a:pPr marL="0" indent="0">
              <a:buNone/>
            </a:pPr>
            <a:r>
              <a:rPr lang="en-AU" dirty="0"/>
              <a:t>Then within each age group, the rows are in ascending name sequence </a:t>
            </a:r>
          </a:p>
          <a:p>
            <a:pPr marL="0" lvl="1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6325" name="Text Box 4"/>
          <p:cNvSpPr txBox="1">
            <a:spLocks noChangeArrowheads="1"/>
          </p:cNvSpPr>
          <p:nvPr/>
        </p:nvSpPr>
        <p:spPr bwMode="auto">
          <a:xfrm>
            <a:off x="1962150" y="1235075"/>
            <a:ext cx="825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SELECT LecName, Age   FROM Lecturer  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C64A7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ORDER BY Age,  LecName</a:t>
            </a:r>
          </a:p>
        </p:txBody>
      </p:sp>
      <p:graphicFrame>
        <p:nvGraphicFramePr>
          <p:cNvPr id="363608" name="Group 88"/>
          <p:cNvGraphicFramePr>
            <a:graphicFrameLocks noGrp="1"/>
          </p:cNvGraphicFramePr>
          <p:nvPr/>
        </p:nvGraphicFramePr>
        <p:xfrm>
          <a:off x="2647950" y="2892425"/>
          <a:ext cx="3276600" cy="3565908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231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Jim Brady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118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Sanjay Parekh</a:t>
                      </a: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521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Lisa Simmons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404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Bruce Lee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103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Aaron Peters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63809" name="Group 289"/>
          <p:cNvGraphicFramePr>
            <a:graphicFrameLocks noGrp="1"/>
          </p:cNvGraphicFramePr>
          <p:nvPr/>
        </p:nvGraphicFramePr>
        <p:xfrm>
          <a:off x="7150100" y="2917825"/>
          <a:ext cx="2400300" cy="3565908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Lisa Simmons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Aaron Peters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Jim Brady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Bruce Lee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Sanjay Parekh</a:t>
                      </a: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69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6402" name="Text Box 293"/>
          <p:cNvSpPr txBox="1">
            <a:spLocks noChangeArrowheads="1"/>
          </p:cNvSpPr>
          <p:nvPr/>
        </p:nvSpPr>
        <p:spPr bwMode="auto">
          <a:xfrm>
            <a:off x="8169275" y="1557338"/>
            <a:ext cx="2741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</a:t>
            </a:r>
          </a:p>
        </p:txBody>
      </p:sp>
      <p:sp>
        <p:nvSpPr>
          <p:cNvPr id="56403" name="Text Box 294"/>
          <p:cNvSpPr txBox="1">
            <a:spLocks noChangeArrowheads="1"/>
          </p:cNvSpPr>
          <p:nvPr/>
        </p:nvSpPr>
        <p:spPr bwMode="auto">
          <a:xfrm>
            <a:off x="9223375" y="1554163"/>
            <a:ext cx="2741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</a:t>
            </a:r>
          </a:p>
        </p:txBody>
      </p:sp>
      <p:sp>
        <p:nvSpPr>
          <p:cNvPr id="56404" name="Text Box 30"/>
          <p:cNvSpPr txBox="1">
            <a:spLocks noChangeArrowheads="1"/>
          </p:cNvSpPr>
          <p:nvPr/>
        </p:nvSpPr>
        <p:spPr bwMode="auto">
          <a:xfrm>
            <a:off x="1647826" y="2917825"/>
            <a:ext cx="1025525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ct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Original </a:t>
            </a:r>
          </a:p>
          <a:p>
            <a:pPr marL="457200" marR="0" lvl="0" indent="-457200" algn="ct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Table</a:t>
            </a:r>
          </a:p>
        </p:txBody>
      </p:sp>
      <p:sp>
        <p:nvSpPr>
          <p:cNvPr id="56405" name="Text Box 30"/>
          <p:cNvSpPr txBox="1">
            <a:spLocks noChangeArrowheads="1"/>
          </p:cNvSpPr>
          <p:nvPr/>
        </p:nvSpPr>
        <p:spPr bwMode="auto">
          <a:xfrm>
            <a:off x="6338888" y="2909889"/>
            <a:ext cx="773112" cy="73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ct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Result</a:t>
            </a:r>
          </a:p>
          <a:p>
            <a:pPr marL="457200" marR="0" lvl="0" indent="-457200" algn="ctr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551979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SQL: Coding Rules &amp; Debugging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891" y="882734"/>
            <a:ext cx="10538509" cy="536733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Your SQL statements will often cause errors. Most errors are caused by </a:t>
            </a:r>
          </a:p>
          <a:p>
            <a:pPr marL="742950" lvl="2" indent="-342900"/>
            <a:r>
              <a:rPr lang="en-AU" dirty="0"/>
              <a:t>misspelling column names</a:t>
            </a:r>
          </a:p>
          <a:p>
            <a:pPr marL="742950" lvl="2" indent="-342900"/>
            <a:r>
              <a:rPr lang="en-AU" dirty="0"/>
              <a:t>misspelling table names</a:t>
            </a:r>
          </a:p>
          <a:p>
            <a:pPr marL="742950" lvl="2" indent="-342900"/>
            <a:r>
              <a:rPr lang="en-AU" dirty="0"/>
              <a:t>misspelling keywords</a:t>
            </a:r>
          </a:p>
          <a:p>
            <a:pPr marL="742950" lvl="2" indent="-342900"/>
            <a:r>
              <a:rPr lang="en-AU" dirty="0"/>
              <a:t>excluding commas </a:t>
            </a:r>
            <a:r>
              <a:rPr lang="en-AU" b="1" dirty="0"/>
              <a:t> 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Each of these statements will cause an Oracle Error</a:t>
            </a:r>
          </a:p>
          <a:p>
            <a:pPr marL="342900" lvl="2" indent="-342900">
              <a:buSzPct val="75000"/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0000FF"/>
                </a:solidFill>
              </a:rPr>
              <a:t>SELECT  LecId  LecName Age FROM LECTURER ;   </a:t>
            </a:r>
            <a:endParaRPr lang="en-AU" dirty="0"/>
          </a:p>
          <a:p>
            <a:pPr>
              <a:buClr>
                <a:srgbClr val="1C0ECC"/>
              </a:buCl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FF0000"/>
                </a:solidFill>
              </a:rPr>
              <a:t>SELCT</a:t>
            </a:r>
            <a:r>
              <a:rPr lang="en-AU" b="1" dirty="0">
                <a:solidFill>
                  <a:srgbClr val="0000FF"/>
                </a:solidFill>
              </a:rPr>
              <a:t>  LecId, LecName, Age FROM LECTURER 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0000FF"/>
                </a:solidFill>
              </a:rPr>
              <a:t>SELECT  LecId, LecName, Age </a:t>
            </a:r>
            <a:r>
              <a:rPr lang="en-AU" b="1" dirty="0">
                <a:solidFill>
                  <a:srgbClr val="FF0000"/>
                </a:solidFill>
              </a:rPr>
              <a:t>FORM</a:t>
            </a:r>
            <a:r>
              <a:rPr lang="en-AU" b="1" dirty="0">
                <a:solidFill>
                  <a:srgbClr val="0000FF"/>
                </a:solidFill>
              </a:rPr>
              <a:t> LECTURER 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0000FF"/>
                </a:solidFill>
              </a:rPr>
              <a:t>SELCT  LecId, LecName, Age FROM </a:t>
            </a:r>
            <a:r>
              <a:rPr lang="en-AU" b="1" dirty="0">
                <a:solidFill>
                  <a:srgbClr val="FF0000"/>
                </a:solidFill>
              </a:rPr>
              <a:t>LECTURE</a:t>
            </a:r>
            <a:r>
              <a:rPr lang="en-AU" b="1" dirty="0">
                <a:solidFill>
                  <a:srgbClr val="0000FF"/>
                </a:solidFill>
              </a:rPr>
              <a:t> 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0000FF"/>
                </a:solidFill>
              </a:rPr>
              <a:t>SELCT LecId</a:t>
            </a:r>
            <a:r>
              <a:rPr lang="en-AU" b="1" dirty="0">
                <a:solidFill>
                  <a:srgbClr val="FF0000"/>
                </a:solidFill>
              </a:rPr>
              <a:t>, </a:t>
            </a:r>
            <a:r>
              <a:rPr lang="en-AU" b="1" dirty="0" err="1">
                <a:solidFill>
                  <a:srgbClr val="FF0000"/>
                </a:solidFill>
              </a:rPr>
              <a:t>LectName</a:t>
            </a:r>
            <a:r>
              <a:rPr lang="en-AU" b="1" dirty="0">
                <a:solidFill>
                  <a:srgbClr val="FF0000"/>
                </a:solidFill>
              </a:rPr>
              <a:t>, </a:t>
            </a:r>
            <a:r>
              <a:rPr lang="en-AU" b="1" dirty="0">
                <a:solidFill>
                  <a:srgbClr val="0000FF"/>
                </a:solidFill>
              </a:rPr>
              <a:t>Age FROM LECTURER ;</a:t>
            </a:r>
            <a:endParaRPr lang="en-AU" dirty="0">
              <a:solidFill>
                <a:srgbClr val="008000"/>
              </a:solidFill>
            </a:endParaRPr>
          </a:p>
          <a:p>
            <a:endParaRPr lang="en-AU" dirty="0">
              <a:solidFill>
                <a:srgbClr val="008000"/>
              </a:solidFill>
            </a:endParaRPr>
          </a:p>
          <a:p>
            <a:endParaRPr lang="en-AU" dirty="0">
              <a:solidFill>
                <a:srgbClr val="008000"/>
              </a:solidFill>
            </a:endParaRPr>
          </a:p>
          <a:p>
            <a:endParaRPr lang="en-AU" dirty="0">
              <a:solidFill>
                <a:srgbClr val="008000"/>
              </a:solidFill>
            </a:endParaRPr>
          </a:p>
        </p:txBody>
      </p:sp>
      <p:graphicFrame>
        <p:nvGraphicFramePr>
          <p:cNvPr id="9" name="Group 43"/>
          <p:cNvGraphicFramePr>
            <a:graphicFrameLocks noGrp="1"/>
          </p:cNvGraphicFramePr>
          <p:nvPr/>
        </p:nvGraphicFramePr>
        <p:xfrm>
          <a:off x="7421340" y="1605315"/>
          <a:ext cx="2943225" cy="1195389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LecId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LecName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Age 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207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John Smith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37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345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Carol Kent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 34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4" name="Straight Arrow Connector 3"/>
          <p:cNvCxnSpPr/>
          <p:nvPr/>
        </p:nvCxnSpPr>
        <p:spPr>
          <a:xfrm flipH="1" flipV="1">
            <a:off x="3560103" y="4270985"/>
            <a:ext cx="87085" cy="24674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1918409" y="4668551"/>
            <a:ext cx="72572" cy="24674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1DCE9B-BE1D-4934-A6AB-5628246252A9}"/>
              </a:ext>
            </a:extLst>
          </p:cNvPr>
          <p:cNvCxnSpPr/>
          <p:nvPr/>
        </p:nvCxnSpPr>
        <p:spPr>
          <a:xfrm flipV="1">
            <a:off x="6240573" y="5139003"/>
            <a:ext cx="72572" cy="24674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579458-012B-4443-B0DF-1B1F0FC3E1BE}"/>
              </a:ext>
            </a:extLst>
          </p:cNvPr>
          <p:cNvCxnSpPr>
            <a:cxnSpLocks/>
          </p:cNvCxnSpPr>
          <p:nvPr/>
        </p:nvCxnSpPr>
        <p:spPr>
          <a:xfrm flipH="1" flipV="1">
            <a:off x="7721600" y="5648960"/>
            <a:ext cx="153662" cy="154231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627E00-147B-4EEE-8EA9-A62D6CBE819B}"/>
              </a:ext>
            </a:extLst>
          </p:cNvPr>
          <p:cNvCxnSpPr/>
          <p:nvPr/>
        </p:nvCxnSpPr>
        <p:spPr>
          <a:xfrm flipV="1">
            <a:off x="3909548" y="6003328"/>
            <a:ext cx="72572" cy="24674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123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SQL: Coding Rules &amp; Debugging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774700"/>
            <a:ext cx="11364686" cy="5367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dirty="0"/>
              <a:t>Errors are </a:t>
            </a:r>
            <a:r>
              <a:rPr lang="en-AU" b="1" dirty="0"/>
              <a:t>not</a:t>
            </a:r>
            <a:r>
              <a:rPr lang="en-AU" dirty="0"/>
              <a:t> typically caused by Text Case, Spaces, Multiple Lines and Semicolons</a:t>
            </a:r>
          </a:p>
          <a:p>
            <a:pPr lvl="1"/>
            <a:r>
              <a:rPr lang="en-AU" sz="2000" dirty="0"/>
              <a:t>The </a:t>
            </a:r>
            <a:r>
              <a:rPr lang="en-AU" sz="2000" b="1" dirty="0"/>
              <a:t>Case</a:t>
            </a:r>
            <a:r>
              <a:rPr lang="en-AU" sz="2000" dirty="0"/>
              <a:t> of SQL </a:t>
            </a:r>
            <a:r>
              <a:rPr lang="en-AU" sz="2000" b="1" dirty="0"/>
              <a:t>keywords</a:t>
            </a:r>
            <a:r>
              <a:rPr lang="en-AU" sz="2000" dirty="0"/>
              <a:t> is </a:t>
            </a:r>
            <a:r>
              <a:rPr lang="en-AU" sz="2000" b="1" dirty="0"/>
              <a:t>not</a:t>
            </a:r>
            <a:r>
              <a:rPr lang="en-AU" sz="2000" dirty="0"/>
              <a:t> important. </a:t>
            </a:r>
          </a:p>
          <a:p>
            <a:pPr lvl="2">
              <a:buFont typeface="Wingdings" pitchFamily="2" charset="2"/>
              <a:buNone/>
            </a:pPr>
            <a:r>
              <a:rPr lang="en-AU" sz="2000" b="1" dirty="0">
                <a:solidFill>
                  <a:srgbClr val="0000FF"/>
                </a:solidFill>
              </a:rPr>
              <a:t>SELECT  LecId,  LecName, Age FROM Lecturer ;</a:t>
            </a:r>
            <a:endParaRPr lang="en-AU" sz="2000" dirty="0"/>
          </a:p>
          <a:p>
            <a:pPr lvl="2">
              <a:buFont typeface="Wingdings" pitchFamily="2" charset="2"/>
              <a:buNone/>
            </a:pPr>
            <a:r>
              <a:rPr lang="en-AU" sz="2000" b="1" dirty="0">
                <a:solidFill>
                  <a:srgbClr val="008000"/>
                </a:solidFill>
              </a:rPr>
              <a:t>select  </a:t>
            </a:r>
            <a:r>
              <a:rPr lang="en-AU" sz="2000" b="1" dirty="0" err="1">
                <a:solidFill>
                  <a:srgbClr val="008000"/>
                </a:solidFill>
              </a:rPr>
              <a:t>lecid</a:t>
            </a:r>
            <a:r>
              <a:rPr lang="en-AU" sz="2000" b="1" dirty="0">
                <a:solidFill>
                  <a:srgbClr val="008000"/>
                </a:solidFill>
              </a:rPr>
              <a:t>,  </a:t>
            </a:r>
            <a:r>
              <a:rPr lang="en-AU" sz="2000" b="1" dirty="0" err="1">
                <a:solidFill>
                  <a:srgbClr val="008000"/>
                </a:solidFill>
              </a:rPr>
              <a:t>lecname</a:t>
            </a:r>
            <a:r>
              <a:rPr lang="en-AU" sz="2000" b="1" dirty="0">
                <a:solidFill>
                  <a:srgbClr val="008000"/>
                </a:solidFill>
              </a:rPr>
              <a:t>, age from lecturer    ;</a:t>
            </a:r>
          </a:p>
          <a:p>
            <a:pPr lvl="1"/>
            <a:r>
              <a:rPr lang="en-AU" sz="2000" b="1" dirty="0"/>
              <a:t>Number of spaces</a:t>
            </a:r>
            <a:r>
              <a:rPr lang="en-AU" sz="2000" dirty="0"/>
              <a:t> between key words and commas is </a:t>
            </a:r>
            <a:r>
              <a:rPr lang="en-AU" sz="2000" b="1" dirty="0"/>
              <a:t>not</a:t>
            </a:r>
            <a:r>
              <a:rPr lang="en-AU" sz="2000" dirty="0"/>
              <a:t> important</a:t>
            </a:r>
          </a:p>
          <a:p>
            <a:pPr lvl="2">
              <a:buFont typeface="Wingdings" pitchFamily="2" charset="2"/>
              <a:buNone/>
            </a:pPr>
            <a:r>
              <a:rPr lang="en-AU" sz="2000" b="1" dirty="0">
                <a:solidFill>
                  <a:srgbClr val="0000FF"/>
                </a:solidFill>
              </a:rPr>
              <a:t>SELECT  </a:t>
            </a:r>
            <a:r>
              <a:rPr lang="en-AU" sz="2000" b="1" dirty="0" err="1">
                <a:solidFill>
                  <a:srgbClr val="0000FF"/>
                </a:solidFill>
              </a:rPr>
              <a:t>LecId,LecName,Age</a:t>
            </a:r>
            <a:r>
              <a:rPr lang="en-AU" sz="2000" b="1" dirty="0">
                <a:solidFill>
                  <a:srgbClr val="0000FF"/>
                </a:solidFill>
              </a:rPr>
              <a:t> FROM Lecturer    ;</a:t>
            </a:r>
            <a:endParaRPr lang="en-AU" sz="2000" dirty="0"/>
          </a:p>
          <a:p>
            <a:pPr lvl="2">
              <a:buFont typeface="Wingdings" pitchFamily="2" charset="2"/>
              <a:buNone/>
            </a:pPr>
            <a:r>
              <a:rPr lang="en-AU" sz="2000" b="1" dirty="0">
                <a:solidFill>
                  <a:srgbClr val="008000"/>
                </a:solidFill>
              </a:rPr>
              <a:t>SELECT  LecId  ,   LecName  ,  Age FROM LECTURER    ;</a:t>
            </a:r>
            <a:endParaRPr lang="en-AU" sz="2000" dirty="0">
              <a:solidFill>
                <a:srgbClr val="008000"/>
              </a:solidFill>
            </a:endParaRPr>
          </a:p>
          <a:p>
            <a:pPr lvl="1"/>
            <a:r>
              <a:rPr lang="en-AU" sz="2000" dirty="0"/>
              <a:t>An SQL statement </a:t>
            </a:r>
            <a:r>
              <a:rPr lang="en-AU" sz="2000" b="1" dirty="0"/>
              <a:t>may be split</a:t>
            </a:r>
            <a:r>
              <a:rPr lang="en-AU" sz="2000" dirty="0"/>
              <a:t> over any number of lines</a:t>
            </a:r>
          </a:p>
          <a:p>
            <a:pPr lvl="1">
              <a:buFont typeface="Arial Narrow" pitchFamily="34" charset="0"/>
              <a:buNone/>
            </a:pPr>
            <a:r>
              <a:rPr lang="en-AU" sz="2000" b="1" dirty="0">
                <a:solidFill>
                  <a:srgbClr val="0000FF"/>
                </a:solidFill>
              </a:rPr>
              <a:t>		  SELECT  LecId,  LecName, Age FROM Lecturer    ;</a:t>
            </a:r>
          </a:p>
          <a:p>
            <a:pPr lvl="1">
              <a:buFont typeface="Arial Narrow" pitchFamily="34" charset="0"/>
              <a:buNone/>
            </a:pPr>
            <a:r>
              <a:rPr lang="en-AU" sz="2000" b="1" dirty="0">
                <a:solidFill>
                  <a:srgbClr val="0000FF"/>
                </a:solidFill>
              </a:rPr>
              <a:t> 	  	  </a:t>
            </a:r>
            <a:r>
              <a:rPr lang="en-AU" sz="2000" b="1" dirty="0">
                <a:solidFill>
                  <a:srgbClr val="008000"/>
                </a:solidFill>
              </a:rPr>
              <a:t>SELECT  LecId, LecName, Age </a:t>
            </a:r>
          </a:p>
          <a:p>
            <a:pPr lvl="1">
              <a:buFont typeface="Arial Narrow" pitchFamily="34" charset="0"/>
              <a:buNone/>
            </a:pPr>
            <a:r>
              <a:rPr lang="en-AU" sz="2000" b="1" dirty="0">
                <a:solidFill>
                  <a:srgbClr val="008000"/>
                </a:solidFill>
              </a:rPr>
              <a:t>		  FROM      Lecturer    ;</a:t>
            </a:r>
          </a:p>
          <a:p>
            <a:pPr lvl="1"/>
            <a:r>
              <a:rPr lang="en-AU" sz="2000" b="1" dirty="0"/>
              <a:t>Semi-colon</a:t>
            </a:r>
            <a:r>
              <a:rPr lang="en-AU" sz="2000" dirty="0"/>
              <a:t> to terminate each statement is </a:t>
            </a:r>
            <a:r>
              <a:rPr lang="en-AU" sz="2000" b="1" dirty="0"/>
              <a:t>optional</a:t>
            </a:r>
            <a:r>
              <a:rPr lang="en-AU" sz="2000" dirty="0"/>
              <a:t>. </a:t>
            </a:r>
          </a:p>
          <a:p>
            <a:pPr lvl="2">
              <a:buFont typeface="Wingdings" pitchFamily="2" charset="2"/>
              <a:buNone/>
            </a:pPr>
            <a:r>
              <a:rPr lang="en-AU" sz="2000" b="1" dirty="0">
                <a:solidFill>
                  <a:srgbClr val="0000FF"/>
                </a:solidFill>
              </a:rPr>
              <a:t>SELECT  LecId,  LecName, Age FROM Lecturer    ;</a:t>
            </a:r>
          </a:p>
          <a:p>
            <a:pPr>
              <a:buFont typeface="Wingdings" pitchFamily="2" charset="2"/>
              <a:buNone/>
            </a:pPr>
            <a:r>
              <a:rPr lang="en-AU" sz="2000" b="1" dirty="0">
                <a:solidFill>
                  <a:srgbClr val="0000FF"/>
                </a:solidFill>
              </a:rPr>
              <a:t>		 	</a:t>
            </a:r>
            <a:r>
              <a:rPr lang="en-AU" sz="2000" b="1" dirty="0">
                <a:solidFill>
                  <a:srgbClr val="008000"/>
                </a:solidFill>
              </a:rPr>
              <a:t>SELECT  LecId,  LecName, Age FROM Lecturer</a:t>
            </a:r>
          </a:p>
          <a:p>
            <a:pPr>
              <a:buNone/>
            </a:pPr>
            <a:r>
              <a:rPr lang="en-US" sz="2000" dirty="0">
                <a:solidFill>
                  <a:srgbClr val="008000"/>
                </a:solidFill>
              </a:rPr>
              <a:t>                  </a:t>
            </a:r>
            <a:r>
              <a:rPr lang="en-US" sz="2000" b="1" i="1" dirty="0">
                <a:solidFill>
                  <a:srgbClr val="FF0000"/>
                </a:solidFill>
              </a:rPr>
              <a:t>Though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i="1" dirty="0">
                <a:solidFill>
                  <a:srgbClr val="FF0000"/>
                </a:solidFill>
              </a:rPr>
              <a:t>Semi-Colons are essential when combining multiple statements in a script</a:t>
            </a:r>
          </a:p>
          <a:p>
            <a:pPr>
              <a:buFont typeface="Wingdings" pitchFamily="2" charset="2"/>
              <a:buNone/>
            </a:pPr>
            <a:endParaRPr lang="en-AU" sz="2000" dirty="0">
              <a:solidFill>
                <a:srgbClr val="008000"/>
              </a:solidFill>
            </a:endParaRPr>
          </a:p>
        </p:txBody>
      </p:sp>
      <p:sp>
        <p:nvSpPr>
          <p:cNvPr id="48134" name="Text Box 12"/>
          <p:cNvSpPr txBox="1">
            <a:spLocks noChangeArrowheads="1"/>
          </p:cNvSpPr>
          <p:nvPr/>
        </p:nvSpPr>
        <p:spPr bwMode="auto">
          <a:xfrm>
            <a:off x="8464578" y="1657688"/>
            <a:ext cx="11205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is same as</a:t>
            </a:r>
            <a:endParaRPr kumimoji="0" lang="en-US" sz="20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8464578" y="2624887"/>
            <a:ext cx="11205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is same as</a:t>
            </a:r>
            <a:endParaRPr kumimoji="0" lang="en-US" sz="20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8464578" y="3838308"/>
            <a:ext cx="11205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is same as</a:t>
            </a:r>
            <a:endParaRPr kumimoji="0" lang="en-US" sz="20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8464578" y="5187708"/>
            <a:ext cx="112050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 is same as</a:t>
            </a:r>
            <a:endParaRPr kumimoji="0" lang="en-US" sz="20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208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685800" indent="-685800"/>
            <a:r>
              <a:rPr lang="en-AU" dirty="0"/>
              <a:t>SQL: DML – SELECT statement clauses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41828"/>
            <a:ext cx="10680834" cy="5910293"/>
          </a:xfrm>
        </p:spPr>
        <p:txBody>
          <a:bodyPr>
            <a:noAutofit/>
          </a:bodyPr>
          <a:lstStyle/>
          <a:p>
            <a:pPr marL="0" lvl="1" indent="0">
              <a:buNone/>
            </a:pPr>
            <a:r>
              <a:rPr lang="en-AU" dirty="0"/>
              <a:t>A SELECT statement may have additional clauses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en-AU" dirty="0"/>
              <a:t>Clauses must be in the correct sequence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en-AU" dirty="0"/>
              <a:t>Most clauses are optional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en-AU" dirty="0"/>
              <a:t>Each clause begins with a KEYWORD</a:t>
            </a:r>
          </a:p>
          <a:p>
            <a:pPr marL="800100" lvl="3" indent="-342900">
              <a:buFont typeface="Arial" panose="020B0604020202020204" pitchFamily="34" charset="0"/>
              <a:buChar char="•"/>
            </a:pPr>
            <a:r>
              <a:rPr lang="en-AU" dirty="0"/>
              <a:t>For easy reading the KEYWORD is written in UPPER CASE</a:t>
            </a:r>
          </a:p>
          <a:p>
            <a:pPr lvl="1">
              <a:spcBef>
                <a:spcPct val="20000"/>
              </a:spcBef>
              <a:buFont typeface="Arial Narrow" pitchFamily="34" charset="0"/>
              <a:buNone/>
            </a:pPr>
            <a:r>
              <a:rPr lang="en-AU" i="1" dirty="0"/>
              <a:t>          	</a:t>
            </a:r>
            <a:r>
              <a:rPr lang="en-AU" b="1" dirty="0">
                <a:solidFill>
                  <a:srgbClr val="0000FF"/>
                </a:solidFill>
              </a:rPr>
              <a:t>SELECT</a:t>
            </a:r>
            <a:r>
              <a:rPr lang="en-AU" dirty="0"/>
              <a:t>      </a:t>
            </a:r>
            <a:r>
              <a:rPr lang="en-AU" dirty="0" err="1"/>
              <a:t>empno</a:t>
            </a:r>
            <a:r>
              <a:rPr lang="en-AU" dirty="0"/>
              <a:t>, branch, salary </a:t>
            </a:r>
            <a:br>
              <a:rPr lang="en-AU" dirty="0"/>
            </a:br>
            <a:r>
              <a:rPr lang="en-AU" dirty="0"/>
              <a:t>      	</a:t>
            </a:r>
            <a:r>
              <a:rPr lang="en-AU" b="1" dirty="0">
                <a:solidFill>
                  <a:srgbClr val="0000FF"/>
                </a:solidFill>
              </a:rPr>
              <a:t>FROM</a:t>
            </a:r>
            <a:r>
              <a:rPr lang="en-AU" dirty="0"/>
              <a:t>         employee </a:t>
            </a:r>
            <a:br>
              <a:rPr lang="en-AU" dirty="0"/>
            </a:br>
            <a:r>
              <a:rPr lang="en-AU" dirty="0"/>
              <a:t>      	</a:t>
            </a:r>
            <a:r>
              <a:rPr lang="en-AU" b="1" dirty="0">
                <a:solidFill>
                  <a:srgbClr val="0000FF"/>
                </a:solidFill>
              </a:rPr>
              <a:t>WHERE</a:t>
            </a:r>
            <a:r>
              <a:rPr lang="en-AU" dirty="0"/>
              <a:t>      branch = 'KEW'</a:t>
            </a:r>
            <a:br>
              <a:rPr lang="en-AU" dirty="0"/>
            </a:br>
            <a:r>
              <a:rPr lang="en-AU" dirty="0"/>
              <a:t>      	</a:t>
            </a:r>
            <a:r>
              <a:rPr lang="en-AU" b="1" dirty="0">
                <a:solidFill>
                  <a:srgbClr val="0000FF"/>
                </a:solidFill>
              </a:rPr>
              <a:t>ORDER</a:t>
            </a:r>
            <a:r>
              <a:rPr lang="en-AU" dirty="0"/>
              <a:t> </a:t>
            </a:r>
            <a:r>
              <a:rPr lang="en-AU" b="1" dirty="0">
                <a:solidFill>
                  <a:srgbClr val="0000FF"/>
                </a:solidFill>
              </a:rPr>
              <a:t>BY</a:t>
            </a:r>
            <a:r>
              <a:rPr lang="en-AU" dirty="0"/>
              <a:t> branch, </a:t>
            </a:r>
            <a:r>
              <a:rPr lang="en-AU" dirty="0" err="1"/>
              <a:t>empno</a:t>
            </a:r>
            <a:r>
              <a:rPr lang="en-AU" dirty="0"/>
              <a:t>;</a:t>
            </a:r>
          </a:p>
          <a:p>
            <a:pPr lvl="2">
              <a:spcBef>
                <a:spcPct val="20000"/>
              </a:spcBef>
            </a:pPr>
            <a:r>
              <a:rPr lang="en-AU" dirty="0"/>
              <a:t>This statement has </a:t>
            </a:r>
            <a:r>
              <a:rPr lang="en-AU" b="1" dirty="0"/>
              <a:t>4 clauses</a:t>
            </a:r>
          </a:p>
          <a:p>
            <a:pPr lvl="3">
              <a:spcBef>
                <a:spcPct val="20000"/>
              </a:spcBef>
            </a:pPr>
            <a:r>
              <a:rPr lang="en-AU" dirty="0"/>
              <a:t>The </a:t>
            </a:r>
            <a:r>
              <a:rPr lang="en-AU" b="1" dirty="0"/>
              <a:t>SELECT</a:t>
            </a:r>
            <a:r>
              <a:rPr lang="en-AU" dirty="0"/>
              <a:t> clause</a:t>
            </a:r>
          </a:p>
          <a:p>
            <a:pPr lvl="3">
              <a:spcBef>
                <a:spcPct val="20000"/>
              </a:spcBef>
            </a:pPr>
            <a:r>
              <a:rPr lang="en-AU" dirty="0"/>
              <a:t>The </a:t>
            </a:r>
            <a:r>
              <a:rPr lang="en-AU" b="1" dirty="0"/>
              <a:t>FROM</a:t>
            </a:r>
            <a:r>
              <a:rPr lang="en-AU" dirty="0"/>
              <a:t> clause</a:t>
            </a:r>
          </a:p>
          <a:p>
            <a:pPr lvl="3">
              <a:spcBef>
                <a:spcPct val="20000"/>
              </a:spcBef>
            </a:pPr>
            <a:r>
              <a:rPr lang="en-AU" dirty="0"/>
              <a:t>The </a:t>
            </a:r>
            <a:r>
              <a:rPr lang="en-AU" b="1" dirty="0"/>
              <a:t>WHERE</a:t>
            </a:r>
            <a:r>
              <a:rPr lang="en-AU" dirty="0"/>
              <a:t> clause</a:t>
            </a:r>
          </a:p>
          <a:p>
            <a:pPr lvl="3"/>
            <a:r>
              <a:rPr lang="en-AU" dirty="0"/>
              <a:t>The </a:t>
            </a:r>
            <a:r>
              <a:rPr lang="en-AU" b="1" dirty="0"/>
              <a:t>ORDER BY </a:t>
            </a:r>
            <a:r>
              <a:rPr lang="en-AU" dirty="0"/>
              <a:t>clause</a:t>
            </a:r>
            <a:endParaRPr lang="en-AU" b="1" dirty="0"/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317634" y="3741737"/>
            <a:ext cx="13398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marL="0" marR="0" lvl="0" indent="0" algn="ctr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Keywords</a:t>
            </a:r>
          </a:p>
        </p:txBody>
      </p:sp>
      <p:sp>
        <p:nvSpPr>
          <p:cNvPr id="2" name="Left Brace 1"/>
          <p:cNvSpPr/>
          <p:nvPr/>
        </p:nvSpPr>
        <p:spPr>
          <a:xfrm>
            <a:off x="1589448" y="3139393"/>
            <a:ext cx="360002" cy="1262743"/>
          </a:xfrm>
          <a:prstGeom prst="leftBrace">
            <a:avLst/>
          </a:prstGeom>
          <a:ln>
            <a:solidFill>
              <a:srgbClr val="1C0E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D1161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2690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685800" indent="-685800"/>
            <a:r>
              <a:rPr lang="en-AU" dirty="0"/>
              <a:t>SQL: WHERE clause – restricting rows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0229" y="908050"/>
            <a:ext cx="10972800" cy="523398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None/>
            </a:pPr>
            <a:r>
              <a:rPr lang="en-AU" dirty="0"/>
              <a:t> Syntax: 	</a:t>
            </a:r>
            <a:r>
              <a:rPr lang="en-AU" b="1" dirty="0"/>
              <a:t>SELECT … </a:t>
            </a:r>
          </a:p>
          <a:p>
            <a:pPr>
              <a:buFont typeface="Wingdings" pitchFamily="2" charset="2"/>
              <a:buNone/>
            </a:pPr>
            <a:r>
              <a:rPr lang="en-AU" b="1" dirty="0"/>
              <a:t>				FROM …</a:t>
            </a:r>
          </a:p>
          <a:p>
            <a:pPr>
              <a:buFont typeface="Wingdings" pitchFamily="2" charset="2"/>
              <a:buNone/>
            </a:pPr>
            <a:r>
              <a:rPr lang="en-AU" b="1" dirty="0"/>
              <a:t>			     [WHERE &lt;search-condition&gt; ]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			     </a:t>
            </a:r>
            <a:r>
              <a:rPr lang="en-AU" b="1" dirty="0"/>
              <a:t>[ORDER BY …]</a:t>
            </a:r>
          </a:p>
          <a:p>
            <a:endParaRPr lang="en-AU" sz="900" b="1" dirty="0"/>
          </a:p>
          <a:p>
            <a:pPr marL="0" indent="0">
              <a:buNone/>
            </a:pPr>
            <a:r>
              <a:rPr lang="en-AU" dirty="0"/>
              <a:t>The WHERE clause specifies a condition(s) that each row must satisfy to be included in the result set.</a:t>
            </a:r>
          </a:p>
          <a:p>
            <a:endParaRPr lang="en-AU" sz="900" dirty="0"/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r>
              <a:rPr lang="en-AU" b="1" dirty="0">
                <a:solidFill>
                  <a:srgbClr val="0000FF"/>
                </a:solidFill>
              </a:rPr>
              <a:t>			SELECT *   </a:t>
            </a: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r>
              <a:rPr lang="en-AU" b="1" dirty="0">
                <a:solidFill>
                  <a:srgbClr val="0000FF"/>
                </a:solidFill>
              </a:rPr>
              <a:t>			FROM Lecturer   </a:t>
            </a: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r>
              <a:rPr lang="en-AU" b="1" dirty="0">
                <a:solidFill>
                  <a:srgbClr val="0000FF"/>
                </a:solidFill>
              </a:rPr>
              <a:t>			WHERE  Age &lt; 35</a:t>
            </a:r>
            <a:endParaRPr lang="en-AU" dirty="0"/>
          </a:p>
          <a:p>
            <a:endParaRPr lang="en-AU" sz="900" dirty="0"/>
          </a:p>
          <a:p>
            <a:pPr marL="0" indent="0">
              <a:buNone/>
            </a:pPr>
            <a:r>
              <a:rPr lang="en-AU" dirty="0"/>
              <a:t>Each row in the table is evaluated against the condition</a:t>
            </a:r>
          </a:p>
          <a:p>
            <a:pPr marL="0" lvl="1" indent="0">
              <a:buNone/>
            </a:pPr>
            <a:r>
              <a:rPr lang="en-AU" dirty="0"/>
              <a:t>If the condition is true (i.e. the age is &lt; 35) then the row is included in the result set.</a:t>
            </a:r>
          </a:p>
          <a:p>
            <a:pPr marL="0" indent="0">
              <a:buNone/>
            </a:pPr>
            <a:r>
              <a:rPr lang="en-AU" dirty="0"/>
              <a:t>The </a:t>
            </a:r>
            <a:r>
              <a:rPr lang="en-AU" b="1" dirty="0"/>
              <a:t>WHERE</a:t>
            </a:r>
            <a:r>
              <a:rPr lang="en-AU" dirty="0"/>
              <a:t> clause is often referred to as a </a:t>
            </a:r>
            <a:r>
              <a:rPr lang="en-AU" b="1" dirty="0"/>
              <a:t>Restriction</a:t>
            </a:r>
          </a:p>
          <a:p>
            <a:pPr marL="0" lvl="1" indent="0">
              <a:buNone/>
            </a:pPr>
            <a:r>
              <a:rPr lang="en-AU" dirty="0"/>
              <a:t>The clause reduces the number of rows in the result set.</a:t>
            </a:r>
          </a:p>
          <a:p>
            <a:pPr lvl="1">
              <a:buFontTx/>
              <a:buChar char="•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2799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269631" y="188913"/>
            <a:ext cx="11711354" cy="576262"/>
          </a:xfrm>
        </p:spPr>
        <p:txBody>
          <a:bodyPr>
            <a:noAutofit/>
          </a:bodyPr>
          <a:lstStyle/>
          <a:p>
            <a:pPr marL="685800" indent="-685800"/>
            <a:r>
              <a:rPr lang="en-AU" dirty="0"/>
              <a:t>SQL: WHERE clause – comparison operators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0229" y="905509"/>
            <a:ext cx="9675359" cy="5763577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AU" sz="2000" dirty="0"/>
              <a:t>SQL has many </a:t>
            </a:r>
            <a:r>
              <a:rPr lang="en-AU" sz="2000" b="1" dirty="0"/>
              <a:t>operators</a:t>
            </a:r>
            <a:r>
              <a:rPr lang="en-AU" sz="2000" dirty="0"/>
              <a:t> that compare two values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AU" sz="2000" b="1" dirty="0"/>
              <a:t>= </a:t>
            </a:r>
            <a:r>
              <a:rPr lang="en-AU" sz="2000" dirty="0"/>
              <a:t>			Equal to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AU" sz="2000" b="1" dirty="0"/>
              <a:t>&lt;&gt;</a:t>
            </a:r>
            <a:r>
              <a:rPr lang="en-AU" sz="2000" dirty="0"/>
              <a:t>		Not equal to    (can use   !=   in most DBMSs)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AU" sz="2000" b="1" dirty="0"/>
              <a:t>&lt;</a:t>
            </a:r>
            <a:r>
              <a:rPr lang="en-AU" sz="2000" dirty="0"/>
              <a:t>			Less than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AU" sz="2000" b="1" dirty="0"/>
              <a:t>&lt;=</a:t>
            </a:r>
            <a:r>
              <a:rPr lang="en-AU" sz="2000" dirty="0"/>
              <a:t>		Less than or Equal to  (two keystrokes   &lt;  and  =  in that order)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AU" sz="2000" b="1" dirty="0"/>
              <a:t>&gt;       		</a:t>
            </a:r>
            <a:r>
              <a:rPr lang="en-AU" sz="2000" dirty="0"/>
              <a:t>Greater than </a:t>
            </a:r>
            <a:endParaRPr lang="en-AU" sz="2000" b="1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AU" sz="2000" b="1" dirty="0"/>
              <a:t>&gt;=</a:t>
            </a:r>
            <a:r>
              <a:rPr lang="en-AU" sz="2000" dirty="0"/>
              <a:t>	       Greater than or Equal to</a:t>
            </a:r>
          </a:p>
          <a:p>
            <a:pPr>
              <a:lnSpc>
                <a:spcPct val="95000"/>
              </a:lnSpc>
              <a:buFont typeface="Wingdings" pitchFamily="2" charset="2"/>
              <a:buNone/>
            </a:pPr>
            <a:endParaRPr lang="en-AU" sz="1200" b="1" dirty="0"/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r>
              <a:rPr lang="en-AU" b="1" dirty="0">
                <a:solidFill>
                  <a:srgbClr val="0000FF"/>
                </a:solidFill>
              </a:rPr>
              <a:t>SELECT </a:t>
            </a:r>
            <a:r>
              <a:rPr lang="en-AU" b="1" dirty="0">
                <a:solidFill>
                  <a:srgbClr val="0000FF"/>
                </a:solidFill>
                <a:latin typeface="Courier New" pitchFamily="49" charset="0"/>
              </a:rPr>
              <a:t>*</a:t>
            </a:r>
            <a:r>
              <a:rPr lang="en-AU" b="1" dirty="0">
                <a:solidFill>
                  <a:srgbClr val="0000FF"/>
                </a:solidFill>
              </a:rPr>
              <a:t> FROM lecturer   </a:t>
            </a: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r>
              <a:rPr lang="en-AU" b="1" dirty="0">
                <a:solidFill>
                  <a:srgbClr val="0000FF"/>
                </a:solidFill>
              </a:rPr>
              <a:t>WHERE  Age = 34;        </a:t>
            </a:r>
            <a:r>
              <a:rPr lang="en-AU" sz="2000" b="1" dirty="0">
                <a:solidFill>
                  <a:schemeClr val="accent2"/>
                </a:solidFill>
              </a:rPr>
              <a:t>- - - -  2 rows selected</a:t>
            </a:r>
            <a:r>
              <a:rPr lang="en-AU" b="1" dirty="0">
                <a:solidFill>
                  <a:srgbClr val="0000FF"/>
                </a:solidFill>
              </a:rPr>
              <a:t>     </a:t>
            </a: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endParaRPr lang="en-AU" sz="600" b="1" dirty="0"/>
          </a:p>
          <a:p>
            <a:pPr>
              <a:lnSpc>
                <a:spcPct val="95000"/>
              </a:lnSpc>
              <a:buFont typeface="Wingdings" pitchFamily="2" charset="2"/>
              <a:buNone/>
            </a:pPr>
            <a:r>
              <a:rPr lang="en-AU" sz="2200" b="1" dirty="0"/>
              <a:t>…</a:t>
            </a:r>
            <a:r>
              <a:rPr lang="en-AU" b="1" dirty="0">
                <a:solidFill>
                  <a:srgbClr val="0000FF"/>
                </a:solidFill>
              </a:rPr>
              <a:t>WHERE  Age &lt; 34</a:t>
            </a:r>
            <a:r>
              <a:rPr lang="en-AU" sz="2200" b="1" dirty="0"/>
              <a:t>;</a:t>
            </a:r>
            <a:r>
              <a:rPr lang="en-AU" b="1" dirty="0">
                <a:solidFill>
                  <a:srgbClr val="0000FF"/>
                </a:solidFill>
              </a:rPr>
              <a:t>     </a:t>
            </a:r>
            <a:r>
              <a:rPr lang="en-AU" sz="2000" b="1" dirty="0">
                <a:solidFill>
                  <a:schemeClr val="accent2"/>
                </a:solidFill>
              </a:rPr>
              <a:t>- - - -  4 rows selected</a:t>
            </a:r>
            <a:r>
              <a:rPr lang="en-AU" b="1" dirty="0">
                <a:solidFill>
                  <a:srgbClr val="0000FF"/>
                </a:solidFill>
              </a:rPr>
              <a:t>     </a:t>
            </a: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endParaRPr lang="en-AU" sz="900" b="1" dirty="0"/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r>
              <a:rPr lang="en-AU" sz="2200" b="1" dirty="0"/>
              <a:t>…</a:t>
            </a:r>
            <a:r>
              <a:rPr lang="en-AU" b="1" dirty="0">
                <a:solidFill>
                  <a:srgbClr val="0000FF"/>
                </a:solidFill>
              </a:rPr>
              <a:t>WHERE  Age &lt;&gt; 21</a:t>
            </a:r>
            <a:r>
              <a:rPr lang="en-AU" sz="2200" b="1" dirty="0"/>
              <a:t>;</a:t>
            </a:r>
            <a:r>
              <a:rPr lang="en-AU" b="1" dirty="0">
                <a:solidFill>
                  <a:srgbClr val="0000FF"/>
                </a:solidFill>
              </a:rPr>
              <a:t>   </a:t>
            </a:r>
            <a:r>
              <a:rPr lang="en-AU" sz="2000" b="1" dirty="0">
                <a:solidFill>
                  <a:schemeClr val="accent2"/>
                </a:solidFill>
              </a:rPr>
              <a:t>- - - -  6 rows selected</a:t>
            </a: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endParaRPr lang="en-AU" sz="1000" b="1" dirty="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r>
              <a:rPr lang="en-AU" sz="2200" b="1" dirty="0"/>
              <a:t>…</a:t>
            </a:r>
            <a:r>
              <a:rPr lang="en-AU" b="1" dirty="0">
                <a:solidFill>
                  <a:srgbClr val="0000FF"/>
                </a:solidFill>
              </a:rPr>
              <a:t>WHERE  Age &gt;= 34</a:t>
            </a:r>
            <a:r>
              <a:rPr lang="en-AU" sz="2200" b="1" dirty="0"/>
              <a:t>;</a:t>
            </a:r>
            <a:r>
              <a:rPr lang="en-AU" b="1" dirty="0">
                <a:solidFill>
                  <a:srgbClr val="0000FF"/>
                </a:solidFill>
              </a:rPr>
              <a:t>   </a:t>
            </a:r>
            <a:r>
              <a:rPr lang="en-AU" sz="2000" b="1" dirty="0">
                <a:solidFill>
                  <a:schemeClr val="accent2"/>
                </a:solidFill>
              </a:rPr>
              <a:t>- - - -  3 rows selected</a:t>
            </a:r>
            <a:r>
              <a:rPr lang="en-AU" b="1" dirty="0">
                <a:solidFill>
                  <a:srgbClr val="0000FF"/>
                </a:solidFill>
              </a:rPr>
              <a:t>  </a:t>
            </a: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endParaRPr lang="en-AU" sz="1000" b="1" dirty="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r>
              <a:rPr lang="en-AU" sz="2200" b="1" dirty="0"/>
              <a:t>…</a:t>
            </a:r>
            <a:r>
              <a:rPr lang="en-AU" b="1" dirty="0">
                <a:solidFill>
                  <a:srgbClr val="0000FF"/>
                </a:solidFill>
              </a:rPr>
              <a:t>WHERE  Age &gt; 34</a:t>
            </a:r>
            <a:r>
              <a:rPr lang="en-AU" sz="2200" b="1" dirty="0"/>
              <a:t>;</a:t>
            </a:r>
            <a:r>
              <a:rPr lang="en-AU" b="1" dirty="0">
                <a:solidFill>
                  <a:srgbClr val="0000FF"/>
                </a:solidFill>
              </a:rPr>
              <a:t>     </a:t>
            </a:r>
            <a:r>
              <a:rPr lang="en-AU" sz="2000" b="1" dirty="0">
                <a:solidFill>
                  <a:schemeClr val="accent2"/>
                </a:solidFill>
              </a:rPr>
              <a:t>- - - -  1 rows selected</a:t>
            </a:r>
            <a:r>
              <a:rPr lang="en-AU" b="1" dirty="0">
                <a:solidFill>
                  <a:srgbClr val="0000FF"/>
                </a:solidFill>
              </a:rPr>
              <a:t> </a:t>
            </a: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endParaRPr lang="en-AU" sz="1050" b="1" dirty="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r>
              <a:rPr lang="en-AU" sz="2200" b="1" dirty="0"/>
              <a:t>…</a:t>
            </a:r>
            <a:r>
              <a:rPr lang="en-AU" b="1" dirty="0">
                <a:solidFill>
                  <a:srgbClr val="0000FF"/>
                </a:solidFill>
              </a:rPr>
              <a:t>WHERE  Age &lt;= 50</a:t>
            </a:r>
            <a:r>
              <a:rPr lang="en-AU" sz="2200" b="1" dirty="0"/>
              <a:t>;</a:t>
            </a:r>
            <a:r>
              <a:rPr lang="en-AU" b="1" dirty="0">
                <a:solidFill>
                  <a:srgbClr val="0000FF"/>
                </a:solidFill>
              </a:rPr>
              <a:t>   </a:t>
            </a:r>
            <a:r>
              <a:rPr lang="en-AU" sz="2000" b="1" dirty="0">
                <a:solidFill>
                  <a:schemeClr val="accent2"/>
                </a:solidFill>
              </a:rPr>
              <a:t>- - - -  7 rows selected</a:t>
            </a: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endParaRPr lang="en-AU" sz="1100" b="1" dirty="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  <a:buSzPct val="85000"/>
              <a:buFont typeface="Wingdings" pitchFamily="2" charset="2"/>
              <a:buNone/>
            </a:pPr>
            <a:r>
              <a:rPr lang="en-AU" sz="2200" b="1" dirty="0"/>
              <a:t>…</a:t>
            </a:r>
            <a:r>
              <a:rPr lang="en-AU" b="1" dirty="0">
                <a:solidFill>
                  <a:srgbClr val="0000FF"/>
                </a:solidFill>
              </a:rPr>
              <a:t>WHERE  Age &lt; 20</a:t>
            </a:r>
            <a:r>
              <a:rPr lang="en-AU" sz="2200" b="1" dirty="0"/>
              <a:t>;</a:t>
            </a:r>
            <a:r>
              <a:rPr lang="en-AU" b="1" dirty="0">
                <a:solidFill>
                  <a:srgbClr val="0000FF"/>
                </a:solidFill>
              </a:rPr>
              <a:t>     </a:t>
            </a:r>
            <a:r>
              <a:rPr lang="en-AU" sz="2000" b="1" dirty="0">
                <a:solidFill>
                  <a:schemeClr val="accent2"/>
                </a:solidFill>
              </a:rPr>
              <a:t>- - - -  0 rows selected</a:t>
            </a:r>
            <a:endParaRPr lang="en-AU" b="1" dirty="0">
              <a:solidFill>
                <a:srgbClr val="0000FF"/>
              </a:solidFill>
            </a:endParaRPr>
          </a:p>
        </p:txBody>
      </p:sp>
      <p:graphicFrame>
        <p:nvGraphicFramePr>
          <p:cNvPr id="62751" name="Group 287"/>
          <p:cNvGraphicFramePr>
            <a:graphicFrameLocks noGrp="1"/>
          </p:cNvGraphicFramePr>
          <p:nvPr/>
        </p:nvGraphicFramePr>
        <p:xfrm>
          <a:off x="7391400" y="3300413"/>
          <a:ext cx="3276600" cy="317024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521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Lisa Simmons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103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Aaron Peters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231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Jim Brady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404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Bruce Lee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118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Sanjay Parekh</a:t>
                      </a: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249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SQL: Numeric literal values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When specifying numeric literals </a:t>
            </a:r>
          </a:p>
          <a:p>
            <a:pPr lvl="1"/>
            <a:r>
              <a:rPr lang="en-AU" dirty="0"/>
              <a:t>Do </a:t>
            </a:r>
            <a:r>
              <a:rPr lang="en-AU" b="1" dirty="0"/>
              <a:t>not</a:t>
            </a:r>
            <a:r>
              <a:rPr lang="en-AU" dirty="0"/>
              <a:t> use </a:t>
            </a:r>
            <a:r>
              <a:rPr lang="en-AU" b="1" dirty="0"/>
              <a:t>quotes</a:t>
            </a:r>
          </a:p>
          <a:p>
            <a:pPr lvl="1"/>
            <a:r>
              <a:rPr lang="en-AU" dirty="0"/>
              <a:t>Do </a:t>
            </a:r>
            <a:r>
              <a:rPr lang="en-AU" b="1" dirty="0"/>
              <a:t>not</a:t>
            </a:r>
            <a:r>
              <a:rPr lang="en-AU" dirty="0"/>
              <a:t> include </a:t>
            </a:r>
            <a:r>
              <a:rPr lang="en-AU" b="1" dirty="0"/>
              <a:t>formatting</a:t>
            </a:r>
          </a:p>
          <a:p>
            <a:pPr lvl="1"/>
            <a:r>
              <a:rPr lang="en-AU" dirty="0"/>
              <a:t>You may use </a:t>
            </a:r>
            <a:r>
              <a:rPr lang="en-AU" b="1" dirty="0"/>
              <a:t>decimal points</a:t>
            </a:r>
            <a:r>
              <a:rPr lang="en-AU" dirty="0"/>
              <a:t> and leading </a:t>
            </a:r>
            <a:r>
              <a:rPr lang="en-AU" b="1" dirty="0"/>
              <a:t>negative signs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	</a:t>
            </a:r>
          </a:p>
          <a:p>
            <a:pPr lvl="2">
              <a:buFont typeface="Wingdings" pitchFamily="2" charset="2"/>
              <a:buNone/>
            </a:pPr>
            <a:r>
              <a:rPr lang="en-AU" sz="2800" b="1" dirty="0">
                <a:solidFill>
                  <a:srgbClr val="0000FF"/>
                </a:solidFill>
              </a:rPr>
              <a:t>… WHERE  </a:t>
            </a:r>
            <a:r>
              <a:rPr lang="en-AU" sz="2800" b="1" dirty="0" err="1">
                <a:solidFill>
                  <a:srgbClr val="0000FF"/>
                </a:solidFill>
              </a:rPr>
              <a:t>annual_budget</a:t>
            </a:r>
            <a:r>
              <a:rPr lang="en-AU" sz="2800" b="1" dirty="0">
                <a:solidFill>
                  <a:srgbClr val="0000FF"/>
                </a:solidFill>
              </a:rPr>
              <a:t> &lt; 50000</a:t>
            </a:r>
            <a:r>
              <a:rPr lang="en-AU" sz="2600" b="1" dirty="0"/>
              <a:t>   		</a:t>
            </a:r>
            <a:r>
              <a:rPr lang="en-AU" sz="2600" b="1" dirty="0">
                <a:solidFill>
                  <a:srgbClr val="008000"/>
                </a:solidFill>
              </a:rPr>
              <a:t>OK</a:t>
            </a:r>
          </a:p>
          <a:p>
            <a:pPr lvl="2">
              <a:buFont typeface="Wingdings" pitchFamily="2" charset="2"/>
              <a:buNone/>
            </a:pPr>
            <a:r>
              <a:rPr lang="en-AU" sz="2800" b="1" dirty="0">
                <a:solidFill>
                  <a:srgbClr val="0000FF"/>
                </a:solidFill>
              </a:rPr>
              <a:t>… WHERE  </a:t>
            </a:r>
            <a:r>
              <a:rPr lang="en-AU" sz="2800" b="1" dirty="0" err="1">
                <a:solidFill>
                  <a:srgbClr val="0000FF"/>
                </a:solidFill>
              </a:rPr>
              <a:t>annual_budget</a:t>
            </a:r>
            <a:r>
              <a:rPr lang="en-AU" sz="2800" b="1" dirty="0">
                <a:solidFill>
                  <a:srgbClr val="0000FF"/>
                </a:solidFill>
              </a:rPr>
              <a:t> &lt; 50,000</a:t>
            </a:r>
            <a:r>
              <a:rPr lang="en-AU" sz="2600" b="1" dirty="0"/>
              <a:t>   		</a:t>
            </a:r>
            <a:r>
              <a:rPr lang="en-AU" sz="2600" b="1" dirty="0">
                <a:solidFill>
                  <a:schemeClr val="accent2"/>
                </a:solidFill>
              </a:rPr>
              <a:t>X</a:t>
            </a:r>
          </a:p>
          <a:p>
            <a:pPr lvl="2">
              <a:buFont typeface="Wingdings" pitchFamily="2" charset="2"/>
              <a:buNone/>
            </a:pPr>
            <a:r>
              <a:rPr lang="en-AU" sz="2800" b="1" dirty="0">
                <a:solidFill>
                  <a:srgbClr val="0000FF"/>
                </a:solidFill>
              </a:rPr>
              <a:t>… WHERE  </a:t>
            </a:r>
            <a:r>
              <a:rPr lang="en-AU" sz="2800" b="1" dirty="0" err="1">
                <a:solidFill>
                  <a:srgbClr val="0000FF"/>
                </a:solidFill>
              </a:rPr>
              <a:t>annual_budget</a:t>
            </a:r>
            <a:r>
              <a:rPr lang="en-AU" sz="2800" b="1" dirty="0">
                <a:solidFill>
                  <a:srgbClr val="0000FF"/>
                </a:solidFill>
              </a:rPr>
              <a:t> &lt; '50000'</a:t>
            </a:r>
            <a:r>
              <a:rPr lang="en-AU" sz="2600" b="1" dirty="0"/>
              <a:t>   		</a:t>
            </a:r>
            <a:r>
              <a:rPr lang="en-AU" sz="2600" b="1" dirty="0">
                <a:solidFill>
                  <a:schemeClr val="accent2"/>
                </a:solidFill>
              </a:rPr>
              <a:t>X</a:t>
            </a:r>
          </a:p>
          <a:p>
            <a:pPr lvl="2">
              <a:buFont typeface="Wingdings" pitchFamily="2" charset="2"/>
              <a:buNone/>
            </a:pPr>
            <a:r>
              <a:rPr lang="en-AU" sz="2800" b="1" dirty="0">
                <a:solidFill>
                  <a:srgbClr val="0000FF"/>
                </a:solidFill>
              </a:rPr>
              <a:t>… WHERE  </a:t>
            </a:r>
            <a:r>
              <a:rPr lang="en-AU" sz="2800" b="1" dirty="0" err="1">
                <a:solidFill>
                  <a:srgbClr val="0000FF"/>
                </a:solidFill>
              </a:rPr>
              <a:t>annual_budget</a:t>
            </a:r>
            <a:r>
              <a:rPr lang="en-AU" sz="2800" b="1" dirty="0">
                <a:solidFill>
                  <a:srgbClr val="0000FF"/>
                </a:solidFill>
              </a:rPr>
              <a:t> &gt; 9.99			</a:t>
            </a:r>
            <a:r>
              <a:rPr lang="en-AU" sz="2800" b="1" dirty="0">
                <a:solidFill>
                  <a:srgbClr val="008000"/>
                </a:solidFill>
              </a:rPr>
              <a:t>OK</a:t>
            </a:r>
          </a:p>
          <a:p>
            <a:pPr lvl="2">
              <a:buFont typeface="Wingdings" pitchFamily="2" charset="2"/>
              <a:buNone/>
            </a:pPr>
            <a:r>
              <a:rPr lang="en-AU" sz="2800" b="1" dirty="0">
                <a:solidFill>
                  <a:srgbClr val="0000FF"/>
                </a:solidFill>
              </a:rPr>
              <a:t>… WHERE  </a:t>
            </a:r>
            <a:r>
              <a:rPr lang="en-AU" sz="2800" b="1" dirty="0" err="1">
                <a:solidFill>
                  <a:srgbClr val="0000FF"/>
                </a:solidFill>
              </a:rPr>
              <a:t>annual_budget</a:t>
            </a:r>
            <a:r>
              <a:rPr lang="en-AU" sz="2800" b="1" dirty="0">
                <a:solidFill>
                  <a:srgbClr val="0000FF"/>
                </a:solidFill>
              </a:rPr>
              <a:t> &gt; -100000		</a:t>
            </a:r>
            <a:r>
              <a:rPr lang="en-AU" sz="2800" b="1" dirty="0">
                <a:solidFill>
                  <a:srgbClr val="008000"/>
                </a:solidFill>
              </a:rPr>
              <a:t>OK</a:t>
            </a:r>
          </a:p>
          <a:p>
            <a:pPr lvl="2"/>
            <a:endParaRPr lang="en-AU" sz="2600" b="1" dirty="0"/>
          </a:p>
        </p:txBody>
      </p:sp>
    </p:spTree>
    <p:extLst>
      <p:ext uri="{BB962C8B-B14F-4D97-AF65-F5344CB8AC3E}">
        <p14:creationId xmlns:p14="http://schemas.microsoft.com/office/powerpoint/2010/main" val="2437521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SQL: String literal values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When specifying string / text / character literals </a:t>
            </a:r>
          </a:p>
          <a:p>
            <a:pPr lvl="1"/>
            <a:r>
              <a:rPr lang="en-AU" dirty="0"/>
              <a:t>You must use </a:t>
            </a:r>
            <a:r>
              <a:rPr lang="en-AU" b="1" dirty="0"/>
              <a:t>quotes</a:t>
            </a:r>
          </a:p>
          <a:p>
            <a:pPr lvl="1"/>
            <a:endParaRPr lang="en-AU" b="1" dirty="0"/>
          </a:p>
          <a:p>
            <a:pPr lvl="2"/>
            <a:r>
              <a:rPr lang="en-AU" b="1" dirty="0"/>
              <a:t>Oracle, </a:t>
            </a:r>
            <a:r>
              <a:rPr lang="en-AU" b="1" dirty="0" err="1"/>
              <a:t>SqlServer</a:t>
            </a:r>
            <a:r>
              <a:rPr lang="en-AU" b="1" dirty="0"/>
              <a:t>, MySQL</a:t>
            </a:r>
            <a:r>
              <a:rPr lang="en-AU" dirty="0"/>
              <a:t> use </a:t>
            </a:r>
            <a:r>
              <a:rPr lang="en-AU" b="1" dirty="0"/>
              <a:t>single</a:t>
            </a:r>
            <a:r>
              <a:rPr lang="en-AU" dirty="0"/>
              <a:t> quotes</a:t>
            </a:r>
          </a:p>
          <a:p>
            <a:pPr lvl="2"/>
            <a:endParaRPr lang="en-AU" dirty="0"/>
          </a:p>
          <a:p>
            <a:pPr lvl="2"/>
            <a:r>
              <a:rPr lang="en-AU" b="1" dirty="0" err="1"/>
              <a:t>MSAccess</a:t>
            </a:r>
            <a:r>
              <a:rPr lang="en-AU" dirty="0"/>
              <a:t> uses </a:t>
            </a:r>
            <a:r>
              <a:rPr lang="en-AU" b="1" dirty="0"/>
              <a:t>double</a:t>
            </a:r>
            <a:r>
              <a:rPr lang="en-AU" dirty="0"/>
              <a:t> quotes</a:t>
            </a:r>
          </a:p>
          <a:p>
            <a:pPr>
              <a:buFont typeface="Wingdings" pitchFamily="2" charset="2"/>
              <a:buNone/>
            </a:pPr>
            <a:r>
              <a:rPr lang="en-AU" dirty="0"/>
              <a:t>	</a:t>
            </a:r>
          </a:p>
          <a:p>
            <a:pPr lvl="2">
              <a:buFont typeface="Wingdings" pitchFamily="2" charset="2"/>
              <a:buNone/>
            </a:pPr>
            <a:r>
              <a:rPr lang="en-AU" sz="2800" b="1" dirty="0">
                <a:solidFill>
                  <a:srgbClr val="0000FF"/>
                </a:solidFill>
              </a:rPr>
              <a:t>… WHERE  Gender = 'M'	</a:t>
            </a:r>
            <a:r>
              <a:rPr lang="en-AU" sz="2600" b="1" dirty="0"/>
              <a:t>  		</a:t>
            </a:r>
            <a:r>
              <a:rPr lang="en-AU" sz="2800" b="1" dirty="0">
                <a:solidFill>
                  <a:srgbClr val="008000"/>
                </a:solidFill>
              </a:rPr>
              <a:t>OK</a:t>
            </a:r>
            <a:endParaRPr lang="en-AU" sz="2600" b="1" dirty="0">
              <a:solidFill>
                <a:srgbClr val="008000"/>
              </a:solidFill>
            </a:endParaRPr>
          </a:p>
          <a:p>
            <a:pPr lvl="2">
              <a:buFont typeface="Wingdings" pitchFamily="2" charset="2"/>
              <a:buNone/>
            </a:pPr>
            <a:r>
              <a:rPr lang="en-AU" sz="2800" b="1" dirty="0">
                <a:solidFill>
                  <a:srgbClr val="0000FF"/>
                </a:solidFill>
              </a:rPr>
              <a:t>… WHERE  Gender = "M"</a:t>
            </a:r>
            <a:r>
              <a:rPr lang="en-AU" sz="2600" b="1" dirty="0"/>
              <a:t>     		</a:t>
            </a:r>
            <a:r>
              <a:rPr lang="en-AU" sz="2600" b="1" dirty="0">
                <a:solidFill>
                  <a:srgbClr val="FF0000"/>
                </a:solidFill>
              </a:rPr>
              <a:t>X</a:t>
            </a:r>
          </a:p>
          <a:p>
            <a:pPr lvl="2">
              <a:buFont typeface="Wingdings" pitchFamily="2" charset="2"/>
              <a:buNone/>
            </a:pPr>
            <a:r>
              <a:rPr lang="en-AU" sz="2800" b="1" dirty="0">
                <a:solidFill>
                  <a:srgbClr val="0000FF"/>
                </a:solidFill>
              </a:rPr>
              <a:t>… WHERE  Gender = M</a:t>
            </a:r>
            <a:r>
              <a:rPr lang="en-AU" sz="2600" b="1" dirty="0"/>
              <a:t>     			</a:t>
            </a:r>
            <a:r>
              <a:rPr lang="en-AU" sz="2600" b="1" dirty="0">
                <a:solidFill>
                  <a:srgbClr val="FF0000"/>
                </a:solidFill>
              </a:rPr>
              <a:t>X</a:t>
            </a:r>
          </a:p>
          <a:p>
            <a:pPr lvl="2"/>
            <a:endParaRPr lang="en-AU" sz="2600" b="1" dirty="0"/>
          </a:p>
        </p:txBody>
      </p:sp>
    </p:spTree>
    <p:extLst>
      <p:ext uri="{BB962C8B-B14F-4D97-AF65-F5344CB8AC3E}">
        <p14:creationId xmlns:p14="http://schemas.microsoft.com/office/powerpoint/2010/main" val="1639097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88913"/>
            <a:ext cx="9634538" cy="576262"/>
          </a:xfrm>
        </p:spPr>
        <p:txBody>
          <a:bodyPr>
            <a:normAutofit fontScale="90000"/>
          </a:bodyPr>
          <a:lstStyle/>
          <a:p>
            <a:pPr marL="685800" indent="-685800"/>
            <a:r>
              <a:rPr lang="en-AU" dirty="0"/>
              <a:t>SQL: String values and case-sensitivity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sz="2800" dirty="0"/>
              <a:t>The default setting for case-sensitivity of each DBMS may be different</a:t>
            </a:r>
          </a:p>
          <a:p>
            <a:pPr marL="0" indent="0">
              <a:buNone/>
            </a:pPr>
            <a:endParaRPr lang="en-AU" sz="2800" dirty="0"/>
          </a:p>
          <a:p>
            <a:pPr marL="0" lvl="1" indent="0">
              <a:buNone/>
            </a:pPr>
            <a:r>
              <a:rPr lang="en-AU" sz="2800" b="1" dirty="0"/>
              <a:t>Oracle</a:t>
            </a:r>
            <a:r>
              <a:rPr lang="en-AU" sz="2800" dirty="0"/>
              <a:t>,  </a:t>
            </a:r>
            <a:r>
              <a:rPr lang="en-AU" sz="2800" b="1" dirty="0"/>
              <a:t>MySQL</a:t>
            </a:r>
            <a:r>
              <a:rPr lang="en-AU" sz="2800" dirty="0"/>
              <a:t> </a:t>
            </a:r>
            <a:r>
              <a:rPr lang="en-AU" sz="2800" dirty="0">
                <a:solidFill>
                  <a:schemeClr val="tx2"/>
                </a:solidFill>
              </a:rPr>
              <a:t>upper-case</a:t>
            </a:r>
            <a:r>
              <a:rPr lang="en-AU" sz="2800" dirty="0"/>
              <a:t> and </a:t>
            </a:r>
            <a:r>
              <a:rPr lang="en-AU" sz="2800" dirty="0">
                <a:solidFill>
                  <a:schemeClr val="tx2"/>
                </a:solidFill>
              </a:rPr>
              <a:t>lower-case</a:t>
            </a:r>
            <a:r>
              <a:rPr lang="en-AU" sz="2800" dirty="0"/>
              <a:t> characters are </a:t>
            </a:r>
            <a:r>
              <a:rPr lang="en-AU" sz="2800" b="1" dirty="0">
                <a:solidFill>
                  <a:schemeClr val="tx2"/>
                </a:solidFill>
              </a:rPr>
              <a:t>not considered equal </a:t>
            </a:r>
            <a:r>
              <a:rPr lang="en-AU" sz="2800" b="1" dirty="0"/>
              <a:t>   </a:t>
            </a:r>
          </a:p>
          <a:p>
            <a:pPr marL="0" lvl="2" indent="0">
              <a:buNone/>
            </a:pPr>
            <a:r>
              <a:rPr lang="en-AU" sz="2800" dirty="0"/>
              <a:t>E.g. 'smith'  is </a:t>
            </a:r>
            <a:r>
              <a:rPr lang="en-AU" sz="2800" b="1" dirty="0"/>
              <a:t>not</a:t>
            </a:r>
            <a:r>
              <a:rPr lang="en-AU" sz="2800" dirty="0"/>
              <a:t> equal to  'SMITH'</a:t>
            </a:r>
          </a:p>
          <a:p>
            <a:pPr marL="0" lvl="1" indent="0">
              <a:buNone/>
            </a:pPr>
            <a:endParaRPr lang="en-AU" sz="2800" dirty="0"/>
          </a:p>
          <a:p>
            <a:pPr marL="0" lvl="1" indent="0">
              <a:buNone/>
            </a:pPr>
            <a:r>
              <a:rPr lang="en-AU" sz="2800" b="1" dirty="0" err="1"/>
              <a:t>SqlServer</a:t>
            </a:r>
            <a:r>
              <a:rPr lang="en-AU" sz="2800" dirty="0"/>
              <a:t>,  </a:t>
            </a:r>
            <a:r>
              <a:rPr lang="en-AU" sz="2800" b="1" dirty="0" err="1"/>
              <a:t>MSAccess</a:t>
            </a:r>
            <a:r>
              <a:rPr lang="en-AU" sz="2800" dirty="0"/>
              <a:t> upper-case and lower-case characters are considered equal    </a:t>
            </a:r>
          </a:p>
          <a:p>
            <a:pPr marL="0" lvl="2" indent="0">
              <a:buNone/>
            </a:pPr>
            <a:r>
              <a:rPr lang="en-AU" sz="2800" dirty="0"/>
              <a:t>E.g. 'smith'  is equal to  'SMITH'</a:t>
            </a:r>
          </a:p>
          <a:p>
            <a:pPr lvl="3"/>
            <a:endParaRPr lang="en-AU" sz="1400" dirty="0"/>
          </a:p>
          <a:p>
            <a:pPr lvl="1">
              <a:buFont typeface="Arial Narrow" pitchFamily="34" charset="0"/>
              <a:buNone/>
            </a:pPr>
            <a:r>
              <a:rPr lang="en-AU" sz="2800" b="1" dirty="0">
                <a:solidFill>
                  <a:srgbClr val="0000FF"/>
                </a:solidFill>
              </a:rPr>
              <a:t> …WHERE  LecName = 'JANE PITT'	      </a:t>
            </a:r>
            <a:r>
              <a:rPr lang="en-AU" sz="1800" b="1" dirty="0">
                <a:solidFill>
                  <a:schemeClr val="accent2"/>
                </a:solidFill>
              </a:rPr>
              <a:t>0 rows returned  </a:t>
            </a:r>
          </a:p>
          <a:p>
            <a:pPr lvl="1">
              <a:buFont typeface="Arial Narrow" pitchFamily="34" charset="0"/>
              <a:buNone/>
            </a:pPr>
            <a:endParaRPr lang="en-AU" sz="1400" b="1" dirty="0">
              <a:solidFill>
                <a:schemeClr val="accent2"/>
              </a:solidFill>
            </a:endParaRPr>
          </a:p>
          <a:p>
            <a:pPr lvl="1">
              <a:buFont typeface="Arial Narrow" pitchFamily="34" charset="0"/>
              <a:buNone/>
            </a:pPr>
            <a:r>
              <a:rPr lang="en-AU" sz="2800" b="1" dirty="0">
                <a:solidFill>
                  <a:srgbClr val="0000FF"/>
                </a:solidFill>
              </a:rPr>
              <a:t> …WHERE  LecName = 'Jane Pitt'	      </a:t>
            </a:r>
            <a:r>
              <a:rPr lang="en-AU" sz="1800" b="1" dirty="0">
                <a:solidFill>
                  <a:schemeClr val="accent2"/>
                </a:solidFill>
              </a:rPr>
              <a:t>1 row returned  </a:t>
            </a:r>
          </a:p>
          <a:p>
            <a:pPr lvl="1">
              <a:buFont typeface="Arial Narrow" pitchFamily="34" charset="0"/>
              <a:buNone/>
            </a:pPr>
            <a:endParaRPr lang="en-AU" sz="1800" b="1" dirty="0">
              <a:solidFill>
                <a:schemeClr val="accent2"/>
              </a:solidFill>
            </a:endParaRPr>
          </a:p>
        </p:txBody>
      </p:sp>
      <p:graphicFrame>
        <p:nvGraphicFramePr>
          <p:cNvPr id="365572" name="Group 4"/>
          <p:cNvGraphicFramePr>
            <a:graphicFrameLocks noGrp="1"/>
          </p:cNvGraphicFramePr>
          <p:nvPr/>
        </p:nvGraphicFramePr>
        <p:xfrm>
          <a:off x="6203416" y="4977993"/>
          <a:ext cx="2889250" cy="1584704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LecID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LecName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207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John Smith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37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345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Carol Kent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34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119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Jane Pitt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itchFamily="34" charset="0"/>
                        </a:rPr>
                        <a:t>26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1467" name="Text Box 35"/>
          <p:cNvSpPr txBox="1">
            <a:spLocks noChangeArrowheads="1"/>
          </p:cNvSpPr>
          <p:nvPr/>
        </p:nvSpPr>
        <p:spPr bwMode="auto">
          <a:xfrm>
            <a:off x="1213985" y="5943701"/>
            <a:ext cx="45124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rPr>
              <a:t>Results using Oracle's default setting</a:t>
            </a:r>
          </a:p>
        </p:txBody>
      </p:sp>
    </p:spTree>
    <p:extLst>
      <p:ext uri="{BB962C8B-B14F-4D97-AF65-F5344CB8AC3E}">
        <p14:creationId xmlns:p14="http://schemas.microsoft.com/office/powerpoint/2010/main" val="3417188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Existing Tables &amp; Describe table</a:t>
            </a: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09600" y="908050"/>
            <a:ext cx="9913938" cy="523398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This SQL statement lists the table name of all tables that you have created 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>
                <a:solidFill>
                  <a:srgbClr val="0000FF"/>
                </a:solidFill>
              </a:rPr>
              <a:t>SELECT </a:t>
            </a:r>
            <a:r>
              <a:rPr lang="en-AU" b="1" dirty="0" err="1">
                <a:solidFill>
                  <a:srgbClr val="0000FF"/>
                </a:solidFill>
              </a:rPr>
              <a:t>table_name</a:t>
            </a:r>
            <a:r>
              <a:rPr lang="en-AU" b="1" dirty="0">
                <a:solidFill>
                  <a:srgbClr val="0000FF"/>
                </a:solidFill>
              </a:rPr>
              <a:t> FROM </a:t>
            </a:r>
            <a:r>
              <a:rPr lang="en-AU" b="1" dirty="0" err="1">
                <a:solidFill>
                  <a:srgbClr val="0000FF"/>
                </a:solidFill>
              </a:rPr>
              <a:t>user_tables</a:t>
            </a:r>
            <a:r>
              <a:rPr lang="en-AU" b="1" dirty="0">
                <a:solidFill>
                  <a:srgbClr val="0000FF"/>
                </a:solidFill>
              </a:rPr>
              <a:t>;   OR</a:t>
            </a:r>
          </a:p>
          <a:p>
            <a:pPr lvl="1">
              <a:buFont typeface="Arial Narrow" pitchFamily="34" charset="0"/>
              <a:buNone/>
            </a:pPr>
            <a:r>
              <a:rPr lang="en-AU" b="1" dirty="0">
                <a:solidFill>
                  <a:srgbClr val="0000FF"/>
                </a:solidFill>
              </a:rPr>
              <a:t>SELECT </a:t>
            </a:r>
            <a:r>
              <a:rPr lang="en-AU" b="1" dirty="0" err="1">
                <a:solidFill>
                  <a:srgbClr val="0000FF"/>
                </a:solidFill>
              </a:rPr>
              <a:t>table_name</a:t>
            </a:r>
            <a:r>
              <a:rPr lang="en-AU" b="1" dirty="0">
                <a:solidFill>
                  <a:srgbClr val="0000FF"/>
                </a:solidFill>
              </a:rPr>
              <a:t> FROM tabs;</a:t>
            </a:r>
          </a:p>
          <a:p>
            <a:endParaRPr lang="en-AU" sz="1050" dirty="0"/>
          </a:p>
          <a:p>
            <a:pPr marL="0" indent="0">
              <a:buNone/>
            </a:pPr>
            <a:r>
              <a:rPr lang="en-AU" dirty="0"/>
              <a:t>This SQL statement lists the column details of a table that you have created </a:t>
            </a:r>
          </a:p>
          <a:p>
            <a:pPr marL="0" lvl="1" indent="0">
              <a:buNone/>
            </a:pPr>
            <a:r>
              <a:rPr lang="en-AU" b="1" dirty="0">
                <a:solidFill>
                  <a:srgbClr val="1C0ECC"/>
                </a:solidFill>
              </a:rPr>
              <a:t>DESCRIBE movie</a:t>
            </a:r>
            <a:r>
              <a:rPr lang="en-AU" dirty="0"/>
              <a:t>;     </a:t>
            </a:r>
          </a:p>
          <a:p>
            <a:pPr lvl="1">
              <a:buFont typeface="Arial Narrow" pitchFamily="34" charset="0"/>
              <a:buNone/>
            </a:pPr>
            <a:endParaRPr lang="en-AU" b="1" dirty="0">
              <a:solidFill>
                <a:srgbClr val="0000FF"/>
              </a:solidFill>
            </a:endParaRPr>
          </a:p>
          <a:p>
            <a:pPr lvl="2">
              <a:buFont typeface="Wingdings" pitchFamily="2" charset="2"/>
              <a:buNone/>
            </a:pPr>
            <a:endParaRPr lang="en-AU" b="1" dirty="0">
              <a:solidFill>
                <a:srgbClr val="0000FF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F737448-0DCA-4817-B0D7-9A1927F4DD96}"/>
              </a:ext>
            </a:extLst>
          </p:cNvPr>
          <p:cNvGrpSpPr/>
          <p:nvPr/>
        </p:nvGrpSpPr>
        <p:grpSpPr>
          <a:xfrm>
            <a:off x="4855867" y="3317358"/>
            <a:ext cx="7336133" cy="3282232"/>
            <a:chOff x="4855867" y="3317358"/>
            <a:chExt cx="7336133" cy="3282232"/>
          </a:xfrm>
        </p:grpSpPr>
        <p:grpSp>
          <p:nvGrpSpPr>
            <p:cNvPr id="2" name="Group 1"/>
            <p:cNvGrpSpPr/>
            <p:nvPr/>
          </p:nvGrpSpPr>
          <p:grpSpPr>
            <a:xfrm>
              <a:off x="4855867" y="3317358"/>
              <a:ext cx="7336133" cy="3282232"/>
              <a:chOff x="733979" y="3136605"/>
              <a:chExt cx="6962775" cy="3025598"/>
            </a:xfrm>
          </p:grpSpPr>
          <p:pic>
            <p:nvPicPr>
              <p:cNvPr id="79874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952" b="67344"/>
              <a:stretch/>
            </p:blipFill>
            <p:spPr bwMode="auto">
              <a:xfrm>
                <a:off x="733980" y="3136605"/>
                <a:ext cx="5400675" cy="3827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9875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3979" y="3628553"/>
                <a:ext cx="6962775" cy="25336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9116"/>
              <a:stretch/>
            </p:blipFill>
            <p:spPr bwMode="auto">
              <a:xfrm>
                <a:off x="733979" y="3514668"/>
                <a:ext cx="5400675" cy="3520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3" name="Rectangle 2"/>
            <p:cNvSpPr/>
            <p:nvPr/>
          </p:nvSpPr>
          <p:spPr bwMode="auto">
            <a:xfrm>
              <a:off x="10546137" y="3874373"/>
              <a:ext cx="1645862" cy="188495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457200" marR="0" lvl="0" indent="-45720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D1161E"/>
                </a:buClr>
                <a:buSzPct val="85000"/>
                <a:buFontTx/>
                <a:buNone/>
                <a:tabLst/>
                <a:defRPr/>
              </a:pPr>
              <a:endParaRPr kumimoji="0" lang="en-AU" sz="2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3539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85800" indent="-685800"/>
            <a:r>
              <a:rPr lang="en-AU" dirty="0"/>
              <a:t>Code standards and style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599" y="908050"/>
            <a:ext cx="11205029" cy="55181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Can you guess which of the statements below is easier to read?</a:t>
            </a:r>
          </a:p>
          <a:p>
            <a:endParaRPr lang="en-AU" sz="100" dirty="0"/>
          </a:p>
          <a:p>
            <a:pPr marL="623888" lvl="1" indent="6350">
              <a:buNone/>
            </a:pPr>
            <a:r>
              <a:rPr lang="en-AU" dirty="0">
                <a:solidFill>
                  <a:schemeClr val="accent2"/>
                </a:solidFill>
              </a:rPr>
              <a:t>select </a:t>
            </a:r>
            <a:r>
              <a:rPr lang="en-AU" dirty="0" err="1">
                <a:solidFill>
                  <a:schemeClr val="accent2"/>
                </a:solidFill>
              </a:rPr>
              <a:t>rdate</a:t>
            </a:r>
            <a:r>
              <a:rPr lang="en-AU" dirty="0">
                <a:solidFill>
                  <a:schemeClr val="accent2"/>
                </a:solidFill>
              </a:rPr>
              <a:t>, temperature, rainfall from </a:t>
            </a:r>
            <a:r>
              <a:rPr lang="en-AU" dirty="0" err="1">
                <a:solidFill>
                  <a:schemeClr val="accent2"/>
                </a:solidFill>
              </a:rPr>
              <a:t>weather_readings</a:t>
            </a:r>
            <a:r>
              <a:rPr lang="en-AU" dirty="0">
                <a:solidFill>
                  <a:schemeClr val="accent2"/>
                </a:solidFill>
              </a:rPr>
              <a:t> where </a:t>
            </a:r>
            <a:br>
              <a:rPr lang="en-AU" dirty="0">
                <a:solidFill>
                  <a:schemeClr val="accent2"/>
                </a:solidFill>
              </a:rPr>
            </a:br>
            <a:r>
              <a:rPr lang="en-AU" dirty="0">
                <a:solidFill>
                  <a:schemeClr val="accent2"/>
                </a:solidFill>
              </a:rPr>
              <a:t>temperature &lt;=  -6.5 or rainfall &gt;= 1000 order by </a:t>
            </a:r>
            <a:r>
              <a:rPr lang="en-AU" dirty="0" err="1">
                <a:solidFill>
                  <a:schemeClr val="accent2"/>
                </a:solidFill>
              </a:rPr>
              <a:t>rdate</a:t>
            </a:r>
            <a:r>
              <a:rPr lang="en-AU" dirty="0">
                <a:solidFill>
                  <a:schemeClr val="accent2"/>
                </a:solidFill>
              </a:rPr>
              <a:t> </a:t>
            </a:r>
            <a:r>
              <a:rPr lang="en-AU" dirty="0" err="1">
                <a:solidFill>
                  <a:schemeClr val="accent2"/>
                </a:solidFill>
              </a:rPr>
              <a:t>desc</a:t>
            </a:r>
            <a:endParaRPr lang="en-AU" dirty="0">
              <a:solidFill>
                <a:schemeClr val="accent2"/>
              </a:solidFill>
            </a:endParaRPr>
          </a:p>
          <a:p>
            <a:endParaRPr lang="en-AU" sz="100" dirty="0">
              <a:solidFill>
                <a:srgbClr val="008000"/>
              </a:solidFill>
            </a:endParaRPr>
          </a:p>
          <a:p>
            <a:pPr marL="901700" lvl="1" indent="-271463">
              <a:buNone/>
            </a:pPr>
            <a:endParaRPr lang="en-AU" b="1" dirty="0">
              <a:solidFill>
                <a:srgbClr val="008000"/>
              </a:solidFill>
            </a:endParaRPr>
          </a:p>
          <a:p>
            <a:pPr marL="901700" lvl="1" indent="-271463">
              <a:buNone/>
            </a:pPr>
            <a:r>
              <a:rPr lang="en-AU" b="1" dirty="0">
                <a:solidFill>
                  <a:srgbClr val="008000"/>
                </a:solidFill>
              </a:rPr>
              <a:t>SELECT		</a:t>
            </a:r>
            <a:r>
              <a:rPr lang="en-AU" b="1" dirty="0" err="1">
                <a:solidFill>
                  <a:srgbClr val="008000"/>
                </a:solidFill>
              </a:rPr>
              <a:t>rdate</a:t>
            </a:r>
            <a:r>
              <a:rPr lang="en-AU" b="1" dirty="0">
                <a:solidFill>
                  <a:srgbClr val="008000"/>
                </a:solidFill>
              </a:rPr>
              <a:t>, temperature, rainfall </a:t>
            </a:r>
          </a:p>
          <a:p>
            <a:pPr marL="901700" lvl="1" indent="-271463">
              <a:buNone/>
            </a:pPr>
            <a:r>
              <a:rPr lang="en-AU" b="1" dirty="0">
                <a:solidFill>
                  <a:srgbClr val="008000"/>
                </a:solidFill>
              </a:rPr>
              <a:t>FROM		</a:t>
            </a:r>
            <a:r>
              <a:rPr lang="en-AU" b="1" dirty="0" err="1">
                <a:solidFill>
                  <a:srgbClr val="008000"/>
                </a:solidFill>
              </a:rPr>
              <a:t>weather_readings</a:t>
            </a:r>
            <a:endParaRPr lang="en-AU" b="1" dirty="0">
              <a:solidFill>
                <a:srgbClr val="008000"/>
              </a:solidFill>
            </a:endParaRPr>
          </a:p>
          <a:p>
            <a:pPr marL="901700" lvl="1" indent="-271463">
              <a:buNone/>
            </a:pPr>
            <a:r>
              <a:rPr lang="en-AU" b="1" dirty="0">
                <a:solidFill>
                  <a:srgbClr val="008000"/>
                </a:solidFill>
              </a:rPr>
              <a:t>WHERE		temperature &lt;=  - 6.5 	</a:t>
            </a:r>
          </a:p>
          <a:p>
            <a:pPr marL="901700" lvl="1" indent="-271463">
              <a:buNone/>
            </a:pPr>
            <a:r>
              <a:rPr lang="en-AU" b="1" dirty="0">
                <a:solidFill>
                  <a:srgbClr val="008000"/>
                </a:solidFill>
              </a:rPr>
              <a:t>OR			rainfall &gt;= 1000 </a:t>
            </a:r>
          </a:p>
          <a:p>
            <a:pPr marL="901700" lvl="1" indent="-271463">
              <a:buNone/>
            </a:pPr>
            <a:r>
              <a:rPr lang="en-AU" b="1" dirty="0">
                <a:solidFill>
                  <a:srgbClr val="008000"/>
                </a:solidFill>
              </a:rPr>
              <a:t>ORDER BY 	</a:t>
            </a:r>
            <a:r>
              <a:rPr lang="en-AU" b="1" dirty="0" err="1">
                <a:solidFill>
                  <a:srgbClr val="008000"/>
                </a:solidFill>
              </a:rPr>
              <a:t>rdate</a:t>
            </a:r>
            <a:r>
              <a:rPr lang="en-AU" b="1" dirty="0">
                <a:solidFill>
                  <a:srgbClr val="008000"/>
                </a:solidFill>
              </a:rPr>
              <a:t> </a:t>
            </a:r>
            <a:r>
              <a:rPr lang="en-AU" b="1" dirty="0" err="1">
                <a:solidFill>
                  <a:srgbClr val="008000"/>
                </a:solidFill>
              </a:rPr>
              <a:t>desc</a:t>
            </a:r>
            <a:endParaRPr lang="en-AU" b="1" dirty="0">
              <a:solidFill>
                <a:srgbClr val="008000"/>
              </a:solidFill>
            </a:endParaRPr>
          </a:p>
          <a:p>
            <a:endParaRPr lang="en-AU" sz="1000" dirty="0">
              <a:solidFill>
                <a:srgbClr val="008000"/>
              </a:solidFill>
            </a:endParaRPr>
          </a:p>
          <a:p>
            <a:pPr>
              <a:buFontTx/>
              <a:buChar char="•"/>
            </a:pPr>
            <a:r>
              <a:rPr lang="en-AU" b="1" dirty="0"/>
              <a:t>Good style</a:t>
            </a:r>
            <a:r>
              <a:rPr lang="en-AU" dirty="0"/>
              <a:t> makes the job of code </a:t>
            </a:r>
            <a:r>
              <a:rPr lang="en-AU" b="1" dirty="0"/>
              <a:t>reading</a:t>
            </a:r>
            <a:r>
              <a:rPr lang="en-AU" dirty="0"/>
              <a:t> and </a:t>
            </a:r>
            <a:r>
              <a:rPr lang="en-AU" b="1" dirty="0"/>
              <a:t>maintenance</a:t>
            </a:r>
            <a:r>
              <a:rPr lang="en-AU" dirty="0"/>
              <a:t> easier.</a:t>
            </a:r>
          </a:p>
          <a:p>
            <a:pPr marL="901700" lvl="1" indent="-271463">
              <a:buFontTx/>
              <a:buChar char="•"/>
            </a:pPr>
            <a:r>
              <a:rPr lang="en-AU" dirty="0"/>
              <a:t>Real world queries are often 20 or 30 lines long. Good style helps</a:t>
            </a:r>
          </a:p>
          <a:p>
            <a:pPr marL="901700" lvl="1" indent="-271463">
              <a:buFontTx/>
              <a:buChar char="•"/>
            </a:pPr>
            <a:r>
              <a:rPr lang="en-AU" dirty="0"/>
              <a:t>Queries are often viewed / modified by </a:t>
            </a:r>
            <a:r>
              <a:rPr lang="en-AU" b="1" dirty="0"/>
              <a:t>other users / programmers</a:t>
            </a:r>
          </a:p>
          <a:p>
            <a:pPr marL="901700" lvl="1" indent="-271463">
              <a:buFontTx/>
              <a:buChar char="•"/>
            </a:pPr>
            <a:r>
              <a:rPr lang="en-AU" dirty="0"/>
              <a:t>Organisations often have a </a:t>
            </a:r>
            <a:r>
              <a:rPr lang="en-AU" b="1" dirty="0"/>
              <a:t>SQL style</a:t>
            </a:r>
            <a:r>
              <a:rPr lang="en-AU" dirty="0"/>
              <a:t> that you </a:t>
            </a:r>
            <a:r>
              <a:rPr lang="en-AU" b="1" dirty="0"/>
              <a:t>must</a:t>
            </a:r>
            <a:r>
              <a:rPr lang="en-AU" dirty="0"/>
              <a:t> adhere to</a:t>
            </a:r>
          </a:p>
          <a:p>
            <a:pPr marL="901700" lvl="1" indent="-271463">
              <a:buFontTx/>
              <a:buChar char="•"/>
            </a:pPr>
            <a:r>
              <a:rPr lang="en-AU" dirty="0"/>
              <a:t>Tutors </a:t>
            </a:r>
            <a:r>
              <a:rPr lang="en-AU" b="1" dirty="0"/>
              <a:t>'hate'</a:t>
            </a:r>
            <a:r>
              <a:rPr lang="en-AU" dirty="0"/>
              <a:t> debugging poorly styled queries</a:t>
            </a: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9716442" y="1074264"/>
            <a:ext cx="953787" cy="1440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11700" b="0" i="0" u="none" strike="noStrike" kern="1200" cap="none" spc="0" normalizeH="0" baseline="0" noProof="0" dirty="0">
                <a:ln>
                  <a:noFill/>
                </a:ln>
                <a:solidFill>
                  <a:srgbClr val="D1161E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</a:t>
            </a:r>
          </a:p>
        </p:txBody>
      </p:sp>
      <p:sp>
        <p:nvSpPr>
          <p:cNvPr id="62470" name="Text Box 7"/>
          <p:cNvSpPr txBox="1">
            <a:spLocks noChangeArrowheads="1"/>
          </p:cNvSpPr>
          <p:nvPr/>
        </p:nvSpPr>
        <p:spPr bwMode="auto">
          <a:xfrm>
            <a:off x="5833609" y="2414326"/>
            <a:ext cx="1300036" cy="158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457200" indent="-4572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marR="0" lvl="0" indent="-457200" algn="l" defTabSz="457200" rtl="0" eaLnBrk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1161E"/>
              </a:buClr>
              <a:buSzPct val="85000"/>
              <a:buFont typeface="Wingdings" pitchFamily="2" charset="2"/>
              <a:buNone/>
              <a:tabLst/>
              <a:defRPr/>
            </a:pPr>
            <a:r>
              <a:rPr kumimoji="0" lang="en-AU" sz="12900" b="1" i="1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+mn-ea"/>
                <a:cs typeface="+mn-cs"/>
                <a:sym typeface="Wingdings" pitchFamily="2" charset="2"/>
              </a:rPr>
              <a:t></a:t>
            </a:r>
          </a:p>
        </p:txBody>
      </p:sp>
    </p:spTree>
    <p:extLst>
      <p:ext uri="{BB962C8B-B14F-4D97-AF65-F5344CB8AC3E}">
        <p14:creationId xmlns:p14="http://schemas.microsoft.com/office/powerpoint/2010/main" val="3894427467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winburne - Light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8F006C9-65F3-430C-8CBE-92C89A6F4650}" vid="{8B552470-14E2-4541-94E0-A0FC88D4D6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3150</TotalTime>
  <Words>2911</Words>
  <Application>Microsoft Office PowerPoint</Application>
  <PresentationFormat>Widescreen</PresentationFormat>
  <Paragraphs>584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Arial Narrow</vt:lpstr>
      <vt:lpstr>Calibri</vt:lpstr>
      <vt:lpstr>Courier New</vt:lpstr>
      <vt:lpstr>Open Sans</vt:lpstr>
      <vt:lpstr>Wingdings</vt:lpstr>
      <vt:lpstr>Swinburne_Tiles</vt:lpstr>
      <vt:lpstr>Swinburne - Light</vt:lpstr>
      <vt:lpstr>INF10025 Data Management and Analytics</vt:lpstr>
      <vt:lpstr>SQL: Why learn SQL?</vt:lpstr>
      <vt:lpstr>Saving your work &amp; Notepad++</vt:lpstr>
      <vt:lpstr>SQL: DDL  &amp;  DML</vt:lpstr>
      <vt:lpstr>SQL DDL: CREATE TABLE</vt:lpstr>
      <vt:lpstr>SQL DDL: CREATE TABLE</vt:lpstr>
      <vt:lpstr>SQL DML: INSERT STATEMENT</vt:lpstr>
      <vt:lpstr>BEWARE of Smart Quotes </vt:lpstr>
      <vt:lpstr>BEWARE of Smart Quotes </vt:lpstr>
      <vt:lpstr>SQL DML: INSERT STATEMENT</vt:lpstr>
      <vt:lpstr>SQL DML: INSERT STATEMENT</vt:lpstr>
      <vt:lpstr>SQL DML: SELECT STATEMENT</vt:lpstr>
      <vt:lpstr>SQL: SELECT columns </vt:lpstr>
      <vt:lpstr>SQL:DELETE command </vt:lpstr>
      <vt:lpstr>SQL:Update command</vt:lpstr>
      <vt:lpstr>SQL:Update command</vt:lpstr>
      <vt:lpstr>SQL: Order By– sequence of result set rows</vt:lpstr>
      <vt:lpstr>SQL: Order By – column number</vt:lpstr>
      <vt:lpstr>SQL: Order By– multi column </vt:lpstr>
      <vt:lpstr>SQL: Coding Rules &amp; Debugging</vt:lpstr>
      <vt:lpstr>SQL: Coding Rules &amp; Debugging</vt:lpstr>
      <vt:lpstr>SQL: DML – SELECT statement clauses</vt:lpstr>
      <vt:lpstr>SQL: WHERE clause – restricting rows</vt:lpstr>
      <vt:lpstr>SQL: WHERE clause – comparison operators</vt:lpstr>
      <vt:lpstr>SQL: Numeric literal values</vt:lpstr>
      <vt:lpstr>SQL: String literal values</vt:lpstr>
      <vt:lpstr>SQL: String values and case-sensitivity</vt:lpstr>
      <vt:lpstr>Existing Tables &amp; Describe table</vt:lpstr>
      <vt:lpstr>Code standards and style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2023-03-09T23:23:32Z</dcterms:created>
  <dcterms:modified xsi:type="dcterms:W3CDTF">2023-03-18T01:59:36Z</dcterms:modified>
</cp:coreProperties>
</file>