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416" r:id="rId2"/>
    <p:sldId id="362" r:id="rId3"/>
    <p:sldId id="385" r:id="rId4"/>
    <p:sldId id="363" r:id="rId5"/>
    <p:sldId id="386" r:id="rId6"/>
    <p:sldId id="364" r:id="rId7"/>
    <p:sldId id="365" r:id="rId8"/>
    <p:sldId id="366" r:id="rId9"/>
    <p:sldId id="367" r:id="rId10"/>
    <p:sldId id="369" r:id="rId11"/>
    <p:sldId id="368" r:id="rId12"/>
    <p:sldId id="370" r:id="rId13"/>
    <p:sldId id="371" r:id="rId14"/>
    <p:sldId id="372" r:id="rId15"/>
    <p:sldId id="374" r:id="rId16"/>
    <p:sldId id="375" r:id="rId17"/>
    <p:sldId id="376" r:id="rId18"/>
    <p:sldId id="377" r:id="rId19"/>
    <p:sldId id="378" r:id="rId20"/>
    <p:sldId id="412" r:id="rId21"/>
    <p:sldId id="413" r:id="rId22"/>
    <p:sldId id="379" r:id="rId23"/>
    <p:sldId id="387" r:id="rId24"/>
    <p:sldId id="41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1E24A5-9ECB-4A0C-ABED-F62285FB8646}" type="datetimeFigureOut">
              <a:rPr lang="en-AU" smtClean="0"/>
              <a:t>24/02/2023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DD3EBF-C0C8-488D-B65C-4743EB4697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5264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0306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6330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6811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011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9163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4731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8161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9171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5648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228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1797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72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322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9754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85641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35972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39971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99345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9871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17416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0821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78371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240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6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48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8" name="Picture 7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178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78"/>
            <a:ext cx="10972800" cy="1058779"/>
          </a:xfrm>
        </p:spPr>
        <p:txBody>
          <a:bodyPr anchor="t"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4" cy="3917482"/>
          </a:xfrm>
          <a:noFill/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 rot="18000966">
            <a:off x="11244499" y="266079"/>
            <a:ext cx="675802" cy="661376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ircle">
              <a:avLst/>
            </a:prstTxWarp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r>
              <a:rPr lang="en-US" sz="540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ata Management &amp; Analytics   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381012" y="638279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F3ACB68-B3AC-4511-9780-21946B043BB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55938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364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1344616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4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2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236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39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7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551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INF10025</a:t>
            </a:r>
            <a:br>
              <a:rPr lang="en-AU" dirty="0"/>
            </a:br>
            <a:r>
              <a:rPr lang="en-AU" dirty="0"/>
              <a:t>Data Management and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Week 03 – Part 3</a:t>
            </a:r>
          </a:p>
          <a:p>
            <a:r>
              <a:rPr lang="en-AU"/>
              <a:t>Importing Data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1075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79" y="832728"/>
            <a:ext cx="1010553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often exists prior to the development of a database.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That data often needs to be entered into the Access database tables.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Option 1 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Retype the data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Costly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Prone to Errors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Slow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Option 2 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data using database tools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cost (other than creating the process)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Fast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typing errors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Same process is applied to every record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 apply conversion rules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 convert data from one datatype to another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099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79" y="832728"/>
            <a:ext cx="101055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can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data from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sources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are many different source types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Popular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types include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Excel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Text File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XML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Database to Database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99" y="4227063"/>
            <a:ext cx="6836701" cy="2097043"/>
          </a:xfrm>
          <a:prstGeom prst="rect">
            <a:avLst/>
          </a:prstGeom>
        </p:spPr>
      </p:pic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B40FF5DF-A53E-478B-B161-8BC079B8FF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046" y="1384713"/>
            <a:ext cx="5889618" cy="330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47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importing data, you need to determine how you will treat the data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Option 1: Import the data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Make a copy of the original data.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The data will be stored in Access Tables.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Option 2: Link to the source data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There is only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 version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the data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Source Data  is maintained by the original application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Access has a read-only view of the data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40" y="3883076"/>
            <a:ext cx="11749078" cy="2719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5359" y="1325972"/>
            <a:ext cx="3134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Most often used to import data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123349" y="1510638"/>
            <a:ext cx="1037230" cy="189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07883" y="2312427"/>
            <a:ext cx="5427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Used typically when data in Access works in conjunction with data that is continually maintained by another database application.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425874" y="2538037"/>
            <a:ext cx="1037230" cy="189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882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827" y="832728"/>
            <a:ext cx="114376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Rules for importing Excel data.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data in an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Excel spreadsheet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must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resemble an Access Datasheet view.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has to be placed in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uniform rows and columns.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can be located in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multiple 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worksheets.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Every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column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must have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heading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1" y="1641351"/>
            <a:ext cx="5683624" cy="502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762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827" y="832728"/>
            <a:ext cx="11437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will ask which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worksheet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name of where the data is located in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427" y="1633537"/>
            <a:ext cx="9425044" cy="489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016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Specify that the worksheet has Column Heading in row 1.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Otherwise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Your headings will be treated as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field values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field will be given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sequential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such as Field1, Field2, Field3…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206" y="2725117"/>
            <a:ext cx="8970029" cy="398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17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Specify which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fields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most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important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field where to specify index requirements is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Primary Key field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079" y="1959473"/>
            <a:ext cx="9367703" cy="422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137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can also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adjust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each field.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Often Text data will need to be converted to a number data type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783" y="1891507"/>
            <a:ext cx="9085624" cy="408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68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final step is to determine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Primary Key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can allow Access to create an AutoNumber key for you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is stored in a new field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Otherwise, select which field already contains Primary Key values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492" y="2547144"/>
            <a:ext cx="8337679" cy="409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28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is an option to save the Import steps that you just created.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is useful when: 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You need to import data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regularly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(every morning, every week …)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You want someone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inexperienced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perform the process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 don't normally save the steps.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023320" y="3408710"/>
            <a:ext cx="9492279" cy="3252806"/>
            <a:chOff x="1023320" y="3408710"/>
            <a:chExt cx="9492279" cy="3252806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320" y="3408710"/>
              <a:ext cx="9492279" cy="3252806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3281082" y="4639235"/>
              <a:ext cx="6683189" cy="564777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>
              <a:noFill/>
            </a:ln>
            <a:effectLst>
              <a:reflection endPos="65000" dist="50800" dir="5400000" sy="-100000" algn="bl" rotWithShape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329016" y="4938032"/>
              <a:ext cx="6683189" cy="319768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>
              <a:noFill/>
            </a:ln>
            <a:effectLst>
              <a:reflection endPos="65000" dist="50800" dir="5400000" sy="-100000" algn="bl" rotWithShape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0407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data that is successfully imported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saved into a Table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table has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fields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635" y="1782789"/>
            <a:ext cx="5783109" cy="26928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626" y="4654249"/>
            <a:ext cx="9810153" cy="193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92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a CSV file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is often available in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CSV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files. CSV stands for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Comma Separated Values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is also sometimes referred to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Delimited File Format,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where values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delimited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by a character (such as a comma)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Sometimes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text-data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may be surround by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quotes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E.g. 101, "Dave", "Hillcrest", "2 Red Rd"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8" y="3118238"/>
            <a:ext cx="10277197" cy="352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31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a CSV file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3528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Text File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option for CSV files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are two options for Text files.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Delimited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Fixed Width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Choose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Delimited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for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CSV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file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166" y="1063560"/>
            <a:ext cx="5365670" cy="21020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b="68910"/>
          <a:stretch/>
        </p:blipFill>
        <p:spPr>
          <a:xfrm>
            <a:off x="528358" y="3519349"/>
            <a:ext cx="11170877" cy="2464593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16980137">
            <a:off x="8962703" y="2407305"/>
            <a:ext cx="937890" cy="443753"/>
          </a:xfrm>
          <a:prstGeom prst="right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2983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a CSV file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Specify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delimiter character.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Normally a comma, but it could be another character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Specify that 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ow 1 contains field names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Specify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text qualifier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(e.g. the character surrounding text such as  "  or '  )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680882" y="2662518"/>
            <a:ext cx="8565776" cy="3859305"/>
            <a:chOff x="1085008" y="1402137"/>
            <a:chExt cx="7305676" cy="329887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b="51807"/>
            <a:stretch/>
          </p:blipFill>
          <p:spPr>
            <a:xfrm>
              <a:off x="1085009" y="1402137"/>
              <a:ext cx="7305675" cy="2510958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3"/>
            <a:srcRect t="84584"/>
            <a:stretch/>
          </p:blipFill>
          <p:spPr>
            <a:xfrm>
              <a:off x="1085008" y="3897827"/>
              <a:ext cx="7305675" cy="8031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7447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a CSV file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Click on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Advanced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button (previous screen) for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additional options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These are especially useful when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importing dates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These are many commonly used date formats: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Many countries use a comma as a decimal point 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€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123,00: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937" y="2657279"/>
            <a:ext cx="6458896" cy="36628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13343" y="1432892"/>
            <a:ext cx="2034531" cy="467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25/09/2010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09/25/2010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2010/09/25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12-Sep-2010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25-09-2010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09-25-2010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2010-09-25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25/09/10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25/9/2010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2010/9/25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…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8350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Fixed Width Files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Files are sometimes created as Fixed Width files  / Space Delimited files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42" y="1663725"/>
            <a:ext cx="8993717" cy="449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681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Select the Fixed Width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Option in Access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310459" y="1891507"/>
            <a:ext cx="8660856" cy="4422351"/>
            <a:chOff x="1310459" y="1891507"/>
            <a:chExt cx="8660856" cy="442235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3"/>
            <a:srcRect r="17501" b="40684"/>
            <a:stretch/>
          </p:blipFill>
          <p:spPr>
            <a:xfrm>
              <a:off x="1310459" y="1891507"/>
              <a:ext cx="8660856" cy="4422351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3018971" y="4630057"/>
              <a:ext cx="6937829" cy="31931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4519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Fixed Width Files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have to place vertical lines to signify where each field begins.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41421"/>
          <a:stretch/>
        </p:blipFill>
        <p:spPr>
          <a:xfrm>
            <a:off x="754380" y="1641625"/>
            <a:ext cx="11142964" cy="462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81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Specifying Field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132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importing data, often Access does not recognize data formats.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Dates are often a problem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you click on a field, you can modify the Field Name and / or Data Type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320" y="2308828"/>
            <a:ext cx="7980135" cy="436648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42486" t="19683" b="43301"/>
          <a:stretch/>
        </p:blipFill>
        <p:spPr>
          <a:xfrm>
            <a:off x="6719687" y="4621627"/>
            <a:ext cx="5167513" cy="1303867"/>
          </a:xfrm>
          <a:prstGeom prst="rect">
            <a:avLst/>
          </a:prstGeom>
          <a:ln w="31750">
            <a:solidFill>
              <a:schemeClr val="accent1">
                <a:shade val="95000"/>
                <a:satMod val="10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69621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Dates in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should be aware how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Excel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stores dates and times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Excel stores dates and times as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sequential number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representing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 of days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since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Jan 1900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fractional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portion of the value stores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is called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serial date.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35" y="3987760"/>
            <a:ext cx="10886879" cy="2489094"/>
          </a:xfrm>
          <a:prstGeom prst="rect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5778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Dates in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you import data from Excel, it may appear that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values are not dates.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will interpret the values correctly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724" y="2810281"/>
            <a:ext cx="9491625" cy="3721148"/>
          </a:xfrm>
          <a:prstGeom prst="rect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48171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XML files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can also import data from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XML files.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piece of data is stored between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tag elements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start tag and an end tag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Tags can have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hierarchy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example shows that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&lt;Customers&gt; tag contains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seven subordinate tags: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&lt;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CustId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&lt;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Givenname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&lt;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FamilyName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 …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34159"/>
          <a:stretch/>
        </p:blipFill>
        <p:spPr>
          <a:xfrm>
            <a:off x="5595845" y="105878"/>
            <a:ext cx="6363746" cy="67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462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Importance of knowing file formats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754" y="832728"/>
            <a:ext cx="114376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 organization typically has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Many IT systems &amp; Databases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Accounting systems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Stock and Inventory systems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Sales &amp; Ordering systems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Student Record system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that is exchanged with other organizations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list of parts that your organization can order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list of VTAC / high-school students that have selected Swinburne University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their list of preferred institutions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price list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Few (if any) of these systems are integrated.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only way data can be exchanged is via CSV, Delimited file, Excel file, XML file formats.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Learning how to import / export data via Access in a very useful skill.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638372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4089</TotalTime>
  <Words>1071</Words>
  <Application>Microsoft Office PowerPoint</Application>
  <PresentationFormat>Widescreen</PresentationFormat>
  <Paragraphs>183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Open Sans</vt:lpstr>
      <vt:lpstr>Swinburne_Tiles</vt:lpstr>
      <vt:lpstr>INF10025 Data Management and Analytics</vt:lpstr>
      <vt:lpstr>Importing Data </vt:lpstr>
      <vt:lpstr>Importing Data </vt:lpstr>
      <vt:lpstr>Importing Data </vt:lpstr>
      <vt:lpstr>Importing Data from Excel </vt:lpstr>
      <vt:lpstr>Importing Data from Excel </vt:lpstr>
      <vt:lpstr>Importing Data from Excel </vt:lpstr>
      <vt:lpstr>Importing Data from Excel </vt:lpstr>
      <vt:lpstr>Importing Data from Excel </vt:lpstr>
      <vt:lpstr>Importing Data from Excel </vt:lpstr>
      <vt:lpstr>Importing Data from Excel </vt:lpstr>
      <vt:lpstr>Importing Data from Excel </vt:lpstr>
      <vt:lpstr>Importing Data from a CSV file </vt:lpstr>
      <vt:lpstr>Importing Data from a CSV file </vt:lpstr>
      <vt:lpstr>Importing Data from a CSV file </vt:lpstr>
      <vt:lpstr>Importing Data from a CSV file </vt:lpstr>
      <vt:lpstr>Importing Fixed Width Files </vt:lpstr>
      <vt:lpstr>Importing Data </vt:lpstr>
      <vt:lpstr>Importing Fixed Width Files </vt:lpstr>
      <vt:lpstr>Specifying Field information</vt:lpstr>
      <vt:lpstr>Dates in Excel </vt:lpstr>
      <vt:lpstr>Dates in Excel </vt:lpstr>
      <vt:lpstr>Importing XML files </vt:lpstr>
      <vt:lpstr>Importance of knowing file formats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Data Management and Analytics</dc:title>
  <dc:creator>Robert Tipping</dc:creator>
  <cp:lastModifiedBy>Robert Tipping</cp:lastModifiedBy>
  <cp:revision>2</cp:revision>
  <dcterms:created xsi:type="dcterms:W3CDTF">2023-02-22T02:30:27Z</dcterms:created>
  <dcterms:modified xsi:type="dcterms:W3CDTF">2023-02-27T01:48:25Z</dcterms:modified>
</cp:coreProperties>
</file>